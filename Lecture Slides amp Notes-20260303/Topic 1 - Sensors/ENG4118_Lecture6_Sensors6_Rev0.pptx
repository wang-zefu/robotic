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notesMasterIdLst>
    <p:notesMasterId r:id="rId30"/>
  </p:notesMasterIdLst>
  <p:sldIdLst>
    <p:sldId id="432" r:id="rId4"/>
    <p:sldId id="392" r:id="rId5"/>
    <p:sldId id="412" r:id="rId6"/>
    <p:sldId id="420" r:id="rId7"/>
    <p:sldId id="421" r:id="rId8"/>
    <p:sldId id="422" r:id="rId9"/>
    <p:sldId id="368" r:id="rId10"/>
    <p:sldId id="423" r:id="rId11"/>
    <p:sldId id="424" r:id="rId12"/>
    <p:sldId id="425" r:id="rId13"/>
    <p:sldId id="445" r:id="rId14"/>
    <p:sldId id="442" r:id="rId15"/>
    <p:sldId id="443" r:id="rId16"/>
    <p:sldId id="338" r:id="rId17"/>
    <p:sldId id="340" r:id="rId18"/>
    <p:sldId id="339" r:id="rId19"/>
    <p:sldId id="447" r:id="rId20"/>
    <p:sldId id="315" r:id="rId21"/>
    <p:sldId id="341" r:id="rId22"/>
    <p:sldId id="448" r:id="rId23"/>
    <p:sldId id="343" r:id="rId24"/>
    <p:sldId id="345" r:id="rId25"/>
    <p:sldId id="346" r:id="rId26"/>
    <p:sldId id="347" r:id="rId27"/>
    <p:sldId id="435" r:id="rId28"/>
    <p:sldId id="43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5983" autoAdjust="0"/>
  </p:normalViewPr>
  <p:slideViewPr>
    <p:cSldViewPr snapToGrid="0">
      <p:cViewPr varScale="1">
        <p:scale>
          <a:sx n="75" d="100"/>
          <a:sy n="75" d="100"/>
        </p:scale>
        <p:origin x="84" y="156"/>
      </p:cViewPr>
      <p:guideLst/>
    </p:cSldViewPr>
  </p:slideViewPr>
  <p:outlineViewPr>
    <p:cViewPr>
      <p:scale>
        <a:sx n="33" d="100"/>
        <a:sy n="33" d="100"/>
      </p:scale>
      <p:origin x="0" y="-68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Worrall" userId="e21a6e1f-6189-4284-9649-bf7c66c7a38c" providerId="ADAL" clId="{B294D135-36AD-4905-82C7-C24D4CC5C725}"/>
    <pc:docChg chg="custSel delSld modSld">
      <pc:chgData name="Kevin Worrall" userId="e21a6e1f-6189-4284-9649-bf7c66c7a38c" providerId="ADAL" clId="{B294D135-36AD-4905-82C7-C24D4CC5C725}" dt="2026-01-24T17:32:33.625" v="32" actId="20577"/>
      <pc:docMkLst>
        <pc:docMk/>
      </pc:docMkLst>
      <pc:sldChg chg="modSp mod">
        <pc:chgData name="Kevin Worrall" userId="e21a6e1f-6189-4284-9649-bf7c66c7a38c" providerId="ADAL" clId="{B294D135-36AD-4905-82C7-C24D4CC5C725}" dt="2026-01-24T17:32:14.570" v="16" actId="27636"/>
        <pc:sldMkLst>
          <pc:docMk/>
          <pc:sldMk cId="2329490529" sldId="392"/>
        </pc:sldMkLst>
        <pc:spChg chg="mod">
          <ac:chgData name="Kevin Worrall" userId="e21a6e1f-6189-4284-9649-bf7c66c7a38c" providerId="ADAL" clId="{B294D135-36AD-4905-82C7-C24D4CC5C725}" dt="2026-01-24T17:32:14.570" v="16" actId="27636"/>
          <ac:spMkLst>
            <pc:docMk/>
            <pc:sldMk cId="2329490529" sldId="392"/>
            <ac:spMk id="3" creationId="{0EC2D61B-0204-42F3-52E6-931A9496968D}"/>
          </ac:spMkLst>
        </pc:spChg>
      </pc:sldChg>
      <pc:sldChg chg="modSp mod">
        <pc:chgData name="Kevin Worrall" userId="e21a6e1f-6189-4284-9649-bf7c66c7a38c" providerId="ADAL" clId="{B294D135-36AD-4905-82C7-C24D4CC5C725}" dt="2026-01-24T17:32:33.625" v="32" actId="20577"/>
        <pc:sldMkLst>
          <pc:docMk/>
          <pc:sldMk cId="1631316378" sldId="432"/>
        </pc:sldMkLst>
        <pc:spChg chg="mod">
          <ac:chgData name="Kevin Worrall" userId="e21a6e1f-6189-4284-9649-bf7c66c7a38c" providerId="ADAL" clId="{B294D135-36AD-4905-82C7-C24D4CC5C725}" dt="2026-01-24T17:32:33.625" v="32" actId="20577"/>
          <ac:spMkLst>
            <pc:docMk/>
            <pc:sldMk cId="1631316378" sldId="432"/>
            <ac:spMk id="3" creationId="{0EC2D61B-0204-42F3-52E6-931A9496968D}"/>
          </ac:spMkLst>
        </pc:spChg>
      </pc:sldChg>
      <pc:sldChg chg="del">
        <pc:chgData name="Kevin Worrall" userId="e21a6e1f-6189-4284-9649-bf7c66c7a38c" providerId="ADAL" clId="{B294D135-36AD-4905-82C7-C24D4CC5C725}" dt="2026-01-24T17:32:05.394" v="1" actId="47"/>
        <pc:sldMkLst>
          <pc:docMk/>
          <pc:sldMk cId="2493060545" sldId="434"/>
        </pc:sldMkLst>
      </pc:sldChg>
      <pc:sldChg chg="modSp mod">
        <pc:chgData name="Kevin Worrall" userId="e21a6e1f-6189-4284-9649-bf7c66c7a38c" providerId="ADAL" clId="{B294D135-36AD-4905-82C7-C24D4CC5C725}" dt="2026-01-24T17:32:25.490" v="30" actId="20577"/>
        <pc:sldMkLst>
          <pc:docMk/>
          <pc:sldMk cId="1798556276" sldId="435"/>
        </pc:sldMkLst>
        <pc:spChg chg="mod">
          <ac:chgData name="Kevin Worrall" userId="e21a6e1f-6189-4284-9649-bf7c66c7a38c" providerId="ADAL" clId="{B294D135-36AD-4905-82C7-C24D4CC5C725}" dt="2026-01-24T17:32:25.490" v="30" actId="20577"/>
          <ac:spMkLst>
            <pc:docMk/>
            <pc:sldMk cId="1798556276" sldId="435"/>
            <ac:spMk id="3" creationId="{0EC2D61B-0204-42F3-52E6-931A9496968D}"/>
          </ac:spMkLst>
        </pc:spChg>
      </pc:sldChg>
      <pc:sldChg chg="del">
        <pc:chgData name="Kevin Worrall" userId="e21a6e1f-6189-4284-9649-bf7c66c7a38c" providerId="ADAL" clId="{B294D135-36AD-4905-82C7-C24D4CC5C725}" dt="2026-01-24T17:32:03.257" v="0" actId="47"/>
        <pc:sldMkLst>
          <pc:docMk/>
          <pc:sldMk cId="1602103317" sldId="4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85B6B-ECE2-4879-A9A5-03850BAAFBB0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A1267-AA76-4E48-81A7-ED6197690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7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F58C-8BCA-9DAE-BD74-C1C2FCD7F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AE072-E804-2A49-16DF-AF7E7A48B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DCEB-63E3-2C3C-5733-70A2EAAE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2FAF-A12F-D343-44AC-E2D06CA7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3395-F0CE-3125-9EE1-EEBFB00B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75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F12A-F468-EA7B-215A-2B5422DF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239ED-4BC3-0D3C-BF12-00CF3DB7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2BEF-488D-CEE3-962A-3311BB88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F3C24-25C4-8E32-4359-C77132A0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11864-67DB-9FA9-B747-9269A3D1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AE9E-059D-77A1-18E9-C16FB514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2A608-004E-F948-57F1-624E0E6BA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EB74-1498-BF75-4C86-0B062F57E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3779B-05F5-B613-22AE-55203B01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7DB7-2543-9D89-2AFC-F387623B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54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A16B-3F9E-C765-1FED-2539BA4A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453F-A977-378C-A314-13159B4D3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4D162-A8CF-DF37-B039-DA5C90CD5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8CFE9-B33C-DB52-523F-F1EE49B7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3D199-93C8-6062-7A7F-FC38CC03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0DC2B-F3C1-F520-346E-47E8CDFC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94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34C3-9B69-8CB5-3C5A-2C7E6518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9580E-DE21-74E3-301E-6257C176B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C6000-528B-B692-E7DE-C192443E5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A00D0-74F9-9AED-40BD-4A3A8BDAB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4537B-B865-1916-E771-33E1DA4CA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30F72F-3C91-2D41-CDD6-CC0868BE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CFE57-26F5-9073-7025-DD44DE71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415BC-F079-B996-7075-6AD280B3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40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0DC4-2B73-9033-2098-CC8E533F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90E09-48DF-774F-A86D-104A974E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94195-E419-8B64-946A-99C62EF7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8FBC8-03D0-FEDB-EF27-41186239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24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65F72-70F1-8288-2127-24A9E3B6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E0233-F9E8-728B-B5FC-FC61F0F7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1ABAA-BCEE-FBCA-9615-F131D5C6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18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91D4-285B-77BF-6343-79AEAA63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0F65-9235-9D41-E166-3C50807B2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C9127-6F9E-B3C2-D739-A7FE9AF1B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26EA6-52E4-6ABA-0DE5-0D5FBFE3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6F52C-4438-32A7-6368-2FDC1F99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39FD-7B30-0F81-0222-7905AB1B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9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8D2E-1861-0848-7223-6CDF7630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769B0-D980-868D-8143-C518D334C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797C0-0E09-6420-D535-3F14948C2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7B103-1AB4-A121-4C11-2B2B30C8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C8EBA-7F62-3BA6-2DA9-9655799E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1B207-8185-CAA3-FEFB-DB6CAC1F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49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FEA0-AA01-0AE9-9136-B422ECB2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E6DA3-C98B-5AE6-75F1-34FC55BB4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033F-5962-1735-CD4E-4EF0F87D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7BE1D-17CD-5488-20BB-5AF169C9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B1782-B585-61A9-F0C5-B7DAD1D9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60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65441-1440-F504-9E5F-91A1A3D6F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084F2-1881-9050-1E7C-B42D32B95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C68E-071E-C819-F0BC-62932ED0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97C12-C04F-23B4-82AC-C8D76FBD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B6C36-7D32-3940-2A6A-70078B41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118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1495-F5D4-4BAE-846E-C1BA39B38C3E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32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0E1F-D883-4734-8D17-FAFD2FE3F82B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338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3C43-999F-4677-8B7B-A143626357DE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624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E2D2-7D84-4F62-AB79-04DD5D6E2A83}" type="datetime1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420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2E2F-086F-40AD-AE37-0FE3516ECA88}" type="datetime1">
              <a:rPr lang="en-GB" smtClean="0"/>
              <a:t>24/01/2026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33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7FCF-08A1-4FE4-9E9D-DC420D650C18}" type="datetime1">
              <a:rPr lang="en-GB" smtClean="0"/>
              <a:t>24/01/2026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533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A0C7-BAEE-4F35-8A3B-93DC0CEF01B4}" type="datetime1">
              <a:rPr lang="en-GB" smtClean="0"/>
              <a:t>24/01/2026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711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68E4-9C31-482F-B818-B582CFCA3920}" type="datetime1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957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7033-DBE3-47C4-85A3-06E175F67215}" type="datetime1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67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8CAA1-DC3A-4AD5-88F3-EBC71BAF0E08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625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6873-85DD-4CDB-895B-8ED6F6A7367F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19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4E8B-37FD-9C94-2364-2F80AFA8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8344D-C46E-8B56-7CC9-045FF5A35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73CD2-6AF9-2D57-2EEA-7D28811E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6C50A-3123-CB97-E85F-66DB0E05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6919-EBFB-985B-1C50-35ADCAA7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65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B74E-DD69-3178-BAC1-F3CD932A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D8BE5-E142-4D6C-AC14-5BA0C6CE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839DF-8512-ADDE-07FE-85CD6E9C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B027B-8D3B-C64A-3025-8A8EB279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853BE-2DBD-0099-16AF-CC53B3A2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1729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4818-5ED3-2C98-30FE-6B3EF7D6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C8BD0-25FF-25B1-0FD5-6725F977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2761D-B2E5-34BA-76D0-FC4E54AC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CAB1-F0EB-B5BE-7F58-F323BD66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19B5C-49BF-8986-B8BD-C6FE1E0D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93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A9A3-681D-59B3-CC9F-D557B060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961ED-C2D4-967C-3EFE-2684D4552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3AFD9-BCDE-2B9D-6951-5E27E57C3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26A7B-CC0D-6EFF-B9D9-44F16767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CA6E8-5A9B-05DA-73D7-A96BF460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7C921-2691-6FD5-CF10-A6B1DF97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4375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3AF9-E752-190E-985C-5DE562AB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2A2E9-3BE6-384A-8718-7B955468A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A1F94-B677-1E33-CD58-8489B2690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6DBA2-7847-75B9-25EE-5616456E0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54976-76EF-4AA3-2366-5226697A6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885D9-CFA0-1D63-407B-B7704F9B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617BA-FFDE-E2A8-4685-D7581C1E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8BE74-2B56-CF2C-87E1-4EFC7512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706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0689-A260-FA7E-60A7-FE49A32D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C8E7A-C7F3-CEE6-A7FE-3FEB4F09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7114B-5D8B-91DF-5BE1-CE129CF23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B0248-68CC-BD44-9967-84F7C995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2011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E1B69-3C24-BACF-E6F1-9DCF3671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4D620-AEB9-B462-B013-5F74B525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78E37-534F-2BFF-834D-CB0694BE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9290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86BD-9430-53AA-9C43-03868A2D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51F7-6B27-D5F9-9825-40DC7E04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BACF2-5A5D-4678-71BE-7E3D8A1C0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1DECC-F9DA-0EB6-3D64-71F32CFD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D5606-8EF0-5271-56A3-1A5689A2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9569-227A-C4B5-4D81-D69B215E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4893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0A94-6CF6-AFDD-D291-8B1B098E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2E682-6CAC-6D50-979D-B8A197DC1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23CA4-C841-0296-21B0-CE41A102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331D5-2982-DA84-5C7B-F07C4590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645DB-7D41-D268-567B-59F09C0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59E3E-2370-C950-40E5-DF1AA58A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9804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C5D8-6A69-4432-39BD-DBFA2E37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70860-48EB-51AB-5212-F0D13FBA4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6F6CD-D53A-A1FD-E954-7ADEFB35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024B7-9DA2-A7FE-F5D5-6AB3B8CA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997BE-FDB8-00CE-A6EA-D92B8DB4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5613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7A5BB-CC85-548C-AA97-52E038E43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14C2E-AF04-6140-859D-E89F9766C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4B7DD-208E-6AE5-9CBD-9B2AA288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6FC67-B154-C2C9-57B4-CF39D2BC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3DE01-6F38-5004-12BA-65C3B9DC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67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BE372-C2C9-F9AF-833F-B3EE795E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96A35-619D-3AD0-E638-145E099E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BD850-D43F-D232-8CCF-FD074823F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EB537-59C1-470B-B7DB-A4273EAFC1DC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36D51-2B55-253D-7AD9-BE523588B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4A25D-A934-6744-A8F2-3CA701561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E19E8-2C3C-4074-9891-2130400782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2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B35A-6C1C-44EB-A894-5CBC41E755B3}" type="datetime1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45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4F3F6-2061-A0C8-CCDC-17FFD0AD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6A7E1-D830-5C56-3CC4-5018384D8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BF59-0EF5-BC33-8418-8E59C28F1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D4A1C-62C1-4010-836C-8C594F99AAE1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C5A2F-07C4-0B64-5D10-411D7F0F5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4FF3D-228F-A48B-8C91-F5BE9C443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9D6D7-0A44-4FA4-92D1-1D1E766E0D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5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OmYCh_i_JI" TargetMode="External"/><Relationship Id="rId2" Type="http://schemas.openxmlformats.org/officeDocument/2006/relationships/hyperlink" Target="https://www.youtube.com/watch?v=zzHcsJDV3_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sjvaYAFN1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4kfzqZpttT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GB" sz="5200" b="1">
                <a:solidFill>
                  <a:srgbClr val="FFFFFF"/>
                </a:solidFill>
              </a:rPr>
              <a:t>ENG4118/5326 - Robotics 4/M</a:t>
            </a:r>
            <a:br>
              <a:rPr lang="en-GB" sz="5200" b="1">
                <a:solidFill>
                  <a:srgbClr val="FFFFFF"/>
                </a:solidFill>
              </a:rPr>
            </a:br>
            <a:r>
              <a:rPr lang="en-GB" sz="5200" b="1">
                <a:solidFill>
                  <a:srgbClr val="FFFFFF"/>
                </a:solidFill>
              </a:rPr>
              <a:t>Sensors, Actuators and Image capture, processing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rgbClr val="FFFFFF"/>
                </a:solidFill>
              </a:rPr>
              <a:t>Lecture 6</a:t>
            </a:r>
          </a:p>
          <a:p>
            <a:r>
              <a:rPr lang="en-GB" sz="2000" dirty="0">
                <a:solidFill>
                  <a:srgbClr val="FFFFFF"/>
                </a:solidFill>
              </a:rPr>
              <a:t>Kevin Worrall</a:t>
            </a: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FB52-67A8-E2C7-2462-FB99CD1C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31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879391"/>
          </a:xfrm>
        </p:spPr>
        <p:txBody>
          <a:bodyPr anchor="b">
            <a:normAutofit/>
          </a:bodyPr>
          <a:lstStyle/>
          <a:p>
            <a:r>
              <a:rPr lang="en-GB" sz="5600" b="1" dirty="0"/>
              <a:t>Overview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57451-DC0D-84D4-4468-91BA2BD3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53" b="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346663"/>
            <a:ext cx="4195673" cy="4558028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1">
                    <a:alpha val="80000"/>
                  </a:schemeClr>
                </a:solidFill>
              </a:rPr>
              <a:t>Optical Encoders</a:t>
            </a:r>
          </a:p>
          <a:p>
            <a:r>
              <a:rPr lang="en-GB" sz="4000" dirty="0">
                <a:solidFill>
                  <a:schemeClr val="tx1">
                    <a:alpha val="80000"/>
                  </a:schemeClr>
                </a:solidFill>
              </a:rPr>
              <a:t>Velocity Sensors</a:t>
            </a:r>
          </a:p>
          <a:p>
            <a:r>
              <a:rPr lang="en-GB" sz="4000" dirty="0">
                <a:solidFill>
                  <a:schemeClr val="tx1">
                    <a:alpha val="80000"/>
                  </a:schemeClr>
                </a:solidFill>
              </a:rPr>
              <a:t>Rate Gyroscope</a:t>
            </a:r>
          </a:p>
          <a:p>
            <a:r>
              <a:rPr lang="en-GB" sz="4000" dirty="0">
                <a:solidFill>
                  <a:schemeClr val="tx1">
                    <a:alpha val="80000"/>
                  </a:schemeClr>
                </a:solidFill>
              </a:rPr>
              <a:t>Acceleration Sensors</a:t>
            </a:r>
          </a:p>
          <a:p>
            <a:r>
              <a:rPr lang="en-GB" sz="4000" dirty="0">
                <a:solidFill>
                  <a:schemeClr val="tx1">
                    <a:alpha val="80000"/>
                  </a:schemeClr>
                </a:solidFill>
              </a:rPr>
              <a:t>Review</a:t>
            </a:r>
          </a:p>
        </p:txBody>
      </p:sp>
      <p:sp>
        <p:nvSpPr>
          <p:cNvPr id="13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761D-BFB0-57EF-E43B-6C4AC298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alpha val="6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49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6216B-3E08-A160-C46A-D1C2AE69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D3586-CCDF-36BB-73A2-57D1B1CE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B1CA6-A924-B46E-2429-7477AB815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75A86-1016-51D9-BB1B-CAD3D825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42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600" b="1" i="1" dirty="0"/>
              <a:t>Encoder</a:t>
            </a:r>
            <a:r>
              <a:rPr lang="en-GB" sz="3600" dirty="0"/>
              <a:t> is a device which provides a digital output in relation to an angular displacement</a:t>
            </a:r>
          </a:p>
          <a:p>
            <a:r>
              <a:rPr lang="en-GB" sz="3600" dirty="0"/>
              <a:t>Position encoders falls into two categories </a:t>
            </a:r>
            <a:r>
              <a:rPr lang="en-GB" sz="3600" b="1" i="1" dirty="0"/>
              <a:t>Incremental</a:t>
            </a:r>
            <a:r>
              <a:rPr lang="en-GB" sz="3600" dirty="0"/>
              <a:t> or </a:t>
            </a:r>
            <a:r>
              <a:rPr lang="en-GB" sz="3600" b="1" i="1" dirty="0"/>
              <a:t>Absolute</a:t>
            </a:r>
          </a:p>
          <a:p>
            <a:r>
              <a:rPr lang="en-GB" sz="3600" b="1" i="1" dirty="0"/>
              <a:t>Incremental </a:t>
            </a:r>
            <a:r>
              <a:rPr lang="en-GB" sz="3600" dirty="0"/>
              <a:t>encoders detect changes in position from some reference (datum) position</a:t>
            </a:r>
          </a:p>
          <a:p>
            <a:r>
              <a:rPr lang="en-GB" sz="3600" b="1" i="1" dirty="0"/>
              <a:t>Absolute </a:t>
            </a:r>
            <a:r>
              <a:rPr lang="en-GB" sz="3600" dirty="0"/>
              <a:t>encoders give actual angular position</a:t>
            </a:r>
          </a:p>
          <a:p>
            <a:r>
              <a:rPr lang="en-GB" sz="3600" dirty="0"/>
              <a:t>The advantage of this type of sensor is that they are contactless detectors which avoid wear issues but must be kept clean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52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Optical Encoders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/>
              <a:t>Incremental encoders utilise a light source and light detector</a:t>
            </a:r>
          </a:p>
          <a:p>
            <a:r>
              <a:rPr lang="en-GB" sz="3600"/>
              <a:t>The light source passes through slots in the disk and is detected by the light detector.</a:t>
            </a:r>
          </a:p>
          <a:p>
            <a:r>
              <a:rPr lang="en-GB" sz="3600"/>
              <a:t>When the disk is rotated a pulsed output is produced by the detector with the number of pulses produced being proportional to the angle through which the disk has rotated</a:t>
            </a:r>
            <a:endParaRPr lang="en-GB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F7588A-8BBE-1FB9-AD54-DC2887D8AE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4674" y="1027906"/>
            <a:ext cx="5029126" cy="48111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8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600" dirty="0"/>
              <a:t>In practice three concentric disk tracks are used with three LED/detector pairs.</a:t>
            </a:r>
          </a:p>
          <a:p>
            <a:r>
              <a:rPr lang="en-GB" sz="3600" dirty="0"/>
              <a:t>The innermost ring has a single hole and is used to locate the home position of the disk</a:t>
            </a:r>
          </a:p>
          <a:p>
            <a:r>
              <a:rPr lang="en-GB" sz="3600" dirty="0"/>
              <a:t>The two outer tracks have a series of equally spaced holes which are offset to one another which allows the direction of rotation to be determined</a:t>
            </a:r>
          </a:p>
          <a:p>
            <a:r>
              <a:rPr lang="en-GB" sz="3600" dirty="0"/>
              <a:t>In a clockwise rotation, the pulses from the outer track lead those from the inner track and the opposite is true for the anti-clockwise direction</a:t>
            </a:r>
          </a:p>
          <a:p>
            <a:r>
              <a:rPr lang="en-GB" sz="3600" dirty="0"/>
              <a:t>Encoder resolution is determined by the number of slots on the disk e.g. for 60 slots in 1 revolution the resolution is 360°/ 60=6°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8A02C-0384-48AB-8A75-C4A3EC3AA9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5805AA-5375-BB9E-B36C-B971A87A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10535"/>
            <a:ext cx="5466394" cy="271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3600" b="1" i="1" dirty="0"/>
              <a:t>Absolute encoders </a:t>
            </a:r>
            <a:r>
              <a:rPr lang="en-GB" sz="3600" dirty="0"/>
              <a:t>produce a unique code for every position of shaft</a:t>
            </a:r>
          </a:p>
          <a:p>
            <a:r>
              <a:rPr lang="en-GB" sz="3600" dirty="0"/>
              <a:t>The output from the detector is in the form of a binary number</a:t>
            </a:r>
          </a:p>
          <a:p>
            <a:r>
              <a:rPr lang="en-GB" sz="3600" dirty="0"/>
              <a:t>The rotating disk opposite has four concentric circles of slots and four detectors to detect the light pulses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8A02C-0384-48AB-8A75-C4A3EC3AA9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93A121-614D-4128-0A0C-A51EF480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142" y="2153570"/>
            <a:ext cx="3687716" cy="369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0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3600" dirty="0"/>
              <a:t>These slots are arranged such that the sequential output from the detectors is a number in binary code</a:t>
            </a:r>
          </a:p>
          <a:p>
            <a:r>
              <a:rPr lang="en-GB" sz="3600" dirty="0"/>
              <a:t>Typical encoders have up to 10 or 12 tracks and the number of bits in the binary number will be equal to the number of tracks</a:t>
            </a:r>
          </a:p>
          <a:p>
            <a:r>
              <a:rPr lang="en-GB" sz="3600" dirty="0"/>
              <a:t>Thus with 10 tracks there will be 10 bits so the number of positions that can be detected is 2^10 =1024</a:t>
            </a:r>
          </a:p>
          <a:p>
            <a:r>
              <a:rPr lang="en-GB" sz="3600" dirty="0"/>
              <a:t>This gives a resolution of 360°/ 1024=0.35° for a single rotation of the disk</a:t>
            </a:r>
          </a:p>
          <a:p>
            <a:r>
              <a:rPr lang="en-GB" sz="3600" dirty="0"/>
              <a:t>The normal form of binary code isn’t used since changing from one binary number to the next can result in more than one bit changing</a:t>
            </a:r>
          </a:p>
          <a:p>
            <a:r>
              <a:rPr lang="en-GB" sz="3600" dirty="0"/>
              <a:t>To overcome this Gray Code is used with only one bit changing from one number to the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11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B9B6E4B-F1B7-0CA1-17E3-A3A08592B52C}"/>
              </a:ext>
            </a:extLst>
          </p:cNvPr>
          <p:cNvGraphicFramePr/>
          <p:nvPr/>
        </p:nvGraphicFramePr>
        <p:xfrm>
          <a:off x="3322366" y="1672592"/>
          <a:ext cx="5547268" cy="4866320"/>
        </p:xfrm>
        <a:graphic>
          <a:graphicData uri="http://schemas.openxmlformats.org/drawingml/2006/table">
            <a:tbl>
              <a:tblPr/>
              <a:tblGrid>
                <a:gridCol w="1849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Decimal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Binary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Gray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0000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0000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0001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0001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2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0010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0011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3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0011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0010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4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0100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0110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5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0101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0111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6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0110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0101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7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0111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0100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8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1000</a:t>
                      </a:r>
                      <a:endParaRPr lang="en-GB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1100</a:t>
                      </a:r>
                      <a:endParaRPr lang="en-GB" sz="2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20872" marR="120872" marT="60436" marB="604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58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Optical 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6080">
              <a:lnSpc>
                <a:spcPct val="90000"/>
              </a:lnSpc>
              <a:spcAft>
                <a:spcPts val="1414"/>
              </a:spcAft>
              <a:buClr>
                <a:srgbClr val="000000"/>
              </a:buClr>
              <a:buFont typeface="Arial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Incremental Encoder</a:t>
            </a:r>
            <a:endParaRPr lang="en-GB" sz="3600" b="0" strike="noStrike" spc="-1" dirty="0">
              <a:solidFill>
                <a:srgbClr val="000000"/>
              </a:solidFill>
              <a:latin typeface="Arial"/>
            </a:endParaRPr>
          </a:p>
          <a:p>
            <a:pPr lvl="1" indent="-226080">
              <a:spcAft>
                <a:spcPts val="1414"/>
              </a:spcAft>
              <a:buClr>
                <a:srgbClr val="000000"/>
              </a:buClr>
              <a:buFont typeface="Arial"/>
              <a:buChar char="•"/>
            </a:pPr>
            <a:r>
              <a:rPr lang="en-GB" sz="3200" b="0" u="sng" strike="noStrike" spc="-1" dirty="0">
                <a:solidFill>
                  <a:srgbClr val="0000FF"/>
                </a:solidFill>
                <a:uFillTx/>
                <a:latin typeface="Arial"/>
                <a:ea typeface="DejaVu Sans"/>
                <a:hlinkClick r:id="rId2"/>
              </a:rPr>
              <a:t>https://www.youtube.com/watch?v=zzHcsJDV3_o</a:t>
            </a:r>
            <a:endParaRPr lang="en-GB" sz="3200" b="0" u="sng" strike="noStrike" spc="-1" dirty="0">
              <a:solidFill>
                <a:srgbClr val="0000FF"/>
              </a:solidFill>
              <a:uFillTx/>
              <a:latin typeface="Arial"/>
              <a:ea typeface="DejaVu Sans"/>
            </a:endParaRPr>
          </a:p>
          <a:p>
            <a:pPr indent="-226080">
              <a:spcAft>
                <a:spcPts val="1414"/>
              </a:spcAft>
              <a:buClr>
                <a:srgbClr val="000000"/>
              </a:buClr>
              <a:buFont typeface="Arial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Absolute Encoder</a:t>
            </a:r>
            <a:endParaRPr lang="en-GB" sz="3600" b="0" strike="noStrike" spc="-1" dirty="0">
              <a:solidFill>
                <a:srgbClr val="000000"/>
              </a:solidFill>
              <a:latin typeface="Arial"/>
            </a:endParaRPr>
          </a:p>
          <a:p>
            <a:pPr lvl="1" indent="-226080">
              <a:spcAft>
                <a:spcPts val="1414"/>
              </a:spcAft>
              <a:buClr>
                <a:srgbClr val="000000"/>
              </a:buClr>
              <a:buFont typeface="Arial"/>
              <a:buChar char="•"/>
            </a:pPr>
            <a:r>
              <a:rPr lang="en-GB" sz="3200" b="0" strike="noStrike" spc="-1">
                <a:solidFill>
                  <a:srgbClr val="000000"/>
                </a:solidFill>
                <a:latin typeface="Arial"/>
                <a:hlinkClick r:id="rId3"/>
              </a:rPr>
              <a:t>https://www.youtube.com/watch?v=yOmYCh_i_JI</a:t>
            </a: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07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AE32F-D96C-FEB8-64D1-B9CF6AB9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F85CA0-53F7-4698-2226-1FA0BD5D9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BFFA4-A47F-6A0A-BC7D-F70314F1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Velocity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DFF0C-6002-533B-0D5A-0563EAAD0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5835BB54-FE35-16A5-97E6-2D68C83D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4EF18045-155B-4B01-4C9A-8263A1FDC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A0356632-BEF9-D1BE-59EA-FDDF0F873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raphic 21">
            <a:extLst>
              <a:ext uri="{FF2B5EF4-FFF2-40B4-BE49-F238E27FC236}">
                <a16:creationId xmlns:a16="http://schemas.microsoft.com/office/drawing/2014/main" id="{887568B9-9475-B018-DED0-43A01A60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4ED1896D-D70C-0837-1083-5209BADC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Graphic 23">
            <a:extLst>
              <a:ext uri="{FF2B5EF4-FFF2-40B4-BE49-F238E27FC236}">
                <a16:creationId xmlns:a16="http://schemas.microsoft.com/office/drawing/2014/main" id="{671BE513-BF01-3164-C9CA-6E21EE046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F88E82-A378-1968-28DD-EC506A8E9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FDB07-CE35-7932-D414-43DC839A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983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Velocity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Designed to measure the velocity of the system</a:t>
            </a:r>
          </a:p>
          <a:p>
            <a:r>
              <a:rPr lang="en-GB" sz="3600" dirty="0"/>
              <a:t>With some calculations incremental encoders can be used as velocity sensors</a:t>
            </a:r>
          </a:p>
          <a:p>
            <a:r>
              <a:rPr lang="en-GB" sz="3600" dirty="0"/>
              <a:t>Other velocity sensors exist...</a:t>
            </a:r>
          </a:p>
          <a:p>
            <a:pPr lvl="1"/>
            <a:r>
              <a:rPr lang="en-GB" sz="3200" dirty="0"/>
              <a:t>Keep in mind Appropriate use!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65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Velocity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Tachometer</a:t>
            </a:r>
          </a:p>
          <a:p>
            <a:pPr lvl="1"/>
            <a:r>
              <a:rPr lang="en-GB" dirty="0"/>
              <a:t>A tachometer is a generator which converts mechanical energy into electrical energy</a:t>
            </a:r>
          </a:p>
          <a:p>
            <a:pPr lvl="1"/>
            <a:r>
              <a:rPr lang="en-GB" dirty="0"/>
              <a:t>Its output is an analogue voltage proportional to the input angular speed.</a:t>
            </a:r>
          </a:p>
          <a:p>
            <a:pPr lvl="1"/>
            <a:r>
              <a:rPr lang="en-GB" dirty="0"/>
              <a:t>Tachometers are generally inaccurate at very low speeds</a:t>
            </a:r>
          </a:p>
          <a:p>
            <a:pPr lvl="1"/>
            <a:r>
              <a:rPr lang="en-GB" dirty="0"/>
              <a:t>Non-linearity for these sensors is typically ±0.15% and they can operate up to speeds of 10,000 rpm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110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Velocity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Variable reluctance tachometer</a:t>
            </a:r>
          </a:p>
          <a:p>
            <a:pPr lvl="1"/>
            <a:r>
              <a:rPr lang="en-GB" dirty="0"/>
              <a:t>Uses a toothed wheel of ferromagnetic material which is connected to a rotating shaft and a coil to sense angular velocity again using a process of counting pulses.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BCD98E-A382-C004-CA57-8BABEBA6A2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71573"/>
            <a:ext cx="5181600" cy="28594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6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Velocity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1800" dirty="0"/>
              <a:t>A pickup coil is wound around a permanent magnet and as the wheel rotates the teeth move past the coil thus changing the air gap between the ferromagnetic material and the coil</a:t>
            </a:r>
          </a:p>
          <a:p>
            <a:r>
              <a:rPr lang="en-GB" sz="1800" dirty="0"/>
              <a:t>The changing flux due to the change in air gap between the coil and ferromagnetic teeth produces an alternating emf in the coil</a:t>
            </a:r>
          </a:p>
          <a:p>
            <a:r>
              <a:rPr lang="en-GB" sz="1800" dirty="0"/>
              <a:t>If the wheel has </a:t>
            </a:r>
            <a:r>
              <a:rPr lang="en-GB" sz="1800" i="1" dirty="0"/>
              <a:t>n</a:t>
            </a:r>
            <a:r>
              <a:rPr lang="en-GB" sz="1800" dirty="0"/>
              <a:t> teeth and rotates with angular velocity </a:t>
            </a:r>
            <a:r>
              <a:rPr lang="en-GB" sz="1800" i="1" dirty="0"/>
              <a:t>ω</a:t>
            </a:r>
            <a:r>
              <a:rPr lang="en-GB" sz="1800" dirty="0"/>
              <a:t>, the flux change with time is of the form: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	Φ</a:t>
            </a:r>
            <a:r>
              <a:rPr lang="en-GB" sz="1800" baseline="-25000" dirty="0"/>
              <a:t> </a:t>
            </a:r>
            <a:r>
              <a:rPr lang="en-GB" sz="1800" dirty="0"/>
              <a:t>= Φ</a:t>
            </a:r>
            <a:r>
              <a:rPr lang="en-GB" sz="1800" baseline="-25000" dirty="0"/>
              <a:t>0</a:t>
            </a:r>
            <a:r>
              <a:rPr lang="en-GB" sz="1800" dirty="0"/>
              <a:t>+ Φ</a:t>
            </a:r>
            <a:r>
              <a:rPr lang="en-GB" sz="1800" baseline="-25000" dirty="0"/>
              <a:t>V</a:t>
            </a:r>
            <a:r>
              <a:rPr lang="en-GB" sz="1800" dirty="0"/>
              <a:t> cos(n.</a:t>
            </a:r>
            <a:r>
              <a:rPr lang="en-GB" sz="1800" i="1" dirty="0"/>
              <a:t>ω</a:t>
            </a:r>
            <a:r>
              <a:rPr lang="en-GB" sz="1800" dirty="0"/>
              <a:t>.t)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Where Φ</a:t>
            </a:r>
            <a:r>
              <a:rPr lang="en-GB" sz="1800" baseline="-25000" dirty="0"/>
              <a:t>0</a:t>
            </a:r>
            <a:r>
              <a:rPr lang="en-GB" sz="1800" dirty="0"/>
              <a:t> is the mean value of the flux and Φ</a:t>
            </a:r>
            <a:r>
              <a:rPr lang="en-GB" sz="1800" baseline="-25000" dirty="0"/>
              <a:t>V</a:t>
            </a:r>
            <a:r>
              <a:rPr lang="en-GB" sz="1800" dirty="0"/>
              <a:t> is the amplitude of flux variation due to the presence of the toothed wheel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BCD98E-A382-C004-CA57-8BABEBA6A2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71573"/>
            <a:ext cx="5181600" cy="28594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5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Velocity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induced emf in the N turns of the pickup coil is given by: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where the maximum value of the induced emf is 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and is thus a measure of the angular velocity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AB7957-4B20-6063-B33A-2C5F37481AFB}"/>
                  </a:ext>
                </a:extLst>
              </p:cNvPr>
              <p:cNvSpPr txBox="1"/>
              <p:nvPr/>
            </p:nvSpPr>
            <p:spPr>
              <a:xfrm>
                <a:off x="862793" y="2663204"/>
                <a:ext cx="10466413" cy="1032495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00">
                          <a:latin typeface="Cambria Math" panose="02040503050406030204" pitchFamily="18" charset="0"/>
                        </a:rPr>
                        <m:t>𝑒𝑚𝑓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sz="280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280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280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AB7957-4B20-6063-B33A-2C5F37481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3" y="2663204"/>
                <a:ext cx="10466413" cy="103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30102C-E705-88E4-0CB9-FA994ACEF082}"/>
                  </a:ext>
                </a:extLst>
              </p:cNvPr>
              <p:cNvSpPr txBox="1"/>
              <p:nvPr/>
            </p:nvSpPr>
            <p:spPr>
              <a:xfrm>
                <a:off x="4384404" y="4620611"/>
                <a:ext cx="3423190" cy="31572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280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280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30102C-E705-88E4-0CB9-FA994ACEF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404" y="4620611"/>
                <a:ext cx="3423190" cy="315720"/>
              </a:xfrm>
              <a:prstGeom prst="rect">
                <a:avLst/>
              </a:prstGeom>
              <a:blipFill>
                <a:blip r:embed="rId3"/>
                <a:stretch>
                  <a:fillRect b="-44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01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D0901-BF7D-64B3-A265-E9D89C37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69DD6A-D929-BB87-5C7B-89EAC70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09601-3330-A26A-5C88-A5CE7C18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Rate Gyroscope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73A3C-5072-65CC-FE64-96E1EE0E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83C66373-DE89-2979-7F64-8B3B14CC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F7BAA626-560F-15E0-BD4A-D23947BD1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EFD2066C-AE17-0213-9A4E-C5FBE52E2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raphic 21">
            <a:extLst>
              <a:ext uri="{FF2B5EF4-FFF2-40B4-BE49-F238E27FC236}">
                <a16:creationId xmlns:a16="http://schemas.microsoft.com/office/drawing/2014/main" id="{18B83A8F-01D8-3101-9C3C-D3C9D97FC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F34761D2-4067-67A6-A986-198EC2C1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Graphic 23">
            <a:extLst>
              <a:ext uri="{FF2B5EF4-FFF2-40B4-BE49-F238E27FC236}">
                <a16:creationId xmlns:a16="http://schemas.microsoft.com/office/drawing/2014/main" id="{EE202A88-1963-429C-08BB-402B022D6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A7691A-FA18-179E-975C-60419E5B1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F4F13-E3E7-6886-6782-B1E79F4E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651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Rate Gyroscope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Rate Gyroscopes</a:t>
            </a:r>
          </a:p>
          <a:p>
            <a:pPr lvl="1"/>
            <a:r>
              <a:rPr lang="en-GB" dirty="0"/>
              <a:t>Measures rate of change of angle with time</a:t>
            </a:r>
          </a:p>
          <a:p>
            <a:pPr lvl="1"/>
            <a:r>
              <a:rPr lang="en-GB" dirty="0"/>
              <a:t>Very common</a:t>
            </a:r>
          </a:p>
          <a:p>
            <a:pPr lvl="1"/>
            <a:r>
              <a:rPr lang="en-GB" dirty="0"/>
              <a:t>Accuracy varies, as does the price</a:t>
            </a:r>
          </a:p>
          <a:p>
            <a:pPr lvl="1"/>
            <a:r>
              <a:rPr lang="en-GB" dirty="0"/>
              <a:t>Very fast to respond</a:t>
            </a:r>
          </a:p>
          <a:p>
            <a:pPr lvl="1"/>
            <a:r>
              <a:rPr lang="en-GB" dirty="0"/>
              <a:t>Different ranges exist &lt;±50°s-1 to &gt;±1000°s-1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25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Rate Gyroscope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Various technologies exist</a:t>
            </a:r>
          </a:p>
          <a:p>
            <a:pPr lvl="1"/>
            <a:r>
              <a:rPr lang="en-GB" dirty="0"/>
              <a:t>From laser to mems</a:t>
            </a:r>
          </a:p>
          <a:p>
            <a:pPr lvl="1"/>
            <a:r>
              <a:rPr lang="en-GB" dirty="0"/>
              <a:t>MEMs (</a:t>
            </a:r>
            <a:r>
              <a:rPr lang="en-GB" dirty="0" err="1"/>
              <a:t>MicroElectroMechanical</a:t>
            </a:r>
            <a:r>
              <a:rPr lang="en-GB" dirty="0"/>
              <a:t> systems )</a:t>
            </a:r>
          </a:p>
          <a:p>
            <a:pPr lvl="2"/>
            <a:r>
              <a:rPr lang="en-GB" dirty="0"/>
              <a:t>mechanical devices built onto semiconductor chips</a:t>
            </a:r>
          </a:p>
          <a:p>
            <a:pPr lvl="2"/>
            <a:r>
              <a:rPr lang="en-GB" dirty="0"/>
              <a:t>Consist of microprocessor, micro-sensors and micro-actuators and can sense, control and activate mechanical processes on a micro-scale.</a:t>
            </a:r>
          </a:p>
          <a:p>
            <a:pPr lvl="2"/>
            <a:r>
              <a:rPr lang="en-GB" dirty="0"/>
              <a:t>MEMS range in size from 20 micrometres to 1mm with components 0.001 to 0.1 mm in size</a:t>
            </a:r>
          </a:p>
          <a:p>
            <a:r>
              <a:rPr lang="en-GB" dirty="0"/>
              <a:t>Introduction to MEMs Gyroscope</a:t>
            </a:r>
          </a:p>
          <a:p>
            <a:pPr lvl="1"/>
            <a:r>
              <a:rPr lang="en-GB" dirty="0">
                <a:hlinkClick r:id="rId2"/>
              </a:rPr>
              <a:t>https://www.youtube.com/watch?v=XsjvaYAFN1M</a:t>
            </a:r>
            <a:endParaRPr lang="en-GB" dirty="0"/>
          </a:p>
          <a:p>
            <a:r>
              <a:rPr lang="en-GB" dirty="0"/>
              <a:t>Basic principle is that an angular acceleration affects the system and this effect is detected</a:t>
            </a:r>
          </a:p>
          <a:p>
            <a:r>
              <a:rPr lang="en-GB" dirty="0"/>
              <a:t>Principle use is to detect the angular speed of a system</a:t>
            </a:r>
          </a:p>
          <a:p>
            <a:r>
              <a:rPr lang="en-GB" dirty="0"/>
              <a:t>Output can be integrated to get angular position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0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6C48E-6133-4EA9-106C-F65738C9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CE708B-E069-B0C7-2CAA-A0447B257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4F0C-E23D-6DBF-A228-3B73B20E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Acceleration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CB624-8B68-875F-EE2F-200F6B1F8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61CB2B3B-1AAF-DB83-E9F2-EBCEAF21A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27A32686-1CA7-5BB8-F183-84ACA71BF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113844CA-0E2F-74D8-2F1C-484154E8F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raphic 21">
            <a:extLst>
              <a:ext uri="{FF2B5EF4-FFF2-40B4-BE49-F238E27FC236}">
                <a16:creationId xmlns:a16="http://schemas.microsoft.com/office/drawing/2014/main" id="{B8629B59-E89D-ADB0-F94C-0F40E9E5B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9773E845-3DB8-0B38-12E4-2BB574F30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Graphic 23">
            <a:extLst>
              <a:ext uri="{FF2B5EF4-FFF2-40B4-BE49-F238E27FC236}">
                <a16:creationId xmlns:a16="http://schemas.microsoft.com/office/drawing/2014/main" id="{305505E5-7211-D926-0096-3648F1DD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2D158-2FB9-C2CC-091A-E7A64F5EB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D923-28F9-5F5F-FDF0-A4CC771A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466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Acceleration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Accelerometers</a:t>
            </a:r>
            <a:r>
              <a:rPr lang="en-GB" dirty="0"/>
              <a:t> measure the accelerations along the axis that the accelerometers have been attached to</a:t>
            </a:r>
          </a:p>
          <a:p>
            <a:r>
              <a:rPr lang="en-GB" dirty="0"/>
              <a:t>The design of an accelerometer is varied</a:t>
            </a:r>
          </a:p>
          <a:p>
            <a:pPr lvl="1"/>
            <a:r>
              <a:rPr lang="en-GB" dirty="0"/>
              <a:t>Some use a mass on beam that in turn is connected to a potentiometer</a:t>
            </a:r>
          </a:p>
          <a:p>
            <a:pPr lvl="1"/>
            <a:r>
              <a:rPr lang="en-GB" dirty="0"/>
              <a:t>Some are based on a capacitive effect</a:t>
            </a:r>
          </a:p>
          <a:p>
            <a:pPr lvl="1"/>
            <a:r>
              <a:rPr lang="en-GB" dirty="0"/>
              <a:t>Others are piezoelectric or piezoresistive</a:t>
            </a:r>
          </a:p>
          <a:p>
            <a:pPr lvl="1"/>
            <a:r>
              <a:rPr lang="en-GB" dirty="0"/>
              <a:t>And some can be LVDT based...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94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Acceleration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i="1" dirty="0"/>
              <a:t>LVDT Method</a:t>
            </a:r>
          </a:p>
          <a:p>
            <a:pPr lvl="1"/>
            <a:r>
              <a:rPr lang="en-GB" dirty="0"/>
              <a:t>The sensor detects acceleration by sensing the displacement of a mass restrained by a spring with a dashpot providing viscous resistance.</a:t>
            </a:r>
          </a:p>
          <a:p>
            <a:pPr lvl="1"/>
            <a:r>
              <a:rPr lang="en-GB" dirty="0"/>
              <a:t>The force exerted by the spring is proportional to spring extension (Hook’s Law) and force exerted by the dashpot is proportional to the LVDT shaft velocity. 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757C04-01CD-500D-DF37-5D80A30B98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3008" y="2580803"/>
            <a:ext cx="4419983" cy="28409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934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Acceleration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Most accelerometers you will come across are MEMs devices</a:t>
            </a:r>
          </a:p>
          <a:p>
            <a:r>
              <a:rPr lang="en-GB" dirty="0"/>
              <a:t>MEMs based:</a:t>
            </a:r>
          </a:p>
          <a:p>
            <a:pPr lvl="1"/>
            <a:r>
              <a:rPr lang="en-GB" u="sng" spc="-1" dirty="0">
                <a:solidFill>
                  <a:srgbClr val="0000FF"/>
                </a:solidFill>
                <a:ea typeface="DejaVu Sans"/>
                <a:hlinkClick r:id="rId2"/>
              </a:rPr>
              <a:t>https://www.youtube.com/watch?v=4kfzqZpttTA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EDE6B4-66D4-582E-CEB3-141ACC5512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88112" y="1690688"/>
            <a:ext cx="5273839" cy="24693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E2032-724E-912A-7324-427C23F8B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731" y="4288739"/>
            <a:ext cx="3276600" cy="22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7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Acceleration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Applications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Measuring Acceleration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Detecting Accelerations</a:t>
            </a:r>
          </a:p>
          <a:p>
            <a:pPr lvl="2"/>
            <a:r>
              <a:rPr lang="en-GB" spc="-1" dirty="0">
                <a:solidFill>
                  <a:srgbClr val="000000"/>
                </a:solidFill>
                <a:latin typeface="Arial"/>
              </a:rPr>
              <a:t>Air bags are often the example used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Output can be integrated for velocity</a:t>
            </a:r>
          </a:p>
          <a:p>
            <a:r>
              <a:rPr lang="en-GB" spc="-1" dirty="0">
                <a:solidFill>
                  <a:srgbClr val="000000"/>
                </a:solidFill>
                <a:latin typeface="Arial"/>
              </a:rPr>
              <a:t>Issues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Drift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Often need reset with an external source</a:t>
            </a:r>
          </a:p>
          <a:p>
            <a:pPr lvl="1"/>
            <a:r>
              <a:rPr lang="en-GB" spc="-1" dirty="0">
                <a:solidFill>
                  <a:srgbClr val="000000"/>
                </a:solidFill>
                <a:latin typeface="Arial"/>
              </a:rPr>
              <a:t>Output is either filtered or requires to be filtered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30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Review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Optical Encoders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Velocity Sensors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 Gyroscope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Acceleration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556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Bolton, W., Mechatronics, 5th Edition, Pearson, 2012</a:t>
            </a:r>
          </a:p>
          <a:p>
            <a:pPr lvl="1"/>
            <a:r>
              <a:rPr lang="en-GB" dirty="0"/>
              <a:t>Chapter 2 - Sections 2.1 and 2.2</a:t>
            </a:r>
          </a:p>
          <a:p>
            <a:pPr lvl="1"/>
            <a:endParaRPr lang="en-GB" dirty="0"/>
          </a:p>
          <a:p>
            <a:r>
              <a:rPr lang="en-GB" sz="2400" dirty="0" err="1"/>
              <a:t>Niku</a:t>
            </a:r>
            <a:r>
              <a:rPr lang="en-GB" sz="2400" dirty="0"/>
              <a:t>, S.B. , Introduction to Robotics, 2nd Edition, Wiley, New Jersey, 2011.</a:t>
            </a:r>
          </a:p>
          <a:p>
            <a:endParaRPr lang="en-GB" sz="2600" dirty="0"/>
          </a:p>
          <a:p>
            <a:endParaRPr lang="en-GB" sz="2600" dirty="0"/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4019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1225</Words>
  <Application>Microsoft Office PowerPoint</Application>
  <PresentationFormat>Widescreen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Calibri Light</vt:lpstr>
      <vt:lpstr>Cambria Math</vt:lpstr>
      <vt:lpstr>Century Gothic</vt:lpstr>
      <vt:lpstr>DejaVu Sans</vt:lpstr>
      <vt:lpstr>Custom Design</vt:lpstr>
      <vt:lpstr>1_Office Theme</vt:lpstr>
      <vt:lpstr>Office Theme</vt:lpstr>
      <vt:lpstr>ENG4118/5326 - Robotics 4/M Sensors, Actuators and Image capture, processing and analysis</vt:lpstr>
      <vt:lpstr>Overview</vt:lpstr>
      <vt:lpstr>Optical Encoders</vt:lpstr>
      <vt:lpstr>Optical Encoders</vt:lpstr>
      <vt:lpstr>Optical Encoders</vt:lpstr>
      <vt:lpstr>Optical Encoders</vt:lpstr>
      <vt:lpstr>Optical Encoders</vt:lpstr>
      <vt:lpstr>Optical Encoders</vt:lpstr>
      <vt:lpstr>Optical Encoders</vt:lpstr>
      <vt:lpstr>Optical Encoders</vt:lpstr>
      <vt:lpstr>Velocity Sensors</vt:lpstr>
      <vt:lpstr>Velocity Sensors</vt:lpstr>
      <vt:lpstr>Velocity Sensors</vt:lpstr>
      <vt:lpstr>Velocity Sensors</vt:lpstr>
      <vt:lpstr>Velocity Sensors</vt:lpstr>
      <vt:lpstr>Velocity Sensors</vt:lpstr>
      <vt:lpstr>Rate Gyroscope</vt:lpstr>
      <vt:lpstr>Rate Gyroscope</vt:lpstr>
      <vt:lpstr>Rate Gyroscope</vt:lpstr>
      <vt:lpstr>Acceleration Sensors</vt:lpstr>
      <vt:lpstr>Acceleration Sensors</vt:lpstr>
      <vt:lpstr>Acceleration Sensors</vt:lpstr>
      <vt:lpstr>Acceleration Sensors</vt:lpstr>
      <vt:lpstr>Acceleration Sensors</vt:lpstr>
      <vt:lpstr>Review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ENG5009 –  Advanced Control 5</dc:title>
  <dc:creator>Kevin Worrall</dc:creator>
  <cp:lastModifiedBy>Kevin Worrall</cp:lastModifiedBy>
  <cp:revision>1</cp:revision>
  <dcterms:created xsi:type="dcterms:W3CDTF">2024-01-08T14:11:01Z</dcterms:created>
  <dcterms:modified xsi:type="dcterms:W3CDTF">2026-01-24T17:32:35Z</dcterms:modified>
</cp:coreProperties>
</file>