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sldIdLst>
    <p:sldId id="256" r:id="rId3"/>
    <p:sldId id="258" r:id="rId4"/>
    <p:sldId id="315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1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1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82" autoAdjust="0"/>
    <p:restoredTop sz="95983" autoAdjust="0"/>
  </p:normalViewPr>
  <p:slideViewPr>
    <p:cSldViewPr snapToGrid="0">
      <p:cViewPr varScale="1">
        <p:scale>
          <a:sx n="65" d="100"/>
          <a:sy n="65" d="100"/>
        </p:scale>
        <p:origin x="462" y="72"/>
      </p:cViewPr>
      <p:guideLst/>
    </p:cSldViewPr>
  </p:slideViewPr>
  <p:outlineViewPr>
    <p:cViewPr>
      <p:scale>
        <a:sx n="33" d="100"/>
        <a:sy n="33" d="100"/>
      </p:scale>
      <p:origin x="0" y="-685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Worrall" userId="e21a6e1f-6189-4284-9649-bf7c66c7a38c" providerId="ADAL" clId="{B294D135-36AD-4905-82C7-C24D4CC5C725}"/>
    <pc:docChg chg="undo custSel addSld delSld modSld">
      <pc:chgData name="Kevin Worrall" userId="e21a6e1f-6189-4284-9649-bf7c66c7a38c" providerId="ADAL" clId="{B294D135-36AD-4905-82C7-C24D4CC5C725}" dt="2026-02-21T13:44:15.150" v="26" actId="20577"/>
      <pc:docMkLst>
        <pc:docMk/>
      </pc:docMkLst>
      <pc:sldChg chg="modSp mod">
        <pc:chgData name="Kevin Worrall" userId="e21a6e1f-6189-4284-9649-bf7c66c7a38c" providerId="ADAL" clId="{B294D135-36AD-4905-82C7-C24D4CC5C725}" dt="2026-02-21T13:37:00.886" v="6" actId="20577"/>
        <pc:sldMkLst>
          <pc:docMk/>
          <pc:sldMk cId="4242011844" sldId="256"/>
        </pc:sldMkLst>
        <pc:spChg chg="mod">
          <ac:chgData name="Kevin Worrall" userId="e21a6e1f-6189-4284-9649-bf7c66c7a38c" providerId="ADAL" clId="{B294D135-36AD-4905-82C7-C24D4CC5C725}" dt="2026-02-21T13:37:00.886" v="6" actId="20577"/>
          <ac:spMkLst>
            <pc:docMk/>
            <pc:sldMk cId="4242011844" sldId="256"/>
            <ac:spMk id="3" creationId="{0EC2D61B-0204-42F3-52E6-931A9496968D}"/>
          </ac:spMkLst>
        </pc:spChg>
      </pc:sldChg>
      <pc:sldChg chg="modSp mod">
        <pc:chgData name="Kevin Worrall" userId="e21a6e1f-6189-4284-9649-bf7c66c7a38c" providerId="ADAL" clId="{B294D135-36AD-4905-82C7-C24D4CC5C725}" dt="2026-02-21T13:44:15.150" v="26" actId="20577"/>
        <pc:sldMkLst>
          <pc:docMk/>
          <pc:sldMk cId="654745962" sldId="258"/>
        </pc:sldMkLst>
        <pc:spChg chg="mod">
          <ac:chgData name="Kevin Worrall" userId="e21a6e1f-6189-4284-9649-bf7c66c7a38c" providerId="ADAL" clId="{B294D135-36AD-4905-82C7-C24D4CC5C725}" dt="2026-02-21T13:44:15.150" v="26" actId="20577"/>
          <ac:spMkLst>
            <pc:docMk/>
            <pc:sldMk cId="654745962" sldId="258"/>
            <ac:spMk id="3" creationId="{0EC2D61B-0204-42F3-52E6-931A9496968D}"/>
          </ac:spMkLst>
        </pc:spChg>
      </pc:sldChg>
      <pc:sldChg chg="add del">
        <pc:chgData name="Kevin Worrall" userId="e21a6e1f-6189-4284-9649-bf7c66c7a38c" providerId="ADAL" clId="{B294D135-36AD-4905-82C7-C24D4CC5C725}" dt="2026-02-21T13:43:14.531" v="24" actId="47"/>
        <pc:sldMkLst>
          <pc:docMk/>
          <pc:sldMk cId="1122386126" sldId="312"/>
        </pc:sldMkLst>
      </pc:sldChg>
      <pc:sldChg chg="del">
        <pc:chgData name="Kevin Worrall" userId="e21a6e1f-6189-4284-9649-bf7c66c7a38c" providerId="ADAL" clId="{B294D135-36AD-4905-82C7-C24D4CC5C725}" dt="2026-02-21T13:36:54.509" v="0" actId="47"/>
        <pc:sldMkLst>
          <pc:docMk/>
          <pc:sldMk cId="734367254" sldId="362"/>
        </pc:sldMkLst>
      </pc:sldChg>
      <pc:sldChg chg="del">
        <pc:chgData name="Kevin Worrall" userId="e21a6e1f-6189-4284-9649-bf7c66c7a38c" providerId="ADAL" clId="{B294D135-36AD-4905-82C7-C24D4CC5C725}" dt="2026-02-21T13:36:55.105" v="1" actId="47"/>
        <pc:sldMkLst>
          <pc:docMk/>
          <pc:sldMk cId="1234456036" sldId="363"/>
        </pc:sldMkLst>
      </pc:sldChg>
      <pc:sldChg chg="del">
        <pc:chgData name="Kevin Worrall" userId="e21a6e1f-6189-4284-9649-bf7c66c7a38c" providerId="ADAL" clId="{B294D135-36AD-4905-82C7-C24D4CC5C725}" dt="2026-02-21T13:36:55.654" v="2" actId="47"/>
        <pc:sldMkLst>
          <pc:docMk/>
          <pc:sldMk cId="1098106084" sldId="364"/>
        </pc:sldMkLst>
      </pc:sldChg>
      <pc:sldChg chg="del">
        <pc:chgData name="Kevin Worrall" userId="e21a6e1f-6189-4284-9649-bf7c66c7a38c" providerId="ADAL" clId="{B294D135-36AD-4905-82C7-C24D4CC5C725}" dt="2026-02-21T13:36:56.166" v="3" actId="47"/>
        <pc:sldMkLst>
          <pc:docMk/>
          <pc:sldMk cId="1722016085" sldId="366"/>
        </pc:sldMkLst>
      </pc:sldChg>
      <pc:sldChg chg="del">
        <pc:chgData name="Kevin Worrall" userId="e21a6e1f-6189-4284-9649-bf7c66c7a38c" providerId="ADAL" clId="{B294D135-36AD-4905-82C7-C24D4CC5C725}" dt="2026-02-21T13:42:46.949" v="7" actId="47"/>
        <pc:sldMkLst>
          <pc:docMk/>
          <pc:sldMk cId="1797276124" sldId="391"/>
        </pc:sldMkLst>
      </pc:sldChg>
      <pc:sldChg chg="del">
        <pc:chgData name="Kevin Worrall" userId="e21a6e1f-6189-4284-9649-bf7c66c7a38c" providerId="ADAL" clId="{B294D135-36AD-4905-82C7-C24D4CC5C725}" dt="2026-02-21T13:42:54.610" v="8" actId="47"/>
        <pc:sldMkLst>
          <pc:docMk/>
          <pc:sldMk cId="3595941098" sldId="392"/>
        </pc:sldMkLst>
      </pc:sldChg>
      <pc:sldChg chg="del">
        <pc:chgData name="Kevin Worrall" userId="e21a6e1f-6189-4284-9649-bf7c66c7a38c" providerId="ADAL" clId="{B294D135-36AD-4905-82C7-C24D4CC5C725}" dt="2026-02-21T13:42:55.743" v="9" actId="47"/>
        <pc:sldMkLst>
          <pc:docMk/>
          <pc:sldMk cId="3464930188" sldId="393"/>
        </pc:sldMkLst>
      </pc:sldChg>
      <pc:sldChg chg="del">
        <pc:chgData name="Kevin Worrall" userId="e21a6e1f-6189-4284-9649-bf7c66c7a38c" providerId="ADAL" clId="{B294D135-36AD-4905-82C7-C24D4CC5C725}" dt="2026-02-21T13:42:56.845" v="10" actId="47"/>
        <pc:sldMkLst>
          <pc:docMk/>
          <pc:sldMk cId="2835200978" sldId="394"/>
        </pc:sldMkLst>
      </pc:sldChg>
      <pc:sldChg chg="del">
        <pc:chgData name="Kevin Worrall" userId="e21a6e1f-6189-4284-9649-bf7c66c7a38c" providerId="ADAL" clId="{B294D135-36AD-4905-82C7-C24D4CC5C725}" dt="2026-02-21T13:42:57.543" v="11" actId="47"/>
        <pc:sldMkLst>
          <pc:docMk/>
          <pc:sldMk cId="2147923981" sldId="395"/>
        </pc:sldMkLst>
      </pc:sldChg>
      <pc:sldChg chg="del">
        <pc:chgData name="Kevin Worrall" userId="e21a6e1f-6189-4284-9649-bf7c66c7a38c" providerId="ADAL" clId="{B294D135-36AD-4905-82C7-C24D4CC5C725}" dt="2026-02-21T13:42:58.214" v="12" actId="47"/>
        <pc:sldMkLst>
          <pc:docMk/>
          <pc:sldMk cId="773573272" sldId="396"/>
        </pc:sldMkLst>
      </pc:sldChg>
      <pc:sldChg chg="del">
        <pc:chgData name="Kevin Worrall" userId="e21a6e1f-6189-4284-9649-bf7c66c7a38c" providerId="ADAL" clId="{B294D135-36AD-4905-82C7-C24D4CC5C725}" dt="2026-02-21T13:42:58.777" v="13" actId="47"/>
        <pc:sldMkLst>
          <pc:docMk/>
          <pc:sldMk cId="4121648832" sldId="397"/>
        </pc:sldMkLst>
      </pc:sldChg>
      <pc:sldChg chg="del">
        <pc:chgData name="Kevin Worrall" userId="e21a6e1f-6189-4284-9649-bf7c66c7a38c" providerId="ADAL" clId="{B294D135-36AD-4905-82C7-C24D4CC5C725}" dt="2026-02-21T13:42:59.561" v="14" actId="47"/>
        <pc:sldMkLst>
          <pc:docMk/>
          <pc:sldMk cId="2789133454" sldId="398"/>
        </pc:sldMkLst>
      </pc:sldChg>
      <pc:sldChg chg="del">
        <pc:chgData name="Kevin Worrall" userId="e21a6e1f-6189-4284-9649-bf7c66c7a38c" providerId="ADAL" clId="{B294D135-36AD-4905-82C7-C24D4CC5C725}" dt="2026-02-21T13:43:00.224" v="15" actId="47"/>
        <pc:sldMkLst>
          <pc:docMk/>
          <pc:sldMk cId="3720350992" sldId="399"/>
        </pc:sldMkLst>
      </pc:sldChg>
      <pc:sldChg chg="del">
        <pc:chgData name="Kevin Worrall" userId="e21a6e1f-6189-4284-9649-bf7c66c7a38c" providerId="ADAL" clId="{B294D135-36AD-4905-82C7-C24D4CC5C725}" dt="2026-02-21T13:43:00.855" v="16" actId="47"/>
        <pc:sldMkLst>
          <pc:docMk/>
          <pc:sldMk cId="2451378723" sldId="400"/>
        </pc:sldMkLst>
      </pc:sldChg>
      <pc:sldChg chg="del">
        <pc:chgData name="Kevin Worrall" userId="e21a6e1f-6189-4284-9649-bf7c66c7a38c" providerId="ADAL" clId="{B294D135-36AD-4905-82C7-C24D4CC5C725}" dt="2026-02-21T13:43:01.627" v="17" actId="47"/>
        <pc:sldMkLst>
          <pc:docMk/>
          <pc:sldMk cId="2462666926" sldId="402"/>
        </pc:sldMkLst>
      </pc:sldChg>
      <pc:sldChg chg="del">
        <pc:chgData name="Kevin Worrall" userId="e21a6e1f-6189-4284-9649-bf7c66c7a38c" providerId="ADAL" clId="{B294D135-36AD-4905-82C7-C24D4CC5C725}" dt="2026-02-21T13:43:02.509" v="18" actId="47"/>
        <pc:sldMkLst>
          <pc:docMk/>
          <pc:sldMk cId="2256030845" sldId="403"/>
        </pc:sldMkLst>
      </pc:sldChg>
      <pc:sldChg chg="del">
        <pc:chgData name="Kevin Worrall" userId="e21a6e1f-6189-4284-9649-bf7c66c7a38c" providerId="ADAL" clId="{B294D135-36AD-4905-82C7-C24D4CC5C725}" dt="2026-02-21T13:43:03.650" v="19" actId="47"/>
        <pc:sldMkLst>
          <pc:docMk/>
          <pc:sldMk cId="3491514623" sldId="404"/>
        </pc:sldMkLst>
      </pc:sldChg>
      <pc:sldChg chg="del">
        <pc:chgData name="Kevin Worrall" userId="e21a6e1f-6189-4284-9649-bf7c66c7a38c" providerId="ADAL" clId="{B294D135-36AD-4905-82C7-C24D4CC5C725}" dt="2026-02-21T13:43:04.560" v="20" actId="47"/>
        <pc:sldMkLst>
          <pc:docMk/>
          <pc:sldMk cId="781392038" sldId="405"/>
        </pc:sldMkLst>
      </pc:sldChg>
      <pc:sldChg chg="del">
        <pc:chgData name="Kevin Worrall" userId="e21a6e1f-6189-4284-9649-bf7c66c7a38c" providerId="ADAL" clId="{B294D135-36AD-4905-82C7-C24D4CC5C725}" dt="2026-02-21T13:43:05.558" v="21" actId="47"/>
        <pc:sldMkLst>
          <pc:docMk/>
          <pc:sldMk cId="605539146" sldId="406"/>
        </pc:sldMkLst>
      </pc:sldChg>
      <pc:sldChg chg="del">
        <pc:chgData name="Kevin Worrall" userId="e21a6e1f-6189-4284-9649-bf7c66c7a38c" providerId="ADAL" clId="{B294D135-36AD-4905-82C7-C24D4CC5C725}" dt="2026-02-21T13:43:06.138" v="22" actId="47"/>
        <pc:sldMkLst>
          <pc:docMk/>
          <pc:sldMk cId="1172246968" sldId="4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85B6B-ECE2-4879-A9A5-03850BAAFBB0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A1267-AA76-4E48-81A7-ED61976908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971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3BC14-29E2-A418-290E-524AFCF9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0A03D-E22B-C232-05E0-C6522FAD5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42587-3E66-B985-FE04-2B4C47C4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77EE8-FA37-EA89-D738-A27516153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213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3F14F-DD75-A14A-26B3-B1C9C2923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24F3E-E735-73B1-16D8-71FA00DD6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AF5EE-E366-670E-5302-98A1621E1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9B0B8-0FE4-757B-1434-9C2F6351F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472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3B03C-53C8-7EE2-2050-C68036D2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3C2D3-F80C-5CF6-850B-0D5B195F4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736C0-B5A8-0F51-93D6-04B4F94E8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8EEAF-D010-5824-B677-EE3AE5752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930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6ECFB-3371-8370-C710-1DABEA8DD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85365-0355-C7EF-05C9-19F4EE7B6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CA24B-5CB7-A29F-0790-94CEB33C4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F6220-1124-6EE5-B4F8-869836BEC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522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1749-0B04-D18A-3107-485A69EF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89535-4311-D639-3ECC-18A6AD5EA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A22A4-1ED7-D864-0CD1-64DED65F7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57CB-FDA5-01AF-AFFD-09CFEBFDD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801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86F4-F510-68EF-7FD3-3C11F8E61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E6021-0B88-2F03-FDB0-BB2B22F79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7999C-C6CE-B6F9-D61B-FEE140D87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28EA6-D702-DD58-732F-3AD7BEC16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854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9B3FA-7E30-94EA-52DE-6A28B87C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51482-F2AB-8AEB-915F-A67FD8390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304EB-AB5B-8E6C-E15D-252235BBD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BA900-7F11-5FD6-C463-D9AA77428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564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DDDC2-47B1-7163-F2FD-234859B21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DB4F3-2E92-6018-A73F-13012DDC6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4A265-1F45-8405-EB2F-E85DE9594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70C91-E881-25AA-4963-D2CC260F6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203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7DB85-F1B6-54C2-55F7-8B59AE1D1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3F1699-0699-7DB3-9A0A-C74AAB01D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1092F-ABCD-F37C-9F22-EBE714CD8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036D5-1423-C163-E882-30E5091EA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351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E8CEF-9259-7ADD-B284-20837F7A7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69A6A-46C3-4AAE-E1D1-EE486FC2B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130CF-F0FA-1BAC-99EB-0E4646657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41F2D-3493-2808-FC96-634698A46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972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D6EA7-1B7C-B513-1427-9A25388C4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37C79-66C2-3375-C73A-5B04E69D3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D7D81-ADE8-5589-6446-B30E21B26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6C386-4213-DA4C-2FC5-5B13CF112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612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72A0-1A1B-D658-B33A-3C9DBE113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58B43-2419-3E8F-9A59-E60794D92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03131-0364-28BB-7D33-B44A76129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E8511-BFA4-0D8A-4B4E-ECA5FB50E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323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E9F62-D582-55D0-DF69-68BC896CA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98CAA-9130-ED63-1EB4-0A5C10B9C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A4A6A-A58F-487B-2472-E8D220213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3F8E8-A1C5-E411-9111-A716D68F0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384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66A27-69B3-CC04-F9AE-F6B1FBD95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24C84-69B6-2B2B-1644-38E214AC4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ECF3A-EAEA-F926-5CD0-61B9C9F0E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26B76-83BE-075D-CA33-17981B6B2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107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8CD23-49A1-8AD1-CE66-48F3E52F7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DF8FA-391F-02DB-7616-DF7199F39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7E5A3-ECFF-982E-687A-E17E99F62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7C9D8-B03F-B84E-8EB1-C47588445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493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D49CC-72DF-41F8-F81F-876B8693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068A7-B106-485E-AE82-C2CE53935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8B379-17B2-082F-48BA-01D3B5276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94063-5CF3-6647-BE07-61826004B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14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92F6D-3DF4-316E-547B-01586D5DC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5C852-63CE-82AE-FE01-F6E13BC65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6A114-D1C3-9CE4-E574-1DE7A6771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A3D63-BCBF-F3CF-3438-4F7703D91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0501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AC7CA-C2BD-CEEA-8FB9-A40A63BA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3AF6A-54AC-91E2-E881-0B2A1F8D0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8C91D-2DEE-D335-D4D3-430C0A4C1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3105A-4A2B-0D74-7CBC-E1E9C806E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7513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F4F0-77FA-A87D-5D6E-FA8ACE84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670B3-E501-DF82-AA14-51EC1E396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FE256-8037-9328-D3FD-D179046FE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9059A-70AB-36E9-3497-D79B6E80C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1933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89919-41AC-5FEE-F9EC-8BC3D333E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6CEFF3-758A-159E-B042-971C9DD08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AF7C2-D7DF-825E-954C-271FB075B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C056A-7000-594B-F8DE-D54DCFEB7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891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5F04-E335-67A4-FA69-8365E526D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AD6FB-F3BC-752E-D374-800B1DE64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BC70D-06A8-D18A-A788-8FD4FB1B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CC76-C4AE-4B26-A169-B504EF2FEA67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CE3A3-1862-497C-DDA8-5672505E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EAD9D-BBC4-E88C-BB0F-497F1E27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90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67ED-67B0-A413-78B4-CDBF534F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1D5D6-9D4D-11E4-06D4-372026C4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B2683-A2AF-4A75-8A55-9D7F47C4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1C347-D333-4772-8BBB-97D1519B978F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BA211-1912-E80C-FB03-CEBF5226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79302-C457-E101-4432-A6FA5B74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03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383B-473A-5E42-BF42-66A87607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053AF-2AFB-8A34-6F64-C96945835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5E19C-560D-582B-5C65-BABE7284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329E-57E4-4B3F-8988-77C63A75B884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6A85-9039-9DC7-FCE8-E59C1578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4C43-E1C4-CF43-D041-995B05E0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35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6A55-F2A7-95D7-5B21-8C725B77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5870-E1A2-2279-E26B-485EDCBB0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5CDC7-3655-6623-C08B-2A0DDFBA4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85466-A2BA-0F1C-C0EE-3DDD9BBF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CBF2-F699-452C-AFF8-797997FDB794}" type="datetime1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DF506-CEA6-3A73-C30B-9E866450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BEED9-EA69-B899-A439-2F43F88F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666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FB61-0B1B-1AA8-C776-6E6E5987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91144-0D95-8068-5D00-7A87B3CBA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A04A-9C50-74D8-50AB-68DCD684C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713DA-D885-C472-BAD2-D383CFB17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216DC-7E05-7364-DBE6-E5FCE8AD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299C5-58E9-0915-C7F9-532BCEB5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CF2AD-4956-4A53-AFF5-1B4F5D45EAF2}" type="datetime1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A08F8-E9E4-42AA-2BF5-F3FD711C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A90D6-B33F-B27A-89BC-5C61CD74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37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F1DD-33BA-DC1A-503B-EDF553E9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C1459-127D-B946-DCC3-295E311F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77BF-F63D-4E30-BD42-E3449C11D41D}" type="datetime1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167AD-FE57-199A-AED0-34EC850A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E0EC7-4B04-9729-C509-C54966A0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51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124B3-7905-CDCE-B292-FD8A2BD1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73B2-2AE0-4192-8280-C1600F28AEE9}" type="datetime1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A3729-5522-EE34-2FCC-F4BC137C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A7865-47F4-47C5-BBCB-A6249F2A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38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4DEA-FB17-B8A6-AA81-03FAA820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07C4-5CF6-7B6B-7A9A-A16BDDA4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2CCBA-A6B6-D42B-9A6C-7C4515A57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EF61-BB13-5B78-32CC-DAE86270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5260-07F2-476B-9C6F-C4D22041CE08}" type="datetime1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CE7C5-8D38-2000-9396-6952E2AC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81D8B-C963-0093-61E4-B314D828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88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C570-FFEA-139D-76DD-8FAD26F4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5F4C9-5646-2C72-5A74-36DBA95E0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733E6-059F-B4E8-2665-301BD49D2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3E015-83D2-B22A-AEFA-3050D046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5123-108F-4342-94A0-5859029BE154}" type="datetime1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DCC9E-7434-E9C4-BF07-F498CDF7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B5824-C721-15E0-005F-09D87B36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06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A8C0-0F4C-EB7E-4D83-13A13AB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CC711-7438-1B41-AB61-31E43CBF3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412AF-0EE4-43D6-3E5A-84927253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F266-503D-4864-9DE2-FA0A7EE85118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C32D4-8659-7FED-DBB7-C92D7179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7D87-07EB-4978-82B2-863E55F5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11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1CF52-EC45-CAB7-E131-1ECA7B9CB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FF283-34F1-64D3-F66D-2F035B48F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3432-534B-D87F-33AD-11D40092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07F4A-1EE2-49D9-97EC-717DDE976EFD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AE0A8-0EFF-A6D0-21B8-38A2D7E8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8CA4-F6F3-B516-1FBA-074CDC4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223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5F04-E335-67A4-FA69-8365E526D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AD6FB-F3BC-752E-D374-800B1DE64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BC70D-06A8-D18A-A788-8FD4FB1B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1495-F5D4-4BAE-846E-C1BA39B38C3E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CE3A3-1862-497C-DDA8-5672505E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EAD9D-BBC4-E88C-BB0F-497F1E27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/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7181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67ED-67B0-A413-78B4-CDBF534F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1D5D6-9D4D-11E4-06D4-372026C4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B2683-A2AF-4A75-8A55-9D7F47C4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0E1F-D883-4734-8D17-FAFD2FE3F82B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BA211-1912-E80C-FB03-CEBF5226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79302-C457-E101-4432-A6FA5B74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622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383B-473A-5E42-BF42-66A87607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053AF-2AFB-8A34-6F64-C96945835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5E19C-560D-582B-5C65-BABE7284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3C43-999F-4677-8B7B-A143626357DE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6A85-9039-9DC7-FCE8-E59C1578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4C43-E1C4-CF43-D041-995B05E0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374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6A55-F2A7-95D7-5B21-8C725B77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5870-E1A2-2279-E26B-485EDCBB0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5CDC7-3655-6623-C08B-2A0DDFBA4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85466-A2BA-0F1C-C0EE-3DDD9BBF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E2D2-7D84-4F62-AB79-04DD5D6E2A83}" type="datetime1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DF506-CEA6-3A73-C30B-9E866450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BEED9-EA69-B899-A439-2F43F88F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784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FB61-0B1B-1AA8-C776-6E6E5987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91144-0D95-8068-5D00-7A87B3CBA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A04A-9C50-74D8-50AB-68DCD684C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713DA-D885-C472-BAD2-D383CFB17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216DC-7E05-7364-DBE6-E5FCE8AD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299C5-58E9-0915-C7F9-532BCEB5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2E2F-086F-40AD-AE37-0FE3516ECA88}" type="datetime1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A08F8-E9E4-42AA-2BF5-F3FD711C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A90D6-B33F-B27A-89BC-5C61CD74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709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F1DD-33BA-DC1A-503B-EDF553E9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C1459-127D-B946-DCC3-295E311F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7FCF-08A1-4FE4-9E9D-DC420D650C18}" type="datetime1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167AD-FE57-199A-AED0-34EC850A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E0EC7-4B04-9729-C509-C54966A0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028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124B3-7905-CDCE-B292-FD8A2BD1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DA0C7-BAEE-4F35-8A3B-93DC0CEF01B4}" type="datetime1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A3729-5522-EE34-2FCC-F4BC137C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A7865-47F4-47C5-BBCB-A6249F2A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5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4DEA-FB17-B8A6-AA81-03FAA820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07C4-5CF6-7B6B-7A9A-A16BDDA4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2CCBA-A6B6-D42B-9A6C-7C4515A57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EF61-BB13-5B78-32CC-DAE86270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68E4-9C31-482F-B818-B582CFCA3920}" type="datetime1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CE7C5-8D38-2000-9396-6952E2AC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81D8B-C963-0093-61E4-B314D828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1208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C570-FFEA-139D-76DD-8FAD26F4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5F4C9-5646-2C72-5A74-36DBA95E0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733E6-059F-B4E8-2665-301BD49D2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3E015-83D2-B22A-AEFA-3050D046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87033-DBE3-47C4-85A3-06E175F67215}" type="datetime1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DCC9E-7434-E9C4-BF07-F498CDF7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B5824-C721-15E0-005F-09D87B36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305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A8C0-0F4C-EB7E-4D83-13A13AB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CC711-7438-1B41-AB61-31E43CBF3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412AF-0EE4-43D6-3E5A-84927253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8CAA1-DC3A-4AD5-88F3-EBC71BAF0E08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C32D4-8659-7FED-DBB7-C92D7179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7D87-07EB-4978-82B2-863E55F5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8702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1CF52-EC45-CAB7-E131-1ECA7B9CB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FF283-34F1-64D3-F66D-2F035B48F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3432-534B-D87F-33AD-11D40092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6873-85DD-4CDB-895B-8ED6F6A7367F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AE0A8-0EFF-A6D0-21B8-38A2D7E8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8CA4-F6F3-B516-1FBA-074CDC4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32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5FCCA-3F3F-773D-CD33-62B98DC6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4DECA-96E2-A2E3-D34A-F7C25B02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1FA4-DBAE-837F-EEB7-35143BA16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CCD45-486D-4FE6-B311-4355809C78D3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1C84C-67E4-49E5-DBCE-67ED85EF1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40A1-6DB9-3D28-8445-9C83A0B70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745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5FCCA-3F3F-773D-CD33-62B98DC6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4DECA-96E2-A2E3-D34A-F7C25B02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1FA4-DBAE-837F-EEB7-35143BA16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EB35A-6C1C-44EB-A894-5CBC41E755B3}" type="datetime1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1C84C-67E4-49E5-DBCE-67ED85EF1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40A1-6DB9-3D28-8445-9C83A0B70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95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ENG4118/5326 - Robotics 4/M</a:t>
            </a:r>
            <a:br>
              <a:rPr lang="en-GB" b="1" dirty="0"/>
            </a:br>
            <a:r>
              <a:rPr lang="en-GB" b="1" dirty="0"/>
              <a:t>Sensors, Actuators and Image capture, processing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/>
              <a:t>Lecture 12</a:t>
            </a:r>
            <a:endParaRPr lang="en-GB" sz="3600" dirty="0"/>
          </a:p>
          <a:p>
            <a:r>
              <a:rPr lang="en-GB" sz="3600" dirty="0"/>
              <a:t>Kevin Worrall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2FB52-67A8-E2C7-2462-FB99CD1C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011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Lecture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Pneumatic System</a:t>
            </a:r>
          </a:p>
          <a:p>
            <a:r>
              <a:rPr lang="en-GB" sz="3600" dirty="0"/>
              <a:t>Motors – Basic Principles</a:t>
            </a:r>
          </a:p>
          <a:p>
            <a:r>
              <a:rPr lang="en-GB" sz="3600" dirty="0"/>
              <a:t>Brushed DC Motors</a:t>
            </a:r>
          </a:p>
          <a:p>
            <a:r>
              <a:rPr lang="en-GB" sz="3600" dirty="0"/>
              <a:t>Speed Torque Graphs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0761D-BFB0-57EF-E43B-6C4AC298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F57451-DC0D-84D4-4468-91BA2BD39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17" y="1330770"/>
            <a:ext cx="4480965" cy="419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4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Pneumatic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3600" dirty="0"/>
          </a:p>
          <a:p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127E7-BBE6-243F-1E03-DA2A2738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96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D3419-8701-A125-3824-B271A06E1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3A5CC-CE53-9717-D829-E0F101B6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Pneumatic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3B13-7CDC-F0B4-FD35-AE7266A0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185D59-8438-DDC0-2F76-799A509A5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Very similar to hydraulic systems</a:t>
            </a:r>
          </a:p>
          <a:p>
            <a:r>
              <a:rPr lang="en-GB" dirty="0"/>
              <a:t>Pressurized air is used</a:t>
            </a:r>
          </a:p>
          <a:p>
            <a:r>
              <a:rPr lang="en-GB" dirty="0"/>
              <a:t>Lower working pressures mean lower power-to-weight ratio</a:t>
            </a:r>
          </a:p>
          <a:p>
            <a:r>
              <a:rPr lang="en-GB" dirty="0"/>
              <a:t>Air is compressible; hard to control</a:t>
            </a:r>
          </a:p>
          <a:p>
            <a:r>
              <a:rPr lang="en-GB" dirty="0"/>
              <a:t>Simple, rugged, inexpensive, safe</a:t>
            </a:r>
          </a:p>
          <a:p>
            <a:r>
              <a:rPr lang="en-GB" dirty="0"/>
              <a:t>Leakage is not a problem even in clean room.</a:t>
            </a:r>
          </a:p>
        </p:txBody>
      </p:sp>
    </p:spTree>
    <p:extLst>
      <p:ext uri="{BB962C8B-B14F-4D97-AF65-F5344CB8AC3E}">
        <p14:creationId xmlns:p14="http://schemas.microsoft.com/office/powerpoint/2010/main" val="22351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C7CF0-18F3-3F6A-3322-BC854DC8C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9F4C-6F52-2D04-1BC6-06FC7F0A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Pneumatic System – Main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B51B6-0B35-68BB-BA70-F282F0926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04D23A-5DF9-5E63-4D6B-BD99F4AE2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Compressor: Compressed air is generated by an electric motor driving</a:t>
            </a:r>
          </a:p>
          <a:p>
            <a:r>
              <a:rPr lang="en-GB" dirty="0"/>
              <a:t>Filter: The air inlet to the compressor is filtered to remove particles</a:t>
            </a:r>
          </a:p>
          <a:p>
            <a:r>
              <a:rPr lang="en-GB" dirty="0"/>
              <a:t>Silencer: to reduce noise levels</a:t>
            </a:r>
          </a:p>
          <a:p>
            <a:r>
              <a:rPr lang="en-GB" dirty="0"/>
              <a:t>Pressure relief valve: is used to provide protection against abnormal pressure rises in the system</a:t>
            </a:r>
          </a:p>
          <a:p>
            <a:r>
              <a:rPr lang="en-GB" dirty="0"/>
              <a:t>cooling system: compression increases air temperature, cooling is needed system is </a:t>
            </a:r>
          </a:p>
          <a:p>
            <a:r>
              <a:rPr lang="en-GB" dirty="0"/>
              <a:t>filter and water trap: To remove water from condensation and contamination</a:t>
            </a:r>
          </a:p>
          <a:p>
            <a:r>
              <a:rPr lang="en-GB" dirty="0"/>
              <a:t>air receiver: increases the volume of air and corrects small pressure fluctuations</a:t>
            </a:r>
          </a:p>
        </p:txBody>
      </p:sp>
    </p:spTree>
    <p:extLst>
      <p:ext uri="{BB962C8B-B14F-4D97-AF65-F5344CB8AC3E}">
        <p14:creationId xmlns:p14="http://schemas.microsoft.com/office/powerpoint/2010/main" val="370954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57B10-0488-BF5F-FA05-3109AB4C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8FC9-CE51-D7C5-C1BB-AE3E39DE5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Pneumatic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8CA39-231C-5CAB-207D-13CDCE09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0D2F6A-E85C-61C9-477E-3AD6D13DB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Very similar to hydraulic systems</a:t>
            </a:r>
          </a:p>
          <a:p>
            <a:r>
              <a:rPr lang="en-GB" dirty="0"/>
              <a:t>Pressurized air is used</a:t>
            </a:r>
          </a:p>
          <a:p>
            <a:r>
              <a:rPr lang="en-GB" dirty="0"/>
              <a:t>Lower working pressures mean lower power-to-weight ratio</a:t>
            </a:r>
          </a:p>
          <a:p>
            <a:r>
              <a:rPr lang="en-GB" dirty="0"/>
              <a:t>Air is compressible; hard to control</a:t>
            </a:r>
          </a:p>
          <a:p>
            <a:r>
              <a:rPr lang="en-GB" dirty="0"/>
              <a:t>Simple, rugged, inexpensive, safe</a:t>
            </a:r>
          </a:p>
          <a:p>
            <a:r>
              <a:rPr lang="en-GB" dirty="0"/>
              <a:t>Leakage is not a problem even in clean room.</a:t>
            </a:r>
          </a:p>
        </p:txBody>
      </p:sp>
    </p:spTree>
    <p:extLst>
      <p:ext uri="{BB962C8B-B14F-4D97-AF65-F5344CB8AC3E}">
        <p14:creationId xmlns:p14="http://schemas.microsoft.com/office/powerpoint/2010/main" val="407421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37802-325D-4D35-516A-9B58113EF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A9E1-5D06-DEBB-1959-87F1B545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Pneumatic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C253F-F4F5-70C1-665A-7D53DBCE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0C23F4A-4961-3B3D-52E2-0E27BE2480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53417" y="1400832"/>
            <a:ext cx="8485165" cy="524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45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5ED1-81F4-5E5A-171B-C3F91FC72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1585-4D61-A860-C6E5-973B3FA2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Pneumatic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FB2EE-773C-D7B8-8CD0-34048005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AB895-0CC1-4D58-28B3-92E6C98CA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https://www.youtube.com/watch?v=lBARBZNLxQI</a:t>
            </a:r>
          </a:p>
        </p:txBody>
      </p:sp>
    </p:spTree>
    <p:extLst>
      <p:ext uri="{BB962C8B-B14F-4D97-AF65-F5344CB8AC3E}">
        <p14:creationId xmlns:p14="http://schemas.microsoft.com/office/powerpoint/2010/main" val="2542197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66E99-F89C-D27A-610A-93269A956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27B68-552F-4C25-CAF3-55AA472AC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Pneumatic System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6783D3-6180-C85D-441E-453CF4D15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39737"/>
          </a:xfrm>
        </p:spPr>
        <p:txBody>
          <a:bodyPr/>
          <a:lstStyle/>
          <a:p>
            <a:r>
              <a:rPr lang="en-GB" dirty="0"/>
              <a:t>Advantages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C3EA4D7-BD3D-F903-5866-4391C0658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20900"/>
            <a:ext cx="5157787" cy="4068763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Cheap initial installation</a:t>
            </a:r>
          </a:p>
          <a:p>
            <a:r>
              <a:rPr lang="en-GB" dirty="0"/>
              <a:t>Air availability</a:t>
            </a:r>
          </a:p>
          <a:p>
            <a:r>
              <a:rPr lang="en-GB" dirty="0"/>
              <a:t>Ease of transfer through piping</a:t>
            </a:r>
          </a:p>
          <a:p>
            <a:r>
              <a:rPr lang="en-GB" dirty="0"/>
              <a:t>Ease of power and speed transmission</a:t>
            </a:r>
          </a:p>
          <a:p>
            <a:r>
              <a:rPr lang="en-GB" dirty="0"/>
              <a:t>Ease of maintenance, reliable components</a:t>
            </a:r>
          </a:p>
          <a:p>
            <a:r>
              <a:rPr lang="en-GB" dirty="0"/>
              <a:t>Ease of use</a:t>
            </a:r>
          </a:p>
          <a:p>
            <a:r>
              <a:rPr lang="en-GB" dirty="0"/>
              <a:t>Safe (from leaks and sparks)</a:t>
            </a:r>
          </a:p>
          <a:p>
            <a:r>
              <a:rPr lang="en-GB" dirty="0"/>
              <a:t>Clean Compressed air can be</a:t>
            </a:r>
            <a:br>
              <a:rPr lang="en-GB" dirty="0"/>
            </a:br>
            <a:r>
              <a:rPr lang="en-GB" dirty="0"/>
              <a:t>stored</a:t>
            </a:r>
          </a:p>
          <a:p>
            <a:r>
              <a:rPr lang="en-GB" dirty="0"/>
              <a:t>Usually off-the-shelf components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48A4E65-780C-5375-7C20-140104388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39737"/>
          </a:xfrm>
        </p:spPr>
        <p:txBody>
          <a:bodyPr/>
          <a:lstStyle/>
          <a:p>
            <a:r>
              <a:rPr lang="en-GB" dirty="0"/>
              <a:t>Disadvantages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9D6D4DB-2A7A-EFE2-3661-B17F7D953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20900"/>
            <a:ext cx="5183188" cy="4068763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More energy cost compared to hydraulic</a:t>
            </a:r>
          </a:p>
          <a:p>
            <a:r>
              <a:rPr lang="en-GB" dirty="0"/>
              <a:t>Requires bigger cylinder to handle the same load as in hydraulic</a:t>
            </a:r>
          </a:p>
          <a:p>
            <a:r>
              <a:rPr lang="en-GB" dirty="0"/>
              <a:t>Deforms under load</a:t>
            </a:r>
          </a:p>
          <a:p>
            <a:r>
              <a:rPr lang="en-GB" dirty="0"/>
              <a:t>Difficult position control</a:t>
            </a:r>
          </a:p>
          <a:p>
            <a:r>
              <a:rPr lang="en-GB" dirty="0"/>
              <a:t>Speed control needs additional devices</a:t>
            </a:r>
          </a:p>
          <a:p>
            <a:r>
              <a:rPr lang="en-GB" dirty="0"/>
              <a:t>Needs pressurized air cylinders</a:t>
            </a:r>
          </a:p>
          <a:p>
            <a:r>
              <a:rPr lang="en-GB" dirty="0"/>
              <a:t>Easy to leak</a:t>
            </a:r>
          </a:p>
          <a:p>
            <a:r>
              <a:rPr lang="en-GB" dirty="0"/>
              <a:t>Hard to find leaks</a:t>
            </a:r>
          </a:p>
          <a:p>
            <a:r>
              <a:rPr lang="en-GB" dirty="0"/>
              <a:t>Noisy</a:t>
            </a:r>
          </a:p>
          <a:p>
            <a:r>
              <a:rPr lang="en-GB" dirty="0"/>
              <a:t>Needs drying to avoid condensation</a:t>
            </a:r>
          </a:p>
          <a:p>
            <a:r>
              <a:rPr lang="en-GB" dirty="0"/>
              <a:t>Does not work in extreme temperatures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6D150-44F9-377B-2E1A-37AB6FB7F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324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74F83-C0AA-98C9-EC29-0D103EDD9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891ED-5177-21DD-54CD-330FAECC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Electric Motors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56EDA-7ABF-E6BF-9221-3FCADCAD8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3600" dirty="0"/>
          </a:p>
          <a:p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17E75-7738-1264-93FC-37A67E334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9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1188-16B5-A106-5BCF-A3764CDB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8941-D3E0-55DC-64F0-267EBCC9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Electric Motors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040F1-CC65-DD03-7ECF-92FC56DD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305F66-0048-D284-6648-8ADE22CE0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Types of electric motors used in robotics</a:t>
            </a:r>
          </a:p>
          <a:p>
            <a:pPr lvl="1"/>
            <a:r>
              <a:rPr lang="en-GB" dirty="0"/>
              <a:t>Brushed D.C. motors</a:t>
            </a:r>
          </a:p>
          <a:p>
            <a:pPr lvl="1"/>
            <a:r>
              <a:rPr lang="en-GB" dirty="0"/>
              <a:t>Brushless D.C. motors</a:t>
            </a:r>
          </a:p>
          <a:p>
            <a:pPr lvl="1"/>
            <a:r>
              <a:rPr lang="en-GB" dirty="0"/>
              <a:t>Stepper Motors</a:t>
            </a:r>
          </a:p>
          <a:p>
            <a:pPr lvl="1"/>
            <a:r>
              <a:rPr lang="en-GB" dirty="0"/>
              <a:t>Permanent Magnet A.C. motors (PMAC)</a:t>
            </a:r>
          </a:p>
        </p:txBody>
      </p:sp>
    </p:spTree>
    <p:extLst>
      <p:ext uri="{BB962C8B-B14F-4D97-AF65-F5344CB8AC3E}">
        <p14:creationId xmlns:p14="http://schemas.microsoft.com/office/powerpoint/2010/main" val="135630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E6619-9A51-CBDB-4F29-A321FE9CC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F8A20-07B9-82B6-6433-7594425C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Electric Motors - Basic Principles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B3703F-4F8F-3B0E-FBA3-ECE803761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When a wire carrying a current is placed in a magnetic field it will experience a force normal to the plane formed by the magnetic field and the current (Faraday’s Law).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11B3A-1025-5A7C-E488-34AAFEB0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1C6D02-A383-8881-45CB-D22A8709318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211869" y="3246437"/>
            <a:ext cx="7768262" cy="3292475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0010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A65ED-4647-009F-0FAE-87D59E01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429D4-5914-991D-465C-0F3D70FCE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Electric Motors - Basic Principles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1B7690-2DE9-7112-EB50-20C18DA4E8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Each side of the coil experiences an equal force.</a:t>
            </a:r>
          </a:p>
          <a:p>
            <a:r>
              <a:rPr lang="en-GB" dirty="0"/>
              <a:t>If the wire is attached to a shaft which is free to rotate, the resulting torque will produce a rotation of the shaft about an axis parallel to the shaft axis.</a:t>
            </a:r>
          </a:p>
          <a:p>
            <a:r>
              <a:rPr lang="en-GB" dirty="0"/>
              <a:t>Changing the direction of the current or magnetic field results in a change in the direction of the applied force, allowing rotation to continue.</a:t>
            </a:r>
          </a:p>
          <a:p>
            <a:r>
              <a:rPr lang="en-GB" dirty="0"/>
              <a:t>In practice:</a:t>
            </a:r>
          </a:p>
          <a:p>
            <a:pPr lvl="1"/>
            <a:r>
              <a:rPr lang="en-GB" dirty="0"/>
              <a:t>Commutators and brushes are used to accomplish this change in current in brushed D.C. Motors</a:t>
            </a:r>
          </a:p>
          <a:p>
            <a:pPr lvl="1"/>
            <a:r>
              <a:rPr lang="en-GB" dirty="0"/>
              <a:t>Electric switches are used for brushless D.C. motors</a:t>
            </a:r>
          </a:p>
          <a:p>
            <a:pPr lvl="1"/>
            <a:r>
              <a:rPr lang="en-GB" dirty="0"/>
              <a:t>A.C. current is used for A.C. motors</a:t>
            </a:r>
          </a:p>
        </p:txBody>
      </p:sp>
      <p:pic>
        <p:nvPicPr>
          <p:cNvPr id="8" name="Content Placeholder 7" descr="Diagram of a diagram of a magnet&#10;&#10;Description automatically generated">
            <a:extLst>
              <a:ext uri="{FF2B5EF4-FFF2-40B4-BE49-F238E27FC236}">
                <a16:creationId xmlns:a16="http://schemas.microsoft.com/office/drawing/2014/main" id="{8B5754EC-B4CC-51F3-0712-D66B582F82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25" y="2001044"/>
            <a:ext cx="4095750" cy="40005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9777F-5899-1AFB-1DA4-0BFA9EF0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35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B7E1B-67D0-DFDA-3C7B-962F7694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787FE-FB18-675C-2059-CD0700758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Electric Motors - Basic Principles</a:t>
            </a:r>
          </a:p>
        </p:txBody>
      </p:sp>
      <p:pic>
        <p:nvPicPr>
          <p:cNvPr id="21" name="Content Placeholder 20" descr="A diagram of a circular object&#10;&#10;Description automatically generated">
            <a:extLst>
              <a:ext uri="{FF2B5EF4-FFF2-40B4-BE49-F238E27FC236}">
                <a16:creationId xmlns:a16="http://schemas.microsoft.com/office/drawing/2014/main" id="{127222E5-7495-61F7-A885-21F38168C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C22CF-4377-4FED-6B48-A553803E1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9947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687E-8993-566C-E9D2-DB0C413F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7E16-6B21-127C-D116-64625B4B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Electric Motors - Basic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5789C-4844-7D30-9C06-5D51D3AA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BBB512-A3EC-34E7-1318-A52571052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https://www.youtube.com/watch?v=LAtPHANEfQo</a:t>
            </a:r>
          </a:p>
        </p:txBody>
      </p:sp>
    </p:spTree>
    <p:extLst>
      <p:ext uri="{BB962C8B-B14F-4D97-AF65-F5344CB8AC3E}">
        <p14:creationId xmlns:p14="http://schemas.microsoft.com/office/powerpoint/2010/main" val="2511051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2594A-1587-7E65-024B-710FFAE85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0BBA-C3DE-FD37-3608-BD899A6D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Brushed DC Motors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AD09A-8437-AF93-EEBF-A00A865B4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3600" dirty="0"/>
          </a:p>
          <a:p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93D73-B544-0C56-7210-34EFB8AC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134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5B08B-C64A-31C9-FA38-EB380D2A2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F560B-D2D8-E597-8323-7A12F9C6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Brushed D.C. Motors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F5816-1AC6-213E-2E7C-BFD20C42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B9DCB0-2B78-6727-B3F2-67A2EAB6F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Are very common in industry and have been used for a long time.</a:t>
            </a:r>
          </a:p>
          <a:p>
            <a:r>
              <a:rPr lang="en-GB" dirty="0"/>
              <a:t>They are reliable, sturdy and relatively powerful.</a:t>
            </a:r>
          </a:p>
          <a:p>
            <a:r>
              <a:rPr lang="en-GB" dirty="0"/>
              <a:t>The principle of operation is similar to the basic principle described with the stator (non-rotating part) composed of a set of fixed magnets with the rotor (rotating coil) carrying the current.</a:t>
            </a:r>
          </a:p>
          <a:p>
            <a:r>
              <a:rPr lang="en-GB" dirty="0"/>
              <a:t>Conversely, if the rotor is rotated within the magnetic field, a current will develop in the coil and the motor acts as a generator.</a:t>
            </a:r>
          </a:p>
        </p:txBody>
      </p:sp>
    </p:spTree>
    <p:extLst>
      <p:ext uri="{BB962C8B-B14F-4D97-AF65-F5344CB8AC3E}">
        <p14:creationId xmlns:p14="http://schemas.microsoft.com/office/powerpoint/2010/main" val="322668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DB4D6-3738-67BF-BBEB-2410349F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FC47-D96A-4EA9-A5F0-44E9E805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Brushed D.C. Motors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1050A-9B95-1EA3-AA4B-F7B7C052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F56E04-67F2-F4DB-07B2-70588A7D4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commutators and brushes connect the rotor coil, at the maximum torque producing angle, to the external power supply.</a:t>
            </a:r>
          </a:p>
          <a:p>
            <a:r>
              <a:rPr lang="en-GB" dirty="0"/>
              <a:t>This results in a current flow through the coil which feels a force because of the external magnetic field.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B2D640-7B54-79E3-DC53-AD712A21B48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352260" y="3938537"/>
            <a:ext cx="5487480" cy="23281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01288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317A-963F-7C6E-8A69-7F5CAA61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057B-9DED-C097-72A5-4885473F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Brushed D.C. Motors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13EFA-D48C-0A02-A7B1-54C0BEB9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560392-EC7C-A05C-9740-B7F7865F6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When permanent magnets are used to generate the magnetic field, the torque, T, acting on the coil is proportional to the magnetic flux, Φ, and the current, </a:t>
            </a:r>
            <a:r>
              <a:rPr lang="en-GB" dirty="0" err="1"/>
              <a:t>i</a:t>
            </a:r>
            <a:r>
              <a:rPr lang="en-GB" dirty="0"/>
              <a:t>, flowing in the rotor windings: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	where kt is a constant and Kt is called the torque constant.</a:t>
            </a:r>
          </a:p>
          <a:p>
            <a:r>
              <a:rPr lang="en-GB" dirty="0"/>
              <a:t>Since the magnetic flux is constant, output torque becomes a function of the current flowing through the coils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634D39-F132-3151-64CC-2E422E9F34B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769320" y="3429000"/>
            <a:ext cx="4653360" cy="898735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52361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F5BE-EFD4-92EE-605C-C698CD94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7576-6616-4F53-02C9-9E06FD66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Brushed D.C. Motors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B3836-35C0-8079-0CD1-2CD832624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956BE4-A42B-0000-5B39-D2B5C27B0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Additionally, because of the rotation of the coil within the magnetic field, electromagnetic induction occurs and results in the creation of a potential in a direction opposite to that of the motor power supply and this is termed the “back” emf.</a:t>
            </a:r>
          </a:p>
          <a:p>
            <a:r>
              <a:rPr lang="en-GB" dirty="0"/>
              <a:t>The back emf, e, is proportional to the rate of change of magnetic flux which for a constant magnetic field is proportional to the angular speed, ω, of the rotor: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where </a:t>
            </a:r>
            <a:r>
              <a:rPr lang="en-GB" spc="-1" dirty="0" err="1">
                <a:solidFill>
                  <a:srgbClr val="000000"/>
                </a:solidFill>
                <a:ea typeface="DejaVu Sans"/>
              </a:rPr>
              <a:t>k</a:t>
            </a:r>
            <a:r>
              <a:rPr lang="en-GB" sz="3200" spc="-1" baseline="-33000" dirty="0" err="1">
                <a:solidFill>
                  <a:srgbClr val="000000"/>
                </a:solidFill>
                <a:ea typeface="DejaVu Sans"/>
              </a:rPr>
              <a:t>v</a:t>
            </a:r>
            <a:r>
              <a:rPr lang="en-GB" spc="-1" dirty="0">
                <a:solidFill>
                  <a:srgbClr val="000000"/>
                </a:solidFill>
                <a:ea typeface="DejaVu Sans"/>
              </a:rPr>
              <a:t> is a constant and </a:t>
            </a:r>
            <a:r>
              <a:rPr lang="en-GB" spc="-1" dirty="0" err="1">
                <a:solidFill>
                  <a:srgbClr val="000000"/>
                </a:solidFill>
                <a:ea typeface="DejaVu Sans"/>
              </a:rPr>
              <a:t>K</a:t>
            </a:r>
            <a:r>
              <a:rPr lang="en-GB" sz="3200" spc="-1" baseline="-33000" dirty="0" err="1">
                <a:solidFill>
                  <a:srgbClr val="000000"/>
                </a:solidFill>
                <a:ea typeface="DejaVu Sans"/>
              </a:rPr>
              <a:t>v</a:t>
            </a:r>
            <a:r>
              <a:rPr lang="en-GB" spc="-1" dirty="0">
                <a:solidFill>
                  <a:srgbClr val="000000"/>
                </a:solidFill>
                <a:ea typeface="DejaVu Sans"/>
              </a:rPr>
              <a:t> is called the electric constant for the motor.</a:t>
            </a:r>
            <a:endParaRPr lang="en-GB" spc="-1" dirty="0">
              <a:solidFill>
                <a:srgbClr val="000000"/>
              </a:solidFill>
              <a:latin typeface="Arial"/>
            </a:endParaRP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E3500-CCBE-1B3A-5AEF-803AAFDC228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851623" y="4342520"/>
            <a:ext cx="4488753" cy="104228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72772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28AD7-48E1-BBD7-5B69-B1F7CC84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8DA0-0501-6BB2-7710-E7E9560E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Brushed D.C. Motors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EE4A6E-B55C-799B-1084-6F1175F340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pc="-1" dirty="0">
                <a:solidFill>
                  <a:srgbClr val="000000"/>
                </a:solidFill>
                <a:ea typeface="DejaVu Sans"/>
              </a:rPr>
              <a:t>Equivalent circuit for a DC motor opposite</a:t>
            </a:r>
            <a:endParaRPr lang="en-GB" spc="-1" dirty="0">
              <a:solidFill>
                <a:srgbClr val="000000"/>
              </a:solidFill>
              <a:latin typeface="Arial"/>
            </a:endParaRPr>
          </a:p>
          <a:p>
            <a:r>
              <a:rPr lang="en-GB" spc="-1" dirty="0">
                <a:solidFill>
                  <a:srgbClr val="000000"/>
                </a:solidFill>
                <a:ea typeface="DejaVu Sans"/>
              </a:rPr>
              <a:t>We represent the rotor coil as a resistor, R, in series with an inductor, L, and the back emf, e.</a:t>
            </a:r>
            <a:endParaRPr lang="en-GB" spc="-1" dirty="0">
              <a:solidFill>
                <a:srgbClr val="000000"/>
              </a:solidFill>
              <a:latin typeface="Arial"/>
            </a:endParaRPr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C8F100-C528-02F2-1AC3-588DC2C46D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35626"/>
            <a:ext cx="5181600" cy="37313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B8DE4-6D40-FE54-E2B9-AF234F3D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869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05465-F4B1-9320-DBBD-26E53B2C3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0CC7-F5AD-D0E2-372D-B456403B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Brushed D.C. Motors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0E98B-3E6C-8D9E-1901-9902772E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21FAA5-BF41-4BE2-2209-DD5EC92BD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Neglecting the inductance of the rotor, then the potential across the motor is the applied voltage minus the back emf, v-e, applying Ohm’s Law:</a:t>
            </a:r>
          </a:p>
          <a:p>
            <a:pPr marL="1080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pc="-1" dirty="0">
              <a:solidFill>
                <a:srgbClr val="000000"/>
              </a:solidFill>
              <a:latin typeface="Arial"/>
            </a:endParaRPr>
          </a:p>
          <a:p>
            <a:pPr marL="1080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pc="-1" dirty="0">
              <a:solidFill>
                <a:srgbClr val="000000"/>
              </a:solidFill>
              <a:latin typeface="Arial"/>
            </a:endParaRPr>
          </a:p>
          <a:p>
            <a:r>
              <a:rPr lang="en-GB" spc="-1" dirty="0">
                <a:solidFill>
                  <a:srgbClr val="000000"/>
                </a:solidFill>
                <a:ea typeface="DejaVu Sans"/>
              </a:rPr>
              <a:t>The torque acting on the system can then be obtained as:</a:t>
            </a:r>
            <a:endParaRPr lang="en-GB" spc="-1" dirty="0">
              <a:solidFill>
                <a:srgbClr val="000000"/>
              </a:solidFill>
              <a:latin typeface="Arial"/>
            </a:endParaRP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D820AD-A29B-7760-116C-EFFC1233B33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350867" y="3058093"/>
            <a:ext cx="5490266" cy="1249522"/>
          </a:xfrm>
          <a:prstGeom prst="rect">
            <a:avLst/>
          </a:prstGeom>
          <a:ln w="0"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E67FB-19A9-69FA-3764-0A42EE4AA42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3935104" y="5390513"/>
            <a:ext cx="4321792" cy="1249523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54924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B5628-0FAF-B6EC-0C2D-98153C5B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C406-AA4C-9A3C-180C-E0B224563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Speed Torque Graphs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D46ECE-A40F-EF0D-E95A-286EFEDFCA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Graphs of motor torque against rotational speed are a series of straight lines for different voltage values.</a:t>
            </a:r>
          </a:p>
          <a:p>
            <a:pPr marL="1080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pc="-1" dirty="0">
              <a:solidFill>
                <a:srgbClr val="000000"/>
              </a:solidFill>
              <a:latin typeface="Arial"/>
            </a:endParaRPr>
          </a:p>
          <a:p>
            <a:pPr marL="1080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pc="-1" dirty="0">
              <a:solidFill>
                <a:srgbClr val="000000"/>
              </a:solidFill>
              <a:latin typeface="Arial"/>
            </a:endParaRP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FE0650-5FFF-BCD6-DCE3-402E64FC37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521198"/>
            <a:ext cx="5181600" cy="296019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B8B06-028F-D4EF-FAAF-2A166CEA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CDBD88-9FB3-5E53-EF1F-F6695726F2B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078200" y="3473555"/>
            <a:ext cx="4701600" cy="30193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34034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3E510-7DA3-7CED-1A70-6E1C1943D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9144-C407-7411-4E06-D2B32C57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Speed Torque Graphs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5B85F-07EC-CCF4-5A87-16C51AC0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13A471-C7E0-457C-6F52-E3F682805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spc="-1" dirty="0">
                <a:solidFill>
                  <a:srgbClr val="000000"/>
                </a:solidFill>
                <a:ea typeface="DejaVu Sans"/>
              </a:rPr>
              <a:t>The stall torque, at ω =0, can be obtained by putting in this angular speed value into the torque equation and is obtained as:</a:t>
            </a:r>
          </a:p>
          <a:p>
            <a:pPr marL="1080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z="2400" spc="-1" dirty="0">
              <a:solidFill>
                <a:srgbClr val="000000"/>
              </a:solidFill>
              <a:latin typeface="Arial"/>
            </a:endParaRPr>
          </a:p>
          <a:p>
            <a:pPr marL="1080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z="2400" spc="-1" dirty="0">
              <a:solidFill>
                <a:srgbClr val="000000"/>
              </a:solidFill>
              <a:latin typeface="Arial"/>
            </a:endParaRPr>
          </a:p>
          <a:p>
            <a:pPr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spc="-1" dirty="0">
                <a:solidFill>
                  <a:srgbClr val="000000"/>
                </a:solidFill>
                <a:ea typeface="DejaVu Sans"/>
              </a:rPr>
              <a:t>This stall torque is the maximum torque that the motor can supply but with no motor shaft rotation.</a:t>
            </a:r>
            <a:endParaRPr lang="en-GB" sz="2400" spc="-1" dirty="0">
              <a:solidFill>
                <a:srgbClr val="000000"/>
              </a:solidFill>
              <a:latin typeface="Arial"/>
            </a:endParaRPr>
          </a:p>
          <a:p>
            <a:pPr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spc="-1" dirty="0">
                <a:solidFill>
                  <a:srgbClr val="000000"/>
                </a:solidFill>
                <a:ea typeface="DejaVu Sans"/>
              </a:rPr>
              <a:t>The motor reaches maximum speed (or no load speed) and no torque is applied to the motor shaft. The back emf equals the applied voltage and this is obtained as:</a:t>
            </a:r>
            <a:endParaRPr lang="en-GB" sz="2400" spc="-1" dirty="0">
              <a:solidFill>
                <a:srgbClr val="000000"/>
              </a:solidFill>
              <a:latin typeface="Arial"/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39BC7F-2A9E-7BAA-81A8-78AEBF458D3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157420" y="2614512"/>
            <a:ext cx="1877160" cy="1131988"/>
          </a:xfrm>
          <a:prstGeom prst="rect">
            <a:avLst/>
          </a:prstGeom>
          <a:ln w="0"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23C4CF-2E7F-2DB4-099E-7277A1D54F5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157420" y="5419632"/>
            <a:ext cx="1877160" cy="1438368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83742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0D26D-C99E-C3A6-F7DB-F8FEC9CB4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C484-C651-7028-84C1-A6847FD1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Brushed D.C. Motors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3A8F1-8DBC-D8E6-7804-5BA78BF8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C7CB5B-1C41-A763-2E73-4BBC21D21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One major issue with brushed D.C. motors is the use of commutators and brushes to periodically reverse the current through the rotor coil.</a:t>
            </a:r>
          </a:p>
          <a:p>
            <a:r>
              <a:rPr lang="en-GB" dirty="0"/>
              <a:t>Brushes make sliding contact with the commutator and consequently sparks jump between the two and they suffer wear.</a:t>
            </a:r>
          </a:p>
          <a:p>
            <a:r>
              <a:rPr lang="en-GB" dirty="0"/>
              <a:t>Brushes have to be periodically changed and the commutator resurfaced.</a:t>
            </a:r>
          </a:p>
          <a:p>
            <a:r>
              <a:rPr lang="en-GB" dirty="0"/>
              <a:t>To avoid these problems brushless motors have been designed.</a:t>
            </a:r>
          </a:p>
          <a:p>
            <a:r>
              <a:rPr lang="en-GB" dirty="0"/>
              <a:t>These are a hybrid between A.C. and D.C. motors with construction similar to A.C. synchronous motors.</a:t>
            </a:r>
          </a:p>
        </p:txBody>
      </p:sp>
    </p:spTree>
    <p:extLst>
      <p:ext uri="{BB962C8B-B14F-4D97-AF65-F5344CB8AC3E}">
        <p14:creationId xmlns:p14="http://schemas.microsoft.com/office/powerpoint/2010/main" val="211680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 err="1"/>
              <a:t>Niku</a:t>
            </a:r>
            <a:r>
              <a:rPr lang="en-GB" sz="3600" dirty="0"/>
              <a:t>, S.B. , Introduction to Robotics, 2nd Edition, Wiley, New Jersey, 2011</a:t>
            </a:r>
          </a:p>
          <a:p>
            <a:r>
              <a:rPr lang="en-GB" sz="3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Bolton, W. , Mechatronics</a:t>
            </a:r>
            <a:r>
              <a:rPr lang="en-GB" sz="3600" b="0" strike="noStrike" spc="-1">
                <a:solidFill>
                  <a:srgbClr val="000000"/>
                </a:solidFill>
                <a:latin typeface="Arial"/>
                <a:ea typeface="DejaVu Sans"/>
              </a:rPr>
              <a:t>, 2nd </a:t>
            </a:r>
            <a:r>
              <a:rPr lang="en-GB" sz="3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Edition, Longman, New York, 2000</a:t>
            </a:r>
          </a:p>
          <a:p>
            <a:r>
              <a:rPr lang="en-GB" sz="3600" b="0" strike="noStrike" spc="-1" dirty="0">
                <a:solidFill>
                  <a:srgbClr val="000000"/>
                </a:solidFill>
                <a:latin typeface="Arial"/>
              </a:rPr>
              <a:t>Maxon Motors website has a range of good information including calculation handbooks</a:t>
            </a:r>
          </a:p>
          <a:p>
            <a:pPr marL="0" indent="0">
              <a:buNone/>
            </a:pPr>
            <a:endParaRPr lang="en-GB" sz="36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386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1251</Words>
  <Application>Microsoft Office PowerPoint</Application>
  <PresentationFormat>Widescreen</PresentationFormat>
  <Paragraphs>183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DejaVu Sans</vt:lpstr>
      <vt:lpstr>Wingdings</vt:lpstr>
      <vt:lpstr>Office Theme</vt:lpstr>
      <vt:lpstr>1_Office Theme</vt:lpstr>
      <vt:lpstr>ENG4118/5326 - Robotics 4/M Sensors, Actuators and Image capture, processing and analysis</vt:lpstr>
      <vt:lpstr>Lecture Overview</vt:lpstr>
      <vt:lpstr>Pneumatic System</vt:lpstr>
      <vt:lpstr>Pneumatic System</vt:lpstr>
      <vt:lpstr>Pneumatic System – Main Components</vt:lpstr>
      <vt:lpstr>Pneumatic System</vt:lpstr>
      <vt:lpstr>Pneumatic System</vt:lpstr>
      <vt:lpstr>Pneumatic System</vt:lpstr>
      <vt:lpstr>Pneumatic System</vt:lpstr>
      <vt:lpstr>Electric Motors</vt:lpstr>
      <vt:lpstr>Electric Motors</vt:lpstr>
      <vt:lpstr>Electric Motors - Basic Principles</vt:lpstr>
      <vt:lpstr>Electric Motors - Basic Principles</vt:lpstr>
      <vt:lpstr>Electric Motors - Basic Principles</vt:lpstr>
      <vt:lpstr>Electric Motors - Basic Principles</vt:lpstr>
      <vt:lpstr>Brushed DC Motors</vt:lpstr>
      <vt:lpstr>Brushed D.C. Motors</vt:lpstr>
      <vt:lpstr>Brushed D.C. Motors</vt:lpstr>
      <vt:lpstr>Brushed D.C. Motors</vt:lpstr>
      <vt:lpstr>Brushed D.C. Motors</vt:lpstr>
      <vt:lpstr>Brushed D.C. Motors</vt:lpstr>
      <vt:lpstr>Brushed D.C. Motors</vt:lpstr>
      <vt:lpstr>Speed Torque Graphs</vt:lpstr>
      <vt:lpstr>Speed Torque Graphs</vt:lpstr>
      <vt:lpstr>Brushed D.C. Motors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ENG5009 –  Advanced Control 5</dc:title>
  <dc:creator>Kevin Worrall</dc:creator>
  <cp:lastModifiedBy>Kevin Worrall</cp:lastModifiedBy>
  <cp:revision>2</cp:revision>
  <dcterms:created xsi:type="dcterms:W3CDTF">2024-01-08T14:11:01Z</dcterms:created>
  <dcterms:modified xsi:type="dcterms:W3CDTF">2026-02-21T13:44:20Z</dcterms:modified>
</cp:coreProperties>
</file>