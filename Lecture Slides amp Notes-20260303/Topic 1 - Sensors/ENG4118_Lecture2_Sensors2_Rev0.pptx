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8" r:id="rId3"/>
    <p:sldId id="344" r:id="rId4"/>
    <p:sldId id="346" r:id="rId5"/>
    <p:sldId id="347" r:id="rId6"/>
    <p:sldId id="338" r:id="rId7"/>
    <p:sldId id="339" r:id="rId8"/>
    <p:sldId id="340" r:id="rId9"/>
    <p:sldId id="341" r:id="rId10"/>
    <p:sldId id="260" r:id="rId11"/>
    <p:sldId id="349" r:id="rId12"/>
    <p:sldId id="268" r:id="rId13"/>
    <p:sldId id="273" r:id="rId14"/>
    <p:sldId id="309" r:id="rId15"/>
    <p:sldId id="310" r:id="rId16"/>
    <p:sldId id="350" r:id="rId17"/>
    <p:sldId id="313" r:id="rId18"/>
    <p:sldId id="354" r:id="rId19"/>
    <p:sldId id="337" r:id="rId20"/>
    <p:sldId id="314" r:id="rId21"/>
    <p:sldId id="316" r:id="rId22"/>
    <p:sldId id="317" r:id="rId23"/>
    <p:sldId id="319" r:id="rId24"/>
    <p:sldId id="320" r:id="rId25"/>
    <p:sldId id="351" r:id="rId26"/>
    <p:sldId id="322" r:id="rId27"/>
    <p:sldId id="323" r:id="rId28"/>
    <p:sldId id="324" r:id="rId29"/>
    <p:sldId id="352" r:id="rId30"/>
    <p:sldId id="353" r:id="rId31"/>
    <p:sldId id="259" r:id="rId32"/>
    <p:sldId id="31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AFA69-642B-4F11-9D84-B590BC5AFC08}" v="11" dt="2026-01-12T10:34:08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Worrall" userId="e21a6e1f-6189-4284-9649-bf7c66c7a38c" providerId="ADAL" clId="{B294D135-36AD-4905-82C7-C24D4CC5C725}"/>
    <pc:docChg chg="addSld delSld modSld">
      <pc:chgData name="Kevin Worrall" userId="e21a6e1f-6189-4284-9649-bf7c66c7a38c" providerId="ADAL" clId="{B294D135-36AD-4905-82C7-C24D4CC5C725}" dt="2026-01-12T10:34:35.967" v="108" actId="47"/>
      <pc:docMkLst>
        <pc:docMk/>
      </pc:docMkLst>
      <pc:sldChg chg="modSp mod">
        <pc:chgData name="Kevin Worrall" userId="e21a6e1f-6189-4284-9649-bf7c66c7a38c" providerId="ADAL" clId="{B294D135-36AD-4905-82C7-C24D4CC5C725}" dt="2026-01-12T10:25:56.985" v="38" actId="20577"/>
        <pc:sldMkLst>
          <pc:docMk/>
          <pc:sldMk cId="654745962" sldId="258"/>
        </pc:sldMkLst>
        <pc:spChg chg="mod">
          <ac:chgData name="Kevin Worrall" userId="e21a6e1f-6189-4284-9649-bf7c66c7a38c" providerId="ADAL" clId="{B294D135-36AD-4905-82C7-C24D4CC5C725}" dt="2026-01-12T10:25:56.985" v="38" actId="20577"/>
          <ac:spMkLst>
            <pc:docMk/>
            <pc:sldMk cId="654745962" sldId="258"/>
            <ac:spMk id="3" creationId="{0EC2D61B-0204-42F3-52E6-931A9496968D}"/>
          </ac:spMkLst>
        </pc:spChg>
      </pc:sldChg>
      <pc:sldChg chg="modSp mod">
        <pc:chgData name="Kevin Worrall" userId="e21a6e1f-6189-4284-9649-bf7c66c7a38c" providerId="ADAL" clId="{B294D135-36AD-4905-82C7-C24D4CC5C725}" dt="2026-01-12T10:28:33.551" v="96" actId="403"/>
        <pc:sldMkLst>
          <pc:docMk/>
          <pc:sldMk cId="2453477929" sldId="313"/>
        </pc:sldMkLst>
        <pc:spChg chg="mod">
          <ac:chgData name="Kevin Worrall" userId="e21a6e1f-6189-4284-9649-bf7c66c7a38c" providerId="ADAL" clId="{B294D135-36AD-4905-82C7-C24D4CC5C725}" dt="2026-01-12T10:28:33.551" v="96" actId="403"/>
          <ac:spMkLst>
            <pc:docMk/>
            <pc:sldMk cId="2453477929" sldId="313"/>
            <ac:spMk id="5" creationId="{17FB244B-6ECD-B8CD-5D64-9B0728808A73}"/>
          </ac:spMkLst>
        </pc:spChg>
      </pc:sldChg>
      <pc:sldChg chg="modSp">
        <pc:chgData name="Kevin Worrall" userId="e21a6e1f-6189-4284-9649-bf7c66c7a38c" providerId="ADAL" clId="{B294D135-36AD-4905-82C7-C24D4CC5C725}" dt="2026-01-12T10:27:03.472" v="47" actId="403"/>
        <pc:sldMkLst>
          <pc:docMk/>
          <pc:sldMk cId="1155085624" sldId="349"/>
        </pc:sldMkLst>
        <pc:spChg chg="mod">
          <ac:chgData name="Kevin Worrall" userId="e21a6e1f-6189-4284-9649-bf7c66c7a38c" providerId="ADAL" clId="{B294D135-36AD-4905-82C7-C24D4CC5C725}" dt="2026-01-12T10:27:03.472" v="47" actId="403"/>
          <ac:spMkLst>
            <pc:docMk/>
            <pc:sldMk cId="1155085624" sldId="349"/>
            <ac:spMk id="3" creationId="{3008A600-19B9-065D-CD98-ED19DFBB6F35}"/>
          </ac:spMkLst>
        </pc:spChg>
      </pc:sldChg>
      <pc:sldChg chg="addSp delSp modSp add mod setBg delDesignElem">
        <pc:chgData name="Kevin Worrall" userId="e21a6e1f-6189-4284-9649-bf7c66c7a38c" providerId="ADAL" clId="{B294D135-36AD-4905-82C7-C24D4CC5C725}" dt="2026-01-12T10:34:33.196" v="107" actId="22"/>
        <pc:sldMkLst>
          <pc:docMk/>
          <pc:sldMk cId="502662729" sldId="354"/>
        </pc:sldMkLst>
        <pc:spChg chg="mod">
          <ac:chgData name="Kevin Worrall" userId="e21a6e1f-6189-4284-9649-bf7c66c7a38c" providerId="ADAL" clId="{B294D135-36AD-4905-82C7-C24D4CC5C725}" dt="2026-01-12T10:34:01.673" v="102" actId="20577"/>
          <ac:spMkLst>
            <pc:docMk/>
            <pc:sldMk cId="502662729" sldId="354"/>
            <ac:spMk id="2" creationId="{F4252F79-C5F0-090A-9EE4-9DED0472E656}"/>
          </ac:spMkLst>
        </pc:spChg>
        <pc:spChg chg="del mod">
          <ac:chgData name="Kevin Worrall" userId="e21a6e1f-6189-4284-9649-bf7c66c7a38c" providerId="ADAL" clId="{B294D135-36AD-4905-82C7-C24D4CC5C725}" dt="2026-01-12T10:34:33.196" v="107" actId="22"/>
          <ac:spMkLst>
            <pc:docMk/>
            <pc:sldMk cId="502662729" sldId="354"/>
            <ac:spMk id="5" creationId="{94201CD8-92E1-F0C8-0820-1B357F5FFBFD}"/>
          </ac:spMkLst>
        </pc:spChg>
        <pc:spChg chg="del">
          <ac:chgData name="Kevin Worrall" userId="e21a6e1f-6189-4284-9649-bf7c66c7a38c" providerId="ADAL" clId="{B294D135-36AD-4905-82C7-C24D4CC5C725}" dt="2026-01-12T10:33:49.552" v="98"/>
          <ac:spMkLst>
            <pc:docMk/>
            <pc:sldMk cId="502662729" sldId="354"/>
            <ac:spMk id="10" creationId="{84BB5413-D1F7-D6F9-8D00-A3FFE2FAD6CB}"/>
          </ac:spMkLst>
        </pc:spChg>
        <pc:spChg chg="del">
          <ac:chgData name="Kevin Worrall" userId="e21a6e1f-6189-4284-9649-bf7c66c7a38c" providerId="ADAL" clId="{B294D135-36AD-4905-82C7-C24D4CC5C725}" dt="2026-01-12T10:33:49.552" v="98"/>
          <ac:spMkLst>
            <pc:docMk/>
            <pc:sldMk cId="502662729" sldId="354"/>
            <ac:spMk id="12" creationId="{5064F6BE-72F5-06E0-9748-566FD1B8044D}"/>
          </ac:spMkLst>
        </pc:spChg>
        <pc:picChg chg="add mod ord">
          <ac:chgData name="Kevin Worrall" userId="e21a6e1f-6189-4284-9649-bf7c66c7a38c" providerId="ADAL" clId="{B294D135-36AD-4905-82C7-C24D4CC5C725}" dt="2026-01-12T10:34:33.196" v="107" actId="22"/>
          <ac:picMkLst>
            <pc:docMk/>
            <pc:sldMk cId="502662729" sldId="354"/>
            <ac:picMk id="6" creationId="{1DDBF53D-8F79-0BBF-EA7C-614FF8D5CDEC}"/>
          </ac:picMkLst>
        </pc:picChg>
      </pc:sldChg>
      <pc:sldChg chg="delSp add del setBg delDesignElem">
        <pc:chgData name="Kevin Worrall" userId="e21a6e1f-6189-4284-9649-bf7c66c7a38c" providerId="ADAL" clId="{B294D135-36AD-4905-82C7-C24D4CC5C725}" dt="2026-01-12T10:34:35.967" v="108" actId="47"/>
        <pc:sldMkLst>
          <pc:docMk/>
          <pc:sldMk cId="4237107964" sldId="355"/>
        </pc:sldMkLst>
        <pc:spChg chg="del">
          <ac:chgData name="Kevin Worrall" userId="e21a6e1f-6189-4284-9649-bf7c66c7a38c" providerId="ADAL" clId="{B294D135-36AD-4905-82C7-C24D4CC5C725}" dt="2026-01-12T10:34:08.610" v="106"/>
          <ac:spMkLst>
            <pc:docMk/>
            <pc:sldMk cId="4237107964" sldId="355"/>
            <ac:spMk id="10" creationId="{70F54A8E-3DBD-CECF-1BF5-FAA2FB0D24D5}"/>
          </ac:spMkLst>
        </pc:spChg>
        <pc:spChg chg="del">
          <ac:chgData name="Kevin Worrall" userId="e21a6e1f-6189-4284-9649-bf7c66c7a38c" providerId="ADAL" clId="{B294D135-36AD-4905-82C7-C24D4CC5C725}" dt="2026-01-12T10:34:08.610" v="106"/>
          <ac:spMkLst>
            <pc:docMk/>
            <pc:sldMk cId="4237107964" sldId="355"/>
            <ac:spMk id="12" creationId="{12E1858B-DB9A-A2BF-22A7-6CA1C02D2C2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5/SensorPlots202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Static</a:t>
            </a:r>
            <a:r>
              <a:rPr lang="en-GB" baseline="0"/>
              <a:t> Response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Sheet1!$A$4:$A$11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xVal>
          <c:yVal>
            <c:numRef>
              <c:f>Sheet1!$B$4:$B$11</c:f>
              <c:numCache>
                <c:formatCode>General</c:formatCode>
                <c:ptCount val="8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004-4F38-9C0F-DA49A43C92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67299951"/>
        <c:axId val="1374477119"/>
      </c:scatterChart>
      <c:valAx>
        <c:axId val="15672999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4477119"/>
        <c:crosses val="autoZero"/>
        <c:crossBetween val="midCat"/>
      </c:valAx>
      <c:valAx>
        <c:axId val="1374477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2999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Static</a:t>
            </a:r>
            <a:r>
              <a:rPr lang="en-GB" baseline="0" dirty="0"/>
              <a:t> Response with Offset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Sheet1!$A$19:$A$26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xVal>
          <c:yVal>
            <c:numRef>
              <c:f>Sheet1!$B$19:$B$26</c:f>
              <c:numCache>
                <c:formatCode>General</c:formatCode>
                <c:ptCount val="8"/>
                <c:pt idx="0">
                  <c:v>0.3</c:v>
                </c:pt>
                <c:pt idx="1">
                  <c:v>0.8</c:v>
                </c:pt>
                <c:pt idx="2">
                  <c:v>1.3</c:v>
                </c:pt>
                <c:pt idx="3">
                  <c:v>1.8</c:v>
                </c:pt>
                <c:pt idx="4">
                  <c:v>2.2999999999999998</c:v>
                </c:pt>
                <c:pt idx="5">
                  <c:v>2.8</c:v>
                </c:pt>
                <c:pt idx="6">
                  <c:v>3.3</c:v>
                </c:pt>
                <c:pt idx="7">
                  <c:v>3.8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D9C-4333-992B-8EDE2BAC8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82628975"/>
        <c:axId val="1588965599"/>
      </c:scatterChart>
      <c:valAx>
        <c:axId val="15826289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</a:t>
                </a:r>
                <a:r>
                  <a:rPr lang="en-GB" baseline="0"/>
                  <a:t>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965599"/>
        <c:crosses val="autoZero"/>
        <c:crossBetween val="midCat"/>
      </c:valAx>
      <c:valAx>
        <c:axId val="158896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26289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Static</a:t>
            </a:r>
            <a:r>
              <a:rPr lang="en-GB" baseline="0" dirty="0"/>
              <a:t> Response - Non Linear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Sheet1!$A$38:$A$52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Sheet1!$B$38:$B$52</c:f>
              <c:numCache>
                <c:formatCode>General</c:formatCode>
                <c:ptCount val="15"/>
                <c:pt idx="1">
                  <c:v>0.5</c:v>
                </c:pt>
                <c:pt idx="2">
                  <c:v>0.52</c:v>
                </c:pt>
                <c:pt idx="3">
                  <c:v>0.55000000000000004</c:v>
                </c:pt>
                <c:pt idx="4">
                  <c:v>0.6</c:v>
                </c:pt>
                <c:pt idx="5">
                  <c:v>0.72</c:v>
                </c:pt>
                <c:pt idx="6">
                  <c:v>1</c:v>
                </c:pt>
                <c:pt idx="7">
                  <c:v>2</c:v>
                </c:pt>
                <c:pt idx="8">
                  <c:v>2.7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3.25</c:v>
                </c:pt>
                <c:pt idx="14">
                  <c:v>3.27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F84-4788-BBF5-19113F016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2026959"/>
        <c:axId val="1727449695"/>
      </c:scatterChart>
      <c:valAx>
        <c:axId val="1722026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49695"/>
        <c:crosses val="autoZero"/>
        <c:crossBetween val="midCat"/>
      </c:valAx>
      <c:valAx>
        <c:axId val="1727449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20269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Static</a:t>
            </a:r>
            <a:r>
              <a:rPr lang="en-GB" baseline="0"/>
              <a:t> Responses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Normal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Sheet1!$M$4:$M$11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xVal>
          <c:yVal>
            <c:numRef>
              <c:f>Sheet1!$N$4:$N$11</c:f>
              <c:numCache>
                <c:formatCode>General</c:formatCode>
                <c:ptCount val="8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3DD-48F7-9A74-1576C04DBCA1}"/>
            </c:ext>
          </c:extLst>
        </c:ser>
        <c:ser>
          <c:idx val="1"/>
          <c:order val="1"/>
          <c:tx>
            <c:v>with Offset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Sheet1!$M$4:$M$11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xVal>
          <c:yVal>
            <c:numRef>
              <c:f>Sheet1!$O$4:$O$11</c:f>
              <c:numCache>
                <c:formatCode>General</c:formatCode>
                <c:ptCount val="8"/>
                <c:pt idx="0">
                  <c:v>0.3</c:v>
                </c:pt>
                <c:pt idx="1">
                  <c:v>0.8</c:v>
                </c:pt>
                <c:pt idx="2">
                  <c:v>1.3</c:v>
                </c:pt>
                <c:pt idx="3">
                  <c:v>1.8</c:v>
                </c:pt>
                <c:pt idx="4">
                  <c:v>2.2999999999999998</c:v>
                </c:pt>
                <c:pt idx="5">
                  <c:v>2.8</c:v>
                </c:pt>
                <c:pt idx="6">
                  <c:v>3.3</c:v>
                </c:pt>
                <c:pt idx="7">
                  <c:v>3.8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3DD-48F7-9A74-1576C04DBCA1}"/>
            </c:ext>
          </c:extLst>
        </c:ser>
        <c:ser>
          <c:idx val="2"/>
          <c:order val="2"/>
          <c:tx>
            <c:v>Non Linear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Sheet1!$M$13:$M$26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Sheet1!$N$13:$N$26</c:f>
              <c:numCache>
                <c:formatCode>General</c:formatCode>
                <c:ptCount val="14"/>
                <c:pt idx="0">
                  <c:v>0.5</c:v>
                </c:pt>
                <c:pt idx="1">
                  <c:v>0.52</c:v>
                </c:pt>
                <c:pt idx="2">
                  <c:v>0.55000000000000004</c:v>
                </c:pt>
                <c:pt idx="3">
                  <c:v>0.6</c:v>
                </c:pt>
                <c:pt idx="4">
                  <c:v>0.72</c:v>
                </c:pt>
                <c:pt idx="5">
                  <c:v>1</c:v>
                </c:pt>
                <c:pt idx="6">
                  <c:v>2</c:v>
                </c:pt>
                <c:pt idx="7">
                  <c:v>2.7</c:v>
                </c:pt>
                <c:pt idx="8">
                  <c:v>2.9</c:v>
                </c:pt>
                <c:pt idx="9">
                  <c:v>3</c:v>
                </c:pt>
                <c:pt idx="10">
                  <c:v>3.1</c:v>
                </c:pt>
                <c:pt idx="11">
                  <c:v>3.2</c:v>
                </c:pt>
                <c:pt idx="12">
                  <c:v>3.25</c:v>
                </c:pt>
                <c:pt idx="13">
                  <c:v>3.27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3DD-48F7-9A74-1576C04DBC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335792"/>
        <c:axId val="78307472"/>
      </c:scatterChart>
      <c:valAx>
        <c:axId val="78335792"/>
        <c:scaling>
          <c:orientation val="minMax"/>
          <c:max val="14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307472"/>
        <c:crosses val="autoZero"/>
        <c:crossBetween val="midCat"/>
      </c:valAx>
      <c:valAx>
        <c:axId val="78307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3357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Sensitivity</a:t>
            </a:r>
            <a:r>
              <a:rPr lang="en-GB" baseline="0"/>
              <a:t> Comparsion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5.4558180227471567E-2"/>
          <c:y val="0.11928533587785488"/>
          <c:w val="0.81565864049602499"/>
          <c:h val="0.73790896447495435"/>
        </c:manualLayout>
      </c:layout>
      <c:scatterChart>
        <c:scatterStyle val="smoothMarker"/>
        <c:varyColors val="0"/>
        <c:ser>
          <c:idx val="0"/>
          <c:order val="0"/>
          <c:tx>
            <c:v>Low Sensitivity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Sheet1!$A$58:$A$65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xVal>
          <c:yVal>
            <c:numRef>
              <c:f>Sheet1!$B$58:$B$65</c:f>
              <c:numCache>
                <c:formatCode>General</c:formatCode>
                <c:ptCount val="8"/>
                <c:pt idx="0">
                  <c:v>0.3</c:v>
                </c:pt>
                <c:pt idx="1">
                  <c:v>0.8</c:v>
                </c:pt>
                <c:pt idx="2">
                  <c:v>1.3</c:v>
                </c:pt>
                <c:pt idx="3">
                  <c:v>1.8</c:v>
                </c:pt>
                <c:pt idx="4">
                  <c:v>2.2999999999999998</c:v>
                </c:pt>
                <c:pt idx="5">
                  <c:v>2.8</c:v>
                </c:pt>
                <c:pt idx="6">
                  <c:v>3.3</c:v>
                </c:pt>
                <c:pt idx="7">
                  <c:v>3.8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E30-49F8-9707-1515939C90BB}"/>
            </c:ext>
          </c:extLst>
        </c:ser>
        <c:ser>
          <c:idx val="1"/>
          <c:order val="1"/>
          <c:tx>
            <c:v>High Sensitivity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Sheet1!$A$58:$A$65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xVal>
          <c:yVal>
            <c:numRef>
              <c:f>Sheet1!$C$58:$C$65</c:f>
              <c:numCache>
                <c:formatCode>General</c:formatCode>
                <c:ptCount val="8"/>
                <c:pt idx="0">
                  <c:v>0.3</c:v>
                </c:pt>
                <c:pt idx="1">
                  <c:v>2.2999999999999998</c:v>
                </c:pt>
                <c:pt idx="2">
                  <c:v>4.3</c:v>
                </c:pt>
                <c:pt idx="3">
                  <c:v>6.3</c:v>
                </c:pt>
                <c:pt idx="4">
                  <c:v>8.3000000000000007</c:v>
                </c:pt>
                <c:pt idx="5">
                  <c:v>10.3</c:v>
                </c:pt>
                <c:pt idx="6">
                  <c:v>12.3</c:v>
                </c:pt>
                <c:pt idx="7">
                  <c:v>14.3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E30-49F8-9707-1515939C9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1869119"/>
        <c:axId val="1536065263"/>
      </c:scatterChart>
      <c:valAx>
        <c:axId val="1721869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</a:t>
                </a:r>
                <a:r>
                  <a:rPr lang="en-GB" baseline="0"/>
                  <a:t>,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065263"/>
        <c:crosses val="autoZero"/>
        <c:crossBetween val="midCat"/>
      </c:valAx>
      <c:valAx>
        <c:axId val="1536065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186911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Hysteresis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Sheet1!$A$73:$A$87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Sheet1!$B$73:$B$87</c:f>
              <c:numCache>
                <c:formatCode>General</c:formatCode>
                <c:ptCount val="15"/>
                <c:pt idx="1">
                  <c:v>0.5</c:v>
                </c:pt>
                <c:pt idx="2">
                  <c:v>0.52</c:v>
                </c:pt>
                <c:pt idx="3">
                  <c:v>0.55000000000000004</c:v>
                </c:pt>
                <c:pt idx="4">
                  <c:v>0.6</c:v>
                </c:pt>
                <c:pt idx="5">
                  <c:v>0.72</c:v>
                </c:pt>
                <c:pt idx="6">
                  <c:v>1</c:v>
                </c:pt>
                <c:pt idx="7">
                  <c:v>2</c:v>
                </c:pt>
                <c:pt idx="8">
                  <c:v>2.7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3.25</c:v>
                </c:pt>
                <c:pt idx="14">
                  <c:v>3.27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D45-44AE-8820-EF9745C084C8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Sheet1!$A$73:$A$87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Sheet1!$C$73:$C$87</c:f>
              <c:numCache>
                <c:formatCode>General</c:formatCode>
                <c:ptCount val="15"/>
                <c:pt idx="1">
                  <c:v>0.5</c:v>
                </c:pt>
                <c:pt idx="2">
                  <c:v>0.52</c:v>
                </c:pt>
                <c:pt idx="3">
                  <c:v>0.55000000000000004</c:v>
                </c:pt>
                <c:pt idx="4">
                  <c:v>0.57999999999999996</c:v>
                </c:pt>
                <c:pt idx="5">
                  <c:v>0.6</c:v>
                </c:pt>
                <c:pt idx="6">
                  <c:v>0.72</c:v>
                </c:pt>
                <c:pt idx="7">
                  <c:v>1</c:v>
                </c:pt>
                <c:pt idx="8">
                  <c:v>2</c:v>
                </c:pt>
                <c:pt idx="9">
                  <c:v>2.7</c:v>
                </c:pt>
                <c:pt idx="10">
                  <c:v>2.9</c:v>
                </c:pt>
                <c:pt idx="11">
                  <c:v>3</c:v>
                </c:pt>
                <c:pt idx="12">
                  <c:v>3.1</c:v>
                </c:pt>
                <c:pt idx="13">
                  <c:v>3.2</c:v>
                </c:pt>
                <c:pt idx="14">
                  <c:v>3.27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D45-44AE-8820-EF9745C084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2528815"/>
        <c:axId val="1590481071"/>
      </c:scatterChart>
      <c:valAx>
        <c:axId val="15725288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0481071"/>
        <c:crosses val="autoZero"/>
        <c:crossBetween val="midCat"/>
      </c:valAx>
      <c:valAx>
        <c:axId val="1590481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25288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85B6B-ECE2-4879-A9A5-03850BAAFBB0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A1267-AA76-4E48-81A7-ED61976908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971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04-E335-67A4-FA69-8365E526D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AD6FB-F3BC-752E-D374-800B1DE6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BC70D-06A8-D18A-A788-8FD4FB1B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1495-F5D4-4BAE-846E-C1BA39B38C3E}" type="datetime1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E3A3-1862-497C-DDA8-5672505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EAD9D-BBC4-E88C-BB0F-497F1E27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718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7ED-67B0-A413-78B4-CDBF534F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D5D6-9D4D-11E4-06D4-372026C4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2683-A2AF-4A75-8A55-9D7F47C4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0E1F-D883-4734-8D17-FAFD2FE3F82B}" type="datetime1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A211-1912-E80C-FB03-CEBF5226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9302-C457-E101-4432-A6FA5B74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62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383B-473A-5E42-BF42-66A87607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53AF-2AFB-8A34-6F64-C9694583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E19C-560D-582B-5C65-BABE7284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3C43-999F-4677-8B7B-A143626357DE}" type="datetime1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A85-9039-9DC7-FCE8-E59C157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4C43-E1C4-CF43-D041-995B05E0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37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6A55-F2A7-95D7-5B21-8C725B77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5870-E1A2-2279-E26B-485EDCBB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5CDC7-3655-6623-C08B-2A0DDFBA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85466-A2BA-0F1C-C0EE-3DDD9BBF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E2D2-7D84-4F62-AB79-04DD5D6E2A83}" type="datetime1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F506-CEA6-3A73-C30B-9E866450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BEED9-EA69-B899-A439-2F43F88F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784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FB61-0B1B-1AA8-C776-6E6E5987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91144-0D95-8068-5D00-7A87B3CB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A04A-9C50-74D8-50AB-68DCD684C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713DA-D885-C472-BAD2-D383CFB17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16DC-7E05-7364-DBE6-E5FCE8AD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299C5-58E9-0915-C7F9-532BCEB5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2E2F-086F-40AD-AE37-0FE3516ECA88}" type="datetime1">
              <a:rPr lang="en-GB" smtClean="0"/>
              <a:t>12/01/2026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A08F8-E9E4-42AA-2BF5-F3FD711C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A90D6-B33F-B27A-89BC-5C61CD74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709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F1DD-33BA-DC1A-503B-EDF553E9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C1459-127D-B946-DCC3-295E311F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7FCF-08A1-4FE4-9E9D-DC420D650C18}" type="datetime1">
              <a:rPr lang="en-GB" smtClean="0"/>
              <a:t>12/01/2026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167AD-FE57-199A-AED0-34EC850A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E0EC7-4B04-9729-C509-C54966A0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02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24B3-7905-CDCE-B292-FD8A2BD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DA0C7-BAEE-4F35-8A3B-93DC0CEF01B4}" type="datetime1">
              <a:rPr lang="en-GB" smtClean="0"/>
              <a:t>12/01/2026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A3729-5522-EE34-2FCC-F4BC137C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7865-47F4-47C5-BBCB-A6249F2A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5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4DEA-FB17-B8A6-AA81-03FAA820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07C4-5CF6-7B6B-7A9A-A16BDDA4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2CCBA-A6B6-D42B-9A6C-7C4515A5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EF61-BB13-5B78-32CC-DAE86270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68E4-9C31-482F-B818-B582CFCA3920}" type="datetime1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E7C5-8D38-2000-9396-6952E2AC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1D8B-C963-0093-61E4-B314D828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12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C570-FFEA-139D-76DD-8FAD26F4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5F4C9-5646-2C72-5A74-36DBA95E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733E6-059F-B4E8-2665-301BD49D2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3E015-83D2-B22A-AEFA-3050D04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87033-DBE3-47C4-85A3-06E175F67215}" type="datetime1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CC9E-7434-E9C4-BF07-F498CDF7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5824-C721-15E0-005F-09D87B36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30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A8C0-0F4C-EB7E-4D83-13A13AB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CC711-7438-1B41-AB61-31E43CBF3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12AF-0EE4-43D6-3E5A-84927253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8CAA1-DC3A-4AD5-88F3-EBC71BAF0E08}" type="datetime1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32D4-8659-7FED-DBB7-C92D717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7D87-07EB-4978-82B2-863E55F5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87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1CF52-EC45-CAB7-E131-1ECA7B9C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FF283-34F1-64D3-F66D-2F035B48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3432-534B-D87F-33AD-11D4009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6873-85DD-4CDB-895B-8ED6F6A7367F}" type="datetime1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E0A8-0EFF-A6D0-21B8-38A2D7E8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8CA4-F6F3-B516-1FBA-074CDC4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32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5FCCA-3F3F-773D-CD33-62B98DC6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DECA-96E2-A2E3-D34A-F7C25B02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1FA4-DBAE-837F-EEB7-35143BA1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EB35A-6C1C-44EB-A894-5CBC41E755B3}" type="datetime1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C84C-67E4-49E5-DBCE-67ED85EF1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40A1-6DB9-3D28-8445-9C83A0B70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5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/lit/ds/symlink/lm235.pdf" TargetMode="External"/><Relationship Id="rId2" Type="http://schemas.openxmlformats.org/officeDocument/2006/relationships/hyperlink" Target="https://www.ti.com/lit/ds/symlink/lmt86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nalog.com/media/en/technical-documentation/data-sheets/adxl345.pdf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3993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GB" sz="5200" b="1">
                <a:solidFill>
                  <a:srgbClr val="FFFFFF"/>
                </a:solidFill>
              </a:rPr>
              <a:t>ENG4118/5326 - Robotics 4/M</a:t>
            </a:r>
            <a:br>
              <a:rPr lang="en-GB" sz="5200" b="1">
                <a:solidFill>
                  <a:srgbClr val="FFFFFF"/>
                </a:solidFill>
              </a:rPr>
            </a:br>
            <a:r>
              <a:rPr lang="en-GB" sz="5200" b="1">
                <a:solidFill>
                  <a:srgbClr val="FFFFFF"/>
                </a:solidFill>
              </a:rPr>
              <a:t>Sensors, Actuators and Image capture, processing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GB" sz="2000">
                <a:solidFill>
                  <a:srgbClr val="FFFFFF"/>
                </a:solidFill>
              </a:rPr>
              <a:t>Lecture 2</a:t>
            </a:r>
          </a:p>
          <a:p>
            <a:r>
              <a:rPr lang="en-GB" sz="2000">
                <a:solidFill>
                  <a:srgbClr val="FFFFFF"/>
                </a:solidFill>
              </a:rPr>
              <a:t>Kevin Worrall</a:t>
            </a:r>
          </a:p>
        </p:txBody>
      </p:sp>
      <p:sp>
        <p:nvSpPr>
          <p:cNvPr id="1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2FB52-67A8-E2C7-2462-FB99CD1C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ED87AFC-F3F3-4E09-A9D9-1873FFB55ECB}" type="slidenum">
              <a:rPr lang="en-GB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GB" sz="1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011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1252970"/>
          </a:xfrm>
        </p:spPr>
        <p:txBody>
          <a:bodyPr anchor="b">
            <a:normAutofit/>
          </a:bodyPr>
          <a:lstStyle/>
          <a:p>
            <a:r>
              <a:rPr lang="en-GB" sz="5600" b="1" dirty="0"/>
              <a:t>Overview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F57451-DC0D-84D4-4468-91BA2BD3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53" b="3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4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1720241"/>
            <a:ext cx="4745994" cy="5001234"/>
          </a:xfrm>
        </p:spPr>
        <p:txBody>
          <a:bodyPr anchor="t">
            <a:normAutofit/>
          </a:bodyPr>
          <a:lstStyle/>
          <a:p>
            <a:r>
              <a:rPr lang="en-GB" sz="2600" dirty="0">
                <a:solidFill>
                  <a:schemeClr val="tx1">
                    <a:alpha val="80000"/>
                  </a:schemeClr>
                </a:solidFill>
              </a:rPr>
              <a:t>Sensor Performance Specifications</a:t>
            </a:r>
          </a:p>
          <a:p>
            <a:pPr lvl="1"/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What are sensor specifications?</a:t>
            </a:r>
          </a:p>
          <a:p>
            <a:pPr lvl="1"/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Parameters</a:t>
            </a:r>
            <a:endParaRPr lang="en-GB" sz="1200" dirty="0">
              <a:solidFill>
                <a:schemeClr val="tx1">
                  <a:alpha val="80000"/>
                </a:schemeClr>
              </a:solidFill>
            </a:endParaRPr>
          </a:p>
          <a:p>
            <a:pPr lvl="2"/>
            <a:endParaRPr lang="en-GB" sz="1200" dirty="0">
              <a:solidFill>
                <a:schemeClr val="tx1">
                  <a:alpha val="80000"/>
                </a:schemeClr>
              </a:solidFill>
            </a:endParaRPr>
          </a:p>
          <a:p>
            <a:pPr lvl="2"/>
            <a:endParaRPr lang="en-GB" sz="1200" dirty="0">
              <a:solidFill>
                <a:schemeClr val="tx1">
                  <a:alpha val="80000"/>
                </a:schemeClr>
              </a:solidFill>
            </a:endParaRPr>
          </a:p>
          <a:p>
            <a:pPr lvl="2"/>
            <a:endParaRPr lang="en-GB" sz="12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8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0761D-BFB0-57EF-E43B-6C4AC298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ED87AFC-F3F3-4E09-A9D9-1873FFB55ECB}" type="slidenum">
              <a:rPr lang="en-GB" sz="1900">
                <a:solidFill>
                  <a:schemeClr val="tx1">
                    <a:alpha val="60000"/>
                  </a:scheme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GB" sz="190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20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74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878FF-B3DB-AE67-2EED-424435135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DD84ED-6939-D046-AB1A-320FA5E9A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000C4-6965-9E26-5146-E7801E22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What is measurement?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670B3AA-0EA4-D730-37A1-8AEC00D4E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9AEA6-80E4-EF5B-963E-403E354FD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/>
              <a:t>We measure everything…</a:t>
            </a:r>
          </a:p>
          <a:p>
            <a:r>
              <a:rPr lang="en-GB" sz="3200" b="1" i="1" dirty="0"/>
              <a:t>measurement</a:t>
            </a:r>
            <a:r>
              <a:rPr lang="en-GB" sz="3200" dirty="0"/>
              <a:t> is information about a physical quantity</a:t>
            </a:r>
          </a:p>
          <a:p>
            <a:r>
              <a:rPr lang="en-GB" sz="3200" dirty="0"/>
              <a:t>And to make a measurement we need a </a:t>
            </a:r>
            <a:r>
              <a:rPr lang="en-GB" sz="3200" b="1" i="1" dirty="0"/>
              <a:t>sensor</a:t>
            </a:r>
          </a:p>
          <a:p>
            <a:r>
              <a:rPr lang="en-GB" sz="3200" dirty="0"/>
              <a:t>A </a:t>
            </a:r>
            <a:r>
              <a:rPr lang="en-GB" sz="3200" b="1" i="1" dirty="0"/>
              <a:t>sensor</a:t>
            </a:r>
            <a:r>
              <a:rPr lang="en-GB" sz="3200" dirty="0"/>
              <a:t> facilitates the transfer of information about a physical quantity</a:t>
            </a:r>
          </a:p>
          <a:p>
            <a:r>
              <a:rPr lang="en-GB" sz="3200" dirty="0"/>
              <a:t>But measurement is never prefect</a:t>
            </a:r>
          </a:p>
          <a:p>
            <a:pPr lvl="1"/>
            <a:r>
              <a:rPr lang="en-GB" sz="2800" dirty="0"/>
              <a:t>Errors are present in the sensing device</a:t>
            </a:r>
          </a:p>
          <a:p>
            <a:pPr lvl="1"/>
            <a:r>
              <a:rPr lang="en-GB" sz="2800" dirty="0"/>
              <a:t>The sensing device can change the measurement</a:t>
            </a:r>
          </a:p>
          <a:p>
            <a:r>
              <a:rPr lang="en-GB" sz="3200" dirty="0"/>
              <a:t>Need to understand the </a:t>
            </a:r>
            <a:r>
              <a:rPr lang="en-GB" sz="3200" b="1" i="1" dirty="0"/>
              <a:t>sensor 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747DE-E4B0-F5B4-D596-A2DD39D1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5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EF019-B0CC-A0B8-BFDC-FE9E2B4D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A71CDE-D8DF-10CB-6571-095C5D376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1E457-22DD-BC66-289F-C0A2C106E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Specifications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A6EE0E52-E200-AE7C-2472-411AED272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E0C99-9E04-CAE6-AA70-07EBD1B14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3200" b="1" i="1" dirty="0"/>
              <a:t>sensor specifications </a:t>
            </a:r>
            <a:r>
              <a:rPr lang="en-GB" sz="3200" dirty="0"/>
              <a:t>quantify the ability of a sensor to provide measurements of physical variables</a:t>
            </a:r>
          </a:p>
          <a:p>
            <a:r>
              <a:rPr lang="en-GB" sz="3200" dirty="0"/>
              <a:t>This in turn allows you to interpret the output from the sensor and match it to the input (what you are wanting to know about)</a:t>
            </a:r>
          </a:p>
          <a:p>
            <a:r>
              <a:rPr lang="en-GB" sz="3200" dirty="0"/>
              <a:t>To support this sensor manufacturers create datasheets</a:t>
            </a:r>
          </a:p>
          <a:p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E766F-0876-D6E6-76B9-00D9E3C3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16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11B59-38F7-5649-2F40-72DEA8C9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1BFD0B-D5D6-1626-6D8E-35BEDE53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FBAD8-36FC-4018-4512-91011642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Datasheet Examples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493D715-C70F-19A8-D3BF-BE6373606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8592E-73E9-4F41-8F04-6EB51ED1A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3200" dirty="0"/>
              <a:t>Temperature Sensor 1:</a:t>
            </a:r>
          </a:p>
          <a:p>
            <a:pPr marL="457200" lvl="1" indent="0">
              <a:buNone/>
            </a:pPr>
            <a:r>
              <a:rPr lang="en-GB" sz="2800" dirty="0">
                <a:hlinkClick r:id="rId2"/>
              </a:rPr>
              <a:t>https://www.ti.com/lit/ds/symlink/lmt86.pdf</a:t>
            </a:r>
            <a:endParaRPr lang="en-GB" sz="2800" dirty="0"/>
          </a:p>
          <a:p>
            <a:r>
              <a:rPr lang="en-GB" sz="3200" dirty="0"/>
              <a:t>Temperature Sensor 2 :</a:t>
            </a:r>
          </a:p>
          <a:p>
            <a:pPr marL="457200" lvl="1" indent="0">
              <a:buNone/>
            </a:pPr>
            <a:r>
              <a:rPr lang="en-GB" sz="2800" dirty="0">
                <a:hlinkClick r:id="rId3"/>
              </a:rPr>
              <a:t>https://www.ti.com/lit/ds/symlink/lm235.pdf</a:t>
            </a:r>
            <a:endParaRPr lang="en-GB" sz="2800" dirty="0"/>
          </a:p>
          <a:p>
            <a:r>
              <a:rPr lang="en-GB" sz="3200" dirty="0"/>
              <a:t>Accelerometer:</a:t>
            </a:r>
          </a:p>
          <a:p>
            <a:pPr marL="457200" lvl="1" indent="0">
              <a:buNone/>
            </a:pPr>
            <a:r>
              <a:rPr lang="en-GB" sz="2800" dirty="0">
                <a:hlinkClick r:id="rId4"/>
              </a:rPr>
              <a:t>https://www.analog.com/media/en/technical-documentation/data-sheets/adxl345.pdf</a:t>
            </a:r>
            <a:endParaRPr lang="en-GB" sz="2800" dirty="0"/>
          </a:p>
          <a:p>
            <a:pPr marL="457200" lvl="1" indent="0">
              <a:buNone/>
            </a:pP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BD938-0957-15EA-C9BA-C5C73998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97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Physical Principles Applied to Sensors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127E7-BBE6-243F-1E03-DA2A2738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ED87AFC-F3F3-4E09-A9D9-1873FFB55ECB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93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Physics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dirty="0"/>
              <a:t>What physical principles are used to allow sensors to react to, then provide an output regarding the environment?</a:t>
            </a:r>
          </a:p>
          <a:p>
            <a:r>
              <a:rPr lang="en-GB" dirty="0"/>
              <a:t>Often what we want to measure must be converted into a different signal</a:t>
            </a:r>
          </a:p>
          <a:p>
            <a:r>
              <a:rPr lang="en-GB" dirty="0"/>
              <a:t>And we often are not measuring the parameter directly but the influence of the parameter</a:t>
            </a:r>
          </a:p>
          <a:p>
            <a:r>
              <a:rPr lang="en-GB" dirty="0"/>
              <a:t>Important to keep this in mind when selecting sensors</a:t>
            </a:r>
          </a:p>
          <a:p>
            <a:pPr lvl="1"/>
            <a:r>
              <a:rPr lang="en-GB" dirty="0"/>
              <a:t>What is the most appropriate way to measure the parameter in your system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80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Physics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r>
              <a:rPr lang="en-GB" sz="2400" b="1" i="1" dirty="0"/>
              <a:t>Resistive</a:t>
            </a:r>
            <a:r>
              <a:rPr lang="en-GB" sz="2400" dirty="0"/>
              <a:t> An electrical potential difference produces a current and vice versa (Ohm's Law: I = V/R)</a:t>
            </a:r>
          </a:p>
          <a:p>
            <a:pPr lvl="1"/>
            <a:r>
              <a:rPr lang="en-GB" dirty="0"/>
              <a:t>Many Temperature Sensors</a:t>
            </a:r>
          </a:p>
          <a:p>
            <a:r>
              <a:rPr lang="en-GB" sz="2400" b="1" i="1" dirty="0"/>
              <a:t>Capacitive</a:t>
            </a:r>
            <a:r>
              <a:rPr lang="en-GB" sz="2400" dirty="0"/>
              <a:t> Capacitance changes due to movement of conducting plates or insulating material between plates</a:t>
            </a:r>
          </a:p>
          <a:p>
            <a:pPr lvl="1"/>
            <a:r>
              <a:rPr lang="en-GB" dirty="0"/>
              <a:t>Touch Screen, some accelerometers, touch pads</a:t>
            </a:r>
          </a:p>
          <a:p>
            <a:r>
              <a:rPr lang="en-GB" sz="2400" b="1" i="1" dirty="0"/>
              <a:t>Inductive</a:t>
            </a:r>
            <a:r>
              <a:rPr lang="en-GB" sz="2400" dirty="0"/>
              <a:t> Changes in inductance due to movement of a magnetic core material or coil</a:t>
            </a:r>
          </a:p>
          <a:p>
            <a:pPr lvl="1"/>
            <a:r>
              <a:rPr lang="en-GB" dirty="0"/>
              <a:t>Metal Detectors</a:t>
            </a:r>
          </a:p>
          <a:p>
            <a:r>
              <a:rPr lang="en-GB" sz="2400" b="1" i="1" dirty="0"/>
              <a:t>Piezoelectric</a:t>
            </a:r>
            <a:r>
              <a:rPr lang="en-GB" sz="2400" dirty="0"/>
              <a:t> Strain produces charge in specific materials e.g. Zirconium </a:t>
            </a:r>
            <a:r>
              <a:rPr lang="en-GB" sz="2400" dirty="0" err="1"/>
              <a:t>Titanante</a:t>
            </a:r>
            <a:endParaRPr lang="en-GB" sz="2400" dirty="0"/>
          </a:p>
          <a:p>
            <a:pPr lvl="1"/>
            <a:r>
              <a:rPr lang="en-GB" dirty="0"/>
              <a:t>Strain gauges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05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Physics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400" b="1" i="1" dirty="0"/>
              <a:t>Hall Effect </a:t>
            </a:r>
            <a:r>
              <a:rPr lang="en-GB" sz="2400" dirty="0"/>
              <a:t>A magnetic field induces an electric potential</a:t>
            </a:r>
          </a:p>
          <a:p>
            <a:pPr lvl="1"/>
            <a:r>
              <a:rPr lang="en-GB" dirty="0"/>
              <a:t>Wheel Encoders</a:t>
            </a:r>
          </a:p>
          <a:p>
            <a:r>
              <a:rPr lang="en-GB" sz="2400" b="1" i="1" dirty="0"/>
              <a:t>Optical </a:t>
            </a:r>
            <a:r>
              <a:rPr lang="en-GB" sz="2400" dirty="0"/>
              <a:t>Several principles used, including light intensity, interferometry, Doppler, holography, reflection and modulation</a:t>
            </a:r>
          </a:p>
          <a:p>
            <a:pPr lvl="1"/>
            <a:r>
              <a:rPr lang="en-GB" dirty="0"/>
              <a:t>Vision systems, light sensor</a:t>
            </a:r>
          </a:p>
          <a:p>
            <a:r>
              <a:rPr lang="en-GB" sz="2400" b="1" i="1" dirty="0"/>
              <a:t>Optical </a:t>
            </a:r>
            <a:r>
              <a:rPr lang="en-GB" sz="2400" dirty="0"/>
              <a:t>Several principles used, including light intensity, interferometry, Doppler, holography, reflection and modulation</a:t>
            </a:r>
          </a:p>
          <a:p>
            <a:pPr lvl="1"/>
            <a:r>
              <a:rPr lang="en-GB" dirty="0"/>
              <a:t>Vision systems, light sensor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23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Sensor Specifications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127E7-BBE6-243F-1E03-DA2A2738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ED87AFC-F3F3-4E09-A9D9-1873FFB55ECB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676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EFD6D-F8C1-E63A-9DBA-8B8D74DB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EC7969-825A-D06F-7B83-769A4023A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427D5-CFE9-C190-1B36-D50A77D5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Keep in mind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D01C3B7-B9D8-4A7A-A593-DF5913D8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8A600-19B9-065D-CD98-ED19DFBB6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4400" dirty="0"/>
              <a:t>Measurements can be:</a:t>
            </a:r>
          </a:p>
          <a:p>
            <a:pPr lvl="1"/>
            <a:r>
              <a:rPr lang="en-GB" sz="4400" dirty="0"/>
              <a:t>Time-independent: length, mass</a:t>
            </a:r>
          </a:p>
          <a:p>
            <a:pPr lvl="1"/>
            <a:r>
              <a:rPr lang="en-GB" sz="4400" dirty="0"/>
              <a:t>Time-dependant: acceleration</a:t>
            </a:r>
          </a:p>
          <a:p>
            <a:pPr lvl="1"/>
            <a:r>
              <a:rPr lang="en-GB" sz="4400" dirty="0"/>
              <a:t>Relative: relative to another measurement</a:t>
            </a:r>
          </a:p>
          <a:p>
            <a:pPr lvl="1"/>
            <a:r>
              <a:rPr lang="en-GB" sz="4400" dirty="0"/>
              <a:t>Absolute: actual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11E4D-6645-BE5F-2B47-09D7E6D4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08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Static and Dynamic Response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3200" b="1" i="1" dirty="0"/>
              <a:t>Static Response </a:t>
            </a:r>
          </a:p>
          <a:p>
            <a:pPr lvl="1"/>
            <a:r>
              <a:rPr lang="en-GB" sz="3200" dirty="0"/>
              <a:t>characterises the sensor output after all transients have dissipated</a:t>
            </a:r>
          </a:p>
          <a:p>
            <a:pPr lvl="1"/>
            <a:r>
              <a:rPr lang="en-GB" sz="3200" dirty="0"/>
              <a:t>Output of the sensor when a steady state condition occurs</a:t>
            </a:r>
          </a:p>
          <a:p>
            <a:r>
              <a:rPr lang="en-GB" sz="3200" b="1" i="1" dirty="0"/>
              <a:t>Dynamic Response </a:t>
            </a:r>
          </a:p>
          <a:p>
            <a:pPr lvl="1"/>
            <a:r>
              <a:rPr lang="en-GB" sz="3200" dirty="0"/>
              <a:t>Sensor behaviour between the time of a change of input to the time the sensor settles</a:t>
            </a:r>
          </a:p>
          <a:p>
            <a:pPr lvl="1"/>
            <a:r>
              <a:rPr lang="en-GB" sz="3200" dirty="0"/>
              <a:t>Different sensors have different responses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30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Static Response - Linear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96BA8CF-412D-8E3A-C620-E66E412AC5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248569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2922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Static Response - Offset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65DB2E0-7909-5393-6610-06C75DEB6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48310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509E5A33-E765-991D-6915-A8EEBB969A8F}"/>
              </a:ext>
            </a:extLst>
          </p:cNvPr>
          <p:cNvSpPr/>
          <p:nvPr/>
        </p:nvSpPr>
        <p:spPr>
          <a:xfrm>
            <a:off x="948447" y="4995153"/>
            <a:ext cx="1040859" cy="9776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19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Static Response – Non-Linear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957BBCC-5AC6-174B-1E0E-9FDA16FE4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38689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370CAA-1A1D-DA2D-7AE4-AA0AF866A3F3}"/>
              </a:ext>
            </a:extLst>
          </p:cNvPr>
          <p:cNvCxnSpPr/>
          <p:nvPr/>
        </p:nvCxnSpPr>
        <p:spPr>
          <a:xfrm flipV="1">
            <a:off x="5160969" y="2596616"/>
            <a:ext cx="0" cy="339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995159-BA5A-7840-03B0-D0876F67CB09}"/>
              </a:ext>
            </a:extLst>
          </p:cNvPr>
          <p:cNvCxnSpPr/>
          <p:nvPr/>
        </p:nvCxnSpPr>
        <p:spPr>
          <a:xfrm flipV="1">
            <a:off x="5980293" y="2596616"/>
            <a:ext cx="0" cy="339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238F42-5F50-D96D-1162-76704C34CC9C}"/>
              </a:ext>
            </a:extLst>
          </p:cNvPr>
          <p:cNvSpPr txBox="1"/>
          <p:nvPr/>
        </p:nvSpPr>
        <p:spPr>
          <a:xfrm>
            <a:off x="6050280" y="4437776"/>
            <a:ext cx="3801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Sometimes only the linear area is used</a:t>
            </a:r>
          </a:p>
        </p:txBody>
      </p:sp>
    </p:spTree>
    <p:extLst>
      <p:ext uri="{BB962C8B-B14F-4D97-AF65-F5344CB8AC3E}">
        <p14:creationId xmlns:p14="http://schemas.microsoft.com/office/powerpoint/2010/main" val="163470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771D7-D0AE-356B-0436-7DA96F237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C25F6-4990-B8AC-C71A-1246ACD8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Static Response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5F241-182E-7B22-BF6C-FAAF053C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77CA4B3-483E-7051-5757-B46FB61227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5941724"/>
              </p:ext>
            </p:extLst>
          </p:nvPr>
        </p:nvGraphicFramePr>
        <p:xfrm>
          <a:off x="1837213" y="2055813"/>
          <a:ext cx="8426133" cy="4659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09956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Static Response – Non-Linear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dirty="0"/>
              <a:t>Most static response curves are one to one</a:t>
            </a:r>
          </a:p>
          <a:p>
            <a:pPr lvl="1"/>
            <a:r>
              <a:rPr lang="en-GB" sz="2800" dirty="0"/>
              <a:t>A given input value will result in a given output value</a:t>
            </a:r>
          </a:p>
          <a:p>
            <a:pPr lvl="1"/>
            <a:r>
              <a:rPr lang="en-GB" sz="2800" dirty="0"/>
              <a:t>In theory</a:t>
            </a:r>
          </a:p>
          <a:p>
            <a:pPr lvl="2"/>
            <a:r>
              <a:rPr lang="en-GB" sz="2400" dirty="0"/>
              <a:t>But there are always exceptions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3477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F9F7-1E7D-08D0-3633-53845B0D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2F79-C5F0-090A-9EE4-9DED0472E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Static Response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DBF53D-8F79-0BBF-EA7C-614FF8D5C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1220" y="1928813"/>
            <a:ext cx="5509560" cy="42529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4CEB5-0919-34A2-74FA-7F03CD30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662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Dynamic Response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4A94DDD7-B687-B347-629C-4A210EF1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b="1" i="1"/>
              <a:t>Response Time </a:t>
            </a:r>
          </a:p>
          <a:p>
            <a:pPr lvl="1"/>
            <a:r>
              <a:rPr lang="en-GB" sz="2200"/>
              <a:t>time taken until the sensor output matches a percentage value of the sensor input.</a:t>
            </a:r>
          </a:p>
          <a:p>
            <a:r>
              <a:rPr lang="en-GB" sz="2200" b="1" i="1"/>
              <a:t>Time Constant </a:t>
            </a:r>
          </a:p>
          <a:p>
            <a:pPr lvl="1"/>
            <a:r>
              <a:rPr lang="en-GB" sz="2200"/>
              <a:t>63.2% response time. How fast the sensor reacts to changes in the input.</a:t>
            </a:r>
          </a:p>
          <a:p>
            <a:r>
              <a:rPr lang="en-GB" sz="2200" b="1" i="1"/>
              <a:t>Rise Time </a:t>
            </a:r>
          </a:p>
          <a:p>
            <a:pPr lvl="1"/>
            <a:r>
              <a:rPr lang="en-GB" sz="2200"/>
              <a:t>Time taken to reach a particular value</a:t>
            </a:r>
          </a:p>
          <a:p>
            <a:r>
              <a:rPr lang="en-GB" sz="2200" b="1" i="1"/>
              <a:t>Settling Time </a:t>
            </a:r>
          </a:p>
          <a:p>
            <a:pPr lvl="1"/>
            <a:r>
              <a:rPr lang="en-GB" sz="2200"/>
              <a:t>Time taken to settle to within a percentage of the steady state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051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Range and Span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b="1" i="1" dirty="0"/>
              <a:t>Range </a:t>
            </a:r>
          </a:p>
          <a:p>
            <a:pPr lvl="1"/>
            <a:r>
              <a:rPr lang="en-GB" sz="2200" dirty="0"/>
              <a:t>defines the limits between which the input can vary</a:t>
            </a:r>
          </a:p>
          <a:p>
            <a:r>
              <a:rPr lang="en-GB" sz="2200" b="1" i="1" dirty="0"/>
              <a:t>Span </a:t>
            </a:r>
          </a:p>
          <a:p>
            <a:pPr lvl="1"/>
            <a:r>
              <a:rPr lang="en-GB" sz="2200" dirty="0"/>
              <a:t>is the maximum value </a:t>
            </a:r>
            <a:r>
              <a:rPr lang="en-GB" sz="2200" i="1" dirty="0"/>
              <a:t>minus</a:t>
            </a:r>
            <a:r>
              <a:rPr lang="en-GB" sz="2200" dirty="0"/>
              <a:t> the minimum value</a:t>
            </a:r>
          </a:p>
          <a:p>
            <a:r>
              <a:rPr lang="en-GB" sz="2200" dirty="0"/>
              <a:t>Example</a:t>
            </a:r>
          </a:p>
          <a:p>
            <a:pPr lvl="1"/>
            <a:r>
              <a:rPr lang="en-GB" sz="2200" dirty="0"/>
              <a:t>Temperature Sensor Range -45°C to +150°C</a:t>
            </a:r>
          </a:p>
          <a:p>
            <a:pPr lvl="1"/>
            <a:r>
              <a:rPr lang="en-GB" sz="2200" dirty="0"/>
              <a:t>Span is 195°C</a:t>
            </a:r>
          </a:p>
          <a:p>
            <a:r>
              <a:rPr lang="en-GB" sz="2000" dirty="0"/>
              <a:t>Your application dictates the required range</a:t>
            </a:r>
          </a:p>
          <a:p>
            <a:r>
              <a:rPr lang="en-GB" sz="2000" dirty="0"/>
              <a:t>If your system will only ever operate in an environment that varies between 23°C and 27°C then get a sensor that works well in that range...</a:t>
            </a:r>
          </a:p>
          <a:p>
            <a:pPr lvl="1"/>
            <a:endParaRPr lang="en-GB" sz="22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37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Accuracy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The extent to which the value returned by the sensor might be wrong</a:t>
            </a:r>
          </a:p>
          <a:p>
            <a:r>
              <a:rPr lang="en-GB" sz="2200"/>
              <a:t>Summation of all possible errors that are likely to occur, as well as the 'as supplied' calibration (which could be none)</a:t>
            </a:r>
          </a:p>
          <a:p>
            <a:r>
              <a:rPr lang="en-GB" sz="2200"/>
              <a:t>Typically given as a ± value or percentage</a:t>
            </a:r>
          </a:p>
          <a:p>
            <a:r>
              <a:rPr lang="en-GB" sz="2200"/>
              <a:t>Fundamental and normally most important aspect</a:t>
            </a:r>
          </a:p>
          <a:p>
            <a:endParaRPr lang="en-GB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47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Accuracy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Temperature Sensor accuracy of ±2°C</a:t>
            </a:r>
          </a:p>
          <a:p>
            <a:pPr lvl="1"/>
            <a:r>
              <a:rPr lang="en-GB" sz="2200"/>
              <a:t>Means that value returned is within ±2°C of actual</a:t>
            </a:r>
          </a:p>
          <a:p>
            <a:pPr lvl="1"/>
            <a:r>
              <a:rPr lang="en-GB" sz="2200"/>
              <a:t>+25°C returned could mean anything from 23°C to 27°C</a:t>
            </a:r>
          </a:p>
          <a:p>
            <a:r>
              <a:rPr lang="en-GB" sz="2200"/>
              <a:t>Consider the application</a:t>
            </a:r>
          </a:p>
          <a:p>
            <a:pPr lvl="1"/>
            <a:r>
              <a:rPr lang="en-GB" sz="2200"/>
              <a:t>Temperature Sensor, accuracy of ±5% over full range</a:t>
            </a:r>
          </a:p>
          <a:p>
            <a:pPr lvl="1"/>
            <a:r>
              <a:rPr lang="en-GB" sz="2200"/>
              <a:t>Range is 0 to +200°C, accuracy is (200*0.05) ±10°C</a:t>
            </a:r>
          </a:p>
          <a:p>
            <a:pPr lvl="1"/>
            <a:r>
              <a:rPr lang="en-GB" sz="2200"/>
              <a:t>So at +25°C sensor can return +15°C to +35°C</a:t>
            </a:r>
          </a:p>
          <a:p>
            <a:endParaRPr lang="en-GB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76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Accuracy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Learn to be wary of how accuracy is stated</a:t>
            </a:r>
          </a:p>
          <a:p>
            <a:r>
              <a:rPr lang="en-GB" sz="2200"/>
              <a:t>Manufacturers will state numbers in the best light</a:t>
            </a:r>
          </a:p>
          <a:p>
            <a:r>
              <a:rPr lang="en-GB" sz="2200"/>
              <a:t>Which is best?</a:t>
            </a:r>
          </a:p>
          <a:p>
            <a:pPr lvl="1"/>
            <a:r>
              <a:rPr lang="en-GB" sz="2200"/>
              <a:t>0-150°C @ ±6°C</a:t>
            </a:r>
          </a:p>
          <a:p>
            <a:pPr lvl="1"/>
            <a:r>
              <a:rPr lang="en-GB" sz="2200"/>
              <a:t>0-150°C @ ±5% full scale</a:t>
            </a:r>
          </a:p>
          <a:p>
            <a:pPr lvl="1"/>
            <a:r>
              <a:rPr lang="en-GB" sz="2200"/>
              <a:t>69 &lt; 75 &lt; 81°C or 67.5 &lt; 75 &lt; 82.5°C</a:t>
            </a:r>
          </a:p>
          <a:p>
            <a:r>
              <a:rPr lang="en-GB" sz="2200"/>
              <a:t>Be wary of percentages</a:t>
            </a:r>
          </a:p>
          <a:p>
            <a:pPr lvl="1"/>
            <a:r>
              <a:rPr lang="en-GB" sz="2200"/>
              <a:t>1% of 1000°C is 10°C, 1% of 100°C is 1°C...</a:t>
            </a:r>
          </a:p>
          <a:p>
            <a:r>
              <a:rPr lang="en-GB" sz="2200"/>
              <a:t>If you are unsure – do the maths…</a:t>
            </a:r>
          </a:p>
          <a:p>
            <a:endParaRPr lang="en-GB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70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Error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b="1" i="1"/>
              <a:t>Error</a:t>
            </a:r>
          </a:p>
          <a:p>
            <a:pPr lvl="1"/>
            <a:r>
              <a:rPr lang="en-GB" sz="2200"/>
              <a:t>defined as the difference between the sensor output and the true value of the quantity being read</a:t>
            </a:r>
          </a:p>
          <a:p>
            <a:pPr lvl="1"/>
            <a:r>
              <a:rPr lang="en-GB" sz="2200"/>
              <a:t>Returned value is 23°C, true is 21°C error is (23-21) 2°C</a:t>
            </a:r>
          </a:p>
          <a:p>
            <a:r>
              <a:rPr lang="en-GB" sz="2200"/>
              <a:t>Error is sometimes used to describe other aspects of the sensor... better to be specific... detail later!</a:t>
            </a:r>
          </a:p>
          <a:p>
            <a:endParaRPr lang="en-GB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11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75B19-F80D-BD0F-3C8E-0963BA38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1CDEB-3548-2323-FA17-BC9D5C43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Sensitivity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7C0415-FE63-8F0B-ACCF-7B321C3C5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dirty="0"/>
              <a:t>How much the output changes by when the input changes</a:t>
            </a:r>
          </a:p>
          <a:p>
            <a:r>
              <a:rPr lang="en-GB" sz="2200" dirty="0"/>
              <a:t>Relationship between the output and input:</a:t>
            </a:r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But can also be used to describe effect on input from environmental changes</a:t>
            </a:r>
          </a:p>
          <a:p>
            <a:r>
              <a:rPr lang="en-GB" sz="2200" dirty="0"/>
              <a:t>Pressure sensor may have a temperature sensitivity of ±0.1% per °C</a:t>
            </a:r>
          </a:p>
          <a:p>
            <a:r>
              <a:rPr lang="en-GB" sz="2200" dirty="0"/>
              <a:t>Assuming fixed output span</a:t>
            </a:r>
          </a:p>
          <a:p>
            <a:pPr lvl="1"/>
            <a:r>
              <a:rPr lang="en-GB" sz="2200" dirty="0"/>
              <a:t>Static Response curves with high sensitivity have small input range</a:t>
            </a:r>
          </a:p>
          <a:p>
            <a:pPr lvl="1"/>
            <a:r>
              <a:rPr lang="en-GB" sz="2200" dirty="0"/>
              <a:t>Static Response curves with low sensitivity have large input range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56B04-8AA8-C98D-E534-4521AA37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B72EBD2C-EA89-5F0E-707B-29B40942F2C3}"/>
                  </a:ext>
                </a:extLst>
              </p:cNvPr>
              <p:cNvSpPr txBox="1"/>
              <p:nvPr/>
            </p:nvSpPr>
            <p:spPr>
              <a:xfrm>
                <a:off x="1684721" y="3084089"/>
                <a:ext cx="3227400" cy="689821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𝑠𝑒𝑛𝑠𝑖𝑡𝑖𝑣𝑖𝑡𝑦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𝑤𝑖𝑑𝑡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𝑤𝑖𝑑𝑡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B72EBD2C-EA89-5F0E-707B-29B40942F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721" y="3084089"/>
                <a:ext cx="3227400" cy="6898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Formula 3">
                <a:extLst>
                  <a:ext uri="{FF2B5EF4-FFF2-40B4-BE49-F238E27FC236}">
                    <a16:creationId xmlns:a16="http://schemas.microsoft.com/office/drawing/2014/main" id="{C4C3B99A-6FE2-0698-8457-30E60C00D888}"/>
                  </a:ext>
                </a:extLst>
              </p:cNvPr>
              <p:cNvSpPr txBox="1"/>
              <p:nvPr/>
            </p:nvSpPr>
            <p:spPr>
              <a:xfrm>
                <a:off x="6480093" y="3084089"/>
                <a:ext cx="3843007" cy="689821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𝑠𝑒𝑛𝑠𝑖𝑡𝑖𝑣𝑖𝑡𝑦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𝑟𝑒𝑠𝑜𝑙𝑢𝑡𝑖𝑜𝑛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𝑟𝑒𝑠𝑜𝑙𝑢𝑡𝑖𝑜𝑛</m:t>
                          </m:r>
                        </m:den>
                      </m:f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7" name="Formula 3">
                <a:extLst>
                  <a:ext uri="{FF2B5EF4-FFF2-40B4-BE49-F238E27FC236}">
                    <a16:creationId xmlns:a16="http://schemas.microsoft.com/office/drawing/2014/main" id="{C4C3B99A-6FE2-0698-8457-30E60C00D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93" y="3084089"/>
                <a:ext cx="3843007" cy="689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47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Sensitivity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274DB2-C53B-36F8-A7AE-5B725D5AC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67411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2524D0-BB91-BE52-CC4C-CECAF9026747}"/>
              </a:ext>
            </a:extLst>
          </p:cNvPr>
          <p:cNvCxnSpPr>
            <a:cxnSpLocks/>
          </p:cNvCxnSpPr>
          <p:nvPr/>
        </p:nvCxnSpPr>
        <p:spPr>
          <a:xfrm>
            <a:off x="609600" y="4521666"/>
            <a:ext cx="9012572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3FA616-B9AC-23C0-B614-23F0C5932B9E}"/>
              </a:ext>
            </a:extLst>
          </p:cNvPr>
          <p:cNvCxnSpPr>
            <a:cxnSpLocks/>
          </p:cNvCxnSpPr>
          <p:nvPr/>
        </p:nvCxnSpPr>
        <p:spPr>
          <a:xfrm>
            <a:off x="609600" y="5252906"/>
            <a:ext cx="9012572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6D7236A7-E03D-8052-3B9B-3C6E830627CA}"/>
              </a:ext>
            </a:extLst>
          </p:cNvPr>
          <p:cNvSpPr txBox="1"/>
          <p:nvPr/>
        </p:nvSpPr>
        <p:spPr>
          <a:xfrm>
            <a:off x="381000" y="4740319"/>
            <a:ext cx="914400" cy="25166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kern="1200" dirty="0">
                <a:solidFill>
                  <a:schemeClr val="accent6">
                    <a:lumMod val="75000"/>
                  </a:schemeClr>
                </a:solidFill>
              </a:rPr>
              <a:t>Fixed Width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60109F-D9D3-FD43-AAD4-D67227573E33}"/>
              </a:ext>
            </a:extLst>
          </p:cNvPr>
          <p:cNvCxnSpPr/>
          <p:nvPr/>
        </p:nvCxnSpPr>
        <p:spPr>
          <a:xfrm flipV="1">
            <a:off x="2316020" y="2140527"/>
            <a:ext cx="0" cy="394887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A4768643-109E-2799-FE42-BF9048F9C5E7}"/>
              </a:ext>
            </a:extLst>
          </p:cNvPr>
          <p:cNvSpPr txBox="1"/>
          <p:nvPr/>
        </p:nvSpPr>
        <p:spPr>
          <a:xfrm>
            <a:off x="2316020" y="2144520"/>
            <a:ext cx="1182848" cy="25166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kern="1200" dirty="0">
                <a:solidFill>
                  <a:schemeClr val="accent2"/>
                </a:solidFill>
              </a:rPr>
              <a:t>Small input width</a:t>
            </a: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F2B9406A-41B4-4D37-D2FC-E433C62362D9}"/>
              </a:ext>
            </a:extLst>
          </p:cNvPr>
          <p:cNvSpPr txBox="1"/>
          <p:nvPr/>
        </p:nvSpPr>
        <p:spPr>
          <a:xfrm>
            <a:off x="5115886" y="3207259"/>
            <a:ext cx="1182848" cy="25166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kern="1200" dirty="0">
                <a:solidFill>
                  <a:srgbClr val="0070C0"/>
                </a:solidFill>
              </a:rPr>
              <a:t>Large input width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9ECDBC-B18F-27D1-1E0D-CFD9A145C703}"/>
              </a:ext>
            </a:extLst>
          </p:cNvPr>
          <p:cNvCxnSpPr/>
          <p:nvPr/>
        </p:nvCxnSpPr>
        <p:spPr>
          <a:xfrm flipV="1">
            <a:off x="4463474" y="2140527"/>
            <a:ext cx="0" cy="394887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237FC3-ABE5-A733-0BB7-60BA6A27502F}"/>
              </a:ext>
            </a:extLst>
          </p:cNvPr>
          <p:cNvCxnSpPr/>
          <p:nvPr/>
        </p:nvCxnSpPr>
        <p:spPr>
          <a:xfrm flipV="1">
            <a:off x="5115886" y="2140527"/>
            <a:ext cx="0" cy="3948876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03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Hysteresis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Some sensors can give different readings for the same input depending on the whether the sensor input was increasing or decreasing</a:t>
            </a:r>
          </a:p>
          <a:p>
            <a:r>
              <a:rPr lang="en-GB" sz="2200"/>
              <a:t>Reading is based on the current input as well as the history of inputs</a:t>
            </a:r>
          </a:p>
          <a:p>
            <a:r>
              <a:rPr lang="en-GB" sz="2200"/>
              <a:t>Not necessarily a bad thing, depending on application</a:t>
            </a:r>
          </a:p>
          <a:p>
            <a:r>
              <a:rPr lang="en-GB" sz="2200"/>
              <a:t>...but ideal would be not to have any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10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Hysteresis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884B862-0123-B6A3-3D65-6731F934A0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78778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BECD82-5C20-565E-9DC1-3F58E949EDA1}"/>
              </a:ext>
            </a:extLst>
          </p:cNvPr>
          <p:cNvCxnSpPr/>
          <p:nvPr/>
        </p:nvCxnSpPr>
        <p:spPr>
          <a:xfrm flipH="1">
            <a:off x="5465606" y="2046997"/>
            <a:ext cx="48638" cy="4309353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FB670C-8E24-C042-A309-063B76694035}"/>
              </a:ext>
            </a:extLst>
          </p:cNvPr>
          <p:cNvCxnSpPr>
            <a:cxnSpLocks/>
          </p:cNvCxnSpPr>
          <p:nvPr/>
        </p:nvCxnSpPr>
        <p:spPr>
          <a:xfrm flipH="1">
            <a:off x="1350628" y="4201674"/>
            <a:ext cx="5213058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303C43-A556-F9E0-71B6-58C10EF3E822}"/>
              </a:ext>
            </a:extLst>
          </p:cNvPr>
          <p:cNvCxnSpPr>
            <a:cxnSpLocks/>
          </p:cNvCxnSpPr>
          <p:nvPr/>
        </p:nvCxnSpPr>
        <p:spPr>
          <a:xfrm flipH="1">
            <a:off x="1381388" y="4911942"/>
            <a:ext cx="5213058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ECBA9B-769D-A625-89BF-40D88C6F9242}"/>
              </a:ext>
            </a:extLst>
          </p:cNvPr>
          <p:cNvCxnSpPr/>
          <p:nvPr/>
        </p:nvCxnSpPr>
        <p:spPr>
          <a:xfrm flipV="1">
            <a:off x="5893266" y="3972187"/>
            <a:ext cx="553673" cy="767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54599D-E18F-B5BC-E120-6B29EDD78F13}"/>
              </a:ext>
            </a:extLst>
          </p:cNvPr>
          <p:cNvCxnSpPr/>
          <p:nvPr/>
        </p:nvCxnSpPr>
        <p:spPr>
          <a:xfrm flipH="1">
            <a:off x="5108895" y="3646922"/>
            <a:ext cx="583035" cy="790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91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9DA95-D422-554B-C2DD-D28AEF4C4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D9110-B900-9415-E133-0E9B1403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Non-Linearity Error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DDB35F-ADE9-3D38-8DFB-A44161A32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1900"/>
              <a:t>Normally a linear relationship is assumed between input and output</a:t>
            </a:r>
          </a:p>
          <a:p>
            <a:endParaRPr lang="en-GB" sz="1900"/>
          </a:p>
          <a:p>
            <a:endParaRPr lang="en-GB" sz="1900"/>
          </a:p>
          <a:p>
            <a:r>
              <a:rPr lang="en-GB" sz="1900"/>
              <a:t>This is not usually the case, and the maximum difference between the ideal linear relationship and the actual value is the Non-Linearity Error</a:t>
            </a:r>
          </a:p>
          <a:p>
            <a:r>
              <a:rPr lang="en-GB" sz="1900"/>
              <a:t>Typically quoted as a percentage</a:t>
            </a:r>
          </a:p>
          <a:p>
            <a:pPr lvl="1"/>
            <a:r>
              <a:rPr lang="en-GB" sz="1900"/>
              <a:t>Non-linearity Error is ±0.05%</a:t>
            </a:r>
          </a:p>
          <a:p>
            <a:r>
              <a:rPr lang="en-GB" sz="1900"/>
              <a:t>Method used to calculate linear relationship</a:t>
            </a:r>
          </a:p>
          <a:p>
            <a:pPr lvl="1"/>
            <a:r>
              <a:rPr lang="en-GB" sz="1900"/>
              <a:t>Was the line drawn between the max' and min' values?</a:t>
            </a:r>
          </a:p>
          <a:p>
            <a:pPr lvl="1"/>
            <a:r>
              <a:rPr lang="en-GB" sz="1900"/>
              <a:t>Was it drawn through the zero point?</a:t>
            </a:r>
          </a:p>
          <a:p>
            <a:pPr lvl="1"/>
            <a:r>
              <a:rPr lang="en-GB" sz="1900"/>
              <a:t>Best fit for a range of points?</a:t>
            </a:r>
          </a:p>
          <a:p>
            <a:pPr lvl="1"/>
            <a:r>
              <a:rPr lang="en-GB" sz="1900"/>
              <a:t>Assumed operating point?</a:t>
            </a:r>
          </a:p>
          <a:p>
            <a:endParaRPr lang="en-GB" sz="1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3D663-5B2F-4009-7DBE-D81CCF18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A164BA35-820E-FFDF-4997-250E8985217C}"/>
                  </a:ext>
                </a:extLst>
              </p:cNvPr>
              <p:cNvSpPr txBox="1"/>
              <p:nvPr/>
            </p:nvSpPr>
            <p:spPr>
              <a:xfrm>
                <a:off x="5186736" y="2500577"/>
                <a:ext cx="1815480" cy="44928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A164BA35-820E-FFDF-4997-250E89852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736" y="2500577"/>
                <a:ext cx="1815480" cy="449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61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F0DF7-9010-2406-B9A7-775D9E3F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205FC-6629-6714-0343-DA05C85E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Repeatability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5F7D56-A345-4295-8D23-02DF02C89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Ability to give the same output for repeated applications of the same input</a:t>
            </a:r>
          </a:p>
          <a:p>
            <a:r>
              <a:rPr lang="en-GB" sz="2200"/>
              <a:t>Another percentage:</a:t>
            </a:r>
          </a:p>
          <a:p>
            <a:endParaRPr lang="en-GB" sz="2200"/>
          </a:p>
          <a:p>
            <a:endParaRPr lang="en-GB" sz="2200"/>
          </a:p>
          <a:p>
            <a:r>
              <a:rPr lang="en-GB" sz="2200"/>
              <a:t>Repeatability is limited by hysteresis and noise</a:t>
            </a:r>
          </a:p>
          <a:p>
            <a:r>
              <a:rPr lang="en-GB" sz="2200"/>
              <a:t>If repeatability is good, then noise and hysteresis must be small</a:t>
            </a:r>
          </a:p>
          <a:p>
            <a:pPr marL="0" indent="0">
              <a:buNone/>
            </a:pPr>
            <a:endParaRPr lang="en-GB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0E859-0DAE-F283-CF8F-3796D17C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75713CE2-EB04-DF64-CA8B-F661C466CE56}"/>
                  </a:ext>
                </a:extLst>
              </p:cNvPr>
              <p:cNvSpPr txBox="1"/>
              <p:nvPr/>
            </p:nvSpPr>
            <p:spPr>
              <a:xfrm>
                <a:off x="2382516" y="2887641"/>
                <a:ext cx="7423920" cy="96084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𝑟𝑒𝑝𝑒𝑎𝑡𝑎𝑏𝑖𝑙𝑖𝑡𝑦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𝑓𝑢𝑙𝑙𝑟𝑎𝑛𝑔𝑒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75713CE2-EB04-DF64-CA8B-F661C466C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516" y="2887641"/>
                <a:ext cx="7423920" cy="960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41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b="1"/>
              <a:t>Review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1700" dirty="0"/>
              <a:t>What are sensor specifications?</a:t>
            </a:r>
          </a:p>
          <a:p>
            <a:r>
              <a:rPr lang="en-GB" sz="1700" dirty="0"/>
              <a:t>Parameters</a:t>
            </a:r>
          </a:p>
          <a:p>
            <a:pPr lvl="1"/>
            <a:r>
              <a:rPr lang="en-GB" sz="1700" dirty="0"/>
              <a:t>Static and Dynamic Response</a:t>
            </a:r>
          </a:p>
          <a:p>
            <a:pPr lvl="1"/>
            <a:r>
              <a:rPr lang="en-GB" sz="1700" dirty="0"/>
              <a:t>Range and Span</a:t>
            </a:r>
          </a:p>
          <a:p>
            <a:pPr lvl="1"/>
            <a:r>
              <a:rPr lang="en-GB" sz="1700" dirty="0"/>
              <a:t>Accuracy</a:t>
            </a:r>
          </a:p>
          <a:p>
            <a:pPr lvl="1"/>
            <a:r>
              <a:rPr lang="en-GB" sz="1700" dirty="0"/>
              <a:t>Error</a:t>
            </a:r>
          </a:p>
          <a:p>
            <a:pPr lvl="1"/>
            <a:r>
              <a:rPr lang="en-GB" sz="1700" dirty="0"/>
              <a:t>Sensitivity</a:t>
            </a:r>
          </a:p>
          <a:p>
            <a:pPr lvl="1"/>
            <a:r>
              <a:rPr lang="en-GB" sz="1700" dirty="0"/>
              <a:t>Hysteresis</a:t>
            </a:r>
          </a:p>
          <a:p>
            <a:pPr lvl="1"/>
            <a:r>
              <a:rPr lang="en-GB" sz="1700" dirty="0"/>
              <a:t>Non-Linearity Error</a:t>
            </a:r>
          </a:p>
          <a:p>
            <a:pPr lvl="1"/>
            <a:r>
              <a:rPr lang="en-GB" sz="1700" dirty="0"/>
              <a:t>Repeatability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ED87AFC-F3F3-4E09-A9D9-1873FFB55ECB}" type="slidenum">
              <a:rPr lang="en-GB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31</a:t>
            </a:fld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924695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References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Please read:</a:t>
            </a:r>
          </a:p>
          <a:p>
            <a:pPr lvl="1"/>
            <a:r>
              <a:rPr lang="en-GB" sz="2200"/>
              <a:t>Bernstein, D. S. “A student’s guide to sensor performance specifications”, IEEE Control Systems Magazine, 21, 4, 9-18, 2001</a:t>
            </a:r>
          </a:p>
          <a:p>
            <a:pPr lvl="1"/>
            <a:r>
              <a:rPr lang="en-GB" sz="2200">
                <a:hlinkClick r:id="rId2"/>
              </a:rPr>
              <a:t>Bernstein, D. S. Sensor Performance Specifications, IEEE Control Systems Magazine, 21, 4, 9-18, 2001</a:t>
            </a:r>
            <a:endParaRPr lang="en-GB" sz="2200"/>
          </a:p>
          <a:p>
            <a:endParaRPr lang="en-GB" sz="2200"/>
          </a:p>
          <a:p>
            <a:r>
              <a:rPr lang="en-GB" sz="2200"/>
              <a:t>Bolton, W., Mechatronics, 5th Edition, Pearson, 2012</a:t>
            </a:r>
          </a:p>
          <a:p>
            <a:pPr lvl="1"/>
            <a:r>
              <a:rPr lang="en-GB" sz="2200"/>
              <a:t>Chapter 2 - Sections 2.1 and 2.2</a:t>
            </a:r>
          </a:p>
          <a:p>
            <a:endParaRPr lang="en-GB" sz="2200"/>
          </a:p>
          <a:p>
            <a:endParaRPr lang="en-GB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ED87AFC-F3F3-4E09-A9D9-1873FFB55ECB}" type="slidenum">
              <a:rPr lang="en-GB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32</a:t>
            </a:fld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11223861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541</TotalTime>
  <Words>1425</Words>
  <Application>Microsoft Office PowerPoint</Application>
  <PresentationFormat>Widescreen</PresentationFormat>
  <Paragraphs>236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1_Office Theme</vt:lpstr>
      <vt:lpstr>ENG4118/5326 - Robotics 4/M Sensors, Actuators and Image capture, processing and analysis</vt:lpstr>
      <vt:lpstr>Overview</vt:lpstr>
      <vt:lpstr>What is measurement?</vt:lpstr>
      <vt:lpstr>Sensor Specifications</vt:lpstr>
      <vt:lpstr>Datasheet Examples</vt:lpstr>
      <vt:lpstr>Physical Principles Applied to Sensors</vt:lpstr>
      <vt:lpstr>Sensor Physics</vt:lpstr>
      <vt:lpstr>Sensor Physics</vt:lpstr>
      <vt:lpstr>Sensor Physics</vt:lpstr>
      <vt:lpstr>Sensor Specifications</vt:lpstr>
      <vt:lpstr>Keep in mind</vt:lpstr>
      <vt:lpstr>Static and Dynamic Response</vt:lpstr>
      <vt:lpstr>Static Response - Linear</vt:lpstr>
      <vt:lpstr>Static Response - Offset</vt:lpstr>
      <vt:lpstr>Static Response – Non-Linear</vt:lpstr>
      <vt:lpstr>Static Response </vt:lpstr>
      <vt:lpstr>Static Response – Non-Linear</vt:lpstr>
      <vt:lpstr>Static Response</vt:lpstr>
      <vt:lpstr>Dynamic Response</vt:lpstr>
      <vt:lpstr>Range and Span</vt:lpstr>
      <vt:lpstr>Accuracy</vt:lpstr>
      <vt:lpstr>Accuracy</vt:lpstr>
      <vt:lpstr>Accuracy</vt:lpstr>
      <vt:lpstr>Error</vt:lpstr>
      <vt:lpstr>Sensitivity</vt:lpstr>
      <vt:lpstr>Sensitivity</vt:lpstr>
      <vt:lpstr>Hysteresis</vt:lpstr>
      <vt:lpstr>Hysteresis</vt:lpstr>
      <vt:lpstr>Non-Linearity Error</vt:lpstr>
      <vt:lpstr>Repeatability</vt:lpstr>
      <vt:lpstr>Review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ENG5009 –  Advanced Control 5</dc:title>
  <dc:creator>Kevin Worrall</dc:creator>
  <cp:lastModifiedBy>Kevin Worrall</cp:lastModifiedBy>
  <cp:revision>1</cp:revision>
  <dcterms:created xsi:type="dcterms:W3CDTF">2024-01-08T14:11:01Z</dcterms:created>
  <dcterms:modified xsi:type="dcterms:W3CDTF">2026-01-12T10:34:42Z</dcterms:modified>
</cp:coreProperties>
</file>