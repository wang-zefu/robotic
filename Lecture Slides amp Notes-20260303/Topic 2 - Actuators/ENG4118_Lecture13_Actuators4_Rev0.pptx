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7"/>
  </p:notesMasterIdLst>
  <p:sldIdLst>
    <p:sldId id="256" r:id="rId3"/>
    <p:sldId id="258" r:id="rId4"/>
    <p:sldId id="381" r:id="rId5"/>
    <p:sldId id="391" r:id="rId6"/>
    <p:sldId id="392" r:id="rId7"/>
    <p:sldId id="393" r:id="rId8"/>
    <p:sldId id="394" r:id="rId9"/>
    <p:sldId id="395" r:id="rId10"/>
    <p:sldId id="396" r:id="rId11"/>
    <p:sldId id="397" r:id="rId12"/>
    <p:sldId id="398" r:id="rId13"/>
    <p:sldId id="399" r:id="rId14"/>
    <p:sldId id="400" r:id="rId15"/>
    <p:sldId id="402" r:id="rId16"/>
    <p:sldId id="403" r:id="rId17"/>
    <p:sldId id="404" r:id="rId18"/>
    <p:sldId id="405" r:id="rId19"/>
    <p:sldId id="406" r:id="rId20"/>
    <p:sldId id="407" r:id="rId21"/>
    <p:sldId id="260" r:id="rId22"/>
    <p:sldId id="268" r:id="rId23"/>
    <p:sldId id="273" r:id="rId24"/>
    <p:sldId id="315" r:id="rId25"/>
    <p:sldId id="316" r:id="rId26"/>
    <p:sldId id="317" r:id="rId27"/>
    <p:sldId id="275" r:id="rId28"/>
    <p:sldId id="318" r:id="rId29"/>
    <p:sldId id="319" r:id="rId30"/>
    <p:sldId id="320" r:id="rId31"/>
    <p:sldId id="321" r:id="rId32"/>
    <p:sldId id="322" r:id="rId33"/>
    <p:sldId id="323" r:id="rId34"/>
    <p:sldId id="324" r:id="rId35"/>
    <p:sldId id="325" r:id="rId36"/>
    <p:sldId id="326" r:id="rId37"/>
    <p:sldId id="327" r:id="rId38"/>
    <p:sldId id="328" r:id="rId39"/>
    <p:sldId id="329" r:id="rId40"/>
    <p:sldId id="331" r:id="rId41"/>
    <p:sldId id="330" r:id="rId42"/>
    <p:sldId id="332" r:id="rId43"/>
    <p:sldId id="310" r:id="rId44"/>
    <p:sldId id="314" r:id="rId45"/>
    <p:sldId id="309" r:id="rId46"/>
    <p:sldId id="333" r:id="rId47"/>
    <p:sldId id="334" r:id="rId48"/>
    <p:sldId id="335" r:id="rId49"/>
    <p:sldId id="336" r:id="rId50"/>
    <p:sldId id="337" r:id="rId51"/>
    <p:sldId id="338" r:id="rId52"/>
    <p:sldId id="339" r:id="rId53"/>
    <p:sldId id="313" r:id="rId54"/>
    <p:sldId id="311" r:id="rId55"/>
    <p:sldId id="312"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D1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564E22-96A0-4230-8173-DBB169829798}" v="1" dt="2026-02-21T13:42:34.2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0" autoAdjust="0"/>
    <p:restoredTop sz="94660"/>
  </p:normalViewPr>
  <p:slideViewPr>
    <p:cSldViewPr snapToGrid="0">
      <p:cViewPr varScale="1">
        <p:scale>
          <a:sx n="69" d="100"/>
          <a:sy n="69" d="100"/>
        </p:scale>
        <p:origin x="3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Worrall" userId="e21a6e1f-6189-4284-9649-bf7c66c7a38c" providerId="ADAL" clId="{B294D135-36AD-4905-82C7-C24D4CC5C725}"/>
    <pc:docChg chg="addSld delSld modSld sldOrd">
      <pc:chgData name="Kevin Worrall" userId="e21a6e1f-6189-4284-9649-bf7c66c7a38c" providerId="ADAL" clId="{B294D135-36AD-4905-82C7-C24D4CC5C725}" dt="2026-02-21T13:42:37.781" v="70" actId="20577"/>
      <pc:docMkLst>
        <pc:docMk/>
      </pc:docMkLst>
      <pc:sldChg chg="modSp mod ord">
        <pc:chgData name="Kevin Worrall" userId="e21a6e1f-6189-4284-9649-bf7c66c7a38c" providerId="ADAL" clId="{B294D135-36AD-4905-82C7-C24D4CC5C725}" dt="2026-02-21T13:39:33.712" v="3"/>
        <pc:sldMkLst>
          <pc:docMk/>
          <pc:sldMk cId="4242011844" sldId="256"/>
        </pc:sldMkLst>
        <pc:spChg chg="mod">
          <ac:chgData name="Kevin Worrall" userId="e21a6e1f-6189-4284-9649-bf7c66c7a38c" providerId="ADAL" clId="{B294D135-36AD-4905-82C7-C24D4CC5C725}" dt="2026-02-21T13:39:18.871" v="1" actId="20577"/>
          <ac:spMkLst>
            <pc:docMk/>
            <pc:sldMk cId="4242011844" sldId="256"/>
            <ac:spMk id="3" creationId="{0EC2D61B-0204-42F3-52E6-931A9496968D}"/>
          </ac:spMkLst>
        </pc:spChg>
      </pc:sldChg>
      <pc:sldChg chg="modSp mod ord">
        <pc:chgData name="Kevin Worrall" userId="e21a6e1f-6189-4284-9649-bf7c66c7a38c" providerId="ADAL" clId="{B294D135-36AD-4905-82C7-C24D4CC5C725}" dt="2026-02-21T13:42:09.723" v="58" actId="20577"/>
        <pc:sldMkLst>
          <pc:docMk/>
          <pc:sldMk cId="654745962" sldId="258"/>
        </pc:sldMkLst>
        <pc:spChg chg="mod">
          <ac:chgData name="Kevin Worrall" userId="e21a6e1f-6189-4284-9649-bf7c66c7a38c" providerId="ADAL" clId="{B294D135-36AD-4905-82C7-C24D4CC5C725}" dt="2026-02-21T13:42:09.723" v="58" actId="20577"/>
          <ac:spMkLst>
            <pc:docMk/>
            <pc:sldMk cId="654745962" sldId="258"/>
            <ac:spMk id="3" creationId="{0EC2D61B-0204-42F3-52E6-931A9496968D}"/>
          </ac:spMkLst>
        </pc:spChg>
      </pc:sldChg>
      <pc:sldChg chg="modSp add mod">
        <pc:chgData name="Kevin Worrall" userId="e21a6e1f-6189-4284-9649-bf7c66c7a38c" providerId="ADAL" clId="{B294D135-36AD-4905-82C7-C24D4CC5C725}" dt="2026-02-21T13:42:37.781" v="70" actId="20577"/>
        <pc:sldMkLst>
          <pc:docMk/>
          <pc:sldMk cId="2316134435" sldId="381"/>
        </pc:sldMkLst>
        <pc:spChg chg="mod">
          <ac:chgData name="Kevin Worrall" userId="e21a6e1f-6189-4284-9649-bf7c66c7a38c" providerId="ADAL" clId="{B294D135-36AD-4905-82C7-C24D4CC5C725}" dt="2026-02-21T13:42:37.781" v="70" actId="20577"/>
          <ac:spMkLst>
            <pc:docMk/>
            <pc:sldMk cId="2316134435" sldId="381"/>
            <ac:spMk id="2" creationId="{5C360BBA-C3DE-FD37-3608-BD899A6DEB48}"/>
          </ac:spMkLst>
        </pc:spChg>
      </pc:sldChg>
      <pc:sldChg chg="del">
        <pc:chgData name="Kevin Worrall" userId="e21a6e1f-6189-4284-9649-bf7c66c7a38c" providerId="ADAL" clId="{B294D135-36AD-4905-82C7-C24D4CC5C725}" dt="2026-02-21T13:42:15.150" v="59" actId="47"/>
        <pc:sldMkLst>
          <pc:docMk/>
          <pc:sldMk cId="2695869252" sldId="386"/>
        </pc:sldMkLst>
      </pc:sldChg>
      <pc:sldChg chg="del">
        <pc:chgData name="Kevin Worrall" userId="e21a6e1f-6189-4284-9649-bf7c66c7a38c" providerId="ADAL" clId="{B294D135-36AD-4905-82C7-C24D4CC5C725}" dt="2026-02-21T13:42:16.307" v="60" actId="47"/>
        <pc:sldMkLst>
          <pc:docMk/>
          <pc:sldMk cId="1549247466" sldId="387"/>
        </pc:sldMkLst>
      </pc:sldChg>
      <pc:sldChg chg="del">
        <pc:chgData name="Kevin Worrall" userId="e21a6e1f-6189-4284-9649-bf7c66c7a38c" providerId="ADAL" clId="{B294D135-36AD-4905-82C7-C24D4CC5C725}" dt="2026-02-21T13:42:17.188" v="61" actId="47"/>
        <pc:sldMkLst>
          <pc:docMk/>
          <pc:sldMk cId="1340346510" sldId="388"/>
        </pc:sldMkLst>
      </pc:sldChg>
      <pc:sldChg chg="del">
        <pc:chgData name="Kevin Worrall" userId="e21a6e1f-6189-4284-9649-bf7c66c7a38c" providerId="ADAL" clId="{B294D135-36AD-4905-82C7-C24D4CC5C725}" dt="2026-02-21T13:42:18.224" v="62" actId="47"/>
        <pc:sldMkLst>
          <pc:docMk/>
          <pc:sldMk cId="837420465" sldId="389"/>
        </pc:sldMkLst>
      </pc:sldChg>
      <pc:sldChg chg="del">
        <pc:chgData name="Kevin Worrall" userId="e21a6e1f-6189-4284-9649-bf7c66c7a38c" providerId="ADAL" clId="{B294D135-36AD-4905-82C7-C24D4CC5C725}" dt="2026-02-21T13:42:19.111" v="63" actId="47"/>
        <pc:sldMkLst>
          <pc:docMk/>
          <pc:sldMk cId="2116803622" sldId="39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185B6B-ECE2-4879-A9A5-03850BAAFBB0}" type="datetimeFigureOut">
              <a:rPr lang="en-GB" smtClean="0"/>
              <a:t>21/02/2026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AA1267-AA76-4E48-81A7-ED6197690896}" type="slidenum">
              <a:rPr lang="en-GB" smtClean="0"/>
              <a:t>‹#›</a:t>
            </a:fld>
            <a:endParaRPr lang="en-GB"/>
          </a:p>
        </p:txBody>
      </p:sp>
    </p:spTree>
    <p:extLst>
      <p:ext uri="{BB962C8B-B14F-4D97-AF65-F5344CB8AC3E}">
        <p14:creationId xmlns:p14="http://schemas.microsoft.com/office/powerpoint/2010/main" val="2568971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87C6B-026A-19B4-722F-9F6B0C803F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EDA030-92C6-5AAF-5B0D-5A5A7A56DC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1E16DD-75CB-3452-4085-3839237A498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D5107A7-A69D-1255-1482-3080D3B6CF7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AA1267-AA76-4E48-81A7-ED619769089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3202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0D496-14A1-B934-637A-3B4FD02AFE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AAE8F6-89CB-CF1E-7E97-1EE571FAE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EA388A-C6B6-4AA0-C48E-845E3CB0C2F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35E21A1-23BD-22A7-D4E6-EA0CD964BE7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AA1267-AA76-4E48-81A7-ED619769089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5355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905C9-91E2-3E00-97FB-39119F7BD8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87BD65-66B4-8597-19D7-1BBDF3B547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28746E-55B2-24B2-4ED5-69D62F6C8A6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4017DE4-2711-C968-B3A8-EB555B95727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AA1267-AA76-4E48-81A7-ED619769089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7482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325E9-D775-2535-65AE-91FE0B4C60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0A2ED9-3DAC-4FC0-FC6B-008A6D1343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592546-343A-FCB8-A42D-54153CE4E97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E553F20-0A08-85E0-7170-ACD9C87C4A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AA1267-AA76-4E48-81A7-ED619769089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4836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DE8D0-D829-A781-AC8D-9AC8FDC4B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649BE2-9CB1-702A-E6E0-AFB4E225C6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1F0EB2-7258-5D3B-8737-7F491A643AD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AFF12F4-8C06-5236-9AC8-E216E2E99F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AA1267-AA76-4E48-81A7-ED619769089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84721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06584-4F90-3ADF-5D35-A2202DE47D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60CE48-E9BC-62C8-C7C6-9F9CC7951D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1A49D0-37A9-2CA4-0E23-00D5CDA5222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FCEFF96-7674-C4CA-9079-0ECF85E07E7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AA1267-AA76-4E48-81A7-ED619769089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0698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395D0-21DB-512F-E387-CEF2B1205C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BA00A8-894B-850F-CEB0-2FCA7160C9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555AA1-FB8B-66F8-285C-6BBDB9164E7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F2C1C3E-3C79-B1C1-E1D4-8A9A545FE17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AA1267-AA76-4E48-81A7-ED619769089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8764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33A88-AA6A-849D-E817-73AB4CD10F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2DA08A-BAF0-46E8-B30A-B646D83AFD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AD5C43-271A-147F-DE07-2F1C58B3A83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A66A30F-4854-EF23-642D-D56DAB931C6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AA1267-AA76-4E48-81A7-ED619769089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72411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5AAEC-F822-CC7C-8F7F-96521A38D5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310E4-B7A6-14DA-F760-3732BB0B2F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B1D16A-7914-0836-53B7-3117C1F07C1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734173F-070B-49CD-5768-A26148EF5AF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AA1267-AA76-4E48-81A7-ED619769089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38623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1E02D-ECA4-5F4D-EEA2-0A9081A71D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3AE4C0-FA1C-0932-5B9E-AC61C04A3A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2AB91D-AD3F-F001-BD0F-0B0CBD89332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2ED7ED1-4B8C-A594-E91F-391251D3C16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AA1267-AA76-4E48-81A7-ED619769089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19490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DBFDC-291A-AE05-0322-FB85A0824B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A66E95-CE88-BA69-A695-ED16BB061C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67D669-406D-D6BB-352A-1CD4C82BC27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D037EF3-6FC0-1BD8-597B-1F0EB415CDD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AA1267-AA76-4E48-81A7-ED619769089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42328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609D1-597E-9FAF-E5D9-4355EBB6A9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A2247A-198C-1DB9-7B2B-60077AF99A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3C43BD-75FD-0689-32A3-B9AABD9F95D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F213E26-3B5C-1767-D2F9-98693B065D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AA1267-AA76-4E48-81A7-ED619769089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80620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C797A-BFEA-74F6-6BC0-FADBDFE276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FB2E8C-707F-7A12-1DA1-891264BA08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B9571-0CE7-6C18-E679-D229F8DA94A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E0B2155-FE61-B6D6-E629-3EC68DC9D9E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AA1267-AA76-4E48-81A7-ED619769089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72331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00915-0FF8-AAF7-E2C3-68C7F883AF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C3C69F-A586-8966-4026-E74A337284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E0DEA0-D3B8-6AA8-85E0-A4FE311F17B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E034549-9023-0F7B-207B-854781E5B99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AA1267-AA76-4E48-81A7-ED619769089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95911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0510B-B9ED-68F1-BDA1-6F8176DA00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9BA511-AC54-C776-FC00-4A017EF9E6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B82718-7FFE-D9D3-F059-16F92A322E9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EDBBA54-1A31-4231-756B-69240F95BAE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AA1267-AA76-4E48-81A7-ED619769089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0496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F5F04-E335-67A4-FA69-8365E526D23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79DAD6FB-F3BC-752E-D374-800B1DE648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9C8BC70D-06A8-D18A-A788-8FD4FB1B4696}"/>
              </a:ext>
            </a:extLst>
          </p:cNvPr>
          <p:cNvSpPr>
            <a:spLocks noGrp="1"/>
          </p:cNvSpPr>
          <p:nvPr>
            <p:ph type="dt" sz="half" idx="10"/>
          </p:nvPr>
        </p:nvSpPr>
        <p:spPr/>
        <p:txBody>
          <a:bodyPr/>
          <a:lstStyle/>
          <a:p>
            <a:fld id="{72ECCC76-C4AE-4B26-A169-B504EF2FEA67}" type="datetime1">
              <a:rPr lang="en-GB" smtClean="0"/>
              <a:t>21/02/2026</a:t>
            </a:fld>
            <a:endParaRPr lang="en-GB"/>
          </a:p>
        </p:txBody>
      </p:sp>
      <p:sp>
        <p:nvSpPr>
          <p:cNvPr id="5" name="Footer Placeholder 4">
            <a:extLst>
              <a:ext uri="{FF2B5EF4-FFF2-40B4-BE49-F238E27FC236}">
                <a16:creationId xmlns:a16="http://schemas.microsoft.com/office/drawing/2014/main" id="{46DCE3A3-1862-497C-DDA8-5672505EB8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4EEAD9D-BBC4-E88C-BB0F-497F1E27EF11}"/>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423590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C67ED-67B0-A413-78B4-CDBF534FDBB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A41D5D6-9D4D-11E4-06D4-372026C4A08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A8B2683-A2AF-4A75-8A55-9D7F47C47B12}"/>
              </a:ext>
            </a:extLst>
          </p:cNvPr>
          <p:cNvSpPr>
            <a:spLocks noGrp="1"/>
          </p:cNvSpPr>
          <p:nvPr>
            <p:ph type="dt" sz="half" idx="10"/>
          </p:nvPr>
        </p:nvSpPr>
        <p:spPr/>
        <p:txBody>
          <a:bodyPr/>
          <a:lstStyle/>
          <a:p>
            <a:fld id="{96A1C347-D333-4772-8BBB-97D1519B978F}" type="datetime1">
              <a:rPr lang="en-GB" smtClean="0"/>
              <a:t>21/02/2026</a:t>
            </a:fld>
            <a:endParaRPr lang="en-GB"/>
          </a:p>
        </p:txBody>
      </p:sp>
      <p:sp>
        <p:nvSpPr>
          <p:cNvPr id="5" name="Footer Placeholder 4">
            <a:extLst>
              <a:ext uri="{FF2B5EF4-FFF2-40B4-BE49-F238E27FC236}">
                <a16:creationId xmlns:a16="http://schemas.microsoft.com/office/drawing/2014/main" id="{265BA211-1912-E80C-FB03-CEBF522613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7279302-C457-E101-4432-A6FA5B745F6D}"/>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435030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8383B-473A-5E42-BF42-66A87607B9D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435053AF-2AFB-8A34-6F64-C969458351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C75E19C-560D-582B-5C65-BABE728403AE}"/>
              </a:ext>
            </a:extLst>
          </p:cNvPr>
          <p:cNvSpPr>
            <a:spLocks noGrp="1"/>
          </p:cNvSpPr>
          <p:nvPr>
            <p:ph type="dt" sz="half" idx="10"/>
          </p:nvPr>
        </p:nvSpPr>
        <p:spPr/>
        <p:txBody>
          <a:bodyPr/>
          <a:lstStyle/>
          <a:p>
            <a:fld id="{9F23329E-57E4-4B3F-8988-77C63A75B884}" type="datetime1">
              <a:rPr lang="en-GB" smtClean="0"/>
              <a:t>21/02/2026</a:t>
            </a:fld>
            <a:endParaRPr lang="en-GB"/>
          </a:p>
        </p:txBody>
      </p:sp>
      <p:sp>
        <p:nvSpPr>
          <p:cNvPr id="5" name="Footer Placeholder 4">
            <a:extLst>
              <a:ext uri="{FF2B5EF4-FFF2-40B4-BE49-F238E27FC236}">
                <a16:creationId xmlns:a16="http://schemas.microsoft.com/office/drawing/2014/main" id="{89E26A85-9039-9DC7-FCE8-E59C15784A4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37E4C43-E1C4-CF43-D041-995B05E02BE4}"/>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070355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56A55-F2A7-95D7-5B21-8C725B77588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4085870-E1A2-2279-E26B-485EDCBB07A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7D75CDC7-3655-6623-C08B-2A0DDFBA474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C5E85466-A2BA-0F1C-C0EE-3DDD9BBFB112}"/>
              </a:ext>
            </a:extLst>
          </p:cNvPr>
          <p:cNvSpPr>
            <a:spLocks noGrp="1"/>
          </p:cNvSpPr>
          <p:nvPr>
            <p:ph type="dt" sz="half" idx="10"/>
          </p:nvPr>
        </p:nvSpPr>
        <p:spPr/>
        <p:txBody>
          <a:bodyPr/>
          <a:lstStyle/>
          <a:p>
            <a:fld id="{5A98CBF2-F699-452C-AFF8-797997FDB794}" type="datetime1">
              <a:rPr lang="en-GB" smtClean="0"/>
              <a:t>21/02/2026</a:t>
            </a:fld>
            <a:endParaRPr lang="en-GB"/>
          </a:p>
        </p:txBody>
      </p:sp>
      <p:sp>
        <p:nvSpPr>
          <p:cNvPr id="6" name="Footer Placeholder 5">
            <a:extLst>
              <a:ext uri="{FF2B5EF4-FFF2-40B4-BE49-F238E27FC236}">
                <a16:creationId xmlns:a16="http://schemas.microsoft.com/office/drawing/2014/main" id="{40ADF506-CEA6-3A73-C30B-9E8664508B8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31BEED9-EA69-B899-A439-2F43F88F9067}"/>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590666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8FB61-0B1B-1AA8-C776-6E6E59874D84}"/>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BE91144-0D95-8068-5D00-7A87B3CBA5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0ECA04A-9C50-74D8-50AB-68DCD684C40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B6E713DA-D885-C472-BAD2-D383CFB17D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04216DC-7E05-7364-DBE6-E5FCE8ADCFC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3A299C5-58E9-0915-C7F9-532BCEB533B9}"/>
              </a:ext>
            </a:extLst>
          </p:cNvPr>
          <p:cNvSpPr>
            <a:spLocks noGrp="1"/>
          </p:cNvSpPr>
          <p:nvPr>
            <p:ph type="dt" sz="half" idx="10"/>
          </p:nvPr>
        </p:nvSpPr>
        <p:spPr/>
        <p:txBody>
          <a:bodyPr/>
          <a:lstStyle/>
          <a:p>
            <a:fld id="{09ACF2AD-4956-4A53-AFF5-1B4F5D45EAF2}" type="datetime1">
              <a:rPr lang="en-GB" smtClean="0"/>
              <a:t>21/02/2026</a:t>
            </a:fld>
            <a:endParaRPr lang="en-GB"/>
          </a:p>
        </p:txBody>
      </p:sp>
      <p:sp>
        <p:nvSpPr>
          <p:cNvPr id="8" name="Footer Placeholder 7">
            <a:extLst>
              <a:ext uri="{FF2B5EF4-FFF2-40B4-BE49-F238E27FC236}">
                <a16:creationId xmlns:a16="http://schemas.microsoft.com/office/drawing/2014/main" id="{FD2A08F8-E9E4-42AA-2BF5-F3FD711CF8E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C9A90D6-B33F-B27A-89BC-5C61CD746F9F}"/>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854379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8F1DD-33BA-DC1A-503B-EDF553E94625}"/>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259C1459-127D-B946-DCC3-295E311F4556}"/>
              </a:ext>
            </a:extLst>
          </p:cNvPr>
          <p:cNvSpPr>
            <a:spLocks noGrp="1"/>
          </p:cNvSpPr>
          <p:nvPr>
            <p:ph type="dt" sz="half" idx="10"/>
          </p:nvPr>
        </p:nvSpPr>
        <p:spPr/>
        <p:txBody>
          <a:bodyPr/>
          <a:lstStyle/>
          <a:p>
            <a:fld id="{E8A177BF-F63D-4E30-BD42-E3449C11D41D}" type="datetime1">
              <a:rPr lang="en-GB" smtClean="0"/>
              <a:t>21/02/2026</a:t>
            </a:fld>
            <a:endParaRPr lang="en-GB"/>
          </a:p>
        </p:txBody>
      </p:sp>
      <p:sp>
        <p:nvSpPr>
          <p:cNvPr id="4" name="Footer Placeholder 3">
            <a:extLst>
              <a:ext uri="{FF2B5EF4-FFF2-40B4-BE49-F238E27FC236}">
                <a16:creationId xmlns:a16="http://schemas.microsoft.com/office/drawing/2014/main" id="{F06167AD-FE57-199A-AED0-34EC850A929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C4E0EC7-4B04-9729-C509-C54966A06EF8}"/>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4033516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2124B3-7905-CDCE-B292-FD8A2BD1E19B}"/>
              </a:ext>
            </a:extLst>
          </p:cNvPr>
          <p:cNvSpPr>
            <a:spLocks noGrp="1"/>
          </p:cNvSpPr>
          <p:nvPr>
            <p:ph type="dt" sz="half" idx="10"/>
          </p:nvPr>
        </p:nvSpPr>
        <p:spPr/>
        <p:txBody>
          <a:bodyPr/>
          <a:lstStyle/>
          <a:p>
            <a:fld id="{14C573B2-2AE0-4192-8280-C1600F28AEE9}" type="datetime1">
              <a:rPr lang="en-GB" smtClean="0"/>
              <a:t>21/02/2026</a:t>
            </a:fld>
            <a:endParaRPr lang="en-GB"/>
          </a:p>
        </p:txBody>
      </p:sp>
      <p:sp>
        <p:nvSpPr>
          <p:cNvPr id="3" name="Footer Placeholder 2">
            <a:extLst>
              <a:ext uri="{FF2B5EF4-FFF2-40B4-BE49-F238E27FC236}">
                <a16:creationId xmlns:a16="http://schemas.microsoft.com/office/drawing/2014/main" id="{23FA3729-5522-EE34-2FCC-F4BC137CEF8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FCA7865-47F4-47C5-BBCB-A6249F2A9B3C}"/>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615388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64DEA-FB17-B8A6-AA81-03FAA82022E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4EF307C4-5CF6-7B6B-7A9A-A16BDDA451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4462CCBA-A6B6-D42B-9A6C-7C4515A57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CB7EF61-BB13-5B78-32CC-DAE862704CBB}"/>
              </a:ext>
            </a:extLst>
          </p:cNvPr>
          <p:cNvSpPr>
            <a:spLocks noGrp="1"/>
          </p:cNvSpPr>
          <p:nvPr>
            <p:ph type="dt" sz="half" idx="10"/>
          </p:nvPr>
        </p:nvSpPr>
        <p:spPr/>
        <p:txBody>
          <a:bodyPr/>
          <a:lstStyle/>
          <a:p>
            <a:fld id="{B4A15260-07F2-476B-9C6F-C4D22041CE08}" type="datetime1">
              <a:rPr lang="en-GB" smtClean="0"/>
              <a:t>21/02/2026</a:t>
            </a:fld>
            <a:endParaRPr lang="en-GB"/>
          </a:p>
        </p:txBody>
      </p:sp>
      <p:sp>
        <p:nvSpPr>
          <p:cNvPr id="6" name="Footer Placeholder 5">
            <a:extLst>
              <a:ext uri="{FF2B5EF4-FFF2-40B4-BE49-F238E27FC236}">
                <a16:creationId xmlns:a16="http://schemas.microsoft.com/office/drawing/2014/main" id="{3E5CE7C5-8D38-2000-9396-6952E2AC53E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0481D8B-C963-0093-61E4-B314D8287EB9}"/>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985881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EC570-FFEA-139D-76DD-8FAD26F435B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1235F4C9-5646-2C72-5A74-36DBA95E04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6B733E6-059F-B4E8-2665-301BD49D23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813E015-83D2-B22A-AEFA-3050D046CF74}"/>
              </a:ext>
            </a:extLst>
          </p:cNvPr>
          <p:cNvSpPr>
            <a:spLocks noGrp="1"/>
          </p:cNvSpPr>
          <p:nvPr>
            <p:ph type="dt" sz="half" idx="10"/>
          </p:nvPr>
        </p:nvSpPr>
        <p:spPr/>
        <p:txBody>
          <a:bodyPr/>
          <a:lstStyle/>
          <a:p>
            <a:fld id="{BB4E5123-108F-4342-94A0-5859029BE154}" type="datetime1">
              <a:rPr lang="en-GB" smtClean="0"/>
              <a:t>21/02/2026</a:t>
            </a:fld>
            <a:endParaRPr lang="en-GB"/>
          </a:p>
        </p:txBody>
      </p:sp>
      <p:sp>
        <p:nvSpPr>
          <p:cNvPr id="6" name="Footer Placeholder 5">
            <a:extLst>
              <a:ext uri="{FF2B5EF4-FFF2-40B4-BE49-F238E27FC236}">
                <a16:creationId xmlns:a16="http://schemas.microsoft.com/office/drawing/2014/main" id="{FE0DCC9E-7434-E9C4-BF07-F498CDF742F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97B5824-C721-15E0-005F-09D87B3694D5}"/>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593062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DA8C0-0F4C-EB7E-4D83-13A13AB3468C}"/>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E92CC711-7438-1B41-AB61-31E43CBF3AD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47412AF-0EE4-43D6-3E5A-8492725341EF}"/>
              </a:ext>
            </a:extLst>
          </p:cNvPr>
          <p:cNvSpPr>
            <a:spLocks noGrp="1"/>
          </p:cNvSpPr>
          <p:nvPr>
            <p:ph type="dt" sz="half" idx="10"/>
          </p:nvPr>
        </p:nvSpPr>
        <p:spPr/>
        <p:txBody>
          <a:bodyPr/>
          <a:lstStyle/>
          <a:p>
            <a:fld id="{60E4F266-503D-4864-9DE2-FA0A7EE85118}" type="datetime1">
              <a:rPr lang="en-GB" smtClean="0"/>
              <a:t>21/02/2026</a:t>
            </a:fld>
            <a:endParaRPr lang="en-GB"/>
          </a:p>
        </p:txBody>
      </p:sp>
      <p:sp>
        <p:nvSpPr>
          <p:cNvPr id="5" name="Footer Placeholder 4">
            <a:extLst>
              <a:ext uri="{FF2B5EF4-FFF2-40B4-BE49-F238E27FC236}">
                <a16:creationId xmlns:a16="http://schemas.microsoft.com/office/drawing/2014/main" id="{859C32D4-8659-7FED-DBB7-C92D7179A0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0987D87-07EB-4978-82B2-863E55F52477}"/>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533117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C1CF52-EC45-CAB7-E131-1ECA7B9CBAE5}"/>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D81FF283-34F1-64D3-F66D-2F035B48F68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C3D3432-534B-D87F-33AD-11D40092D389}"/>
              </a:ext>
            </a:extLst>
          </p:cNvPr>
          <p:cNvSpPr>
            <a:spLocks noGrp="1"/>
          </p:cNvSpPr>
          <p:nvPr>
            <p:ph type="dt" sz="half" idx="10"/>
          </p:nvPr>
        </p:nvSpPr>
        <p:spPr/>
        <p:txBody>
          <a:bodyPr/>
          <a:lstStyle/>
          <a:p>
            <a:fld id="{6E707F4A-1EE2-49D9-97EC-717DDE976EFD}" type="datetime1">
              <a:rPr lang="en-GB" smtClean="0"/>
              <a:t>21/02/2026</a:t>
            </a:fld>
            <a:endParaRPr lang="en-GB"/>
          </a:p>
        </p:txBody>
      </p:sp>
      <p:sp>
        <p:nvSpPr>
          <p:cNvPr id="5" name="Footer Placeholder 4">
            <a:extLst>
              <a:ext uri="{FF2B5EF4-FFF2-40B4-BE49-F238E27FC236}">
                <a16:creationId xmlns:a16="http://schemas.microsoft.com/office/drawing/2014/main" id="{76AAE0A8-0EFF-A6D0-21B8-38A2D7E8A3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FC8CA4-F6F3-B516-1FBA-074CDC4BF988}"/>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2912230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F5F04-E335-67A4-FA69-8365E526D23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79DAD6FB-F3BC-752E-D374-800B1DE648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9C8BC70D-06A8-D18A-A788-8FD4FB1B4696}"/>
              </a:ext>
            </a:extLst>
          </p:cNvPr>
          <p:cNvSpPr>
            <a:spLocks noGrp="1"/>
          </p:cNvSpPr>
          <p:nvPr>
            <p:ph type="dt" sz="half" idx="10"/>
          </p:nvPr>
        </p:nvSpPr>
        <p:spPr/>
        <p:txBody>
          <a:bodyPr/>
          <a:lstStyle/>
          <a:p>
            <a:fld id="{C7B41495-F5D4-4BAE-846E-C1BA39B38C3E}" type="datetime1">
              <a:rPr lang="en-GB" smtClean="0"/>
              <a:t>21/02/2026</a:t>
            </a:fld>
            <a:endParaRPr lang="en-GB"/>
          </a:p>
        </p:txBody>
      </p:sp>
      <p:sp>
        <p:nvSpPr>
          <p:cNvPr id="5" name="Footer Placeholder 4">
            <a:extLst>
              <a:ext uri="{FF2B5EF4-FFF2-40B4-BE49-F238E27FC236}">
                <a16:creationId xmlns:a16="http://schemas.microsoft.com/office/drawing/2014/main" id="{46DCE3A3-1862-497C-DDA8-5672505EB8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4EEAD9D-BBC4-E88C-BB0F-497F1E27EF11}"/>
              </a:ext>
            </a:extLst>
          </p:cNvPr>
          <p:cNvSpPr>
            <a:spLocks noGrp="1"/>
          </p:cNvSpPr>
          <p:nvPr>
            <p:ph type="sldNum" sz="quarter" idx="12"/>
          </p:nvPr>
        </p:nvSpPr>
        <p:spPr/>
        <p:txBody>
          <a:bodyPr/>
          <a:lstStyle>
            <a:lvl1pPr>
              <a:defRPr sz="2000" b="1"/>
            </a:lvl1pPr>
          </a:lstStyle>
          <a:p>
            <a:fld id="{1ED87AFC-F3F3-4E09-A9D9-1873FFB55ECB}" type="slidenum">
              <a:rPr lang="en-GB" smtClean="0"/>
              <a:pPr/>
              <a:t>‹#›</a:t>
            </a:fld>
            <a:endParaRPr lang="en-GB" dirty="0"/>
          </a:p>
        </p:txBody>
      </p:sp>
    </p:spTree>
    <p:extLst>
      <p:ext uri="{BB962C8B-B14F-4D97-AF65-F5344CB8AC3E}">
        <p14:creationId xmlns:p14="http://schemas.microsoft.com/office/powerpoint/2010/main" val="18971810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C67ED-67B0-A413-78B4-CDBF534FDBB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A41D5D6-9D4D-11E4-06D4-372026C4A08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A8B2683-A2AF-4A75-8A55-9D7F47C47B12}"/>
              </a:ext>
            </a:extLst>
          </p:cNvPr>
          <p:cNvSpPr>
            <a:spLocks noGrp="1"/>
          </p:cNvSpPr>
          <p:nvPr>
            <p:ph type="dt" sz="half" idx="10"/>
          </p:nvPr>
        </p:nvSpPr>
        <p:spPr/>
        <p:txBody>
          <a:bodyPr/>
          <a:lstStyle/>
          <a:p>
            <a:fld id="{F1F00E1F-D883-4734-8D17-FAFD2FE3F82B}" type="datetime1">
              <a:rPr lang="en-GB" smtClean="0"/>
              <a:t>21/02/2026</a:t>
            </a:fld>
            <a:endParaRPr lang="en-GB"/>
          </a:p>
        </p:txBody>
      </p:sp>
      <p:sp>
        <p:nvSpPr>
          <p:cNvPr id="5" name="Footer Placeholder 4">
            <a:extLst>
              <a:ext uri="{FF2B5EF4-FFF2-40B4-BE49-F238E27FC236}">
                <a16:creationId xmlns:a16="http://schemas.microsoft.com/office/drawing/2014/main" id="{265BA211-1912-E80C-FB03-CEBF522613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7279302-C457-E101-4432-A6FA5B745F6D}"/>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0526223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8383B-473A-5E42-BF42-66A87607B9D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435053AF-2AFB-8A34-6F64-C969458351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C75E19C-560D-582B-5C65-BABE728403AE}"/>
              </a:ext>
            </a:extLst>
          </p:cNvPr>
          <p:cNvSpPr>
            <a:spLocks noGrp="1"/>
          </p:cNvSpPr>
          <p:nvPr>
            <p:ph type="dt" sz="half" idx="10"/>
          </p:nvPr>
        </p:nvSpPr>
        <p:spPr/>
        <p:txBody>
          <a:bodyPr/>
          <a:lstStyle/>
          <a:p>
            <a:fld id="{FAF03C43-999F-4677-8B7B-A143626357DE}" type="datetime1">
              <a:rPr lang="en-GB" smtClean="0"/>
              <a:t>21/02/2026</a:t>
            </a:fld>
            <a:endParaRPr lang="en-GB"/>
          </a:p>
        </p:txBody>
      </p:sp>
      <p:sp>
        <p:nvSpPr>
          <p:cNvPr id="5" name="Footer Placeholder 4">
            <a:extLst>
              <a:ext uri="{FF2B5EF4-FFF2-40B4-BE49-F238E27FC236}">
                <a16:creationId xmlns:a16="http://schemas.microsoft.com/office/drawing/2014/main" id="{89E26A85-9039-9DC7-FCE8-E59C15784A4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37E4C43-E1C4-CF43-D041-995B05E02BE4}"/>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0683740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56A55-F2A7-95D7-5B21-8C725B77588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4085870-E1A2-2279-E26B-485EDCBB07A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7D75CDC7-3655-6623-C08B-2A0DDFBA474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C5E85466-A2BA-0F1C-C0EE-3DDD9BBFB112}"/>
              </a:ext>
            </a:extLst>
          </p:cNvPr>
          <p:cNvSpPr>
            <a:spLocks noGrp="1"/>
          </p:cNvSpPr>
          <p:nvPr>
            <p:ph type="dt" sz="half" idx="10"/>
          </p:nvPr>
        </p:nvSpPr>
        <p:spPr/>
        <p:txBody>
          <a:bodyPr/>
          <a:lstStyle/>
          <a:p>
            <a:fld id="{AD62E2D2-7D84-4F62-AB79-04DD5D6E2A83}" type="datetime1">
              <a:rPr lang="en-GB" smtClean="0"/>
              <a:t>21/02/2026</a:t>
            </a:fld>
            <a:endParaRPr lang="en-GB"/>
          </a:p>
        </p:txBody>
      </p:sp>
      <p:sp>
        <p:nvSpPr>
          <p:cNvPr id="6" name="Footer Placeholder 5">
            <a:extLst>
              <a:ext uri="{FF2B5EF4-FFF2-40B4-BE49-F238E27FC236}">
                <a16:creationId xmlns:a16="http://schemas.microsoft.com/office/drawing/2014/main" id="{40ADF506-CEA6-3A73-C30B-9E8664508B8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31BEED9-EA69-B899-A439-2F43F88F9067}"/>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6467844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8FB61-0B1B-1AA8-C776-6E6E59874D84}"/>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BE91144-0D95-8068-5D00-7A87B3CBA5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0ECA04A-9C50-74D8-50AB-68DCD684C40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B6E713DA-D885-C472-BAD2-D383CFB17D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04216DC-7E05-7364-DBE6-E5FCE8ADCFC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3A299C5-58E9-0915-C7F9-532BCEB533B9}"/>
              </a:ext>
            </a:extLst>
          </p:cNvPr>
          <p:cNvSpPr>
            <a:spLocks noGrp="1"/>
          </p:cNvSpPr>
          <p:nvPr>
            <p:ph type="dt" sz="half" idx="10"/>
          </p:nvPr>
        </p:nvSpPr>
        <p:spPr/>
        <p:txBody>
          <a:bodyPr/>
          <a:lstStyle/>
          <a:p>
            <a:fld id="{3C542E2F-086F-40AD-AE37-0FE3516ECA88}" type="datetime1">
              <a:rPr lang="en-GB" smtClean="0"/>
              <a:t>21/02/2026</a:t>
            </a:fld>
            <a:endParaRPr lang="en-GB"/>
          </a:p>
        </p:txBody>
      </p:sp>
      <p:sp>
        <p:nvSpPr>
          <p:cNvPr id="8" name="Footer Placeholder 7">
            <a:extLst>
              <a:ext uri="{FF2B5EF4-FFF2-40B4-BE49-F238E27FC236}">
                <a16:creationId xmlns:a16="http://schemas.microsoft.com/office/drawing/2014/main" id="{FD2A08F8-E9E4-42AA-2BF5-F3FD711CF8E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C9A90D6-B33F-B27A-89BC-5C61CD746F9F}"/>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8017092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8F1DD-33BA-DC1A-503B-EDF553E94625}"/>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259C1459-127D-B946-DCC3-295E311F4556}"/>
              </a:ext>
            </a:extLst>
          </p:cNvPr>
          <p:cNvSpPr>
            <a:spLocks noGrp="1"/>
          </p:cNvSpPr>
          <p:nvPr>
            <p:ph type="dt" sz="half" idx="10"/>
          </p:nvPr>
        </p:nvSpPr>
        <p:spPr/>
        <p:txBody>
          <a:bodyPr/>
          <a:lstStyle/>
          <a:p>
            <a:fld id="{28BB7FCF-08A1-4FE4-9E9D-DC420D650C18}" type="datetime1">
              <a:rPr lang="en-GB" smtClean="0"/>
              <a:t>21/02/2026</a:t>
            </a:fld>
            <a:endParaRPr lang="en-GB"/>
          </a:p>
        </p:txBody>
      </p:sp>
      <p:sp>
        <p:nvSpPr>
          <p:cNvPr id="4" name="Footer Placeholder 3">
            <a:extLst>
              <a:ext uri="{FF2B5EF4-FFF2-40B4-BE49-F238E27FC236}">
                <a16:creationId xmlns:a16="http://schemas.microsoft.com/office/drawing/2014/main" id="{F06167AD-FE57-199A-AED0-34EC850A929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C4E0EC7-4B04-9729-C509-C54966A06EF8}"/>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0910281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EDD1B0"/>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2124B3-7905-CDCE-B292-FD8A2BD1E19B}"/>
              </a:ext>
            </a:extLst>
          </p:cNvPr>
          <p:cNvSpPr>
            <a:spLocks noGrp="1"/>
          </p:cNvSpPr>
          <p:nvPr>
            <p:ph type="dt" sz="half" idx="10"/>
          </p:nvPr>
        </p:nvSpPr>
        <p:spPr/>
        <p:txBody>
          <a:bodyPr/>
          <a:lstStyle/>
          <a:p>
            <a:fld id="{EDDDA0C7-BAEE-4F35-8A3B-93DC0CEF01B4}" type="datetime1">
              <a:rPr lang="en-GB" smtClean="0"/>
              <a:t>21/02/2026</a:t>
            </a:fld>
            <a:endParaRPr lang="en-GB"/>
          </a:p>
        </p:txBody>
      </p:sp>
      <p:sp>
        <p:nvSpPr>
          <p:cNvPr id="3" name="Footer Placeholder 2">
            <a:extLst>
              <a:ext uri="{FF2B5EF4-FFF2-40B4-BE49-F238E27FC236}">
                <a16:creationId xmlns:a16="http://schemas.microsoft.com/office/drawing/2014/main" id="{23FA3729-5522-EE34-2FCC-F4BC137CEF8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FCA7865-47F4-47C5-BBCB-A6249F2A9B3C}"/>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43459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64DEA-FB17-B8A6-AA81-03FAA82022E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4EF307C4-5CF6-7B6B-7A9A-A16BDDA451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4462CCBA-A6B6-D42B-9A6C-7C4515A57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CB7EF61-BB13-5B78-32CC-DAE862704CBB}"/>
              </a:ext>
            </a:extLst>
          </p:cNvPr>
          <p:cNvSpPr>
            <a:spLocks noGrp="1"/>
          </p:cNvSpPr>
          <p:nvPr>
            <p:ph type="dt" sz="half" idx="10"/>
          </p:nvPr>
        </p:nvSpPr>
        <p:spPr/>
        <p:txBody>
          <a:bodyPr/>
          <a:lstStyle/>
          <a:p>
            <a:fld id="{E92368E4-9C31-482F-B818-B582CFCA3920}" type="datetime1">
              <a:rPr lang="en-GB" smtClean="0"/>
              <a:t>21/02/2026</a:t>
            </a:fld>
            <a:endParaRPr lang="en-GB"/>
          </a:p>
        </p:txBody>
      </p:sp>
      <p:sp>
        <p:nvSpPr>
          <p:cNvPr id="6" name="Footer Placeholder 5">
            <a:extLst>
              <a:ext uri="{FF2B5EF4-FFF2-40B4-BE49-F238E27FC236}">
                <a16:creationId xmlns:a16="http://schemas.microsoft.com/office/drawing/2014/main" id="{3E5CE7C5-8D38-2000-9396-6952E2AC53E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0481D8B-C963-0093-61E4-B314D8287EB9}"/>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7781208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EC570-FFEA-139D-76DD-8FAD26F435B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1235F4C9-5646-2C72-5A74-36DBA95E04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6B733E6-059F-B4E8-2665-301BD49D23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813E015-83D2-B22A-AEFA-3050D046CF74}"/>
              </a:ext>
            </a:extLst>
          </p:cNvPr>
          <p:cNvSpPr>
            <a:spLocks noGrp="1"/>
          </p:cNvSpPr>
          <p:nvPr>
            <p:ph type="dt" sz="half" idx="10"/>
          </p:nvPr>
        </p:nvSpPr>
        <p:spPr/>
        <p:txBody>
          <a:bodyPr/>
          <a:lstStyle/>
          <a:p>
            <a:fld id="{CFA87033-DBE3-47C4-85A3-06E175F67215}" type="datetime1">
              <a:rPr lang="en-GB" smtClean="0"/>
              <a:t>21/02/2026</a:t>
            </a:fld>
            <a:endParaRPr lang="en-GB"/>
          </a:p>
        </p:txBody>
      </p:sp>
      <p:sp>
        <p:nvSpPr>
          <p:cNvPr id="6" name="Footer Placeholder 5">
            <a:extLst>
              <a:ext uri="{FF2B5EF4-FFF2-40B4-BE49-F238E27FC236}">
                <a16:creationId xmlns:a16="http://schemas.microsoft.com/office/drawing/2014/main" id="{FE0DCC9E-7434-E9C4-BF07-F498CDF742F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97B5824-C721-15E0-005F-09D87B3694D5}"/>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6493050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DA8C0-0F4C-EB7E-4D83-13A13AB3468C}"/>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E92CC711-7438-1B41-AB61-31E43CBF3AD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47412AF-0EE4-43D6-3E5A-8492725341EF}"/>
              </a:ext>
            </a:extLst>
          </p:cNvPr>
          <p:cNvSpPr>
            <a:spLocks noGrp="1"/>
          </p:cNvSpPr>
          <p:nvPr>
            <p:ph type="dt" sz="half" idx="10"/>
          </p:nvPr>
        </p:nvSpPr>
        <p:spPr/>
        <p:txBody>
          <a:bodyPr/>
          <a:lstStyle/>
          <a:p>
            <a:fld id="{5188CAA1-DC3A-4AD5-88F3-EBC71BAF0E08}" type="datetime1">
              <a:rPr lang="en-GB" smtClean="0"/>
              <a:t>21/02/2026</a:t>
            </a:fld>
            <a:endParaRPr lang="en-GB"/>
          </a:p>
        </p:txBody>
      </p:sp>
      <p:sp>
        <p:nvSpPr>
          <p:cNvPr id="5" name="Footer Placeholder 4">
            <a:extLst>
              <a:ext uri="{FF2B5EF4-FFF2-40B4-BE49-F238E27FC236}">
                <a16:creationId xmlns:a16="http://schemas.microsoft.com/office/drawing/2014/main" id="{859C32D4-8659-7FED-DBB7-C92D7179A0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0987D87-07EB-4978-82B2-863E55F52477}"/>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2738702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EDD1B0"/>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C1CF52-EC45-CAB7-E131-1ECA7B9CBAE5}"/>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D81FF283-34F1-64D3-F66D-2F035B48F68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C3D3432-534B-D87F-33AD-11D40092D389}"/>
              </a:ext>
            </a:extLst>
          </p:cNvPr>
          <p:cNvSpPr>
            <a:spLocks noGrp="1"/>
          </p:cNvSpPr>
          <p:nvPr>
            <p:ph type="dt" sz="half" idx="10"/>
          </p:nvPr>
        </p:nvSpPr>
        <p:spPr/>
        <p:txBody>
          <a:bodyPr/>
          <a:lstStyle/>
          <a:p>
            <a:fld id="{FED66873-85DD-4CDB-895B-8ED6F6A7367F}" type="datetime1">
              <a:rPr lang="en-GB" smtClean="0"/>
              <a:t>21/02/2026</a:t>
            </a:fld>
            <a:endParaRPr lang="en-GB"/>
          </a:p>
        </p:txBody>
      </p:sp>
      <p:sp>
        <p:nvSpPr>
          <p:cNvPr id="5" name="Footer Placeholder 4">
            <a:extLst>
              <a:ext uri="{FF2B5EF4-FFF2-40B4-BE49-F238E27FC236}">
                <a16:creationId xmlns:a16="http://schemas.microsoft.com/office/drawing/2014/main" id="{76AAE0A8-0EFF-A6D0-21B8-38A2D7E8A3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FC8CA4-F6F3-B516-1FBA-074CDC4BF988}"/>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040322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E5FCCA-3F3F-773D-CD33-62B98DC6A6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E9A4DECA-96E2-A2E3-D34A-F7C25B021B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2B31FA4-DBAE-837F-EEB7-35143BA162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BCCD45-486D-4FE6-B311-4355809C78D3}" type="datetime1">
              <a:rPr lang="en-GB" smtClean="0"/>
              <a:t>21/02/2026</a:t>
            </a:fld>
            <a:endParaRPr lang="en-GB"/>
          </a:p>
        </p:txBody>
      </p:sp>
      <p:sp>
        <p:nvSpPr>
          <p:cNvPr id="5" name="Footer Placeholder 4">
            <a:extLst>
              <a:ext uri="{FF2B5EF4-FFF2-40B4-BE49-F238E27FC236}">
                <a16:creationId xmlns:a16="http://schemas.microsoft.com/office/drawing/2014/main" id="{9061C84C-67E4-49E5-DBCE-67ED85EF16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F2140A1-6DB9-3D28-8445-9C83A0B707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1ED87AFC-F3F3-4E09-A9D9-1873FFB55ECB}" type="slidenum">
              <a:rPr lang="en-GB" smtClean="0"/>
              <a:pPr/>
              <a:t>‹#›</a:t>
            </a:fld>
            <a:endParaRPr lang="en-GB" dirty="0"/>
          </a:p>
        </p:txBody>
      </p:sp>
    </p:spTree>
    <p:extLst>
      <p:ext uri="{BB962C8B-B14F-4D97-AF65-F5344CB8AC3E}">
        <p14:creationId xmlns:p14="http://schemas.microsoft.com/office/powerpoint/2010/main" val="3847458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E5FCCA-3F3F-773D-CD33-62B98DC6A6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E9A4DECA-96E2-A2E3-D34A-F7C25B021B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2B31FA4-DBAE-837F-EEB7-35143BA162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0EB35A-6C1C-44EB-A894-5CBC41E755B3}" type="datetime1">
              <a:rPr lang="en-GB" smtClean="0"/>
              <a:t>21/02/2026</a:t>
            </a:fld>
            <a:endParaRPr lang="en-GB"/>
          </a:p>
        </p:txBody>
      </p:sp>
      <p:sp>
        <p:nvSpPr>
          <p:cNvPr id="5" name="Footer Placeholder 4">
            <a:extLst>
              <a:ext uri="{FF2B5EF4-FFF2-40B4-BE49-F238E27FC236}">
                <a16:creationId xmlns:a16="http://schemas.microsoft.com/office/drawing/2014/main" id="{9061C84C-67E4-49E5-DBCE-67ED85EF16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F2140A1-6DB9-3D28-8445-9C83A0B707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2000" b="1">
                <a:solidFill>
                  <a:schemeClr val="tx1">
                    <a:tint val="75000"/>
                  </a:schemeClr>
                </a:solidFill>
              </a:defRPr>
            </a:lvl1pPr>
          </a:lstStyle>
          <a:p>
            <a:fld id="{1ED87AFC-F3F3-4E09-A9D9-1873FFB55ECB}" type="slidenum">
              <a:rPr lang="en-GB" smtClean="0"/>
              <a:pPr/>
              <a:t>‹#›</a:t>
            </a:fld>
            <a:endParaRPr lang="en-GB" dirty="0"/>
          </a:p>
        </p:txBody>
      </p:sp>
    </p:spTree>
    <p:extLst>
      <p:ext uri="{BB962C8B-B14F-4D97-AF65-F5344CB8AC3E}">
        <p14:creationId xmlns:p14="http://schemas.microsoft.com/office/powerpoint/2010/main" val="3439585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wmf"/><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ctrTitle"/>
          </p:nvPr>
        </p:nvSpPr>
        <p:spPr/>
        <p:txBody>
          <a:bodyPr>
            <a:normAutofit fontScale="90000"/>
          </a:bodyPr>
          <a:lstStyle/>
          <a:p>
            <a:r>
              <a:rPr lang="en-GB" b="1" dirty="0"/>
              <a:t>ENG4118/5326 - Robotics 4/M</a:t>
            </a:r>
            <a:br>
              <a:rPr lang="en-GB" b="1" dirty="0"/>
            </a:br>
            <a:r>
              <a:rPr lang="en-GB" b="1" dirty="0"/>
              <a:t>Sensors, Actuators and Image capture, processing and analysis</a:t>
            </a:r>
          </a:p>
        </p:txBody>
      </p:sp>
      <p:sp>
        <p:nvSpPr>
          <p:cNvPr id="3" name="Subtitle 2">
            <a:extLst>
              <a:ext uri="{FF2B5EF4-FFF2-40B4-BE49-F238E27FC236}">
                <a16:creationId xmlns:a16="http://schemas.microsoft.com/office/drawing/2014/main" id="{0EC2D61B-0204-42F3-52E6-931A9496968D}"/>
              </a:ext>
            </a:extLst>
          </p:cNvPr>
          <p:cNvSpPr>
            <a:spLocks noGrp="1"/>
          </p:cNvSpPr>
          <p:nvPr>
            <p:ph type="subTitle" idx="1"/>
          </p:nvPr>
        </p:nvSpPr>
        <p:spPr/>
        <p:txBody>
          <a:bodyPr>
            <a:normAutofit/>
          </a:bodyPr>
          <a:lstStyle/>
          <a:p>
            <a:r>
              <a:rPr lang="en-GB" sz="3600" dirty="0"/>
              <a:t>Lecture 13</a:t>
            </a:r>
          </a:p>
          <a:p>
            <a:r>
              <a:rPr lang="en-GB" sz="3600" dirty="0"/>
              <a:t>Kevin Worrall</a:t>
            </a:r>
          </a:p>
        </p:txBody>
      </p:sp>
      <p:sp>
        <p:nvSpPr>
          <p:cNvPr id="5" name="Slide Number Placeholder 4">
            <a:extLst>
              <a:ext uri="{FF2B5EF4-FFF2-40B4-BE49-F238E27FC236}">
                <a16:creationId xmlns:a16="http://schemas.microsoft.com/office/drawing/2014/main" id="{AE42FB52-67A8-E2C7-2462-FB99CD1C6398}"/>
              </a:ext>
            </a:extLst>
          </p:cNvPr>
          <p:cNvSpPr>
            <a:spLocks noGrp="1"/>
          </p:cNvSpPr>
          <p:nvPr>
            <p:ph type="sldNum" sz="quarter" idx="12"/>
          </p:nvPr>
        </p:nvSpPr>
        <p:spPr/>
        <p:txBody>
          <a:bodyPr/>
          <a:lstStyle/>
          <a:p>
            <a:fld id="{1ED87AFC-F3F3-4E09-A9D9-1873FFB55ECB}" type="slidenum">
              <a:rPr lang="en-GB" smtClean="0"/>
              <a:t>1</a:t>
            </a:fld>
            <a:endParaRPr lang="en-GB"/>
          </a:p>
        </p:txBody>
      </p:sp>
    </p:spTree>
    <p:extLst>
      <p:ext uri="{BB962C8B-B14F-4D97-AF65-F5344CB8AC3E}">
        <p14:creationId xmlns:p14="http://schemas.microsoft.com/office/powerpoint/2010/main" val="4242011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Lecture Overview</a:t>
            </a: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p:txBody>
          <a:bodyPr>
            <a:normAutofit/>
          </a:bodyPr>
          <a:lstStyle/>
          <a:p>
            <a:r>
              <a:rPr lang="en-GB" sz="3600" dirty="0"/>
              <a:t>Brushless DC Motors</a:t>
            </a:r>
          </a:p>
          <a:p>
            <a:r>
              <a:rPr lang="en-GB" sz="3600" dirty="0"/>
              <a:t>Stepper Motors</a:t>
            </a:r>
          </a:p>
          <a:p>
            <a:r>
              <a:rPr lang="en-GB" sz="3600" dirty="0"/>
              <a:t>Motor Heating</a:t>
            </a:r>
          </a:p>
          <a:p>
            <a:r>
              <a:rPr lang="en-GB" sz="3600" dirty="0"/>
              <a:t>Motor Control</a:t>
            </a:r>
          </a:p>
          <a:p>
            <a:r>
              <a:rPr lang="en-GB" sz="3600" dirty="0"/>
              <a:t>Torque Requirements</a:t>
            </a:r>
          </a:p>
          <a:p>
            <a:r>
              <a:rPr lang="en-GB" sz="3600" dirty="0"/>
              <a:t>Summary</a:t>
            </a:r>
          </a:p>
          <a:p>
            <a:r>
              <a:rPr lang="en-GB" sz="3600" dirty="0"/>
              <a:t>Actuation Comparison</a:t>
            </a:r>
          </a:p>
          <a:p>
            <a:pPr marL="0" indent="0">
              <a:buNone/>
            </a:pPr>
            <a:endParaRPr lang="en-GB" sz="3600" dirty="0"/>
          </a:p>
        </p:txBody>
      </p:sp>
      <p:sp>
        <p:nvSpPr>
          <p:cNvPr id="4" name="Slide Number Placeholder 3">
            <a:extLst>
              <a:ext uri="{FF2B5EF4-FFF2-40B4-BE49-F238E27FC236}">
                <a16:creationId xmlns:a16="http://schemas.microsoft.com/office/drawing/2014/main" id="{8B50761D-BFB0-57EF-E43B-6C4AC298B0C1}"/>
              </a:ext>
            </a:extLst>
          </p:cNvPr>
          <p:cNvSpPr>
            <a:spLocks noGrp="1"/>
          </p:cNvSpPr>
          <p:nvPr>
            <p:ph type="sldNum" sz="quarter" idx="12"/>
          </p:nvPr>
        </p:nvSpPr>
        <p:spPr/>
        <p:txBody>
          <a:bodyPr/>
          <a:lstStyle/>
          <a:p>
            <a:fld id="{1ED87AFC-F3F3-4E09-A9D9-1873FFB55ECB}" type="slidenum">
              <a:rPr lang="en-GB" smtClean="0"/>
              <a:t>2</a:t>
            </a:fld>
            <a:endParaRPr lang="en-GB"/>
          </a:p>
        </p:txBody>
      </p:sp>
      <p:pic>
        <p:nvPicPr>
          <p:cNvPr id="5" name="Picture 4">
            <a:extLst>
              <a:ext uri="{FF2B5EF4-FFF2-40B4-BE49-F238E27FC236}">
                <a16:creationId xmlns:a16="http://schemas.microsoft.com/office/drawing/2014/main" id="{50F57451-DC0D-84D4-4468-91BA2BD39266}"/>
              </a:ext>
            </a:extLst>
          </p:cNvPr>
          <p:cNvPicPr>
            <a:picLocks noChangeAspect="1"/>
          </p:cNvPicPr>
          <p:nvPr/>
        </p:nvPicPr>
        <p:blipFill>
          <a:blip r:embed="rId2"/>
          <a:stretch>
            <a:fillRect/>
          </a:stretch>
        </p:blipFill>
        <p:spPr>
          <a:xfrm>
            <a:off x="6872835" y="1330770"/>
            <a:ext cx="4480965" cy="4196459"/>
          </a:xfrm>
          <a:prstGeom prst="rect">
            <a:avLst/>
          </a:prstGeom>
        </p:spPr>
      </p:pic>
    </p:spTree>
    <p:extLst>
      <p:ext uri="{BB962C8B-B14F-4D97-AF65-F5344CB8AC3E}">
        <p14:creationId xmlns:p14="http://schemas.microsoft.com/office/powerpoint/2010/main" val="654745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2594A-1587-7E65-024B-710FFAE85E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360BBA-C3DE-FD37-3608-BD899A6DEB48}"/>
              </a:ext>
            </a:extLst>
          </p:cNvPr>
          <p:cNvSpPr>
            <a:spLocks noGrp="1"/>
          </p:cNvSpPr>
          <p:nvPr>
            <p:ph type="title"/>
          </p:nvPr>
        </p:nvSpPr>
        <p:spPr/>
        <p:txBody>
          <a:bodyPr>
            <a:normAutofit/>
          </a:bodyPr>
          <a:lstStyle/>
          <a:p>
            <a:r>
              <a:rPr lang="en-GB" b="1"/>
              <a:t>Brushless </a:t>
            </a:r>
            <a:r>
              <a:rPr lang="en-GB" b="1" dirty="0"/>
              <a:t>DC Motors</a:t>
            </a:r>
          </a:p>
        </p:txBody>
      </p:sp>
      <p:sp>
        <p:nvSpPr>
          <p:cNvPr id="3" name="Subtitle 2">
            <a:extLst>
              <a:ext uri="{FF2B5EF4-FFF2-40B4-BE49-F238E27FC236}">
                <a16:creationId xmlns:a16="http://schemas.microsoft.com/office/drawing/2014/main" id="{CBFAD09A-8437-AF93-EEBF-A00A865B4546}"/>
              </a:ext>
            </a:extLst>
          </p:cNvPr>
          <p:cNvSpPr>
            <a:spLocks noGrp="1"/>
          </p:cNvSpPr>
          <p:nvPr>
            <p:ph type="body" idx="1"/>
          </p:nvPr>
        </p:nvSpPr>
        <p:spPr/>
        <p:txBody>
          <a:bodyPr>
            <a:normAutofit/>
          </a:bodyPr>
          <a:lstStyle/>
          <a:p>
            <a:endParaRPr lang="en-GB" sz="3600" dirty="0"/>
          </a:p>
          <a:p>
            <a:endParaRPr lang="en-GB" sz="3600" dirty="0"/>
          </a:p>
        </p:txBody>
      </p:sp>
      <p:sp>
        <p:nvSpPr>
          <p:cNvPr id="4" name="Slide Number Placeholder 3">
            <a:extLst>
              <a:ext uri="{FF2B5EF4-FFF2-40B4-BE49-F238E27FC236}">
                <a16:creationId xmlns:a16="http://schemas.microsoft.com/office/drawing/2014/main" id="{0B793D73-B544-0C56-7210-34EFB8ACFC78}"/>
              </a:ext>
            </a:extLst>
          </p:cNvPr>
          <p:cNvSpPr>
            <a:spLocks noGrp="1"/>
          </p:cNvSpPr>
          <p:nvPr>
            <p:ph type="sldNum" sz="quarter" idx="12"/>
          </p:nvPr>
        </p:nvSpPr>
        <p:spPr/>
        <p:txBody>
          <a:bodyPr/>
          <a:lstStyle/>
          <a:p>
            <a:fld id="{1ED87AFC-F3F3-4E09-A9D9-1873FFB55ECB}" type="slidenum">
              <a:rPr lang="en-GB" smtClean="0"/>
              <a:t>3</a:t>
            </a:fld>
            <a:endParaRPr lang="en-GB"/>
          </a:p>
        </p:txBody>
      </p:sp>
    </p:spTree>
    <p:extLst>
      <p:ext uri="{BB962C8B-B14F-4D97-AF65-F5344CB8AC3E}">
        <p14:creationId xmlns:p14="http://schemas.microsoft.com/office/powerpoint/2010/main" val="2316134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0C4C3-284A-6F03-B200-E2C5A7ECD3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F3662A-E63C-893A-40C6-88537B10FDC5}"/>
              </a:ext>
            </a:extLst>
          </p:cNvPr>
          <p:cNvSpPr>
            <a:spLocks noGrp="1"/>
          </p:cNvSpPr>
          <p:nvPr>
            <p:ph type="title"/>
          </p:nvPr>
        </p:nvSpPr>
        <p:spPr/>
        <p:txBody>
          <a:bodyPr>
            <a:normAutofit/>
          </a:bodyPr>
          <a:lstStyle/>
          <a:p>
            <a:r>
              <a:rPr lang="en-GB" b="1" dirty="0"/>
              <a:t>Brushless D.C. Motors</a:t>
            </a:r>
          </a:p>
        </p:txBody>
      </p:sp>
      <p:sp>
        <p:nvSpPr>
          <p:cNvPr id="4" name="Slide Number Placeholder 3">
            <a:extLst>
              <a:ext uri="{FF2B5EF4-FFF2-40B4-BE49-F238E27FC236}">
                <a16:creationId xmlns:a16="http://schemas.microsoft.com/office/drawing/2014/main" id="{2710A0B5-4B51-1027-2285-A0EF07263F6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2145779F-DD66-A7E1-8B24-BBC476F0C6FF}"/>
              </a:ext>
            </a:extLst>
          </p:cNvPr>
          <p:cNvSpPr>
            <a:spLocks noGrp="1"/>
          </p:cNvSpPr>
          <p:nvPr>
            <p:ph idx="1"/>
          </p:nvPr>
        </p:nvSpPr>
        <p:spPr/>
        <p:txBody>
          <a:bodyPr>
            <a:normAutofit fontScale="92500" lnSpcReduction="20000"/>
          </a:bodyPr>
          <a:lstStyle/>
          <a:p>
            <a:r>
              <a:rPr lang="en-GB" dirty="0"/>
              <a:t>Brushless D.C. motors consist of a sequence of stator coils and a permanent magnet rotor.</a:t>
            </a:r>
          </a:p>
          <a:p>
            <a:r>
              <a:rPr lang="en-GB" dirty="0"/>
              <a:t>Similarly to a current carrying coil experiencing a force within a magnetic field, the magnet itself will experience an equal and opposite force (Newton’s 3 </a:t>
            </a:r>
            <a:r>
              <a:rPr lang="en-GB" dirty="0" err="1"/>
              <a:t>rd</a:t>
            </a:r>
            <a:r>
              <a:rPr lang="en-GB" dirty="0"/>
              <a:t> Law).</a:t>
            </a:r>
          </a:p>
          <a:p>
            <a:r>
              <a:rPr lang="en-GB" dirty="0"/>
              <a:t>In brushed D.C. motors, the permanent magnet is fixed and the coil rotates. With brushless D.C. motors, the current carrying coils are fixed and the magnet moves.</a:t>
            </a:r>
          </a:p>
          <a:p>
            <a:r>
              <a:rPr lang="en-GB" dirty="0"/>
              <a:t>The rotor magnet is composed of ferrite or ceramic materials.</a:t>
            </a:r>
          </a:p>
          <a:p>
            <a:r>
              <a:rPr lang="en-GB" dirty="0"/>
              <a:t>The current through the coils is electronically switched by transistors in sequence around the coils with the switching being controlled by the position of the rotor to ensure continued rotor rotation.</a:t>
            </a:r>
          </a:p>
        </p:txBody>
      </p:sp>
    </p:spTree>
    <p:extLst>
      <p:ext uri="{BB962C8B-B14F-4D97-AF65-F5344CB8AC3E}">
        <p14:creationId xmlns:p14="http://schemas.microsoft.com/office/powerpoint/2010/main" val="1797276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10039-C079-1892-0A66-B8DB6CC65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037FAD-70FA-6C79-9653-173DD78C36F6}"/>
              </a:ext>
            </a:extLst>
          </p:cNvPr>
          <p:cNvSpPr>
            <a:spLocks noGrp="1"/>
          </p:cNvSpPr>
          <p:nvPr>
            <p:ph type="title"/>
          </p:nvPr>
        </p:nvSpPr>
        <p:spPr/>
        <p:txBody>
          <a:bodyPr>
            <a:normAutofit/>
          </a:bodyPr>
          <a:lstStyle/>
          <a:p>
            <a:r>
              <a:rPr lang="en-GB" b="1" dirty="0"/>
              <a:t>Brushless D.C. Motors</a:t>
            </a:r>
          </a:p>
        </p:txBody>
      </p:sp>
      <p:sp>
        <p:nvSpPr>
          <p:cNvPr id="4" name="Slide Number Placeholder 3">
            <a:extLst>
              <a:ext uri="{FF2B5EF4-FFF2-40B4-BE49-F238E27FC236}">
                <a16:creationId xmlns:a16="http://schemas.microsoft.com/office/drawing/2014/main" id="{D8604CD3-8357-F9F9-29C7-DE8155C149E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2B079021-5C6E-57FA-BF04-DE21D514450D}"/>
              </a:ext>
            </a:extLst>
          </p:cNvPr>
          <p:cNvSpPr>
            <a:spLocks noGrp="1"/>
          </p:cNvSpPr>
          <p:nvPr>
            <p:ph idx="1"/>
          </p:nvPr>
        </p:nvSpPr>
        <p:spPr/>
        <p:txBody>
          <a:bodyPr>
            <a:normAutofit/>
          </a:bodyPr>
          <a:lstStyle/>
          <a:p>
            <a:pPr indent="-227520">
              <a:spcAft>
                <a:spcPts val="1414"/>
              </a:spcAft>
              <a:buClr>
                <a:srgbClr val="000000"/>
              </a:buClr>
              <a:buSzPct val="45000"/>
              <a:buFont typeface="Wingdings" charset="2"/>
              <a:buChar char=""/>
            </a:pPr>
            <a:r>
              <a:rPr lang="en-GB" spc="-1" dirty="0">
                <a:solidFill>
                  <a:srgbClr val="000000"/>
                </a:solidFill>
                <a:ea typeface="DejaVu Sans"/>
              </a:rPr>
              <a:t>These motors have high reliability, low maintenance requirements, are quiet and capable of high speeds.</a:t>
            </a:r>
            <a:endParaRPr lang="en-GB" spc="-1" dirty="0">
              <a:solidFill>
                <a:srgbClr val="000000"/>
              </a:solidFill>
              <a:latin typeface="Arial"/>
            </a:endParaRPr>
          </a:p>
          <a:p>
            <a:pPr indent="-227520">
              <a:spcAft>
                <a:spcPts val="1414"/>
              </a:spcAft>
              <a:buClr>
                <a:srgbClr val="000000"/>
              </a:buClr>
              <a:buSzPct val="45000"/>
              <a:buFont typeface="Wingdings" charset="2"/>
              <a:buChar char=""/>
            </a:pPr>
            <a:r>
              <a:rPr lang="en-GB" spc="-1" dirty="0">
                <a:solidFill>
                  <a:srgbClr val="000000"/>
                </a:solidFill>
                <a:ea typeface="DejaVu Sans"/>
              </a:rPr>
              <a:t>Note: an additional advantage of having the coils on the stator is that the majority of the heat is in the stator which is easier to cool than the rotor</a:t>
            </a:r>
            <a:endParaRPr lang="en-GB" spc="-1" dirty="0">
              <a:solidFill>
                <a:srgbClr val="000000"/>
              </a:solidFill>
              <a:latin typeface="Arial"/>
            </a:endParaRPr>
          </a:p>
          <a:p>
            <a:pPr marL="0" indent="0">
              <a:buNone/>
            </a:pPr>
            <a:endParaRPr lang="en-GB" dirty="0"/>
          </a:p>
        </p:txBody>
      </p:sp>
      <p:pic>
        <p:nvPicPr>
          <p:cNvPr id="3" name="Picture 2">
            <a:extLst>
              <a:ext uri="{FF2B5EF4-FFF2-40B4-BE49-F238E27FC236}">
                <a16:creationId xmlns:a16="http://schemas.microsoft.com/office/drawing/2014/main" id="{FEB68402-82B4-6021-3646-3BB0C39C36ED}"/>
              </a:ext>
            </a:extLst>
          </p:cNvPr>
          <p:cNvPicPr/>
          <p:nvPr/>
        </p:nvPicPr>
        <p:blipFill>
          <a:blip r:embed="rId3"/>
          <a:stretch/>
        </p:blipFill>
        <p:spPr>
          <a:xfrm>
            <a:off x="3060660" y="4187392"/>
            <a:ext cx="6070680" cy="2351520"/>
          </a:xfrm>
          <a:prstGeom prst="rect">
            <a:avLst/>
          </a:prstGeom>
          <a:ln w="0">
            <a:noFill/>
          </a:ln>
        </p:spPr>
      </p:pic>
    </p:spTree>
    <p:extLst>
      <p:ext uri="{BB962C8B-B14F-4D97-AF65-F5344CB8AC3E}">
        <p14:creationId xmlns:p14="http://schemas.microsoft.com/office/powerpoint/2010/main" val="3595941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B437E-9ED6-FBC5-58BC-359B6798A0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5E14FC-DFF6-D72C-BD8C-32091E9716EA}"/>
              </a:ext>
            </a:extLst>
          </p:cNvPr>
          <p:cNvSpPr>
            <a:spLocks noGrp="1"/>
          </p:cNvSpPr>
          <p:nvPr>
            <p:ph type="title"/>
          </p:nvPr>
        </p:nvSpPr>
        <p:spPr/>
        <p:txBody>
          <a:bodyPr>
            <a:normAutofit/>
          </a:bodyPr>
          <a:lstStyle/>
          <a:p>
            <a:r>
              <a:rPr lang="en-GB" b="1" dirty="0"/>
              <a:t>Brushless D.C. Motors</a:t>
            </a:r>
          </a:p>
        </p:txBody>
      </p:sp>
      <p:sp>
        <p:nvSpPr>
          <p:cNvPr id="4" name="Slide Number Placeholder 3">
            <a:extLst>
              <a:ext uri="{FF2B5EF4-FFF2-40B4-BE49-F238E27FC236}">
                <a16:creationId xmlns:a16="http://schemas.microsoft.com/office/drawing/2014/main" id="{72945EC6-EA8D-C93E-A607-8BDECF5FF8F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50F97816-83E4-DF1F-6E67-BF966D08B29F}"/>
              </a:ext>
            </a:extLst>
          </p:cNvPr>
          <p:cNvSpPr>
            <a:spLocks noGrp="1"/>
          </p:cNvSpPr>
          <p:nvPr>
            <p:ph idx="1"/>
          </p:nvPr>
        </p:nvSpPr>
        <p:spPr/>
        <p:txBody>
          <a:bodyPr>
            <a:normAutofit/>
          </a:bodyPr>
          <a:lstStyle/>
          <a:p>
            <a:pPr indent="-227520">
              <a:spcAft>
                <a:spcPts val="1414"/>
              </a:spcAft>
              <a:buClr>
                <a:srgbClr val="000000"/>
              </a:buClr>
              <a:buSzPct val="45000"/>
              <a:buFont typeface="Wingdings" charset="2"/>
              <a:buChar char=""/>
            </a:pPr>
            <a:r>
              <a:rPr lang="en-GB" spc="-1" dirty="0">
                <a:solidFill>
                  <a:srgbClr val="000000"/>
                </a:solidFill>
                <a:ea typeface="DejaVu Sans"/>
              </a:rPr>
              <a:t>https://www.youtube.com/watch?v=bCEiOnuODac</a:t>
            </a:r>
          </a:p>
        </p:txBody>
      </p:sp>
    </p:spTree>
    <p:extLst>
      <p:ext uri="{BB962C8B-B14F-4D97-AF65-F5344CB8AC3E}">
        <p14:creationId xmlns:p14="http://schemas.microsoft.com/office/powerpoint/2010/main" val="3464930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D893E-8CCC-6215-8089-226341DC20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7FBB47-E973-C0B7-F0F5-0E06D383B2D7}"/>
              </a:ext>
            </a:extLst>
          </p:cNvPr>
          <p:cNvSpPr>
            <a:spLocks noGrp="1"/>
          </p:cNvSpPr>
          <p:nvPr>
            <p:ph type="title"/>
          </p:nvPr>
        </p:nvSpPr>
        <p:spPr/>
        <p:txBody>
          <a:bodyPr>
            <a:normAutofit/>
          </a:bodyPr>
          <a:lstStyle/>
          <a:p>
            <a:r>
              <a:rPr lang="en-GB" b="1" dirty="0"/>
              <a:t>Brushless D.C. Motors</a:t>
            </a:r>
          </a:p>
        </p:txBody>
      </p:sp>
      <p:sp>
        <p:nvSpPr>
          <p:cNvPr id="5" name="Content Placeholder 4">
            <a:extLst>
              <a:ext uri="{FF2B5EF4-FFF2-40B4-BE49-F238E27FC236}">
                <a16:creationId xmlns:a16="http://schemas.microsoft.com/office/drawing/2014/main" id="{382B51AA-FBA4-F964-371D-F4C8818D9046}"/>
              </a:ext>
            </a:extLst>
          </p:cNvPr>
          <p:cNvSpPr>
            <a:spLocks noGrp="1"/>
          </p:cNvSpPr>
          <p:nvPr>
            <p:ph sz="half" idx="1"/>
          </p:nvPr>
        </p:nvSpPr>
        <p:spPr/>
        <p:txBody>
          <a:bodyPr>
            <a:normAutofit/>
          </a:bodyPr>
          <a:lstStyle/>
          <a:p>
            <a:pPr indent="-227520">
              <a:spcAft>
                <a:spcPts val="1414"/>
              </a:spcAft>
              <a:buClr>
                <a:srgbClr val="000000"/>
              </a:buClr>
              <a:buSzPct val="45000"/>
              <a:buFont typeface="Wingdings" charset="2"/>
              <a:buChar char=""/>
            </a:pPr>
            <a:r>
              <a:rPr lang="en-GB" spc="-1" dirty="0">
                <a:solidFill>
                  <a:srgbClr val="000000"/>
                </a:solidFill>
                <a:ea typeface="DejaVu Sans"/>
              </a:rPr>
              <a:t>3-phase stator windings</a:t>
            </a:r>
          </a:p>
          <a:p>
            <a:pPr indent="-227520">
              <a:spcAft>
                <a:spcPts val="1414"/>
              </a:spcAft>
              <a:buClr>
                <a:srgbClr val="000000"/>
              </a:buClr>
              <a:buSzPct val="45000"/>
              <a:buFont typeface="Wingdings" charset="2"/>
              <a:buChar char=""/>
            </a:pPr>
            <a:r>
              <a:rPr lang="en-GB" spc="-1" dirty="0">
                <a:solidFill>
                  <a:srgbClr val="000000"/>
                </a:solidFill>
                <a:ea typeface="DejaVu Sans"/>
              </a:rPr>
              <a:t>Magnetic rotor structure</a:t>
            </a:r>
          </a:p>
          <a:p>
            <a:pPr indent="-227520">
              <a:spcAft>
                <a:spcPts val="1414"/>
              </a:spcAft>
              <a:buClr>
                <a:srgbClr val="000000"/>
              </a:buClr>
              <a:buSzPct val="45000"/>
              <a:buFont typeface="Wingdings" charset="2"/>
              <a:buChar char=""/>
            </a:pPr>
            <a:r>
              <a:rPr lang="en-GB" spc="-1" dirty="0">
                <a:solidFill>
                  <a:srgbClr val="000000"/>
                </a:solidFill>
                <a:ea typeface="DejaVu Sans"/>
              </a:rPr>
              <a:t>Phase windings energised sequentially in order to attract magnetic rotor</a:t>
            </a:r>
          </a:p>
          <a:p>
            <a:pPr indent="-227520">
              <a:spcAft>
                <a:spcPts val="1414"/>
              </a:spcAft>
              <a:buClr>
                <a:srgbClr val="000000"/>
              </a:buClr>
              <a:buSzPct val="45000"/>
              <a:buFont typeface="Wingdings" charset="2"/>
              <a:buChar char=""/>
            </a:pPr>
            <a:r>
              <a:rPr lang="en-GB" spc="-1" dirty="0">
                <a:solidFill>
                  <a:srgbClr val="000000"/>
                </a:solidFill>
                <a:ea typeface="DejaVu Sans"/>
              </a:rPr>
              <a:t>Control of phase currents results in control of motor torque</a:t>
            </a:r>
          </a:p>
        </p:txBody>
      </p:sp>
      <p:sp>
        <p:nvSpPr>
          <p:cNvPr id="4" name="Slide Number Placeholder 3">
            <a:extLst>
              <a:ext uri="{FF2B5EF4-FFF2-40B4-BE49-F238E27FC236}">
                <a16:creationId xmlns:a16="http://schemas.microsoft.com/office/drawing/2014/main" id="{72FE4495-58FD-C030-DE44-B773AC9EA11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6" name="Content Placeholder 5">
            <a:extLst>
              <a:ext uri="{FF2B5EF4-FFF2-40B4-BE49-F238E27FC236}">
                <a16:creationId xmlns:a16="http://schemas.microsoft.com/office/drawing/2014/main" id="{691E8AD6-FE7D-8E70-F605-1E0274AEC5CC}"/>
              </a:ext>
            </a:extLst>
          </p:cNvPr>
          <p:cNvPicPr>
            <a:picLocks noGrp="1"/>
          </p:cNvPicPr>
          <p:nvPr>
            <p:ph sz="half" idx="2"/>
          </p:nvPr>
        </p:nvPicPr>
        <p:blipFill>
          <a:blip r:embed="rId3"/>
          <a:stretch/>
        </p:blipFill>
        <p:spPr>
          <a:xfrm>
            <a:off x="6382519" y="2148167"/>
            <a:ext cx="4760962" cy="3706254"/>
          </a:xfrm>
          <a:prstGeom prst="rect">
            <a:avLst/>
          </a:prstGeom>
          <a:ln w="0">
            <a:noFill/>
          </a:ln>
        </p:spPr>
      </p:pic>
    </p:spTree>
    <p:extLst>
      <p:ext uri="{BB962C8B-B14F-4D97-AF65-F5344CB8AC3E}">
        <p14:creationId xmlns:p14="http://schemas.microsoft.com/office/powerpoint/2010/main" val="2835200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7C165-0F34-1E1D-8E0D-67A899FD63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6D9346-AEC8-B4FC-DCEF-DA8A2E64BBC6}"/>
              </a:ext>
            </a:extLst>
          </p:cNvPr>
          <p:cNvSpPr>
            <a:spLocks noGrp="1"/>
          </p:cNvSpPr>
          <p:nvPr>
            <p:ph type="title"/>
          </p:nvPr>
        </p:nvSpPr>
        <p:spPr/>
        <p:txBody>
          <a:bodyPr>
            <a:normAutofit/>
          </a:bodyPr>
          <a:lstStyle/>
          <a:p>
            <a:r>
              <a:rPr lang="en-GB" b="1" dirty="0"/>
              <a:t>Brushless D.C. Motors</a:t>
            </a:r>
          </a:p>
        </p:txBody>
      </p:sp>
      <p:sp>
        <p:nvSpPr>
          <p:cNvPr id="4" name="Slide Number Placeholder 3">
            <a:extLst>
              <a:ext uri="{FF2B5EF4-FFF2-40B4-BE49-F238E27FC236}">
                <a16:creationId xmlns:a16="http://schemas.microsoft.com/office/drawing/2014/main" id="{420FCCCD-9AA8-D6EF-E55B-B13C129B65C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3" name="Content Placeholder 2">
            <a:extLst>
              <a:ext uri="{FF2B5EF4-FFF2-40B4-BE49-F238E27FC236}">
                <a16:creationId xmlns:a16="http://schemas.microsoft.com/office/drawing/2014/main" id="{DFB43705-2ABF-B646-0F03-1D230F3FCED6}"/>
              </a:ext>
            </a:extLst>
          </p:cNvPr>
          <p:cNvPicPr>
            <a:picLocks noGrp="1"/>
          </p:cNvPicPr>
          <p:nvPr>
            <p:ph idx="1"/>
          </p:nvPr>
        </p:nvPicPr>
        <p:blipFill>
          <a:blip r:embed="rId3"/>
          <a:stretch/>
        </p:blipFill>
        <p:spPr>
          <a:xfrm>
            <a:off x="1228555" y="2078595"/>
            <a:ext cx="9734889" cy="3845397"/>
          </a:xfrm>
          <a:prstGeom prst="rect">
            <a:avLst/>
          </a:prstGeom>
          <a:ln w="0">
            <a:noFill/>
          </a:ln>
        </p:spPr>
      </p:pic>
    </p:spTree>
    <p:extLst>
      <p:ext uri="{BB962C8B-B14F-4D97-AF65-F5344CB8AC3E}">
        <p14:creationId xmlns:p14="http://schemas.microsoft.com/office/powerpoint/2010/main" val="2147923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25828-2D09-EDBB-33C0-5D053CE894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DF2849-C380-A56C-23BD-D32D33FBDEB7}"/>
              </a:ext>
            </a:extLst>
          </p:cNvPr>
          <p:cNvSpPr>
            <a:spLocks noGrp="1"/>
          </p:cNvSpPr>
          <p:nvPr>
            <p:ph type="title"/>
          </p:nvPr>
        </p:nvSpPr>
        <p:spPr/>
        <p:txBody>
          <a:bodyPr>
            <a:normAutofit/>
          </a:bodyPr>
          <a:lstStyle/>
          <a:p>
            <a:r>
              <a:rPr lang="en-GB" b="1" dirty="0"/>
              <a:t>Stepper Motor</a:t>
            </a:r>
          </a:p>
        </p:txBody>
      </p:sp>
      <p:sp>
        <p:nvSpPr>
          <p:cNvPr id="3" name="Subtitle 2">
            <a:extLst>
              <a:ext uri="{FF2B5EF4-FFF2-40B4-BE49-F238E27FC236}">
                <a16:creationId xmlns:a16="http://schemas.microsoft.com/office/drawing/2014/main" id="{19E4544A-DEE2-B375-FAA0-7AFFB4A72E97}"/>
              </a:ext>
            </a:extLst>
          </p:cNvPr>
          <p:cNvSpPr>
            <a:spLocks noGrp="1"/>
          </p:cNvSpPr>
          <p:nvPr>
            <p:ph type="body" idx="1"/>
          </p:nvPr>
        </p:nvSpPr>
        <p:spPr/>
        <p:txBody>
          <a:bodyPr>
            <a:normAutofit/>
          </a:bodyPr>
          <a:lstStyle/>
          <a:p>
            <a:endParaRPr lang="en-GB" sz="3600" dirty="0"/>
          </a:p>
          <a:p>
            <a:endParaRPr lang="en-GB" sz="3600" dirty="0"/>
          </a:p>
        </p:txBody>
      </p:sp>
      <p:sp>
        <p:nvSpPr>
          <p:cNvPr id="4" name="Slide Number Placeholder 3">
            <a:extLst>
              <a:ext uri="{FF2B5EF4-FFF2-40B4-BE49-F238E27FC236}">
                <a16:creationId xmlns:a16="http://schemas.microsoft.com/office/drawing/2014/main" id="{54A25C50-91B9-30AF-2283-EDE845A46AB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35732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174E1-48A8-369B-E34E-7D05D8462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5956B9-298A-A7E4-9F91-5FF1C61E23EE}"/>
              </a:ext>
            </a:extLst>
          </p:cNvPr>
          <p:cNvSpPr>
            <a:spLocks noGrp="1"/>
          </p:cNvSpPr>
          <p:nvPr>
            <p:ph type="title"/>
          </p:nvPr>
        </p:nvSpPr>
        <p:spPr/>
        <p:txBody>
          <a:bodyPr>
            <a:normAutofit/>
          </a:bodyPr>
          <a:lstStyle/>
          <a:p>
            <a:r>
              <a:rPr lang="en-GB" b="1" dirty="0"/>
              <a:t>Stepper Motors</a:t>
            </a:r>
          </a:p>
        </p:txBody>
      </p:sp>
      <p:sp>
        <p:nvSpPr>
          <p:cNvPr id="4" name="Slide Number Placeholder 3">
            <a:extLst>
              <a:ext uri="{FF2B5EF4-FFF2-40B4-BE49-F238E27FC236}">
                <a16:creationId xmlns:a16="http://schemas.microsoft.com/office/drawing/2014/main" id="{2CA2663D-1988-A2A3-983A-261D23891B7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0B6BE9F4-4F52-C95B-B273-D580EC694169}"/>
              </a:ext>
            </a:extLst>
          </p:cNvPr>
          <p:cNvSpPr>
            <a:spLocks noGrp="1"/>
          </p:cNvSpPr>
          <p:nvPr>
            <p:ph idx="1"/>
          </p:nvPr>
        </p:nvSpPr>
        <p:spPr/>
        <p:txBody>
          <a:bodyPr>
            <a:normAutofit fontScale="92500" lnSpcReduction="10000"/>
          </a:bodyPr>
          <a:lstStyle/>
          <a:p>
            <a:pPr indent="-227520">
              <a:spcAft>
                <a:spcPts val="1414"/>
              </a:spcAft>
              <a:buClr>
                <a:srgbClr val="000000"/>
              </a:buClr>
              <a:buSzPct val="45000"/>
              <a:buFont typeface="Wingdings" charset="2"/>
              <a:buChar char=""/>
            </a:pPr>
            <a:r>
              <a:rPr lang="en-GB" spc="-1" dirty="0">
                <a:solidFill>
                  <a:srgbClr val="000000"/>
                </a:solidFill>
                <a:ea typeface="DejaVu Sans"/>
              </a:rPr>
              <a:t>A stepper motor is a device that moves through equal angles, or steps, for each digital pulse supplied to its input.</a:t>
            </a:r>
          </a:p>
          <a:p>
            <a:pPr indent="-227520">
              <a:spcAft>
                <a:spcPts val="1414"/>
              </a:spcAft>
              <a:buClr>
                <a:srgbClr val="000000"/>
              </a:buClr>
              <a:buSzPct val="45000"/>
              <a:buFont typeface="Wingdings" charset="2"/>
              <a:buChar char=""/>
            </a:pPr>
            <a:r>
              <a:rPr lang="en-GB" spc="-1" dirty="0">
                <a:solidFill>
                  <a:srgbClr val="000000"/>
                </a:solidFill>
                <a:ea typeface="DejaVu Sans"/>
              </a:rPr>
              <a:t>They are robust, versatile and simple motors which are used in a variety of applications.</a:t>
            </a:r>
          </a:p>
          <a:p>
            <a:pPr indent="-227520">
              <a:spcAft>
                <a:spcPts val="1414"/>
              </a:spcAft>
              <a:buClr>
                <a:srgbClr val="000000"/>
              </a:buClr>
              <a:buSzPct val="45000"/>
              <a:buFont typeface="Wingdings" charset="2"/>
              <a:buChar char=""/>
            </a:pPr>
            <a:r>
              <a:rPr lang="en-GB" spc="-1" dirty="0">
                <a:solidFill>
                  <a:srgbClr val="000000"/>
                </a:solidFill>
                <a:ea typeface="DejaVu Sans"/>
              </a:rPr>
              <a:t>They are commonly used without feedback as the motor steps at a known angle for each input pulse and therefore its angular position is always known.</a:t>
            </a:r>
          </a:p>
          <a:p>
            <a:pPr indent="-227520">
              <a:spcAft>
                <a:spcPts val="1414"/>
              </a:spcAft>
              <a:buClr>
                <a:srgbClr val="000000"/>
              </a:buClr>
              <a:buSzPct val="45000"/>
              <a:buFont typeface="Wingdings" charset="2"/>
              <a:buChar char=""/>
            </a:pPr>
            <a:r>
              <a:rPr lang="en-GB" spc="-1" dirty="0">
                <a:solidFill>
                  <a:srgbClr val="000000"/>
                </a:solidFill>
                <a:ea typeface="DejaVu Sans"/>
              </a:rPr>
              <a:t>Stepper motors have a construction similar to brushless D.C. motors with a soft iron or permanent magnet core acting as the rotor and the stator composed of multiple coil windings.</a:t>
            </a:r>
          </a:p>
        </p:txBody>
      </p:sp>
    </p:spTree>
    <p:extLst>
      <p:ext uri="{BB962C8B-B14F-4D97-AF65-F5344CB8AC3E}">
        <p14:creationId xmlns:p14="http://schemas.microsoft.com/office/powerpoint/2010/main" val="4121648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85AFC-2A0C-3856-A52A-8B49A1367E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DA2509-CE67-63C0-CFBA-007713370AB4}"/>
              </a:ext>
            </a:extLst>
          </p:cNvPr>
          <p:cNvSpPr>
            <a:spLocks noGrp="1"/>
          </p:cNvSpPr>
          <p:nvPr>
            <p:ph type="title"/>
          </p:nvPr>
        </p:nvSpPr>
        <p:spPr/>
        <p:txBody>
          <a:bodyPr>
            <a:normAutofit/>
          </a:bodyPr>
          <a:lstStyle/>
          <a:p>
            <a:r>
              <a:rPr lang="en-GB" b="1" dirty="0"/>
              <a:t>Stepper Motors</a:t>
            </a:r>
          </a:p>
        </p:txBody>
      </p:sp>
      <p:sp>
        <p:nvSpPr>
          <p:cNvPr id="4" name="Slide Number Placeholder 3">
            <a:extLst>
              <a:ext uri="{FF2B5EF4-FFF2-40B4-BE49-F238E27FC236}">
                <a16:creationId xmlns:a16="http://schemas.microsoft.com/office/drawing/2014/main" id="{D4871A97-40CE-32F7-E3C0-4CF0D4CA7E8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7C7A11DD-B35E-76CF-2F21-68330151FDB4}"/>
              </a:ext>
            </a:extLst>
          </p:cNvPr>
          <p:cNvSpPr>
            <a:spLocks noGrp="1"/>
          </p:cNvSpPr>
          <p:nvPr>
            <p:ph idx="1"/>
          </p:nvPr>
        </p:nvSpPr>
        <p:spPr/>
        <p:txBody>
          <a:bodyPr>
            <a:normAutofit/>
          </a:bodyPr>
          <a:lstStyle/>
          <a:p>
            <a:pPr indent="-227520">
              <a:spcAft>
                <a:spcPts val="1414"/>
              </a:spcAft>
              <a:buClr>
                <a:srgbClr val="000000"/>
              </a:buClr>
              <a:buSzPct val="45000"/>
              <a:buFont typeface="Wingdings" charset="2"/>
              <a:buChar char=""/>
            </a:pPr>
            <a:r>
              <a:rPr lang="en-GB" spc="-1" dirty="0">
                <a:solidFill>
                  <a:srgbClr val="000000"/>
                </a:solidFill>
                <a:ea typeface="DejaVu Sans"/>
              </a:rPr>
              <a:t>There are generally three types of stepper motor:</a:t>
            </a:r>
          </a:p>
          <a:p>
            <a:pPr lvl="1" indent="-227520">
              <a:spcAft>
                <a:spcPts val="1414"/>
              </a:spcAft>
              <a:buClr>
                <a:srgbClr val="000000"/>
              </a:buClr>
              <a:buSzPct val="45000"/>
              <a:buFont typeface="Wingdings" charset="2"/>
              <a:buChar char=""/>
            </a:pPr>
            <a:r>
              <a:rPr lang="en-GB" spc="-1" dirty="0">
                <a:solidFill>
                  <a:srgbClr val="000000"/>
                </a:solidFill>
                <a:ea typeface="DejaVu Sans"/>
              </a:rPr>
              <a:t>Variable reluctance</a:t>
            </a:r>
          </a:p>
          <a:p>
            <a:pPr lvl="1" indent="-227520">
              <a:spcAft>
                <a:spcPts val="1414"/>
              </a:spcAft>
              <a:buClr>
                <a:srgbClr val="000000"/>
              </a:buClr>
              <a:buSzPct val="45000"/>
              <a:buFont typeface="Wingdings" charset="2"/>
              <a:buChar char=""/>
            </a:pPr>
            <a:r>
              <a:rPr lang="en-GB" spc="-1" dirty="0">
                <a:solidFill>
                  <a:srgbClr val="000000"/>
                </a:solidFill>
                <a:ea typeface="DejaVu Sans"/>
              </a:rPr>
              <a:t>Permanent magnet</a:t>
            </a:r>
          </a:p>
          <a:p>
            <a:pPr lvl="1" indent="-227520">
              <a:spcAft>
                <a:spcPts val="1414"/>
              </a:spcAft>
              <a:buClr>
                <a:srgbClr val="000000"/>
              </a:buClr>
              <a:buSzPct val="45000"/>
              <a:buFont typeface="Wingdings" charset="2"/>
              <a:buChar char=""/>
            </a:pPr>
            <a:r>
              <a:rPr lang="en-GB" spc="-1" dirty="0">
                <a:solidFill>
                  <a:srgbClr val="000000"/>
                </a:solidFill>
                <a:ea typeface="DejaVu Sans"/>
              </a:rPr>
              <a:t>Hybrid</a:t>
            </a:r>
          </a:p>
        </p:txBody>
      </p:sp>
    </p:spTree>
    <p:extLst>
      <p:ext uri="{BB962C8B-B14F-4D97-AF65-F5344CB8AC3E}">
        <p14:creationId xmlns:p14="http://schemas.microsoft.com/office/powerpoint/2010/main" val="2789133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1880D-E9F7-CC32-4931-E0C974F992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AE1D7-6400-CD3F-9164-7D9F6081CD41}"/>
              </a:ext>
            </a:extLst>
          </p:cNvPr>
          <p:cNvSpPr>
            <a:spLocks noGrp="1"/>
          </p:cNvSpPr>
          <p:nvPr>
            <p:ph type="title"/>
          </p:nvPr>
        </p:nvSpPr>
        <p:spPr/>
        <p:txBody>
          <a:bodyPr>
            <a:normAutofit/>
          </a:bodyPr>
          <a:lstStyle/>
          <a:p>
            <a:r>
              <a:rPr lang="en-GB" b="1" dirty="0"/>
              <a:t>Stepper Motors - </a:t>
            </a:r>
            <a:r>
              <a:rPr lang="en-GB" spc="-1" dirty="0">
                <a:solidFill>
                  <a:srgbClr val="000000"/>
                </a:solidFill>
                <a:ea typeface="DejaVu Sans"/>
              </a:rPr>
              <a:t>Variable reluctance </a:t>
            </a:r>
            <a:endParaRPr lang="en-GB" b="1" dirty="0"/>
          </a:p>
        </p:txBody>
      </p:sp>
      <p:sp>
        <p:nvSpPr>
          <p:cNvPr id="5" name="Content Placeholder 4">
            <a:extLst>
              <a:ext uri="{FF2B5EF4-FFF2-40B4-BE49-F238E27FC236}">
                <a16:creationId xmlns:a16="http://schemas.microsoft.com/office/drawing/2014/main" id="{F0AA3246-6AB5-95D0-9425-CA23DD43C10D}"/>
              </a:ext>
            </a:extLst>
          </p:cNvPr>
          <p:cNvSpPr>
            <a:spLocks noGrp="1"/>
          </p:cNvSpPr>
          <p:nvPr>
            <p:ph sz="half" idx="1"/>
          </p:nvPr>
        </p:nvSpPr>
        <p:spPr/>
        <p:txBody>
          <a:bodyPr>
            <a:normAutofit fontScale="92500" lnSpcReduction="10000"/>
          </a:bodyPr>
          <a:lstStyle/>
          <a:p>
            <a:pPr indent="-227520">
              <a:spcAft>
                <a:spcPts val="1414"/>
              </a:spcAft>
              <a:buClr>
                <a:srgbClr val="000000"/>
              </a:buClr>
              <a:buSzPct val="45000"/>
              <a:buFont typeface="Wingdings" charset="2"/>
              <a:buChar char=""/>
            </a:pPr>
            <a:r>
              <a:rPr lang="en-GB" spc="-1" dirty="0">
                <a:solidFill>
                  <a:srgbClr val="000000"/>
                </a:solidFill>
                <a:ea typeface="DejaVu Sans"/>
              </a:rPr>
              <a:t>The system has a cylindrical rotor made of soft steel with four poles.</a:t>
            </a:r>
          </a:p>
          <a:p>
            <a:pPr indent="-227520">
              <a:spcAft>
                <a:spcPts val="1414"/>
              </a:spcAft>
              <a:buClr>
                <a:srgbClr val="000000"/>
              </a:buClr>
              <a:buSzPct val="45000"/>
              <a:buFont typeface="Wingdings" charset="2"/>
              <a:buChar char=""/>
            </a:pPr>
            <a:r>
              <a:rPr lang="en-GB" spc="-1" dirty="0">
                <a:solidFill>
                  <a:srgbClr val="000000"/>
                </a:solidFill>
                <a:ea typeface="DejaVu Sans"/>
              </a:rPr>
              <a:t>Stator coils are energised in opposing pairs creating a magnetic field across the rotor which will rotate to align itself with this magnetic field.</a:t>
            </a:r>
          </a:p>
          <a:p>
            <a:pPr indent="-227520">
              <a:spcAft>
                <a:spcPts val="1414"/>
              </a:spcAft>
              <a:buClr>
                <a:srgbClr val="000000"/>
              </a:buClr>
              <a:buSzPct val="45000"/>
              <a:buFont typeface="Wingdings" charset="2"/>
              <a:buChar char=""/>
            </a:pPr>
            <a:r>
              <a:rPr lang="en-GB" spc="-1" dirty="0">
                <a:solidFill>
                  <a:srgbClr val="000000"/>
                </a:solidFill>
                <a:ea typeface="DejaVu Sans"/>
              </a:rPr>
              <a:t>By sequentially energising and de-energising opposing coils the stepper can rotate in steps generally of 7.5 or 15 degrees.</a:t>
            </a:r>
          </a:p>
        </p:txBody>
      </p:sp>
      <p:sp>
        <p:nvSpPr>
          <p:cNvPr id="4" name="Slide Number Placeholder 3">
            <a:extLst>
              <a:ext uri="{FF2B5EF4-FFF2-40B4-BE49-F238E27FC236}">
                <a16:creationId xmlns:a16="http://schemas.microsoft.com/office/drawing/2014/main" id="{72FC17C3-C048-F3C4-44A4-8AC4D267C5F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6" name="Content Placeholder 5">
            <a:extLst>
              <a:ext uri="{FF2B5EF4-FFF2-40B4-BE49-F238E27FC236}">
                <a16:creationId xmlns:a16="http://schemas.microsoft.com/office/drawing/2014/main" id="{57CE4F6A-3669-C72F-A1D4-CE7948C084BC}"/>
              </a:ext>
            </a:extLst>
          </p:cNvPr>
          <p:cNvPicPr>
            <a:picLocks noGrp="1"/>
          </p:cNvPicPr>
          <p:nvPr>
            <p:ph sz="half" idx="2"/>
          </p:nvPr>
        </p:nvPicPr>
        <p:blipFill>
          <a:blip r:embed="rId3"/>
          <a:stretch/>
        </p:blipFill>
        <p:spPr>
          <a:xfrm>
            <a:off x="6172200" y="2165449"/>
            <a:ext cx="5181600" cy="3671690"/>
          </a:xfrm>
          <a:prstGeom prst="rect">
            <a:avLst/>
          </a:prstGeom>
          <a:ln w="0">
            <a:noFill/>
          </a:ln>
        </p:spPr>
      </p:pic>
    </p:spTree>
    <p:extLst>
      <p:ext uri="{BB962C8B-B14F-4D97-AF65-F5344CB8AC3E}">
        <p14:creationId xmlns:p14="http://schemas.microsoft.com/office/powerpoint/2010/main" val="3720350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E6B53-C7A2-9DB0-9763-C13A1A081B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5B95EA-759D-970A-262C-5ABDCA51D159}"/>
              </a:ext>
            </a:extLst>
          </p:cNvPr>
          <p:cNvSpPr>
            <a:spLocks noGrp="1"/>
          </p:cNvSpPr>
          <p:nvPr>
            <p:ph type="title"/>
          </p:nvPr>
        </p:nvSpPr>
        <p:spPr>
          <a:xfrm>
            <a:off x="838200" y="365125"/>
            <a:ext cx="10515600" cy="1325563"/>
          </a:xfrm>
        </p:spPr>
        <p:txBody>
          <a:bodyPr>
            <a:normAutofit/>
          </a:bodyPr>
          <a:lstStyle/>
          <a:p>
            <a:r>
              <a:rPr lang="en-GB" dirty="0"/>
              <a:t>Stepper Motors - Permanent magnet</a:t>
            </a:r>
          </a:p>
        </p:txBody>
      </p:sp>
      <p:sp>
        <p:nvSpPr>
          <p:cNvPr id="5" name="Content Placeholder 4">
            <a:extLst>
              <a:ext uri="{FF2B5EF4-FFF2-40B4-BE49-F238E27FC236}">
                <a16:creationId xmlns:a16="http://schemas.microsoft.com/office/drawing/2014/main" id="{B41941F8-110C-68C6-257B-8390A3B4B591}"/>
              </a:ext>
            </a:extLst>
          </p:cNvPr>
          <p:cNvSpPr>
            <a:spLocks noGrp="1"/>
          </p:cNvSpPr>
          <p:nvPr>
            <p:ph idx="1"/>
          </p:nvPr>
        </p:nvSpPr>
        <p:spPr>
          <a:xfrm>
            <a:off x="838200" y="1825625"/>
            <a:ext cx="10515600" cy="4351338"/>
          </a:xfrm>
        </p:spPr>
        <p:txBody>
          <a:bodyPr>
            <a:normAutofit/>
          </a:bodyPr>
          <a:lstStyle/>
          <a:p>
            <a:r>
              <a:rPr lang="en-GB" sz="2400" dirty="0"/>
              <a:t>the rotor is composed of a permanent magnet and the stator has two coil winding pairs at a 90 degree offset.</a:t>
            </a:r>
          </a:p>
          <a:p>
            <a:r>
              <a:rPr lang="en-GB" sz="2400" dirty="0"/>
              <a:t>By energising a coil pair with a </a:t>
            </a:r>
            <a:r>
              <a:rPr lang="en-GB" sz="2400" dirty="0" err="1"/>
              <a:t>d.c.</a:t>
            </a:r>
            <a:r>
              <a:rPr lang="en-GB" sz="2400" dirty="0"/>
              <a:t> current, the rotor will rotate to align itself with the magnetic field</a:t>
            </a:r>
          </a:p>
          <a:p>
            <a:r>
              <a:rPr lang="en-GB" sz="2400" dirty="0"/>
              <a:t>By energising alternate coil pairs with currents in alternate directions the rotor will rotate in 90 degree steps.</a:t>
            </a:r>
          </a:p>
          <a:p>
            <a:r>
              <a:rPr lang="en-GB" sz="2400" dirty="0"/>
              <a:t>By increasing the number of coil pairs, 15, 30 and 45 degree step angles are obtained.</a:t>
            </a:r>
          </a:p>
        </p:txBody>
      </p:sp>
      <p:sp>
        <p:nvSpPr>
          <p:cNvPr id="4" name="Slide Number Placeholder 3">
            <a:extLst>
              <a:ext uri="{FF2B5EF4-FFF2-40B4-BE49-F238E27FC236}">
                <a16:creationId xmlns:a16="http://schemas.microsoft.com/office/drawing/2014/main" id="{D5CB9E25-73A9-668A-4AB8-C19601D707C3}"/>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CB87FDD8-4975-1C63-73D2-AC1B6121E57E}"/>
              </a:ext>
            </a:extLst>
          </p:cNvPr>
          <p:cNvPicPr/>
          <p:nvPr/>
        </p:nvPicPr>
        <p:blipFill>
          <a:blip r:embed="rId3"/>
          <a:stretch/>
        </p:blipFill>
        <p:spPr>
          <a:xfrm>
            <a:off x="3327041" y="4907132"/>
            <a:ext cx="5537918" cy="1883493"/>
          </a:xfrm>
          <a:prstGeom prst="rect">
            <a:avLst/>
          </a:prstGeom>
          <a:ln w="0">
            <a:noFill/>
          </a:ln>
        </p:spPr>
      </p:pic>
    </p:spTree>
    <p:extLst>
      <p:ext uri="{BB962C8B-B14F-4D97-AF65-F5344CB8AC3E}">
        <p14:creationId xmlns:p14="http://schemas.microsoft.com/office/powerpoint/2010/main" val="2451378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C41B0-79A5-1CF7-C298-29AC785C4F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424809-2C65-A112-0494-FC59E8258F6D}"/>
              </a:ext>
            </a:extLst>
          </p:cNvPr>
          <p:cNvSpPr>
            <a:spLocks noGrp="1"/>
          </p:cNvSpPr>
          <p:nvPr>
            <p:ph type="title"/>
          </p:nvPr>
        </p:nvSpPr>
        <p:spPr>
          <a:xfrm>
            <a:off x="838200" y="365125"/>
            <a:ext cx="10515600" cy="1325563"/>
          </a:xfrm>
        </p:spPr>
        <p:txBody>
          <a:bodyPr>
            <a:normAutofit/>
          </a:bodyPr>
          <a:lstStyle/>
          <a:p>
            <a:r>
              <a:rPr lang="en-GB" dirty="0"/>
              <a:t>Permanent Magnet A.C. Motors (PMAC)</a:t>
            </a:r>
          </a:p>
        </p:txBody>
      </p:sp>
      <p:sp>
        <p:nvSpPr>
          <p:cNvPr id="5" name="Content Placeholder 4">
            <a:extLst>
              <a:ext uri="{FF2B5EF4-FFF2-40B4-BE49-F238E27FC236}">
                <a16:creationId xmlns:a16="http://schemas.microsoft.com/office/drawing/2014/main" id="{90B596B8-4B66-6529-D2F9-B66589BE8069}"/>
              </a:ext>
            </a:extLst>
          </p:cNvPr>
          <p:cNvSpPr>
            <a:spLocks noGrp="1"/>
          </p:cNvSpPr>
          <p:nvPr>
            <p:ph idx="1"/>
          </p:nvPr>
        </p:nvSpPr>
        <p:spPr>
          <a:xfrm>
            <a:off x="838200" y="1825625"/>
            <a:ext cx="10515600" cy="4351338"/>
          </a:xfrm>
        </p:spPr>
        <p:txBody>
          <a:bodyPr>
            <a:normAutofit/>
          </a:bodyPr>
          <a:lstStyle/>
          <a:p>
            <a:r>
              <a:rPr lang="en-GB" dirty="0"/>
              <a:t>PMAC’s are composed of a permanent magnet rotor and a stator composed of winding coils with an </a:t>
            </a:r>
            <a:r>
              <a:rPr lang="en-GB" dirty="0" err="1"/>
              <a:t>a.c.</a:t>
            </a:r>
            <a:r>
              <a:rPr lang="en-GB" dirty="0"/>
              <a:t> current passed through them</a:t>
            </a:r>
          </a:p>
          <a:p>
            <a:r>
              <a:rPr lang="en-GB" dirty="0"/>
              <a:t>The number of current coils used determines the phase difference between the </a:t>
            </a:r>
            <a:r>
              <a:rPr lang="en-GB" dirty="0" err="1"/>
              <a:t>a.c.</a:t>
            </a:r>
            <a:r>
              <a:rPr lang="en-GB" dirty="0"/>
              <a:t> current passed through each of the coils e.g. a 3 coil system would each have </a:t>
            </a:r>
            <a:r>
              <a:rPr lang="en-GB" dirty="0" err="1"/>
              <a:t>a.c.</a:t>
            </a:r>
            <a:r>
              <a:rPr lang="en-GB" dirty="0"/>
              <a:t> currents 120 degrees out of phase</a:t>
            </a:r>
          </a:p>
          <a:p>
            <a:r>
              <a:rPr lang="en-GB" dirty="0"/>
              <a:t>Because each of the coils have maximum currents at different times the magnetic field produced by the coils rotates about the stator poles, completing one rotation in one full cycle of the current</a:t>
            </a:r>
          </a:p>
          <a:p>
            <a:r>
              <a:rPr lang="en-GB" dirty="0"/>
              <a:t>The speed of rotation of the magnetic field is termed the synchronous speed and the rotor will rotate at a rate 1 to 3% less than this speed</a:t>
            </a:r>
          </a:p>
        </p:txBody>
      </p:sp>
      <p:sp>
        <p:nvSpPr>
          <p:cNvPr id="4" name="Slide Number Placeholder 3">
            <a:extLst>
              <a:ext uri="{FF2B5EF4-FFF2-40B4-BE49-F238E27FC236}">
                <a16:creationId xmlns:a16="http://schemas.microsoft.com/office/drawing/2014/main" id="{7B58922F-3BC0-09AF-A2BE-02CA6564B9CB}"/>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2666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B414F-D4CF-BC90-D110-A272D8A0D6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4CA131-B496-956F-F9F4-21E4B7D2394C}"/>
              </a:ext>
            </a:extLst>
          </p:cNvPr>
          <p:cNvSpPr>
            <a:spLocks noGrp="1"/>
          </p:cNvSpPr>
          <p:nvPr>
            <p:ph type="title"/>
          </p:nvPr>
        </p:nvSpPr>
        <p:spPr/>
        <p:txBody>
          <a:bodyPr>
            <a:normAutofit/>
          </a:bodyPr>
          <a:lstStyle/>
          <a:p>
            <a:r>
              <a:rPr lang="en-GB" dirty="0"/>
              <a:t>Permanent Magnet A.C. Motors (PMAC)</a:t>
            </a:r>
          </a:p>
        </p:txBody>
      </p:sp>
      <p:sp>
        <p:nvSpPr>
          <p:cNvPr id="5" name="Content Placeholder 4">
            <a:extLst>
              <a:ext uri="{FF2B5EF4-FFF2-40B4-BE49-F238E27FC236}">
                <a16:creationId xmlns:a16="http://schemas.microsoft.com/office/drawing/2014/main" id="{8C2AE742-891D-926B-7883-AF67C1C61BC4}"/>
              </a:ext>
            </a:extLst>
          </p:cNvPr>
          <p:cNvSpPr>
            <a:spLocks noGrp="1"/>
          </p:cNvSpPr>
          <p:nvPr>
            <p:ph sz="half" idx="1"/>
          </p:nvPr>
        </p:nvSpPr>
        <p:spPr/>
        <p:txBody>
          <a:bodyPr>
            <a:normAutofit/>
          </a:bodyPr>
          <a:lstStyle/>
          <a:p>
            <a:r>
              <a:rPr lang="en-GB" dirty="0"/>
              <a:t>3 phase windings on the stator, spaced 120 degrees apart.</a:t>
            </a:r>
          </a:p>
          <a:p>
            <a:r>
              <a:rPr lang="en-GB" dirty="0"/>
              <a:t>Sinusoidal phase (A.C.) currents with frequency fs and 120 degrees out of phase.</a:t>
            </a:r>
          </a:p>
          <a:p>
            <a:r>
              <a:rPr lang="en-GB" dirty="0"/>
              <a:t>Sinusoidal phase currents controlled by rotor position</a:t>
            </a:r>
          </a:p>
          <a:p>
            <a:r>
              <a:rPr lang="en-GB" dirty="0"/>
              <a:t>Motor rotates at (0.97 - 0.99) </a:t>
            </a:r>
          </a:p>
        </p:txBody>
      </p:sp>
      <p:sp>
        <p:nvSpPr>
          <p:cNvPr id="4" name="Slide Number Placeholder 3">
            <a:extLst>
              <a:ext uri="{FF2B5EF4-FFF2-40B4-BE49-F238E27FC236}">
                <a16:creationId xmlns:a16="http://schemas.microsoft.com/office/drawing/2014/main" id="{0DF89B10-80C4-C173-DFAD-30C1FA91CE5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6" name="Content Placeholder 5">
            <a:extLst>
              <a:ext uri="{FF2B5EF4-FFF2-40B4-BE49-F238E27FC236}">
                <a16:creationId xmlns:a16="http://schemas.microsoft.com/office/drawing/2014/main" id="{C2EB1D68-8133-5DC3-62BB-5ACAD65313F5}"/>
              </a:ext>
            </a:extLst>
          </p:cNvPr>
          <p:cNvPicPr>
            <a:picLocks noGrp="1"/>
          </p:cNvPicPr>
          <p:nvPr>
            <p:ph sz="half" idx="2"/>
          </p:nvPr>
        </p:nvPicPr>
        <p:blipFill>
          <a:blip r:embed="rId3"/>
          <a:stretch/>
        </p:blipFill>
        <p:spPr>
          <a:xfrm>
            <a:off x="6535152" y="2167141"/>
            <a:ext cx="4455696" cy="3668306"/>
          </a:xfrm>
          <a:prstGeom prst="rect">
            <a:avLst/>
          </a:prstGeom>
          <a:ln w="0">
            <a:noFill/>
          </a:ln>
        </p:spPr>
      </p:pic>
    </p:spTree>
    <p:extLst>
      <p:ext uri="{BB962C8B-B14F-4D97-AF65-F5344CB8AC3E}">
        <p14:creationId xmlns:p14="http://schemas.microsoft.com/office/powerpoint/2010/main" val="2256030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FB330-C4C1-85E5-86C0-BB9BD08046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E2F873-AFD2-3CE6-91B2-A4EB12239858}"/>
              </a:ext>
            </a:extLst>
          </p:cNvPr>
          <p:cNvSpPr>
            <a:spLocks noGrp="1"/>
          </p:cNvSpPr>
          <p:nvPr>
            <p:ph type="title"/>
          </p:nvPr>
        </p:nvSpPr>
        <p:spPr/>
        <p:txBody>
          <a:bodyPr>
            <a:normAutofit/>
          </a:bodyPr>
          <a:lstStyle/>
          <a:p>
            <a:r>
              <a:rPr lang="en-GB" dirty="0"/>
              <a:t>Permanent Magnet A.C. Motors (PMAC)</a:t>
            </a:r>
          </a:p>
        </p:txBody>
      </p:sp>
      <p:sp>
        <p:nvSpPr>
          <p:cNvPr id="4" name="Slide Number Placeholder 3">
            <a:extLst>
              <a:ext uri="{FF2B5EF4-FFF2-40B4-BE49-F238E27FC236}">
                <a16:creationId xmlns:a16="http://schemas.microsoft.com/office/drawing/2014/main" id="{B00421A7-F79F-899E-7C7C-783B05728DB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Content Placeholder 6">
            <a:extLst>
              <a:ext uri="{FF2B5EF4-FFF2-40B4-BE49-F238E27FC236}">
                <a16:creationId xmlns:a16="http://schemas.microsoft.com/office/drawing/2014/main" id="{632A46EC-9012-AF49-19D5-E756E9256522}"/>
              </a:ext>
            </a:extLst>
          </p:cNvPr>
          <p:cNvSpPr>
            <a:spLocks noGrp="1"/>
          </p:cNvSpPr>
          <p:nvPr>
            <p:ph idx="1"/>
          </p:nvPr>
        </p:nvSpPr>
        <p:spPr/>
        <p:txBody>
          <a:bodyPr/>
          <a:lstStyle/>
          <a:p>
            <a:endParaRPr lang="en-GB"/>
          </a:p>
        </p:txBody>
      </p:sp>
      <p:pic>
        <p:nvPicPr>
          <p:cNvPr id="8" name="Picture 7">
            <a:extLst>
              <a:ext uri="{FF2B5EF4-FFF2-40B4-BE49-F238E27FC236}">
                <a16:creationId xmlns:a16="http://schemas.microsoft.com/office/drawing/2014/main" id="{EA700EE6-2860-5465-0E64-F967F72EC8E9}"/>
              </a:ext>
            </a:extLst>
          </p:cNvPr>
          <p:cNvPicPr/>
          <p:nvPr/>
        </p:nvPicPr>
        <p:blipFill>
          <a:blip r:embed="rId3"/>
          <a:stretch/>
        </p:blipFill>
        <p:spPr>
          <a:xfrm>
            <a:off x="1451559" y="1702323"/>
            <a:ext cx="9288881" cy="4597941"/>
          </a:xfrm>
          <a:prstGeom prst="rect">
            <a:avLst/>
          </a:prstGeom>
          <a:ln w="0">
            <a:noFill/>
          </a:ln>
        </p:spPr>
      </p:pic>
    </p:spTree>
    <p:extLst>
      <p:ext uri="{BB962C8B-B14F-4D97-AF65-F5344CB8AC3E}">
        <p14:creationId xmlns:p14="http://schemas.microsoft.com/office/powerpoint/2010/main" val="3491514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060F0-03C9-F249-698C-1BC8092535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3242CC-E500-FEC4-1F13-1ACE182F67C3}"/>
              </a:ext>
            </a:extLst>
          </p:cNvPr>
          <p:cNvSpPr>
            <a:spLocks noGrp="1"/>
          </p:cNvSpPr>
          <p:nvPr>
            <p:ph type="title"/>
          </p:nvPr>
        </p:nvSpPr>
        <p:spPr>
          <a:xfrm>
            <a:off x="838200" y="365125"/>
            <a:ext cx="10515600" cy="1325563"/>
          </a:xfrm>
        </p:spPr>
        <p:txBody>
          <a:bodyPr>
            <a:normAutofit/>
          </a:bodyPr>
          <a:lstStyle/>
          <a:p>
            <a:r>
              <a:rPr lang="en-GB" sz="4000" b="1" dirty="0"/>
              <a:t>Brushed D.C. &amp; A.C. Motors – Speed Control</a:t>
            </a:r>
          </a:p>
        </p:txBody>
      </p:sp>
      <p:sp>
        <p:nvSpPr>
          <p:cNvPr id="5" name="Content Placeholder 4">
            <a:extLst>
              <a:ext uri="{FF2B5EF4-FFF2-40B4-BE49-F238E27FC236}">
                <a16:creationId xmlns:a16="http://schemas.microsoft.com/office/drawing/2014/main" id="{94ED5D24-4BBA-0DD6-2D4E-F24CEB0FA86A}"/>
              </a:ext>
            </a:extLst>
          </p:cNvPr>
          <p:cNvSpPr>
            <a:spLocks noGrp="1"/>
          </p:cNvSpPr>
          <p:nvPr>
            <p:ph idx="1"/>
          </p:nvPr>
        </p:nvSpPr>
        <p:spPr>
          <a:xfrm>
            <a:off x="838200" y="1825625"/>
            <a:ext cx="10515600" cy="4351338"/>
          </a:xfrm>
        </p:spPr>
        <p:txBody>
          <a:bodyPr>
            <a:normAutofit/>
          </a:bodyPr>
          <a:lstStyle/>
          <a:p>
            <a:r>
              <a:rPr lang="en-GB" dirty="0"/>
              <a:t>D.C. motor speed is varied by changing the current flowing through the system.</a:t>
            </a:r>
          </a:p>
          <a:p>
            <a:r>
              <a:rPr lang="en-GB" dirty="0"/>
              <a:t>For a constant load, an increase in current will result in an increase in speed and </a:t>
            </a:r>
            <a:r>
              <a:rPr lang="en-GB" dirty="0" err="1"/>
              <a:t>viceversa</a:t>
            </a:r>
            <a:r>
              <a:rPr lang="en-GB" dirty="0"/>
              <a:t>.</a:t>
            </a:r>
          </a:p>
          <a:p>
            <a:r>
              <a:rPr lang="en-GB" dirty="0"/>
              <a:t>The speed of the A.C. motor is a function of supply current frequency and since this is generally constant the motor speed is constant.</a:t>
            </a:r>
          </a:p>
        </p:txBody>
      </p:sp>
      <p:sp>
        <p:nvSpPr>
          <p:cNvPr id="4" name="Slide Number Placeholder 3">
            <a:extLst>
              <a:ext uri="{FF2B5EF4-FFF2-40B4-BE49-F238E27FC236}">
                <a16:creationId xmlns:a16="http://schemas.microsoft.com/office/drawing/2014/main" id="{0B5801F5-E23C-22DC-7411-2FCA68FDDC6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1392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EC615-94D4-D99B-DD98-4F129BCC0A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28575-DCE3-42B4-41C4-44A0D2E20411}"/>
              </a:ext>
            </a:extLst>
          </p:cNvPr>
          <p:cNvSpPr>
            <a:spLocks noGrp="1"/>
          </p:cNvSpPr>
          <p:nvPr>
            <p:ph type="title"/>
          </p:nvPr>
        </p:nvSpPr>
        <p:spPr>
          <a:xfrm>
            <a:off x="838200" y="365125"/>
            <a:ext cx="10515600" cy="1325563"/>
          </a:xfrm>
        </p:spPr>
        <p:txBody>
          <a:bodyPr>
            <a:normAutofit/>
          </a:bodyPr>
          <a:lstStyle/>
          <a:p>
            <a:r>
              <a:rPr lang="en-GB" sz="4000" b="1" dirty="0"/>
              <a:t>Brushed D.C. &amp; A.C. Motors – brushes</a:t>
            </a:r>
          </a:p>
        </p:txBody>
      </p:sp>
      <p:sp>
        <p:nvSpPr>
          <p:cNvPr id="5" name="Content Placeholder 4">
            <a:extLst>
              <a:ext uri="{FF2B5EF4-FFF2-40B4-BE49-F238E27FC236}">
                <a16:creationId xmlns:a16="http://schemas.microsoft.com/office/drawing/2014/main" id="{B1E0E329-8A26-9E6E-73C4-274F1A277DF4}"/>
              </a:ext>
            </a:extLst>
          </p:cNvPr>
          <p:cNvSpPr>
            <a:spLocks noGrp="1"/>
          </p:cNvSpPr>
          <p:nvPr>
            <p:ph idx="1"/>
          </p:nvPr>
        </p:nvSpPr>
        <p:spPr>
          <a:xfrm>
            <a:off x="838200" y="1825625"/>
            <a:ext cx="10515600" cy="4351338"/>
          </a:xfrm>
        </p:spPr>
        <p:txBody>
          <a:bodyPr>
            <a:normAutofit/>
          </a:bodyPr>
          <a:lstStyle/>
          <a:p>
            <a:r>
              <a:rPr lang="en-GB" dirty="0"/>
              <a:t>In a brushed motor, the lifespan of the brushes and commutators as well as the physical limitation of mechanical switching by brushes limits the lifetime of brushed motors.</a:t>
            </a:r>
          </a:p>
          <a:p>
            <a:r>
              <a:rPr lang="en-GB" dirty="0"/>
              <a:t>In comparison, brushless D.C. , A.C. and stepper motors are sturdier and generally have a longer life</a:t>
            </a:r>
          </a:p>
        </p:txBody>
      </p:sp>
      <p:sp>
        <p:nvSpPr>
          <p:cNvPr id="4" name="Slide Number Placeholder 3">
            <a:extLst>
              <a:ext uri="{FF2B5EF4-FFF2-40B4-BE49-F238E27FC236}">
                <a16:creationId xmlns:a16="http://schemas.microsoft.com/office/drawing/2014/main" id="{A9B3B96A-0400-BC36-45E4-921D474F2D9E}"/>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5539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42094-CBBE-3A2A-280B-E95446362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46E5C7-7BDB-211A-AF01-31B0B429F8D0}"/>
              </a:ext>
            </a:extLst>
          </p:cNvPr>
          <p:cNvSpPr>
            <a:spLocks noGrp="1"/>
          </p:cNvSpPr>
          <p:nvPr>
            <p:ph type="title"/>
          </p:nvPr>
        </p:nvSpPr>
        <p:spPr>
          <a:xfrm>
            <a:off x="838200" y="365125"/>
            <a:ext cx="10515600" cy="1325563"/>
          </a:xfrm>
        </p:spPr>
        <p:txBody>
          <a:bodyPr>
            <a:normAutofit/>
          </a:bodyPr>
          <a:lstStyle/>
          <a:p>
            <a:r>
              <a:rPr lang="en-GB" dirty="0"/>
              <a:t>Brushed D.C. &amp; A.C. Motors – Heat Dissipation</a:t>
            </a:r>
          </a:p>
        </p:txBody>
      </p:sp>
      <p:sp>
        <p:nvSpPr>
          <p:cNvPr id="5" name="Content Placeholder 4">
            <a:extLst>
              <a:ext uri="{FF2B5EF4-FFF2-40B4-BE49-F238E27FC236}">
                <a16:creationId xmlns:a16="http://schemas.microsoft.com/office/drawing/2014/main" id="{6DC7702A-6832-25FE-381A-CC8CDEB94731}"/>
              </a:ext>
            </a:extLst>
          </p:cNvPr>
          <p:cNvSpPr>
            <a:spLocks noGrp="1"/>
          </p:cNvSpPr>
          <p:nvPr>
            <p:ph idx="1"/>
          </p:nvPr>
        </p:nvSpPr>
        <p:spPr>
          <a:xfrm>
            <a:off x="838200" y="1825625"/>
            <a:ext cx="10515600" cy="4351338"/>
          </a:xfrm>
        </p:spPr>
        <p:txBody>
          <a:bodyPr>
            <a:normAutofit fontScale="70000" lnSpcReduction="20000"/>
          </a:bodyPr>
          <a:lstStyle/>
          <a:p>
            <a:r>
              <a:rPr lang="en-GB" dirty="0"/>
              <a:t>Like many devices, the heat generated by the motors ultimately becomes the limiting factor in terms of its size and power.</a:t>
            </a:r>
          </a:p>
          <a:p>
            <a:r>
              <a:rPr lang="en-GB" dirty="0"/>
              <a:t>Heat is generated primarily by the resistance of the wiring to the electric current with thicker wires generating less heat but the drawbacks are added expense and greater</a:t>
            </a:r>
          </a:p>
          <a:p>
            <a:r>
              <a:rPr lang="en-GB" dirty="0"/>
              <a:t>More important than the amount of heat generated is the rate at which heat is dissipated and therefore the path the heat must take to leave the motor.</a:t>
            </a:r>
          </a:p>
          <a:p>
            <a:r>
              <a:rPr lang="en-GB" dirty="0"/>
              <a:t>In dc motors, the rotor contains the coil windings which carry the current and this is where heat is generated.</a:t>
            </a:r>
          </a:p>
          <a:p>
            <a:r>
              <a:rPr lang="en-GB" dirty="0"/>
              <a:t>This heat must travel from the centrally located rotor through an air gap, through the remainder of the motor and finally to the environment, since air is a good insulator the heat transfer coefficient in this case is low.</a:t>
            </a:r>
          </a:p>
          <a:p>
            <a:r>
              <a:rPr lang="en-GB"/>
              <a:t>AC </a:t>
            </a:r>
            <a:r>
              <a:rPr lang="en-GB" dirty="0"/>
              <a:t>motors have the current carrying coils as their stators and are located on the extremities of the motor. The heat transfer path is significantly shortened and through the motor casing only.</a:t>
            </a:r>
          </a:p>
          <a:p>
            <a:r>
              <a:rPr lang="en-GB" dirty="0"/>
              <a:t>As a result of this, AC motors can be exposed to higher currents without damage and are generally more powerful for the same size of motor.</a:t>
            </a:r>
          </a:p>
        </p:txBody>
      </p:sp>
      <p:sp>
        <p:nvSpPr>
          <p:cNvPr id="4" name="Slide Number Placeholder 3">
            <a:extLst>
              <a:ext uri="{FF2B5EF4-FFF2-40B4-BE49-F238E27FC236}">
                <a16:creationId xmlns:a16="http://schemas.microsoft.com/office/drawing/2014/main" id="{234A1BB4-0D93-5C13-C4A4-F046A6C0C1FB}"/>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2246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Motor Heating</a:t>
            </a:r>
          </a:p>
        </p:txBody>
      </p:sp>
      <p:sp>
        <p:nvSpPr>
          <p:cNvPr id="3" name="Subtitle 2">
            <a:extLst>
              <a:ext uri="{FF2B5EF4-FFF2-40B4-BE49-F238E27FC236}">
                <a16:creationId xmlns:a16="http://schemas.microsoft.com/office/drawing/2014/main" id="{0EC2D61B-0204-42F3-52E6-931A9496968D}"/>
              </a:ext>
            </a:extLst>
          </p:cNvPr>
          <p:cNvSpPr>
            <a:spLocks noGrp="1"/>
          </p:cNvSpPr>
          <p:nvPr>
            <p:ph type="body" idx="1"/>
          </p:nvPr>
        </p:nvSpPr>
        <p:spPr/>
        <p:txBody>
          <a:bodyPr>
            <a:normAutofit/>
          </a:bodyPr>
          <a:lstStyle/>
          <a:p>
            <a:endParaRPr lang="en-GB" sz="3600" dirty="0"/>
          </a:p>
          <a:p>
            <a:endParaRPr lang="en-GB" sz="3600" dirty="0"/>
          </a:p>
        </p:txBody>
      </p:sp>
      <p:sp>
        <p:nvSpPr>
          <p:cNvPr id="4" name="Slide Number Placeholder 3">
            <a:extLst>
              <a:ext uri="{FF2B5EF4-FFF2-40B4-BE49-F238E27FC236}">
                <a16:creationId xmlns:a16="http://schemas.microsoft.com/office/drawing/2014/main" id="{972127E7-BBE6-243F-1E03-DA2A2738DA11}"/>
              </a:ext>
            </a:extLst>
          </p:cNvPr>
          <p:cNvSpPr>
            <a:spLocks noGrp="1"/>
          </p:cNvSpPr>
          <p:nvPr>
            <p:ph type="sldNum" sz="quarter" idx="12"/>
          </p:nvPr>
        </p:nvSpPr>
        <p:spPr/>
        <p:txBody>
          <a:bodyPr/>
          <a:lstStyle/>
          <a:p>
            <a:fld id="{1ED87AFC-F3F3-4E09-A9D9-1873FFB55ECB}" type="slidenum">
              <a:rPr lang="en-GB" smtClean="0"/>
              <a:t>20</a:t>
            </a:fld>
            <a:endParaRPr lang="en-GB"/>
          </a:p>
        </p:txBody>
      </p:sp>
    </p:spTree>
    <p:extLst>
      <p:ext uri="{BB962C8B-B14F-4D97-AF65-F5344CB8AC3E}">
        <p14:creationId xmlns:p14="http://schemas.microsoft.com/office/powerpoint/2010/main" val="17796767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Motor Heating</a:t>
            </a: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p:txBody>
          <a:bodyPr>
            <a:normAutofit/>
          </a:bodyPr>
          <a:lstStyle/>
          <a:p>
            <a:r>
              <a:rPr lang="en-GB" sz="3600" dirty="0"/>
              <a:t>Overheating is one of the most common causes of failure for motors and can lead to:</a:t>
            </a:r>
          </a:p>
          <a:p>
            <a:pPr lvl="1"/>
            <a:r>
              <a:rPr lang="en-GB" sz="3200" dirty="0"/>
              <a:t>Failure of winding insulation causing short circuits or burn outs</a:t>
            </a:r>
          </a:p>
          <a:p>
            <a:pPr lvl="1"/>
            <a:r>
              <a:rPr lang="en-GB" sz="3200" dirty="0"/>
              <a:t>Failure of bearings, resulting in jamming of the rotor shaft</a:t>
            </a:r>
          </a:p>
          <a:p>
            <a:pPr lvl="1"/>
            <a:r>
              <a:rPr lang="en-GB" sz="3200" dirty="0"/>
              <a:t>Magnet degradation, resulting in a reduction of motor torque</a:t>
            </a:r>
          </a:p>
          <a:p>
            <a:pPr marL="0" indent="0">
              <a:buNone/>
            </a:pPr>
            <a:endParaRPr lang="en-GB" sz="3600" dirty="0"/>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4304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Motor Heating</a:t>
            </a: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p:txBody>
          <a:bodyPr>
            <a:normAutofit/>
          </a:bodyPr>
          <a:lstStyle/>
          <a:p>
            <a:r>
              <a:rPr lang="en-GB" sz="3600" dirty="0"/>
              <a:t>Heat development in a motor is non-linear and is a function of the following:</a:t>
            </a:r>
          </a:p>
          <a:p>
            <a:pPr lvl="1"/>
            <a:r>
              <a:rPr lang="en-GB" sz="3200" dirty="0"/>
              <a:t>Basic heat generated in the winding</a:t>
            </a:r>
          </a:p>
          <a:p>
            <a:pPr lvl="1"/>
            <a:r>
              <a:rPr lang="en-GB" sz="3200" dirty="0"/>
              <a:t>Magnetic flux is degraded by heat, reducing torque and requiring additional current</a:t>
            </a:r>
          </a:p>
          <a:p>
            <a:pPr lvl="1"/>
            <a:r>
              <a:rPr lang="en-GB" sz="3200" dirty="0"/>
              <a:t>Resistance of the coil increases with increasing heat</a:t>
            </a:r>
          </a:p>
          <a:p>
            <a:pPr lvl="1"/>
            <a:r>
              <a:rPr lang="en-GB" sz="3200" dirty="0"/>
              <a:t>Heat dissipation requirements increase</a:t>
            </a:r>
          </a:p>
          <a:p>
            <a:endParaRPr lang="en-GB" sz="3600" dirty="0"/>
          </a:p>
        </p:txBody>
      </p:sp>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29229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4205B-B9AC-53D5-D9D0-A48DEC3CA4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849DF6-D779-69E0-E76F-966CD58F5971}"/>
              </a:ext>
            </a:extLst>
          </p:cNvPr>
          <p:cNvSpPr>
            <a:spLocks noGrp="1"/>
          </p:cNvSpPr>
          <p:nvPr>
            <p:ph type="title"/>
          </p:nvPr>
        </p:nvSpPr>
        <p:spPr/>
        <p:txBody>
          <a:bodyPr>
            <a:normAutofit/>
          </a:bodyPr>
          <a:lstStyle/>
          <a:p>
            <a:r>
              <a:rPr lang="en-GB" b="1" dirty="0"/>
              <a:t>Motor Heating</a:t>
            </a:r>
          </a:p>
        </p:txBody>
      </p:sp>
      <p:sp>
        <p:nvSpPr>
          <p:cNvPr id="3" name="Subtitle 2">
            <a:extLst>
              <a:ext uri="{FF2B5EF4-FFF2-40B4-BE49-F238E27FC236}">
                <a16:creationId xmlns:a16="http://schemas.microsoft.com/office/drawing/2014/main" id="{F5FE64C8-3A25-4105-B3DF-EF4FAF6E8587}"/>
              </a:ext>
            </a:extLst>
          </p:cNvPr>
          <p:cNvSpPr>
            <a:spLocks noGrp="1"/>
          </p:cNvSpPr>
          <p:nvPr>
            <p:ph idx="1"/>
          </p:nvPr>
        </p:nvSpPr>
        <p:spPr/>
        <p:txBody>
          <a:bodyPr>
            <a:normAutofit fontScale="25000" lnSpcReduction="20000"/>
          </a:bodyPr>
          <a:lstStyle/>
          <a:p>
            <a:r>
              <a:rPr lang="en-GB" sz="9600" dirty="0"/>
              <a:t>The heat generated by a motor can be written as:</a:t>
            </a:r>
          </a:p>
          <a:p>
            <a:endParaRPr lang="en-GB" sz="9600" dirty="0"/>
          </a:p>
          <a:p>
            <a:pPr marL="0" indent="0">
              <a:buNone/>
            </a:pPr>
            <a:r>
              <a:rPr lang="en-GB" sz="9600" dirty="0"/>
              <a:t> </a:t>
            </a:r>
          </a:p>
          <a:p>
            <a:pPr marL="0" indent="0">
              <a:buNone/>
            </a:pPr>
            <a:endParaRPr lang="en-GB" sz="9600" dirty="0"/>
          </a:p>
          <a:p>
            <a:pPr marL="0" indent="0">
              <a:buNone/>
            </a:pPr>
            <a:r>
              <a:rPr lang="en-GB" sz="9600" dirty="0"/>
              <a:t>where </a:t>
            </a:r>
            <a:r>
              <a:rPr lang="en-GB" sz="9600" dirty="0" err="1"/>
              <a:t>i</a:t>
            </a:r>
            <a:r>
              <a:rPr lang="en-GB" sz="9600" dirty="0"/>
              <a:t> is the current in the winding, R is nominal resistance of the winding and Rt is the resistance at temperature t, T is motor torque and Kt is the torque constant.</a:t>
            </a:r>
          </a:p>
          <a:p>
            <a:r>
              <a:rPr lang="en-GB" sz="9600" dirty="0"/>
              <a:t>The variation in the winding electrical resistance can be described by:</a:t>
            </a:r>
          </a:p>
          <a:p>
            <a:endParaRPr lang="en-GB" sz="9600" dirty="0"/>
          </a:p>
          <a:p>
            <a:pPr marL="0" indent="0">
              <a:buNone/>
            </a:pPr>
            <a:endParaRPr lang="en-GB" sz="9600" dirty="0"/>
          </a:p>
          <a:p>
            <a:pPr marL="0" indent="0">
              <a:buNone/>
            </a:pPr>
            <a:endParaRPr lang="en-GB" sz="9600" dirty="0"/>
          </a:p>
          <a:p>
            <a:pPr marL="0" indent="0">
              <a:buNone/>
            </a:pPr>
            <a:r>
              <a:rPr lang="en-GB" sz="9600" dirty="0"/>
              <a:t>where Rt and </a:t>
            </a:r>
            <a:r>
              <a:rPr lang="en-GB" sz="9600" dirty="0" err="1"/>
              <a:t>Rref</a:t>
            </a:r>
            <a:r>
              <a:rPr lang="en-GB" sz="9600" dirty="0"/>
              <a:t> are the resistance at the winding temperature, </a:t>
            </a:r>
            <a:r>
              <a:rPr lang="en-GB" sz="9600" dirty="0" err="1"/>
              <a:t>twinding</a:t>
            </a:r>
            <a:r>
              <a:rPr lang="en-GB" sz="9600" dirty="0"/>
              <a:t>, and the reference temperature, </a:t>
            </a:r>
            <a:r>
              <a:rPr lang="en-GB" sz="9600" dirty="0" err="1"/>
              <a:t>tref,and</a:t>
            </a:r>
            <a:r>
              <a:rPr lang="en-GB" sz="9600" dirty="0"/>
              <a:t> α is the temperature coefficient of the winding material.</a:t>
            </a:r>
          </a:p>
          <a:p>
            <a:endParaRPr lang="en-GB" sz="3600" dirty="0"/>
          </a:p>
        </p:txBody>
      </p:sp>
      <p:sp>
        <p:nvSpPr>
          <p:cNvPr id="4" name="Slide Number Placeholder 3">
            <a:extLst>
              <a:ext uri="{FF2B5EF4-FFF2-40B4-BE49-F238E27FC236}">
                <a16:creationId xmlns:a16="http://schemas.microsoft.com/office/drawing/2014/main" id="{CD2A5B79-9814-D228-AA3C-A211E89E62D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57FCAC01-34DA-B2E0-E2B9-6EB31A6270C2}"/>
              </a:ext>
            </a:extLst>
          </p:cNvPr>
          <p:cNvPicPr/>
          <p:nvPr/>
        </p:nvPicPr>
        <p:blipFill>
          <a:blip r:embed="rId2"/>
          <a:stretch/>
        </p:blipFill>
        <p:spPr>
          <a:xfrm>
            <a:off x="5178000" y="2375502"/>
            <a:ext cx="1836000" cy="702360"/>
          </a:xfrm>
          <a:prstGeom prst="rect">
            <a:avLst/>
          </a:prstGeom>
          <a:ln w="0">
            <a:noFill/>
          </a:ln>
        </p:spPr>
      </p:pic>
      <p:pic>
        <p:nvPicPr>
          <p:cNvPr id="6" name="Picture 5">
            <a:extLst>
              <a:ext uri="{FF2B5EF4-FFF2-40B4-BE49-F238E27FC236}">
                <a16:creationId xmlns:a16="http://schemas.microsoft.com/office/drawing/2014/main" id="{49C17B58-4770-EF0B-784A-5A2B27AC21B4}"/>
              </a:ext>
            </a:extLst>
          </p:cNvPr>
          <p:cNvPicPr/>
          <p:nvPr/>
        </p:nvPicPr>
        <p:blipFill>
          <a:blip r:embed="rId3"/>
          <a:stretch/>
        </p:blipFill>
        <p:spPr>
          <a:xfrm>
            <a:off x="4506240" y="4597680"/>
            <a:ext cx="3179520" cy="524160"/>
          </a:xfrm>
          <a:prstGeom prst="rect">
            <a:avLst/>
          </a:prstGeom>
          <a:ln w="0">
            <a:noFill/>
          </a:ln>
        </p:spPr>
      </p:pic>
    </p:spTree>
    <p:extLst>
      <p:ext uri="{BB962C8B-B14F-4D97-AF65-F5344CB8AC3E}">
        <p14:creationId xmlns:p14="http://schemas.microsoft.com/office/powerpoint/2010/main" val="2864570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AC71B-C6A5-D6B9-992B-B639FC1C26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209489-4446-5F25-9AE7-1300FE247EE9}"/>
              </a:ext>
            </a:extLst>
          </p:cNvPr>
          <p:cNvSpPr>
            <a:spLocks noGrp="1"/>
          </p:cNvSpPr>
          <p:nvPr>
            <p:ph type="title"/>
          </p:nvPr>
        </p:nvSpPr>
        <p:spPr/>
        <p:txBody>
          <a:bodyPr>
            <a:normAutofit/>
          </a:bodyPr>
          <a:lstStyle/>
          <a:p>
            <a:r>
              <a:rPr lang="en-GB" b="1" dirty="0"/>
              <a:t>Motor Heating</a:t>
            </a:r>
          </a:p>
        </p:txBody>
      </p:sp>
      <p:sp>
        <p:nvSpPr>
          <p:cNvPr id="3" name="Subtitle 2">
            <a:extLst>
              <a:ext uri="{FF2B5EF4-FFF2-40B4-BE49-F238E27FC236}">
                <a16:creationId xmlns:a16="http://schemas.microsoft.com/office/drawing/2014/main" id="{2C471B68-C909-BF5E-695E-0AEEA0D0DBB8}"/>
              </a:ext>
            </a:extLst>
          </p:cNvPr>
          <p:cNvSpPr>
            <a:spLocks noGrp="1"/>
          </p:cNvSpPr>
          <p:nvPr>
            <p:ph idx="1"/>
          </p:nvPr>
        </p:nvSpPr>
        <p:spPr/>
        <p:txBody>
          <a:bodyPr>
            <a:normAutofit fontScale="25000" lnSpcReduction="20000"/>
          </a:bodyPr>
          <a:lstStyle/>
          <a:p>
            <a:r>
              <a:rPr lang="en-GB" sz="9600" dirty="0"/>
              <a:t>The torque constant representing the magnetic field of the motor varies with temperature as:</a:t>
            </a:r>
          </a:p>
          <a:p>
            <a:pPr marL="0" indent="0">
              <a:buNone/>
            </a:pPr>
            <a:r>
              <a:rPr lang="en-GB" sz="9600" dirty="0"/>
              <a:t> </a:t>
            </a:r>
          </a:p>
          <a:p>
            <a:pPr marL="0" indent="0">
              <a:buNone/>
            </a:pPr>
            <a:r>
              <a:rPr lang="en-GB" sz="9600" dirty="0"/>
              <a:t> </a:t>
            </a:r>
          </a:p>
          <a:p>
            <a:pPr marL="0" indent="0">
              <a:buNone/>
            </a:pPr>
            <a:endParaRPr lang="en-GB" sz="9600" dirty="0"/>
          </a:p>
          <a:p>
            <a:pPr marL="0" indent="0">
              <a:buNone/>
            </a:pPr>
            <a:r>
              <a:rPr lang="en-GB" sz="9600" dirty="0"/>
              <a:t>where Kt and </a:t>
            </a:r>
            <a:r>
              <a:rPr lang="en-GB" sz="9600" dirty="0" err="1"/>
              <a:t>Kref</a:t>
            </a:r>
            <a:r>
              <a:rPr lang="en-GB" sz="9600" dirty="0"/>
              <a:t> are the torque constants at the magnet temperature, </a:t>
            </a:r>
            <a:r>
              <a:rPr lang="en-GB" sz="9600" dirty="0" err="1"/>
              <a:t>tmagnet</a:t>
            </a:r>
            <a:r>
              <a:rPr lang="en-GB" sz="9600" dirty="0"/>
              <a:t>, and the reference temperature, </a:t>
            </a:r>
            <a:r>
              <a:rPr lang="en-GB" sz="9600" dirty="0" err="1"/>
              <a:t>tref,and</a:t>
            </a:r>
            <a:r>
              <a:rPr lang="en-GB" sz="9600" dirty="0"/>
              <a:t> β represents the decay of the magnetic flux.</a:t>
            </a:r>
          </a:p>
          <a:p>
            <a:r>
              <a:rPr lang="en-GB" sz="9600" dirty="0"/>
              <a:t>The final temperature of the motor can be written as:</a:t>
            </a:r>
          </a:p>
          <a:p>
            <a:pPr marL="0" indent="0">
              <a:buNone/>
            </a:pPr>
            <a:endParaRPr lang="en-GB" sz="9600" dirty="0"/>
          </a:p>
          <a:p>
            <a:endParaRPr lang="en-GB" sz="9600" dirty="0"/>
          </a:p>
          <a:p>
            <a:pPr marL="0" indent="0">
              <a:buNone/>
            </a:pPr>
            <a:endParaRPr lang="en-GB" sz="9600" dirty="0"/>
          </a:p>
          <a:p>
            <a:pPr marL="0" indent="0">
              <a:buNone/>
            </a:pPr>
            <a:r>
              <a:rPr lang="en-GB" sz="9600" dirty="0"/>
              <a:t>where </a:t>
            </a:r>
            <a:r>
              <a:rPr lang="en-GB" sz="9600" dirty="0" err="1"/>
              <a:t>Rthermal</a:t>
            </a:r>
            <a:r>
              <a:rPr lang="en-GB" sz="9600" dirty="0"/>
              <a:t> is the thermal resistance between the motor and the ambient and is a specific property of the motor.</a:t>
            </a:r>
            <a:endParaRPr lang="en-GB" sz="3600" dirty="0"/>
          </a:p>
        </p:txBody>
      </p:sp>
      <p:sp>
        <p:nvSpPr>
          <p:cNvPr id="4" name="Slide Number Placeholder 3">
            <a:extLst>
              <a:ext uri="{FF2B5EF4-FFF2-40B4-BE49-F238E27FC236}">
                <a16:creationId xmlns:a16="http://schemas.microsoft.com/office/drawing/2014/main" id="{D7D9350A-CDDA-BCCB-02BF-7FCD390824C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9595F31E-4455-8FEB-F119-ECBA5897BE9E}"/>
              </a:ext>
            </a:extLst>
          </p:cNvPr>
          <p:cNvPicPr/>
          <p:nvPr/>
        </p:nvPicPr>
        <p:blipFill>
          <a:blip r:embed="rId2"/>
          <a:stretch/>
        </p:blipFill>
        <p:spPr>
          <a:xfrm>
            <a:off x="3500335" y="2506494"/>
            <a:ext cx="5191330" cy="676094"/>
          </a:xfrm>
          <a:prstGeom prst="rect">
            <a:avLst/>
          </a:prstGeom>
          <a:ln w="0">
            <a:noFill/>
          </a:ln>
        </p:spPr>
      </p:pic>
      <p:pic>
        <p:nvPicPr>
          <p:cNvPr id="8" name="Picture 7">
            <a:extLst>
              <a:ext uri="{FF2B5EF4-FFF2-40B4-BE49-F238E27FC236}">
                <a16:creationId xmlns:a16="http://schemas.microsoft.com/office/drawing/2014/main" id="{7C0973CE-8174-C56F-6F74-1C66AA6DF125}"/>
              </a:ext>
            </a:extLst>
          </p:cNvPr>
          <p:cNvPicPr/>
          <p:nvPr/>
        </p:nvPicPr>
        <p:blipFill>
          <a:blip r:embed="rId3"/>
          <a:stretch/>
        </p:blipFill>
        <p:spPr>
          <a:xfrm>
            <a:off x="3155907" y="5006007"/>
            <a:ext cx="5880185" cy="780124"/>
          </a:xfrm>
          <a:prstGeom prst="rect">
            <a:avLst/>
          </a:prstGeom>
          <a:ln w="0">
            <a:noFill/>
          </a:ln>
        </p:spPr>
      </p:pic>
    </p:spTree>
    <p:extLst>
      <p:ext uri="{BB962C8B-B14F-4D97-AF65-F5344CB8AC3E}">
        <p14:creationId xmlns:p14="http://schemas.microsoft.com/office/powerpoint/2010/main" val="1323299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24902-0C62-A73C-52AD-136A259D4D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998B4D-C179-9759-960F-039504FDF460}"/>
              </a:ext>
            </a:extLst>
          </p:cNvPr>
          <p:cNvSpPr>
            <a:spLocks noGrp="1"/>
          </p:cNvSpPr>
          <p:nvPr>
            <p:ph type="title"/>
          </p:nvPr>
        </p:nvSpPr>
        <p:spPr/>
        <p:txBody>
          <a:bodyPr>
            <a:normAutofit/>
          </a:bodyPr>
          <a:lstStyle/>
          <a:p>
            <a:r>
              <a:rPr lang="en-GB" b="1" dirty="0"/>
              <a:t>Motor Heating</a:t>
            </a:r>
          </a:p>
        </p:txBody>
      </p:sp>
      <p:sp>
        <p:nvSpPr>
          <p:cNvPr id="3" name="Subtitle 2">
            <a:extLst>
              <a:ext uri="{FF2B5EF4-FFF2-40B4-BE49-F238E27FC236}">
                <a16:creationId xmlns:a16="http://schemas.microsoft.com/office/drawing/2014/main" id="{CB2F6E9F-CEDB-5320-3B95-9F93257974AD}"/>
              </a:ext>
            </a:extLst>
          </p:cNvPr>
          <p:cNvSpPr>
            <a:spLocks noGrp="1"/>
          </p:cNvSpPr>
          <p:nvPr>
            <p:ph idx="1"/>
          </p:nvPr>
        </p:nvSpPr>
        <p:spPr/>
        <p:txBody>
          <a:bodyPr>
            <a:normAutofit/>
          </a:bodyPr>
          <a:lstStyle/>
          <a:p>
            <a:r>
              <a:rPr lang="en-GB" sz="3600" dirty="0"/>
              <a:t>An example is provided in the Tutorial of how to calculate the heat</a:t>
            </a:r>
          </a:p>
          <a:p>
            <a:r>
              <a:rPr lang="en-GB" sz="3600" dirty="0"/>
              <a:t>It is an iterative cycle</a:t>
            </a:r>
          </a:p>
          <a:p>
            <a:r>
              <a:rPr lang="en-GB" sz="3600" dirty="0"/>
              <a:t>Various methods of reducing the heat</a:t>
            </a:r>
          </a:p>
          <a:p>
            <a:pPr lvl="1"/>
            <a:r>
              <a:rPr lang="en-GB" sz="3200" dirty="0"/>
              <a:t>Duty cycle of the motor</a:t>
            </a:r>
          </a:p>
          <a:p>
            <a:pPr lvl="1"/>
            <a:r>
              <a:rPr lang="en-GB" sz="3200" dirty="0"/>
              <a:t>Cooling system</a:t>
            </a:r>
            <a:endParaRPr lang="en-GB" sz="2800" dirty="0"/>
          </a:p>
          <a:p>
            <a:endParaRPr lang="en-GB" sz="3600" dirty="0"/>
          </a:p>
        </p:txBody>
      </p:sp>
      <p:sp>
        <p:nvSpPr>
          <p:cNvPr id="4" name="Slide Number Placeholder 3">
            <a:extLst>
              <a:ext uri="{FF2B5EF4-FFF2-40B4-BE49-F238E27FC236}">
                <a16:creationId xmlns:a16="http://schemas.microsoft.com/office/drawing/2014/main" id="{F09C52EA-2671-F3D2-6C3F-E652142C85B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55572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Motor Control</a:t>
            </a:r>
          </a:p>
        </p:txBody>
      </p:sp>
      <p:sp>
        <p:nvSpPr>
          <p:cNvPr id="3" name="Subtitle 2">
            <a:extLst>
              <a:ext uri="{FF2B5EF4-FFF2-40B4-BE49-F238E27FC236}">
                <a16:creationId xmlns:a16="http://schemas.microsoft.com/office/drawing/2014/main" id="{0EC2D61B-0204-42F3-52E6-931A9496968D}"/>
              </a:ext>
            </a:extLst>
          </p:cNvPr>
          <p:cNvSpPr>
            <a:spLocks noGrp="1"/>
          </p:cNvSpPr>
          <p:nvPr>
            <p:ph type="body" idx="1"/>
          </p:nvPr>
        </p:nvSpPr>
        <p:spPr/>
        <p:txBody>
          <a:bodyPr>
            <a:normAutofit/>
          </a:bodyPr>
          <a:lstStyle/>
          <a:p>
            <a:endParaRPr lang="en-GB" sz="3600" dirty="0"/>
          </a:p>
          <a:p>
            <a:endParaRPr lang="en-GB" sz="3600" dirty="0"/>
          </a:p>
        </p:txBody>
      </p:sp>
      <p:sp>
        <p:nvSpPr>
          <p:cNvPr id="4" name="Slide Number Placeholder 3">
            <a:extLst>
              <a:ext uri="{FF2B5EF4-FFF2-40B4-BE49-F238E27FC236}">
                <a16:creationId xmlns:a16="http://schemas.microsoft.com/office/drawing/2014/main" id="{12CA4D21-7E67-D742-45BB-2FB4BF27F41C}"/>
              </a:ext>
            </a:extLst>
          </p:cNvPr>
          <p:cNvSpPr>
            <a:spLocks noGrp="1"/>
          </p:cNvSpPr>
          <p:nvPr>
            <p:ph type="sldNum" sz="quarter" idx="12"/>
          </p:nvPr>
        </p:nvSpPr>
        <p:spPr/>
        <p:txBody>
          <a:bodyPr/>
          <a:lstStyle/>
          <a:p>
            <a:fld id="{1ED87AFC-F3F3-4E09-A9D9-1873FFB55ECB}" type="slidenum">
              <a:rPr lang="en-GB" smtClean="0"/>
              <a:t>26</a:t>
            </a:fld>
            <a:endParaRPr lang="en-GB"/>
          </a:p>
        </p:txBody>
      </p:sp>
    </p:spTree>
    <p:extLst>
      <p:ext uri="{BB962C8B-B14F-4D97-AF65-F5344CB8AC3E}">
        <p14:creationId xmlns:p14="http://schemas.microsoft.com/office/powerpoint/2010/main" val="2969343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229B6-339D-CCD8-ED9A-D5B623FAB0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05D7F1-8104-3874-0C5F-102AAFA8CD48}"/>
              </a:ext>
            </a:extLst>
          </p:cNvPr>
          <p:cNvSpPr>
            <a:spLocks noGrp="1"/>
          </p:cNvSpPr>
          <p:nvPr>
            <p:ph type="title"/>
          </p:nvPr>
        </p:nvSpPr>
        <p:spPr/>
        <p:txBody>
          <a:bodyPr>
            <a:normAutofit/>
          </a:bodyPr>
          <a:lstStyle/>
          <a:p>
            <a:r>
              <a:rPr lang="en-GB" b="1" dirty="0"/>
              <a:t>Motor Control</a:t>
            </a:r>
          </a:p>
        </p:txBody>
      </p:sp>
      <p:sp>
        <p:nvSpPr>
          <p:cNvPr id="3" name="Subtitle 2">
            <a:extLst>
              <a:ext uri="{FF2B5EF4-FFF2-40B4-BE49-F238E27FC236}">
                <a16:creationId xmlns:a16="http://schemas.microsoft.com/office/drawing/2014/main" id="{DA830135-C805-BF8F-0D2A-1C27E39A3F9F}"/>
              </a:ext>
            </a:extLst>
          </p:cNvPr>
          <p:cNvSpPr>
            <a:spLocks noGrp="1"/>
          </p:cNvSpPr>
          <p:nvPr>
            <p:ph idx="1"/>
          </p:nvPr>
        </p:nvSpPr>
        <p:spPr/>
        <p:txBody>
          <a:bodyPr>
            <a:normAutofit lnSpcReduction="10000"/>
          </a:bodyPr>
          <a:lstStyle/>
          <a:p>
            <a:r>
              <a:rPr lang="en-GB" sz="3600" dirty="0"/>
              <a:t>How do we control the motors?</a:t>
            </a:r>
          </a:p>
          <a:p>
            <a:r>
              <a:rPr lang="en-GB" sz="3600" dirty="0"/>
              <a:t>Simplest method on a DC Motor with 2 inputs is to apply a voltage between the inputs</a:t>
            </a:r>
          </a:p>
          <a:p>
            <a:pPr lvl="1"/>
            <a:r>
              <a:rPr lang="en-GB" sz="3200" dirty="0"/>
              <a:t>This will cause the motor to run, potentially uncontrollable and may cause problems</a:t>
            </a:r>
          </a:p>
          <a:p>
            <a:r>
              <a:rPr lang="en-GB" sz="3600" dirty="0"/>
              <a:t>If we control the voltage between the terminals we can control the motor</a:t>
            </a:r>
          </a:p>
          <a:p>
            <a:r>
              <a:rPr lang="en-GB" sz="3600" dirty="0"/>
              <a:t>But how to do this? </a:t>
            </a:r>
          </a:p>
        </p:txBody>
      </p:sp>
      <p:sp>
        <p:nvSpPr>
          <p:cNvPr id="4" name="Slide Number Placeholder 3">
            <a:extLst>
              <a:ext uri="{FF2B5EF4-FFF2-40B4-BE49-F238E27FC236}">
                <a16:creationId xmlns:a16="http://schemas.microsoft.com/office/drawing/2014/main" id="{47BCE1BE-5186-5624-A9D6-0F2D69C7F90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5606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2FB81-15DB-A83E-C2E4-0F67A23299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F699C4-0159-E1E0-3540-4D960AE2C871}"/>
              </a:ext>
            </a:extLst>
          </p:cNvPr>
          <p:cNvSpPr>
            <a:spLocks noGrp="1"/>
          </p:cNvSpPr>
          <p:nvPr>
            <p:ph type="title"/>
          </p:nvPr>
        </p:nvSpPr>
        <p:spPr/>
        <p:txBody>
          <a:bodyPr>
            <a:normAutofit/>
          </a:bodyPr>
          <a:lstStyle/>
          <a:p>
            <a:r>
              <a:rPr lang="en-GB" b="1" dirty="0"/>
              <a:t>Motor Control - Microcontroller</a:t>
            </a:r>
          </a:p>
        </p:txBody>
      </p:sp>
      <p:sp>
        <p:nvSpPr>
          <p:cNvPr id="3" name="Subtitle 2">
            <a:extLst>
              <a:ext uri="{FF2B5EF4-FFF2-40B4-BE49-F238E27FC236}">
                <a16:creationId xmlns:a16="http://schemas.microsoft.com/office/drawing/2014/main" id="{B7E2DDDE-4F9A-33B4-171D-16DAA2C15630}"/>
              </a:ext>
            </a:extLst>
          </p:cNvPr>
          <p:cNvSpPr>
            <a:spLocks noGrp="1"/>
          </p:cNvSpPr>
          <p:nvPr>
            <p:ph idx="1"/>
          </p:nvPr>
        </p:nvSpPr>
        <p:spPr/>
        <p:txBody>
          <a:bodyPr>
            <a:noAutofit/>
          </a:bodyPr>
          <a:lstStyle/>
          <a:p>
            <a:r>
              <a:rPr lang="en-GB" dirty="0"/>
              <a:t>Microcontrollers are digital devices with inputs and outputs that can be controlled using a program</a:t>
            </a:r>
          </a:p>
          <a:p>
            <a:r>
              <a:rPr lang="en-GB" dirty="0"/>
              <a:t>Typically, a microcontroller can only read inputs of 0 and 1 and can only provide outputs of 0 and 1 (e.g. 0 for &lt; 0:8 V and 1 for &gt; 2:4 V)</a:t>
            </a:r>
          </a:p>
          <a:p>
            <a:pPr lvl="1"/>
            <a:r>
              <a:rPr lang="en-GB" dirty="0"/>
              <a:t>Though some microcontrollers have analogue out!</a:t>
            </a:r>
          </a:p>
          <a:p>
            <a:r>
              <a:rPr lang="en-GB" dirty="0"/>
              <a:t>Any analogue signals must be digitised for use with a microcontroller using an analogue to digital converter (either external or built-in).</a:t>
            </a:r>
          </a:p>
          <a:p>
            <a:r>
              <a:rPr lang="en-GB" dirty="0"/>
              <a:t>Similarly, if an analogue output is required this must be converted using a digital to analogue converter.</a:t>
            </a:r>
          </a:p>
          <a:p>
            <a:pPr lvl="1"/>
            <a:r>
              <a:rPr lang="en-GB" dirty="0"/>
              <a:t>Unless there is one built into the microcontroller </a:t>
            </a:r>
          </a:p>
        </p:txBody>
      </p:sp>
      <p:sp>
        <p:nvSpPr>
          <p:cNvPr id="4" name="Slide Number Placeholder 3">
            <a:extLst>
              <a:ext uri="{FF2B5EF4-FFF2-40B4-BE49-F238E27FC236}">
                <a16:creationId xmlns:a16="http://schemas.microsoft.com/office/drawing/2014/main" id="{1213ED99-AB73-09B1-35FD-AAB85A0F6F4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6752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31A65-EA8F-CC1A-D395-4F530D4F03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219F38-DEF2-5E09-A022-9D989CA12723}"/>
              </a:ext>
            </a:extLst>
          </p:cNvPr>
          <p:cNvSpPr>
            <a:spLocks noGrp="1"/>
          </p:cNvSpPr>
          <p:nvPr>
            <p:ph type="title"/>
          </p:nvPr>
        </p:nvSpPr>
        <p:spPr/>
        <p:txBody>
          <a:bodyPr>
            <a:normAutofit/>
          </a:bodyPr>
          <a:lstStyle/>
          <a:p>
            <a:r>
              <a:rPr lang="en-GB" b="1" dirty="0"/>
              <a:t>Motor Control - Microcontroller</a:t>
            </a:r>
          </a:p>
        </p:txBody>
      </p:sp>
      <p:sp>
        <p:nvSpPr>
          <p:cNvPr id="3" name="Subtitle 2">
            <a:extLst>
              <a:ext uri="{FF2B5EF4-FFF2-40B4-BE49-F238E27FC236}">
                <a16:creationId xmlns:a16="http://schemas.microsoft.com/office/drawing/2014/main" id="{FBDBA281-6512-9D00-F77B-743E6C52DCD8}"/>
              </a:ext>
            </a:extLst>
          </p:cNvPr>
          <p:cNvSpPr>
            <a:spLocks noGrp="1"/>
          </p:cNvSpPr>
          <p:nvPr>
            <p:ph idx="1"/>
          </p:nvPr>
        </p:nvSpPr>
        <p:spPr/>
        <p:txBody>
          <a:bodyPr>
            <a:noAutofit/>
          </a:bodyPr>
          <a:lstStyle/>
          <a:p>
            <a:r>
              <a:rPr lang="en-GB" dirty="0"/>
              <a:t>We can use the 0 and 1 output to drive a transistor on and off which in turns, turns the motor on and off</a:t>
            </a:r>
          </a:p>
          <a:p>
            <a:pPr lvl="1"/>
            <a:r>
              <a:rPr lang="en-GB" dirty="0"/>
              <a:t>Never drive a motor directly from a microcontroller, unless you want to damage the microcontroller...</a:t>
            </a:r>
          </a:p>
          <a:p>
            <a:r>
              <a:rPr lang="en-GB" dirty="0"/>
              <a:t>When the transistor is fully on or off the power loss in the system is zero but wastes lots of energy when raising or lowering its voltage</a:t>
            </a:r>
          </a:p>
        </p:txBody>
      </p:sp>
      <p:sp>
        <p:nvSpPr>
          <p:cNvPr id="4" name="Slide Number Placeholder 3">
            <a:extLst>
              <a:ext uri="{FF2B5EF4-FFF2-40B4-BE49-F238E27FC236}">
                <a16:creationId xmlns:a16="http://schemas.microsoft.com/office/drawing/2014/main" id="{3363423A-EFC8-5140-FD7C-586EA14512E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4487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D887E-1D76-09C1-82D3-468131038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BCCE33-ED4B-DF4D-F998-334D25D873B9}"/>
              </a:ext>
            </a:extLst>
          </p:cNvPr>
          <p:cNvSpPr>
            <a:spLocks noGrp="1"/>
          </p:cNvSpPr>
          <p:nvPr>
            <p:ph type="title"/>
          </p:nvPr>
        </p:nvSpPr>
        <p:spPr/>
        <p:txBody>
          <a:bodyPr>
            <a:normAutofit/>
          </a:bodyPr>
          <a:lstStyle/>
          <a:p>
            <a:r>
              <a:rPr lang="en-GB" b="1" dirty="0"/>
              <a:t>Motor Control – Pulse Width Modulation</a:t>
            </a:r>
          </a:p>
        </p:txBody>
      </p:sp>
      <p:sp>
        <p:nvSpPr>
          <p:cNvPr id="3" name="Subtitle 2">
            <a:extLst>
              <a:ext uri="{FF2B5EF4-FFF2-40B4-BE49-F238E27FC236}">
                <a16:creationId xmlns:a16="http://schemas.microsoft.com/office/drawing/2014/main" id="{A00394DD-BD19-3B2C-71E4-34FE9CE17BA1}"/>
              </a:ext>
            </a:extLst>
          </p:cNvPr>
          <p:cNvSpPr>
            <a:spLocks noGrp="1"/>
          </p:cNvSpPr>
          <p:nvPr>
            <p:ph idx="1"/>
          </p:nvPr>
        </p:nvSpPr>
        <p:spPr/>
        <p:txBody>
          <a:bodyPr>
            <a:noAutofit/>
          </a:bodyPr>
          <a:lstStyle/>
          <a:p>
            <a:r>
              <a:rPr lang="en-GB" dirty="0"/>
              <a:t>How to reduce this power loss?</a:t>
            </a:r>
          </a:p>
          <a:p>
            <a:pPr lvl="1"/>
            <a:r>
              <a:rPr lang="en-GB" dirty="0"/>
              <a:t>A method called pulse width modulation (PWM) can be used  </a:t>
            </a:r>
          </a:p>
          <a:p>
            <a:r>
              <a:rPr lang="en-GB" dirty="0"/>
              <a:t>PWM can create variable voltages with only one output port of the microcontroller without any loss of power in the transistors.</a:t>
            </a:r>
          </a:p>
          <a:p>
            <a:r>
              <a:rPr lang="en-GB" dirty="0"/>
              <a:t>This is achieved by turning the output voltage of the microcontroller port on and off at a high rate which generates a pulse chain</a:t>
            </a:r>
          </a:p>
          <a:p>
            <a:r>
              <a:rPr lang="en-GB" dirty="0"/>
              <a:t>Varying the length of time that the voltage is on or off will vary the average effective voltage.</a:t>
            </a:r>
          </a:p>
          <a:p>
            <a:r>
              <a:rPr lang="en-GB" dirty="0"/>
              <a:t>The average output voltage changes as pulse duration, t1, versus pulse separation, t, varies.</a:t>
            </a:r>
          </a:p>
        </p:txBody>
      </p:sp>
      <p:sp>
        <p:nvSpPr>
          <p:cNvPr id="4" name="Slide Number Placeholder 3">
            <a:extLst>
              <a:ext uri="{FF2B5EF4-FFF2-40B4-BE49-F238E27FC236}">
                <a16:creationId xmlns:a16="http://schemas.microsoft.com/office/drawing/2014/main" id="{D05633E7-04C4-AF94-8F93-E6ABDC7365E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559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2D6D6-F47B-78EE-FC84-3459B7BD7B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EEEC32-5370-B7B9-A1A0-6EC991F45C12}"/>
              </a:ext>
            </a:extLst>
          </p:cNvPr>
          <p:cNvSpPr>
            <a:spLocks noGrp="1"/>
          </p:cNvSpPr>
          <p:nvPr>
            <p:ph type="title"/>
          </p:nvPr>
        </p:nvSpPr>
        <p:spPr/>
        <p:txBody>
          <a:bodyPr>
            <a:normAutofit/>
          </a:bodyPr>
          <a:lstStyle/>
          <a:p>
            <a:r>
              <a:rPr lang="en-GB" b="1" dirty="0"/>
              <a:t>Motor Control – Pulse Width Modulation</a:t>
            </a:r>
          </a:p>
        </p:txBody>
      </p:sp>
      <p:sp>
        <p:nvSpPr>
          <p:cNvPr id="3" name="Subtitle 2">
            <a:extLst>
              <a:ext uri="{FF2B5EF4-FFF2-40B4-BE49-F238E27FC236}">
                <a16:creationId xmlns:a16="http://schemas.microsoft.com/office/drawing/2014/main" id="{FA9497F6-044E-67EE-7B2B-94B06B897323}"/>
              </a:ext>
            </a:extLst>
          </p:cNvPr>
          <p:cNvSpPr>
            <a:spLocks noGrp="1"/>
          </p:cNvSpPr>
          <p:nvPr>
            <p:ph sz="half" idx="1"/>
          </p:nvPr>
        </p:nvSpPr>
        <p:spPr/>
        <p:txBody>
          <a:bodyPr>
            <a:noAutofit/>
          </a:bodyPr>
          <a:lstStyle/>
          <a:p>
            <a:r>
              <a:rPr lang="en-GB" spc="-1" dirty="0">
                <a:solidFill>
                  <a:srgbClr val="000000"/>
                </a:solidFill>
                <a:latin typeface="Arial"/>
                <a:ea typeface="DejaVu Sans"/>
              </a:rPr>
              <a:t>The average output voltage changes as pulse duration, t</a:t>
            </a:r>
            <a:r>
              <a:rPr lang="en-GB" spc="-1" baseline="-25000" dirty="0">
                <a:solidFill>
                  <a:srgbClr val="000000"/>
                </a:solidFill>
                <a:latin typeface="Arial"/>
                <a:ea typeface="DejaVu Sans"/>
              </a:rPr>
              <a:t>1</a:t>
            </a:r>
            <a:r>
              <a:rPr lang="en-GB" spc="-1" dirty="0">
                <a:solidFill>
                  <a:srgbClr val="000000"/>
                </a:solidFill>
                <a:latin typeface="Arial"/>
                <a:ea typeface="DejaVu Sans"/>
              </a:rPr>
              <a:t>, versus pulse separation, t, varies.</a:t>
            </a:r>
            <a:endParaRPr lang="en-GB" spc="-1" dirty="0">
              <a:solidFill>
                <a:srgbClr val="000000"/>
              </a:solidFill>
              <a:latin typeface="Arial"/>
            </a:endParaRPr>
          </a:p>
          <a:p>
            <a:endParaRPr lang="en-GB" dirty="0"/>
          </a:p>
        </p:txBody>
      </p:sp>
      <p:sp>
        <p:nvSpPr>
          <p:cNvPr id="4" name="Slide Number Placeholder 3">
            <a:extLst>
              <a:ext uri="{FF2B5EF4-FFF2-40B4-BE49-F238E27FC236}">
                <a16:creationId xmlns:a16="http://schemas.microsoft.com/office/drawing/2014/main" id="{2422007C-DF72-2AC6-B99F-83D7AD0F573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6" name="Picture 7_0">
            <a:extLst>
              <a:ext uri="{FF2B5EF4-FFF2-40B4-BE49-F238E27FC236}">
                <a16:creationId xmlns:a16="http://schemas.microsoft.com/office/drawing/2014/main" id="{0C374238-3C09-A156-36F0-4AFEBE4BA956}"/>
              </a:ext>
            </a:extLst>
          </p:cNvPr>
          <p:cNvPicPr>
            <a:picLocks noGrp="1"/>
          </p:cNvPicPr>
          <p:nvPr>
            <p:ph sz="half" idx="2"/>
          </p:nvPr>
        </p:nvPicPr>
        <p:blipFill>
          <a:blip r:embed="rId2"/>
          <a:stretch/>
        </p:blipFill>
        <p:spPr>
          <a:xfrm>
            <a:off x="6776088" y="1825625"/>
            <a:ext cx="3973824" cy="4351338"/>
          </a:xfrm>
          <a:prstGeom prst="rect">
            <a:avLst/>
          </a:prstGeom>
          <a:ln w="0">
            <a:noFill/>
          </a:ln>
        </p:spPr>
      </p:pic>
      <p:pic>
        <p:nvPicPr>
          <p:cNvPr id="7" name="Picture 6">
            <a:extLst>
              <a:ext uri="{FF2B5EF4-FFF2-40B4-BE49-F238E27FC236}">
                <a16:creationId xmlns:a16="http://schemas.microsoft.com/office/drawing/2014/main" id="{69A2425B-3318-9222-0885-9BD1D3013D73}"/>
              </a:ext>
            </a:extLst>
          </p:cNvPr>
          <p:cNvPicPr/>
          <p:nvPr/>
        </p:nvPicPr>
        <p:blipFill>
          <a:blip r:embed="rId3"/>
          <a:stretch/>
        </p:blipFill>
        <p:spPr>
          <a:xfrm>
            <a:off x="781283" y="3451041"/>
            <a:ext cx="5295434" cy="3041834"/>
          </a:xfrm>
          <a:prstGeom prst="rect">
            <a:avLst/>
          </a:prstGeom>
          <a:ln w="0">
            <a:noFill/>
          </a:ln>
        </p:spPr>
      </p:pic>
    </p:spTree>
    <p:extLst>
      <p:ext uri="{BB962C8B-B14F-4D97-AF65-F5344CB8AC3E}">
        <p14:creationId xmlns:p14="http://schemas.microsoft.com/office/powerpoint/2010/main" val="3325360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3EEB3-135A-075F-6B9B-7388688FFD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25658-0773-A2BF-0E0D-784B067EF054}"/>
              </a:ext>
            </a:extLst>
          </p:cNvPr>
          <p:cNvSpPr>
            <a:spLocks noGrp="1"/>
          </p:cNvSpPr>
          <p:nvPr>
            <p:ph type="title"/>
          </p:nvPr>
        </p:nvSpPr>
        <p:spPr/>
        <p:txBody>
          <a:bodyPr>
            <a:normAutofit/>
          </a:bodyPr>
          <a:lstStyle/>
          <a:p>
            <a:r>
              <a:rPr lang="en-GB" b="1" dirty="0"/>
              <a:t>Motor Control – Pulse Width Modulation</a:t>
            </a:r>
          </a:p>
        </p:txBody>
      </p:sp>
      <p:sp>
        <p:nvSpPr>
          <p:cNvPr id="3" name="Subtitle 2">
            <a:extLst>
              <a:ext uri="{FF2B5EF4-FFF2-40B4-BE49-F238E27FC236}">
                <a16:creationId xmlns:a16="http://schemas.microsoft.com/office/drawing/2014/main" id="{AFBF54CA-28BC-2CC6-DC7F-225AA3813C87}"/>
              </a:ext>
            </a:extLst>
          </p:cNvPr>
          <p:cNvSpPr>
            <a:spLocks noGrp="1"/>
          </p:cNvSpPr>
          <p:nvPr>
            <p:ph idx="1"/>
          </p:nvPr>
        </p:nvSpPr>
        <p:spPr/>
        <p:txBody>
          <a:bodyPr>
            <a:noAutofit/>
          </a:bodyPr>
          <a:lstStyle/>
          <a:p>
            <a:r>
              <a:rPr lang="en-GB" sz="2400" spc="-1" dirty="0">
                <a:solidFill>
                  <a:srgbClr val="000000"/>
                </a:solidFill>
                <a:latin typeface="Arial"/>
                <a:ea typeface="DejaVu Sans"/>
              </a:rPr>
              <a:t>The pulse rate of PWM may be 2 - 20 kHz, whilst the natural frequency of the motor is much smaller.</a:t>
            </a:r>
          </a:p>
          <a:p>
            <a:r>
              <a:rPr lang="en-GB" sz="2400" spc="-1" dirty="0">
                <a:solidFill>
                  <a:srgbClr val="000000"/>
                </a:solidFill>
                <a:latin typeface="Arial"/>
                <a:ea typeface="DejaVu Sans"/>
              </a:rPr>
              <a:t>If the PWM switching rate remains much larger than the natural frequency of the motor’s rotor the switching will have little effect on its performance.</a:t>
            </a:r>
          </a:p>
          <a:p>
            <a:r>
              <a:rPr lang="en-GB" sz="2400" spc="-1" dirty="0">
                <a:solidFill>
                  <a:srgbClr val="000000"/>
                </a:solidFill>
                <a:latin typeface="Arial"/>
                <a:ea typeface="DejaVu Sans"/>
              </a:rPr>
              <a:t>The motor effectively acts as a low pass filter and doesn’t respond to on/off signals except through the average value of the input voltage due to PWM.</a:t>
            </a:r>
          </a:p>
          <a:p>
            <a:r>
              <a:rPr lang="en-GB" sz="2400" spc="-1" dirty="0">
                <a:solidFill>
                  <a:srgbClr val="000000"/>
                </a:solidFill>
                <a:latin typeface="Arial"/>
                <a:ea typeface="DejaVu Sans"/>
              </a:rPr>
              <a:t>One drawback of this technique is that it can create audible noise within the system, however this becomes inaudible as the frequency is increased beyond the hearing threshold for humans.</a:t>
            </a:r>
          </a:p>
          <a:p>
            <a:r>
              <a:rPr lang="en-GB" sz="2400" spc="-1" dirty="0">
                <a:solidFill>
                  <a:srgbClr val="000000"/>
                </a:solidFill>
                <a:latin typeface="Arial"/>
                <a:ea typeface="DejaVu Sans"/>
              </a:rPr>
              <a:t>Theoretically there should be zero power loss in the transistor when it is switched on and off.</a:t>
            </a:r>
          </a:p>
        </p:txBody>
      </p:sp>
      <p:sp>
        <p:nvSpPr>
          <p:cNvPr id="4" name="Slide Number Placeholder 3">
            <a:extLst>
              <a:ext uri="{FF2B5EF4-FFF2-40B4-BE49-F238E27FC236}">
                <a16:creationId xmlns:a16="http://schemas.microsoft.com/office/drawing/2014/main" id="{2A830D19-5573-D9ED-3588-B41819D6E45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15839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49B35-7D9D-516B-5D9F-0E7D0BC7C1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7FCC09-2B4F-461A-7614-31B354C5CE5D}"/>
              </a:ext>
            </a:extLst>
          </p:cNvPr>
          <p:cNvSpPr>
            <a:spLocks noGrp="1"/>
          </p:cNvSpPr>
          <p:nvPr>
            <p:ph type="title"/>
          </p:nvPr>
        </p:nvSpPr>
        <p:spPr/>
        <p:txBody>
          <a:bodyPr>
            <a:normAutofit/>
          </a:bodyPr>
          <a:lstStyle/>
          <a:p>
            <a:r>
              <a:rPr lang="en-GB" b="1" dirty="0"/>
              <a:t>Motor Control – Pulse Width Modulation</a:t>
            </a:r>
          </a:p>
        </p:txBody>
      </p:sp>
      <p:sp>
        <p:nvSpPr>
          <p:cNvPr id="3" name="Subtitle 2">
            <a:extLst>
              <a:ext uri="{FF2B5EF4-FFF2-40B4-BE49-F238E27FC236}">
                <a16:creationId xmlns:a16="http://schemas.microsoft.com/office/drawing/2014/main" id="{BA696C1C-0A5C-52D5-E927-DF4230A5963A}"/>
              </a:ext>
            </a:extLst>
          </p:cNvPr>
          <p:cNvSpPr>
            <a:spLocks noGrp="1"/>
          </p:cNvSpPr>
          <p:nvPr>
            <p:ph idx="1"/>
          </p:nvPr>
        </p:nvSpPr>
        <p:spPr>
          <a:xfrm>
            <a:off x="838200" y="1801874"/>
            <a:ext cx="10515600" cy="4351338"/>
          </a:xfrm>
        </p:spPr>
        <p:txBody>
          <a:bodyPr>
            <a:noAutofit/>
          </a:bodyPr>
          <a:lstStyle/>
          <a:p>
            <a:r>
              <a:rPr lang="en-GB" sz="2400" spc="-1" dirty="0">
                <a:solidFill>
                  <a:srgbClr val="000000"/>
                </a:solidFill>
                <a:latin typeface="Arial"/>
                <a:ea typeface="DejaVu Sans"/>
              </a:rPr>
              <a:t>It takes a finite amount of time for the voltage to build up or break down which results in heat generation which increases with frequency.</a:t>
            </a:r>
          </a:p>
          <a:p>
            <a:r>
              <a:rPr lang="en-GB" sz="2400" spc="-1" dirty="0">
                <a:solidFill>
                  <a:srgbClr val="000000"/>
                </a:solidFill>
                <a:latin typeface="Arial"/>
                <a:ea typeface="DejaVu Sans"/>
              </a:rPr>
              <a:t>It is therefore crucial to use transistors with very high switching capabilities.</a:t>
            </a:r>
          </a:p>
          <a:p>
            <a:r>
              <a:rPr lang="en-GB" sz="2400" spc="-1" dirty="0">
                <a:solidFill>
                  <a:srgbClr val="000000"/>
                </a:solidFill>
                <a:latin typeface="Arial"/>
                <a:ea typeface="DejaVu Sans"/>
              </a:rPr>
              <a:t>Additionally, as PWM increases, the back emf voltage in the motor also increases.</a:t>
            </a:r>
          </a:p>
          <a:p>
            <a:r>
              <a:rPr lang="en-GB" sz="2400" spc="-1" dirty="0">
                <a:solidFill>
                  <a:srgbClr val="000000"/>
                </a:solidFill>
                <a:latin typeface="Arial"/>
                <a:ea typeface="DejaVu Sans"/>
              </a:rPr>
              <a:t>By varying the PWM timing continuously, a variable voltage can be created which can be used in brushless D.C. motors and other applications.</a:t>
            </a:r>
          </a:p>
          <a:p>
            <a:r>
              <a:rPr lang="en-GB" sz="2400" spc="-1" dirty="0">
                <a:solidFill>
                  <a:srgbClr val="000000"/>
                </a:solidFill>
                <a:latin typeface="Arial"/>
                <a:ea typeface="DejaVu Sans"/>
              </a:rPr>
              <a:t>Sine wave generation using PWM can be seen to be composed of pulses of varying time durations.</a:t>
            </a:r>
          </a:p>
        </p:txBody>
      </p:sp>
      <p:sp>
        <p:nvSpPr>
          <p:cNvPr id="4" name="Slide Number Placeholder 3">
            <a:extLst>
              <a:ext uri="{FF2B5EF4-FFF2-40B4-BE49-F238E27FC236}">
                <a16:creationId xmlns:a16="http://schemas.microsoft.com/office/drawing/2014/main" id="{0165BAEC-0410-A187-4F4D-FA66F832C8B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1898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5C022-4C8F-F7E0-FA8D-2D79793B1B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C03975-E69D-F4E1-9B52-413DB37BB790}"/>
              </a:ext>
            </a:extLst>
          </p:cNvPr>
          <p:cNvSpPr>
            <a:spLocks noGrp="1"/>
          </p:cNvSpPr>
          <p:nvPr>
            <p:ph type="title"/>
          </p:nvPr>
        </p:nvSpPr>
        <p:spPr/>
        <p:txBody>
          <a:bodyPr>
            <a:normAutofit/>
          </a:bodyPr>
          <a:lstStyle/>
          <a:p>
            <a:r>
              <a:rPr lang="en-GB" b="1" dirty="0"/>
              <a:t>Motor Control – Pulse Width Modulation</a:t>
            </a:r>
          </a:p>
        </p:txBody>
      </p:sp>
      <p:sp>
        <p:nvSpPr>
          <p:cNvPr id="4" name="Slide Number Placeholder 3">
            <a:extLst>
              <a:ext uri="{FF2B5EF4-FFF2-40B4-BE49-F238E27FC236}">
                <a16:creationId xmlns:a16="http://schemas.microsoft.com/office/drawing/2014/main" id="{CD294E5E-FAE2-705D-39B0-E4508C17626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Content Placeholder 4">
            <a:extLst>
              <a:ext uri="{FF2B5EF4-FFF2-40B4-BE49-F238E27FC236}">
                <a16:creationId xmlns:a16="http://schemas.microsoft.com/office/drawing/2014/main" id="{6F642A33-2ED5-2226-1275-C45858030667}"/>
              </a:ext>
            </a:extLst>
          </p:cNvPr>
          <p:cNvPicPr>
            <a:picLocks noGrp="1"/>
          </p:cNvPicPr>
          <p:nvPr>
            <p:ph idx="1"/>
          </p:nvPr>
        </p:nvPicPr>
        <p:blipFill>
          <a:blip r:embed="rId2"/>
          <a:stretch/>
        </p:blipFill>
        <p:spPr>
          <a:xfrm>
            <a:off x="2344675" y="1832666"/>
            <a:ext cx="7502649" cy="4289631"/>
          </a:xfrm>
          <a:prstGeom prst="rect">
            <a:avLst/>
          </a:prstGeom>
          <a:ln w="0">
            <a:noFill/>
          </a:ln>
        </p:spPr>
      </p:pic>
    </p:spTree>
    <p:extLst>
      <p:ext uri="{BB962C8B-B14F-4D97-AF65-F5344CB8AC3E}">
        <p14:creationId xmlns:p14="http://schemas.microsoft.com/office/powerpoint/2010/main" val="5191001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4BC45-0746-9C1A-1E66-69B656E6F5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77A665-57EF-3842-9B28-09911CF14C68}"/>
              </a:ext>
            </a:extLst>
          </p:cNvPr>
          <p:cNvSpPr>
            <a:spLocks noGrp="1"/>
          </p:cNvSpPr>
          <p:nvPr>
            <p:ph type="title"/>
          </p:nvPr>
        </p:nvSpPr>
        <p:spPr/>
        <p:txBody>
          <a:bodyPr>
            <a:normAutofit/>
          </a:bodyPr>
          <a:lstStyle/>
          <a:p>
            <a:r>
              <a:rPr lang="en-GB" b="1" dirty="0"/>
              <a:t>Motor Control – Brushed DC</a:t>
            </a:r>
          </a:p>
        </p:txBody>
      </p:sp>
      <p:sp>
        <p:nvSpPr>
          <p:cNvPr id="4" name="Slide Number Placeholder 3">
            <a:extLst>
              <a:ext uri="{FF2B5EF4-FFF2-40B4-BE49-F238E27FC236}">
                <a16:creationId xmlns:a16="http://schemas.microsoft.com/office/drawing/2014/main" id="{D15A1D2F-FB3B-0E57-3F58-EBDDE00E4C9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AE3C6795-613C-0908-E2FD-E3F899BD95E5}"/>
              </a:ext>
            </a:extLst>
          </p:cNvPr>
          <p:cNvSpPr>
            <a:spLocks noGrp="1"/>
          </p:cNvSpPr>
          <p:nvPr>
            <p:ph idx="1"/>
          </p:nvPr>
        </p:nvSpPr>
        <p:spPr/>
        <p:txBody>
          <a:bodyPr>
            <a:normAutofit lnSpcReduction="10000"/>
          </a:bodyPr>
          <a:lstStyle/>
          <a:p>
            <a:r>
              <a:rPr lang="en-GB" dirty="0"/>
              <a:t>The speed of a permanent magnet motor depends on the current through the armature coil.</a:t>
            </a:r>
          </a:p>
          <a:p>
            <a:r>
              <a:rPr lang="en-GB" dirty="0"/>
              <a:t>The speed can be changed by varying the armature current or the field current but it is usually the armature current that is varied.</a:t>
            </a:r>
          </a:p>
          <a:p>
            <a:r>
              <a:rPr lang="en-GB" dirty="0"/>
              <a:t>Thus speed can be changed by varying the voltage applied to the armature but since fixed voltage supplies are used this variation is achieved using an electronic circuit and PWM.</a:t>
            </a:r>
          </a:p>
          <a:p>
            <a:r>
              <a:rPr lang="en-GB" dirty="0"/>
              <a:t>PWM of the input signal is achieved by means of rapid switching of the transistor with a diode used to provide a current path for the current which arises when the transistor is off as a result of the motor acting as a generator.</a:t>
            </a:r>
          </a:p>
          <a:p>
            <a:endParaRPr lang="en-GB" dirty="0"/>
          </a:p>
        </p:txBody>
      </p:sp>
    </p:spTree>
    <p:extLst>
      <p:ext uri="{BB962C8B-B14F-4D97-AF65-F5344CB8AC3E}">
        <p14:creationId xmlns:p14="http://schemas.microsoft.com/office/powerpoint/2010/main" val="22639573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CDCA0-5EE2-2CCE-98BD-0D74C3DD65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23C9EF-D7F9-4E7A-57AF-C4D775066FD1}"/>
              </a:ext>
            </a:extLst>
          </p:cNvPr>
          <p:cNvSpPr>
            <a:spLocks noGrp="1"/>
          </p:cNvSpPr>
          <p:nvPr>
            <p:ph type="title"/>
          </p:nvPr>
        </p:nvSpPr>
        <p:spPr/>
        <p:txBody>
          <a:bodyPr>
            <a:normAutofit/>
          </a:bodyPr>
          <a:lstStyle/>
          <a:p>
            <a:r>
              <a:rPr lang="en-GB" b="1" dirty="0"/>
              <a:t>Motor Control – Brushed DC</a:t>
            </a:r>
          </a:p>
        </p:txBody>
      </p:sp>
      <p:sp>
        <p:nvSpPr>
          <p:cNvPr id="4" name="Slide Number Placeholder 3">
            <a:extLst>
              <a:ext uri="{FF2B5EF4-FFF2-40B4-BE49-F238E27FC236}">
                <a16:creationId xmlns:a16="http://schemas.microsoft.com/office/drawing/2014/main" id="{19D812B8-C8F0-DB52-8E78-DF06318D3DD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3" name="Content Placeholder 2">
            <a:extLst>
              <a:ext uri="{FF2B5EF4-FFF2-40B4-BE49-F238E27FC236}">
                <a16:creationId xmlns:a16="http://schemas.microsoft.com/office/drawing/2014/main" id="{D06CE3F1-8270-443E-DA3B-707CB901B065}"/>
              </a:ext>
            </a:extLst>
          </p:cNvPr>
          <p:cNvPicPr>
            <a:picLocks noGrp="1"/>
          </p:cNvPicPr>
          <p:nvPr>
            <p:ph idx="1"/>
          </p:nvPr>
        </p:nvPicPr>
        <p:blipFill>
          <a:blip r:embed="rId2"/>
          <a:stretch/>
        </p:blipFill>
        <p:spPr>
          <a:xfrm>
            <a:off x="2244178" y="1825625"/>
            <a:ext cx="7703643" cy="4351338"/>
          </a:xfrm>
          <a:prstGeom prst="rect">
            <a:avLst/>
          </a:prstGeom>
          <a:ln w="0">
            <a:noFill/>
          </a:ln>
        </p:spPr>
      </p:pic>
    </p:spTree>
    <p:extLst>
      <p:ext uri="{BB962C8B-B14F-4D97-AF65-F5344CB8AC3E}">
        <p14:creationId xmlns:p14="http://schemas.microsoft.com/office/powerpoint/2010/main" val="5637038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60D3C-4290-F160-171C-D25515BBFF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453688-953C-30DB-312E-94955D0601CB}"/>
              </a:ext>
            </a:extLst>
          </p:cNvPr>
          <p:cNvSpPr>
            <a:spLocks noGrp="1"/>
          </p:cNvSpPr>
          <p:nvPr>
            <p:ph type="title"/>
          </p:nvPr>
        </p:nvSpPr>
        <p:spPr/>
        <p:txBody>
          <a:bodyPr>
            <a:normAutofit/>
          </a:bodyPr>
          <a:lstStyle/>
          <a:p>
            <a:r>
              <a:rPr lang="en-GB" b="1" dirty="0"/>
              <a:t>Motor Control – Directional Control</a:t>
            </a:r>
          </a:p>
        </p:txBody>
      </p:sp>
      <p:sp>
        <p:nvSpPr>
          <p:cNvPr id="6" name="Content Placeholder 5">
            <a:extLst>
              <a:ext uri="{FF2B5EF4-FFF2-40B4-BE49-F238E27FC236}">
                <a16:creationId xmlns:a16="http://schemas.microsoft.com/office/drawing/2014/main" id="{8349A42B-5C14-51AF-A20F-CEEACC40B277}"/>
              </a:ext>
            </a:extLst>
          </p:cNvPr>
          <p:cNvSpPr>
            <a:spLocks noGrp="1"/>
          </p:cNvSpPr>
          <p:nvPr>
            <p:ph sz="half" idx="1"/>
          </p:nvPr>
        </p:nvSpPr>
        <p:spPr/>
        <p:txBody>
          <a:bodyPr>
            <a:normAutofit fontScale="85000" lnSpcReduction="10000"/>
          </a:bodyPr>
          <a:lstStyle/>
          <a:p>
            <a:r>
              <a:rPr lang="en-GB" dirty="0"/>
              <a:t>The direction of rotation of the motor can be changed without changing the direction of current flow using a circuit consisting of four transistors called a H-Bridge circuit.</a:t>
            </a:r>
          </a:p>
          <a:p>
            <a:r>
              <a:rPr lang="en-GB" dirty="0"/>
              <a:t>When all four switches are off the rotor coasts freely.</a:t>
            </a:r>
          </a:p>
          <a:p>
            <a:r>
              <a:rPr lang="en-GB" dirty="0"/>
              <a:t>In the H-Bridge shown, the motor moves in the forward direction when switches 1 and 4 are closed.</a:t>
            </a:r>
          </a:p>
          <a:p>
            <a:r>
              <a:rPr lang="en-GB" dirty="0"/>
              <a:t>The motor moves in the reverse direction when switches 2 and 3 are closed</a:t>
            </a:r>
          </a:p>
          <a:p>
            <a:endParaRPr lang="en-GB" dirty="0"/>
          </a:p>
          <a:p>
            <a:pPr marL="0" indent="0">
              <a:buNone/>
            </a:pPr>
            <a:endParaRPr lang="en-GB" dirty="0"/>
          </a:p>
        </p:txBody>
      </p:sp>
      <p:sp>
        <p:nvSpPr>
          <p:cNvPr id="8" name="Content Placeholder 7">
            <a:extLst>
              <a:ext uri="{FF2B5EF4-FFF2-40B4-BE49-F238E27FC236}">
                <a16:creationId xmlns:a16="http://schemas.microsoft.com/office/drawing/2014/main" id="{B775BEF2-4655-8842-5FFC-A356CA7D0D89}"/>
              </a:ext>
            </a:extLst>
          </p:cNvPr>
          <p:cNvSpPr>
            <a:spLocks noGrp="1"/>
          </p:cNvSpPr>
          <p:nvPr>
            <p:ph sz="half" idx="2"/>
          </p:nvPr>
        </p:nvSpPr>
        <p:spPr/>
        <p:txBody>
          <a:bodyPr>
            <a:normAutofit fontScale="85000" lnSpcReduction="10000"/>
          </a:bodyPr>
          <a:lstStyle/>
          <a:p>
            <a:endParaRPr lang="en-GB"/>
          </a:p>
        </p:txBody>
      </p:sp>
      <p:sp>
        <p:nvSpPr>
          <p:cNvPr id="4" name="Slide Number Placeholder 3">
            <a:extLst>
              <a:ext uri="{FF2B5EF4-FFF2-40B4-BE49-F238E27FC236}">
                <a16:creationId xmlns:a16="http://schemas.microsoft.com/office/drawing/2014/main" id="{9969E207-E6B1-9185-1240-4D9D7967969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95F744A5-3FD7-E712-0714-A495161EC088}"/>
              </a:ext>
            </a:extLst>
          </p:cNvPr>
          <p:cNvPicPr/>
          <p:nvPr/>
        </p:nvPicPr>
        <p:blipFill>
          <a:blip r:embed="rId2"/>
          <a:stretch/>
        </p:blipFill>
        <p:spPr>
          <a:xfrm>
            <a:off x="6569340" y="2787914"/>
            <a:ext cx="4387320" cy="2426760"/>
          </a:xfrm>
          <a:prstGeom prst="rect">
            <a:avLst/>
          </a:prstGeom>
          <a:ln w="0">
            <a:noFill/>
          </a:ln>
        </p:spPr>
      </p:pic>
    </p:spTree>
    <p:extLst>
      <p:ext uri="{BB962C8B-B14F-4D97-AF65-F5344CB8AC3E}">
        <p14:creationId xmlns:p14="http://schemas.microsoft.com/office/powerpoint/2010/main" val="1815926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4F0D9-EAA0-39F8-71E8-86E692778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672DF2-B012-3135-B889-4210862B7B26}"/>
              </a:ext>
            </a:extLst>
          </p:cNvPr>
          <p:cNvSpPr>
            <a:spLocks noGrp="1"/>
          </p:cNvSpPr>
          <p:nvPr>
            <p:ph type="title"/>
          </p:nvPr>
        </p:nvSpPr>
        <p:spPr/>
        <p:txBody>
          <a:bodyPr>
            <a:normAutofit/>
          </a:bodyPr>
          <a:lstStyle/>
          <a:p>
            <a:r>
              <a:rPr lang="en-GB" b="1" dirty="0"/>
              <a:t>Motor Control – Directional Control</a:t>
            </a:r>
          </a:p>
        </p:txBody>
      </p:sp>
      <p:sp>
        <p:nvSpPr>
          <p:cNvPr id="6" name="Content Placeholder 5">
            <a:extLst>
              <a:ext uri="{FF2B5EF4-FFF2-40B4-BE49-F238E27FC236}">
                <a16:creationId xmlns:a16="http://schemas.microsoft.com/office/drawing/2014/main" id="{E0415A05-0EF6-CDA1-A8C6-5C555C4C6585}"/>
              </a:ext>
            </a:extLst>
          </p:cNvPr>
          <p:cNvSpPr>
            <a:spLocks noGrp="1"/>
          </p:cNvSpPr>
          <p:nvPr>
            <p:ph idx="1"/>
          </p:nvPr>
        </p:nvSpPr>
        <p:spPr/>
        <p:txBody>
          <a:bodyPr>
            <a:normAutofit/>
          </a:bodyPr>
          <a:lstStyle/>
          <a:p>
            <a:endParaRPr lang="en-GB" dirty="0"/>
          </a:p>
          <a:p>
            <a:pPr marL="0" indent="0">
              <a:buNone/>
            </a:pPr>
            <a:endParaRPr lang="en-GB" dirty="0"/>
          </a:p>
        </p:txBody>
      </p:sp>
      <p:sp>
        <p:nvSpPr>
          <p:cNvPr id="4" name="Slide Number Placeholder 3">
            <a:extLst>
              <a:ext uri="{FF2B5EF4-FFF2-40B4-BE49-F238E27FC236}">
                <a16:creationId xmlns:a16="http://schemas.microsoft.com/office/drawing/2014/main" id="{FE62FC28-DC67-EB8D-CCFD-2D780285CA3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9" name="Picture 8" descr="A diagram of a motor&#10;&#10;Description automatically generated">
            <a:extLst>
              <a:ext uri="{FF2B5EF4-FFF2-40B4-BE49-F238E27FC236}">
                <a16:creationId xmlns:a16="http://schemas.microsoft.com/office/drawing/2014/main" id="{6E54A635-09B7-457B-6B7B-AD60997C7E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0" y="2286794"/>
            <a:ext cx="6096000" cy="3429000"/>
          </a:xfrm>
          <a:prstGeom prst="rect">
            <a:avLst/>
          </a:prstGeom>
        </p:spPr>
      </p:pic>
      <p:sp>
        <p:nvSpPr>
          <p:cNvPr id="10" name="TextBox 9">
            <a:extLst>
              <a:ext uri="{FF2B5EF4-FFF2-40B4-BE49-F238E27FC236}">
                <a16:creationId xmlns:a16="http://schemas.microsoft.com/office/drawing/2014/main" id="{9683CE65-7B43-AC13-EB8A-8A405EB830D4}"/>
              </a:ext>
            </a:extLst>
          </p:cNvPr>
          <p:cNvSpPr txBox="1"/>
          <p:nvPr/>
        </p:nvSpPr>
        <p:spPr>
          <a:xfrm>
            <a:off x="3784630" y="5820103"/>
            <a:ext cx="4622740" cy="369332"/>
          </a:xfrm>
          <a:prstGeom prst="rect">
            <a:avLst/>
          </a:prstGeom>
          <a:noFill/>
        </p:spPr>
        <p:txBody>
          <a:bodyPr wrap="none" rtlCol="0">
            <a:spAutoFit/>
          </a:bodyPr>
          <a:lstStyle/>
          <a:p>
            <a:r>
              <a:rPr lang="en-GB" dirty="0"/>
              <a:t>https://www.cs2n.org/u/mp/badge_pages/459</a:t>
            </a:r>
          </a:p>
        </p:txBody>
      </p:sp>
    </p:spTree>
    <p:extLst>
      <p:ext uri="{BB962C8B-B14F-4D97-AF65-F5344CB8AC3E}">
        <p14:creationId xmlns:p14="http://schemas.microsoft.com/office/powerpoint/2010/main" val="31925567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A5DE6-41BE-32AC-B807-51C52D48CA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08BA0E-A61B-FB4E-B791-F91F46F484E4}"/>
              </a:ext>
            </a:extLst>
          </p:cNvPr>
          <p:cNvSpPr>
            <a:spLocks noGrp="1"/>
          </p:cNvSpPr>
          <p:nvPr>
            <p:ph type="title"/>
          </p:nvPr>
        </p:nvSpPr>
        <p:spPr/>
        <p:txBody>
          <a:bodyPr>
            <a:normAutofit/>
          </a:bodyPr>
          <a:lstStyle/>
          <a:p>
            <a:r>
              <a:rPr lang="en-GB" b="1" dirty="0"/>
              <a:t>Motor Control – Directional Control</a:t>
            </a:r>
          </a:p>
        </p:txBody>
      </p:sp>
      <p:sp>
        <p:nvSpPr>
          <p:cNvPr id="6" name="Content Placeholder 5">
            <a:extLst>
              <a:ext uri="{FF2B5EF4-FFF2-40B4-BE49-F238E27FC236}">
                <a16:creationId xmlns:a16="http://schemas.microsoft.com/office/drawing/2014/main" id="{62132463-5E34-ABA4-26A8-74E845C86A64}"/>
              </a:ext>
            </a:extLst>
          </p:cNvPr>
          <p:cNvSpPr>
            <a:spLocks noGrp="1"/>
          </p:cNvSpPr>
          <p:nvPr>
            <p:ph idx="1"/>
          </p:nvPr>
        </p:nvSpPr>
        <p:spPr/>
        <p:txBody>
          <a:bodyPr>
            <a:normAutofit/>
          </a:bodyPr>
          <a:lstStyle/>
          <a:p>
            <a:r>
              <a:rPr lang="en-GB" dirty="0"/>
              <a:t>The H-Bridge circuit is an open-loop control system and assumes that the supply voltage and load driven by the motor remain constant.</a:t>
            </a:r>
          </a:p>
          <a:p>
            <a:r>
              <a:rPr lang="en-GB" dirty="0"/>
              <a:t>A closed loop control system can be used to modify motor speed if conditions change.</a:t>
            </a:r>
          </a:p>
          <a:p>
            <a:r>
              <a:rPr lang="en-GB" dirty="0"/>
              <a:t>A tachometer can be used to provide data on the motor speed which is used to create the error signal of the system.</a:t>
            </a:r>
          </a:p>
          <a:p>
            <a:pPr marL="0" indent="0">
              <a:buNone/>
            </a:pPr>
            <a:endParaRPr lang="en-GB" dirty="0"/>
          </a:p>
          <a:p>
            <a:pPr marL="0" indent="0">
              <a:buNone/>
            </a:pPr>
            <a:endParaRPr lang="en-GB" dirty="0"/>
          </a:p>
        </p:txBody>
      </p:sp>
      <p:sp>
        <p:nvSpPr>
          <p:cNvPr id="4" name="Slide Number Placeholder 3">
            <a:extLst>
              <a:ext uri="{FF2B5EF4-FFF2-40B4-BE49-F238E27FC236}">
                <a16:creationId xmlns:a16="http://schemas.microsoft.com/office/drawing/2014/main" id="{C6F377D3-87CC-85B3-915D-1AEB8CA989B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34A369D3-31FF-4FEA-490E-FD4DFFCCBEA0}"/>
              </a:ext>
            </a:extLst>
          </p:cNvPr>
          <p:cNvPicPr/>
          <p:nvPr/>
        </p:nvPicPr>
        <p:blipFill>
          <a:blip r:embed="rId2"/>
          <a:stretch/>
        </p:blipFill>
        <p:spPr>
          <a:xfrm>
            <a:off x="3210780" y="4605035"/>
            <a:ext cx="5770440" cy="2116440"/>
          </a:xfrm>
          <a:prstGeom prst="rect">
            <a:avLst/>
          </a:prstGeom>
          <a:ln w="0">
            <a:noFill/>
          </a:ln>
        </p:spPr>
      </p:pic>
    </p:spTree>
    <p:extLst>
      <p:ext uri="{BB962C8B-B14F-4D97-AF65-F5344CB8AC3E}">
        <p14:creationId xmlns:p14="http://schemas.microsoft.com/office/powerpoint/2010/main" val="3483550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FF4A3-F1B7-112C-708F-42804FEAEB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F7D2B6-0A3A-42C2-7CAE-91C5BEA3A9FF}"/>
              </a:ext>
            </a:extLst>
          </p:cNvPr>
          <p:cNvSpPr>
            <a:spLocks noGrp="1"/>
          </p:cNvSpPr>
          <p:nvPr>
            <p:ph type="title"/>
          </p:nvPr>
        </p:nvSpPr>
        <p:spPr/>
        <p:txBody>
          <a:bodyPr>
            <a:normAutofit/>
          </a:bodyPr>
          <a:lstStyle/>
          <a:p>
            <a:r>
              <a:rPr lang="en-GB" b="1" dirty="0"/>
              <a:t>Motor Control – Directional Control</a:t>
            </a:r>
          </a:p>
        </p:txBody>
      </p:sp>
      <p:sp>
        <p:nvSpPr>
          <p:cNvPr id="6" name="Content Placeholder 5">
            <a:extLst>
              <a:ext uri="{FF2B5EF4-FFF2-40B4-BE49-F238E27FC236}">
                <a16:creationId xmlns:a16="http://schemas.microsoft.com/office/drawing/2014/main" id="{30AD821F-ECA1-39AB-FF7F-290736EBE125}"/>
              </a:ext>
            </a:extLst>
          </p:cNvPr>
          <p:cNvSpPr>
            <a:spLocks noGrp="1"/>
          </p:cNvSpPr>
          <p:nvPr>
            <p:ph idx="1"/>
          </p:nvPr>
        </p:nvSpPr>
        <p:spPr/>
        <p:txBody>
          <a:bodyPr>
            <a:normAutofit/>
          </a:bodyPr>
          <a:lstStyle/>
          <a:p>
            <a:r>
              <a:rPr lang="en-GB" dirty="0"/>
              <a:t>However ADC and DAC must be used on the signals entering and leaving the microprocessor.</a:t>
            </a:r>
          </a:p>
          <a:p>
            <a:r>
              <a:rPr lang="en-GB" dirty="0"/>
              <a:t>Alternatively, a digital feedback signal can be provided by replacing the tachometer with an encoder for measuring the output speed. However, DAC must be used to condition the output from the microprocessor.</a:t>
            </a:r>
          </a:p>
          <a:p>
            <a:pPr marL="0" indent="0">
              <a:buNone/>
            </a:pPr>
            <a:endParaRPr lang="en-GB" dirty="0"/>
          </a:p>
          <a:p>
            <a:pPr marL="0" indent="0">
              <a:buNone/>
            </a:pPr>
            <a:endParaRPr lang="en-GB" dirty="0"/>
          </a:p>
        </p:txBody>
      </p:sp>
      <p:sp>
        <p:nvSpPr>
          <p:cNvPr id="4" name="Slide Number Placeholder 3">
            <a:extLst>
              <a:ext uri="{FF2B5EF4-FFF2-40B4-BE49-F238E27FC236}">
                <a16:creationId xmlns:a16="http://schemas.microsoft.com/office/drawing/2014/main" id="{35812E41-0C55-9E38-E962-C597113061A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EE90869D-4EF7-FEB4-2444-C9611FF7FA9D}"/>
              </a:ext>
            </a:extLst>
          </p:cNvPr>
          <p:cNvPicPr/>
          <p:nvPr/>
        </p:nvPicPr>
        <p:blipFill>
          <a:blip r:embed="rId2"/>
          <a:stretch/>
        </p:blipFill>
        <p:spPr>
          <a:xfrm>
            <a:off x="3091620" y="4405340"/>
            <a:ext cx="6008760" cy="1906560"/>
          </a:xfrm>
          <a:prstGeom prst="rect">
            <a:avLst/>
          </a:prstGeom>
          <a:ln w="0">
            <a:noFill/>
          </a:ln>
        </p:spPr>
      </p:pic>
    </p:spTree>
    <p:extLst>
      <p:ext uri="{BB962C8B-B14F-4D97-AF65-F5344CB8AC3E}">
        <p14:creationId xmlns:p14="http://schemas.microsoft.com/office/powerpoint/2010/main" val="51844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DF989-FCCF-6BC3-8ECF-BA9B96F039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D0C7F8-1F5A-7B90-1506-2B0F78FD0ED5}"/>
              </a:ext>
            </a:extLst>
          </p:cNvPr>
          <p:cNvSpPr>
            <a:spLocks noGrp="1"/>
          </p:cNvSpPr>
          <p:nvPr>
            <p:ph type="title"/>
          </p:nvPr>
        </p:nvSpPr>
        <p:spPr/>
        <p:txBody>
          <a:bodyPr>
            <a:normAutofit/>
          </a:bodyPr>
          <a:lstStyle/>
          <a:p>
            <a:r>
              <a:rPr lang="en-GB" b="1" dirty="0"/>
              <a:t>Motor Control – Directional Control</a:t>
            </a:r>
          </a:p>
        </p:txBody>
      </p:sp>
      <p:sp>
        <p:nvSpPr>
          <p:cNvPr id="6" name="Content Placeholder 5">
            <a:extLst>
              <a:ext uri="{FF2B5EF4-FFF2-40B4-BE49-F238E27FC236}">
                <a16:creationId xmlns:a16="http://schemas.microsoft.com/office/drawing/2014/main" id="{FFE32462-A787-08A8-9F2B-BA8993A5F6E2}"/>
              </a:ext>
            </a:extLst>
          </p:cNvPr>
          <p:cNvSpPr>
            <a:spLocks noGrp="1"/>
          </p:cNvSpPr>
          <p:nvPr>
            <p:ph idx="1"/>
          </p:nvPr>
        </p:nvSpPr>
        <p:spPr/>
        <p:txBody>
          <a:bodyPr>
            <a:normAutofit/>
          </a:bodyPr>
          <a:lstStyle/>
          <a:p>
            <a:r>
              <a:rPr lang="en-GB" dirty="0"/>
              <a:t>A fully digital system can be obtained by using PWM to control the average voltage applied to the armature.</a:t>
            </a:r>
          </a:p>
          <a:p>
            <a:pPr marL="0" indent="0">
              <a:buNone/>
            </a:pPr>
            <a:endParaRPr lang="en-GB" dirty="0"/>
          </a:p>
          <a:p>
            <a:pPr marL="0" indent="0">
              <a:buNone/>
            </a:pPr>
            <a:endParaRPr lang="en-GB" dirty="0"/>
          </a:p>
        </p:txBody>
      </p:sp>
      <p:sp>
        <p:nvSpPr>
          <p:cNvPr id="4" name="Slide Number Placeholder 3">
            <a:extLst>
              <a:ext uri="{FF2B5EF4-FFF2-40B4-BE49-F238E27FC236}">
                <a16:creationId xmlns:a16="http://schemas.microsoft.com/office/drawing/2014/main" id="{3A69CF9A-8645-813B-9105-FE0B48A24EA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B355B1F0-DE18-F61A-EB47-3AED5E0302F5}"/>
              </a:ext>
            </a:extLst>
          </p:cNvPr>
          <p:cNvPicPr/>
          <p:nvPr/>
        </p:nvPicPr>
        <p:blipFill>
          <a:blip r:embed="rId2"/>
          <a:stretch/>
        </p:blipFill>
        <p:spPr>
          <a:xfrm>
            <a:off x="2645220" y="3247892"/>
            <a:ext cx="6901560" cy="2402640"/>
          </a:xfrm>
          <a:prstGeom prst="rect">
            <a:avLst/>
          </a:prstGeom>
          <a:ln w="0">
            <a:noFill/>
          </a:ln>
        </p:spPr>
      </p:pic>
    </p:spTree>
    <p:extLst>
      <p:ext uri="{BB962C8B-B14F-4D97-AF65-F5344CB8AC3E}">
        <p14:creationId xmlns:p14="http://schemas.microsoft.com/office/powerpoint/2010/main" val="3046616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1B8EE-990B-0080-D5DD-B99881962E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75D8B5-EDEB-7B1C-A69A-88F12D5CEA7E}"/>
              </a:ext>
            </a:extLst>
          </p:cNvPr>
          <p:cNvSpPr>
            <a:spLocks noGrp="1"/>
          </p:cNvSpPr>
          <p:nvPr>
            <p:ph type="title"/>
          </p:nvPr>
        </p:nvSpPr>
        <p:spPr/>
        <p:txBody>
          <a:bodyPr>
            <a:normAutofit/>
          </a:bodyPr>
          <a:lstStyle/>
          <a:p>
            <a:r>
              <a:rPr lang="en-GB" b="1" dirty="0"/>
              <a:t>Summary</a:t>
            </a:r>
          </a:p>
        </p:txBody>
      </p:sp>
      <p:sp>
        <p:nvSpPr>
          <p:cNvPr id="3" name="Subtitle 2">
            <a:extLst>
              <a:ext uri="{FF2B5EF4-FFF2-40B4-BE49-F238E27FC236}">
                <a16:creationId xmlns:a16="http://schemas.microsoft.com/office/drawing/2014/main" id="{73FCA411-8DBD-EC19-76C5-D27E66E21918}"/>
              </a:ext>
            </a:extLst>
          </p:cNvPr>
          <p:cNvSpPr>
            <a:spLocks noGrp="1"/>
          </p:cNvSpPr>
          <p:nvPr>
            <p:ph type="body" idx="1"/>
          </p:nvPr>
        </p:nvSpPr>
        <p:spPr/>
        <p:txBody>
          <a:bodyPr>
            <a:normAutofit/>
          </a:bodyPr>
          <a:lstStyle/>
          <a:p>
            <a:endParaRPr lang="en-GB" sz="3600" dirty="0"/>
          </a:p>
          <a:p>
            <a:endParaRPr lang="en-GB" sz="3600" dirty="0"/>
          </a:p>
        </p:txBody>
      </p:sp>
      <p:sp>
        <p:nvSpPr>
          <p:cNvPr id="4" name="Slide Number Placeholder 3">
            <a:extLst>
              <a:ext uri="{FF2B5EF4-FFF2-40B4-BE49-F238E27FC236}">
                <a16:creationId xmlns:a16="http://schemas.microsoft.com/office/drawing/2014/main" id="{E1632145-886A-18A9-B237-5F7C99A12076}"/>
              </a:ext>
            </a:extLst>
          </p:cNvPr>
          <p:cNvSpPr>
            <a:spLocks noGrp="1"/>
          </p:cNvSpPr>
          <p:nvPr>
            <p:ph type="sldNum" sz="quarter" idx="12"/>
          </p:nvPr>
        </p:nvSpPr>
        <p:spPr/>
        <p:txBody>
          <a:bodyPr/>
          <a:lstStyle/>
          <a:p>
            <a:fld id="{1ED87AFC-F3F3-4E09-A9D9-1873FFB55ECB}" type="slidenum">
              <a:rPr lang="en-GB" smtClean="0"/>
              <a:t>42</a:t>
            </a:fld>
            <a:endParaRPr lang="en-GB"/>
          </a:p>
        </p:txBody>
      </p:sp>
    </p:spTree>
    <p:extLst>
      <p:ext uri="{BB962C8B-B14F-4D97-AF65-F5344CB8AC3E}">
        <p14:creationId xmlns:p14="http://schemas.microsoft.com/office/powerpoint/2010/main" val="18277971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6D4A2-AD94-5971-8261-FF008471DC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2C5892-D457-A13C-F62F-9F0C32C0677E}"/>
              </a:ext>
            </a:extLst>
          </p:cNvPr>
          <p:cNvSpPr>
            <a:spLocks noGrp="1"/>
          </p:cNvSpPr>
          <p:nvPr>
            <p:ph type="title"/>
          </p:nvPr>
        </p:nvSpPr>
        <p:spPr/>
        <p:txBody>
          <a:bodyPr>
            <a:normAutofit/>
          </a:bodyPr>
          <a:lstStyle/>
          <a:p>
            <a:r>
              <a:rPr lang="en-GB" b="1" dirty="0"/>
              <a:t>Electrical Motor Summary</a:t>
            </a:r>
          </a:p>
        </p:txBody>
      </p:sp>
      <p:sp>
        <p:nvSpPr>
          <p:cNvPr id="4" name="Slide Number Placeholder 3">
            <a:extLst>
              <a:ext uri="{FF2B5EF4-FFF2-40B4-BE49-F238E27FC236}">
                <a16:creationId xmlns:a16="http://schemas.microsoft.com/office/drawing/2014/main" id="{91C4454B-02FC-377E-0758-1FBBF92D5B3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5" name="Content Placeholder 4">
            <a:extLst>
              <a:ext uri="{FF2B5EF4-FFF2-40B4-BE49-F238E27FC236}">
                <a16:creationId xmlns:a16="http://schemas.microsoft.com/office/drawing/2014/main" id="{21D3160D-4E3B-F7AB-C1E4-9E60C2EF7AB3}"/>
              </a:ext>
            </a:extLst>
          </p:cNvPr>
          <p:cNvGraphicFramePr>
            <a:graphicFrameLocks noGrp="1"/>
          </p:cNvGraphicFramePr>
          <p:nvPr>
            <p:ph idx="1"/>
            <p:extLst>
              <p:ext uri="{D42A27DB-BD31-4B8C-83A1-F6EECF244321}">
                <p14:modId xmlns:p14="http://schemas.microsoft.com/office/powerpoint/2010/main" val="4125353989"/>
              </p:ext>
            </p:extLst>
          </p:nvPr>
        </p:nvGraphicFramePr>
        <p:xfrm>
          <a:off x="838200" y="1825624"/>
          <a:ext cx="10982781" cy="4183289"/>
        </p:xfrm>
        <a:graphic>
          <a:graphicData uri="http://schemas.openxmlformats.org/drawingml/2006/table">
            <a:tbl>
              <a:tblPr/>
              <a:tblGrid>
                <a:gridCol w="2352446">
                  <a:extLst>
                    <a:ext uri="{9D8B030D-6E8A-4147-A177-3AD203B41FA5}">
                      <a16:colId xmlns:a16="http://schemas.microsoft.com/office/drawing/2014/main" val="20000"/>
                    </a:ext>
                  </a:extLst>
                </a:gridCol>
                <a:gridCol w="2040939">
                  <a:extLst>
                    <a:ext uri="{9D8B030D-6E8A-4147-A177-3AD203B41FA5}">
                      <a16:colId xmlns:a16="http://schemas.microsoft.com/office/drawing/2014/main" val="20001"/>
                    </a:ext>
                  </a:extLst>
                </a:gridCol>
                <a:gridCol w="2196920">
                  <a:extLst>
                    <a:ext uri="{9D8B030D-6E8A-4147-A177-3AD203B41FA5}">
                      <a16:colId xmlns:a16="http://schemas.microsoft.com/office/drawing/2014/main" val="20002"/>
                    </a:ext>
                  </a:extLst>
                </a:gridCol>
                <a:gridCol w="2196920">
                  <a:extLst>
                    <a:ext uri="{9D8B030D-6E8A-4147-A177-3AD203B41FA5}">
                      <a16:colId xmlns:a16="http://schemas.microsoft.com/office/drawing/2014/main" val="20003"/>
                    </a:ext>
                  </a:extLst>
                </a:gridCol>
                <a:gridCol w="2195556">
                  <a:extLst>
                    <a:ext uri="{9D8B030D-6E8A-4147-A177-3AD203B41FA5}">
                      <a16:colId xmlns:a16="http://schemas.microsoft.com/office/drawing/2014/main" val="20004"/>
                    </a:ext>
                  </a:extLst>
                </a:gridCol>
              </a:tblGrid>
              <a:tr h="542977">
                <a:tc>
                  <a:txBody>
                    <a:bodyPr/>
                    <a:lstStyle/>
                    <a:p>
                      <a:pPr algn="ctr">
                        <a:lnSpc>
                          <a:spcPct val="100000"/>
                        </a:lnSpc>
                      </a:pPr>
                      <a:r>
                        <a:rPr lang="en-GB" sz="2300" b="1" strike="noStrike" spc="-1" dirty="0">
                          <a:solidFill>
                            <a:srgbClr val="000000"/>
                          </a:solidFill>
                          <a:latin typeface="Calibri"/>
                          <a:ea typeface="DejaVu Sans"/>
                        </a:rPr>
                        <a:t>Motor Feature</a:t>
                      </a:r>
                      <a:endParaRPr lang="en-GB" sz="2300" b="0" strike="noStrike" spc="-1" dirty="0">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1" strike="noStrike" spc="-1">
                          <a:solidFill>
                            <a:srgbClr val="000000"/>
                          </a:solidFill>
                          <a:latin typeface="Calibri"/>
                          <a:ea typeface="DejaVu Sans"/>
                        </a:rPr>
                        <a:t>Brushed DC</a:t>
                      </a:r>
                      <a:endParaRPr lang="en-GB" sz="2300" b="0" strike="noStrike" spc="-1">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1" strike="noStrike" spc="-1">
                          <a:solidFill>
                            <a:srgbClr val="000000"/>
                          </a:solidFill>
                          <a:latin typeface="Calibri"/>
                          <a:ea typeface="DejaVu Sans"/>
                        </a:rPr>
                        <a:t>Stepper</a:t>
                      </a:r>
                      <a:endParaRPr lang="en-GB" sz="2300" b="0" strike="noStrike" spc="-1">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1" strike="noStrike" spc="-1">
                          <a:solidFill>
                            <a:srgbClr val="000000"/>
                          </a:solidFill>
                          <a:latin typeface="Calibri"/>
                          <a:ea typeface="DejaVu Sans"/>
                        </a:rPr>
                        <a:t>Brushless DC</a:t>
                      </a:r>
                      <a:endParaRPr lang="en-GB" sz="2300" b="0" strike="noStrike" spc="-1">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1" strike="noStrike" spc="-1">
                          <a:solidFill>
                            <a:srgbClr val="000000"/>
                          </a:solidFill>
                          <a:latin typeface="Calibri"/>
                          <a:ea typeface="DejaVu Sans"/>
                        </a:rPr>
                        <a:t>PMAC</a:t>
                      </a:r>
                      <a:endParaRPr lang="en-GB" sz="2300" b="0" strike="noStrike" spc="-1">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extLst>
                  <a:ext uri="{0D108BD9-81ED-4DB2-BD59-A6C34878D82A}">
                    <a16:rowId xmlns:a16="http://schemas.microsoft.com/office/drawing/2014/main" val="10000"/>
                  </a:ext>
                </a:extLst>
              </a:tr>
              <a:tr h="542977">
                <a:tc>
                  <a:txBody>
                    <a:bodyPr/>
                    <a:lstStyle/>
                    <a:p>
                      <a:pPr algn="ctr">
                        <a:lnSpc>
                          <a:spcPct val="100000"/>
                        </a:lnSpc>
                      </a:pPr>
                      <a:r>
                        <a:rPr lang="en-GB" sz="2300" b="1" strike="noStrike" spc="-1" dirty="0">
                          <a:solidFill>
                            <a:srgbClr val="000000"/>
                          </a:solidFill>
                          <a:latin typeface="Calibri"/>
                          <a:ea typeface="DejaVu Sans"/>
                        </a:rPr>
                        <a:t>Max Speed</a:t>
                      </a:r>
                      <a:endParaRPr lang="en-GB" sz="2300" b="0" strike="noStrike" spc="-1" dirty="0">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0" strike="noStrike" spc="-1">
                          <a:solidFill>
                            <a:srgbClr val="000000"/>
                          </a:solidFill>
                          <a:latin typeface="Calibri"/>
                          <a:ea typeface="DejaVu Sans"/>
                        </a:rPr>
                        <a:t>Medium</a:t>
                      </a:r>
                      <a:endParaRPr lang="en-GB" sz="2300" b="0" strike="noStrike" spc="-1">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0" strike="noStrike" spc="-1">
                          <a:solidFill>
                            <a:srgbClr val="000000"/>
                          </a:solidFill>
                          <a:latin typeface="Calibri"/>
                          <a:ea typeface="DejaVu Sans"/>
                        </a:rPr>
                        <a:t>Low</a:t>
                      </a:r>
                      <a:endParaRPr lang="en-GB" sz="2300" b="0" strike="noStrike" spc="-1">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0" strike="noStrike" spc="-1">
                          <a:solidFill>
                            <a:srgbClr val="000000"/>
                          </a:solidFill>
                          <a:latin typeface="Calibri"/>
                          <a:ea typeface="DejaVu Sans"/>
                        </a:rPr>
                        <a:t>High</a:t>
                      </a:r>
                      <a:endParaRPr lang="en-GB" sz="2300" b="0" strike="noStrike" spc="-1">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0" strike="noStrike" spc="-1">
                          <a:solidFill>
                            <a:srgbClr val="000000"/>
                          </a:solidFill>
                          <a:latin typeface="Calibri"/>
                          <a:ea typeface="DejaVu Sans"/>
                        </a:rPr>
                        <a:t>High(er)</a:t>
                      </a:r>
                      <a:endParaRPr lang="en-GB" sz="2300" b="0" strike="noStrike" spc="-1">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extLst>
                  <a:ext uri="{0D108BD9-81ED-4DB2-BD59-A6C34878D82A}">
                    <a16:rowId xmlns:a16="http://schemas.microsoft.com/office/drawing/2014/main" val="10001"/>
                  </a:ext>
                </a:extLst>
              </a:tr>
              <a:tr h="542977">
                <a:tc>
                  <a:txBody>
                    <a:bodyPr/>
                    <a:lstStyle/>
                    <a:p>
                      <a:pPr algn="ctr">
                        <a:lnSpc>
                          <a:spcPct val="100000"/>
                        </a:lnSpc>
                      </a:pPr>
                      <a:r>
                        <a:rPr lang="en-GB" sz="2300" b="1" strike="noStrike" spc="-1">
                          <a:solidFill>
                            <a:srgbClr val="000000"/>
                          </a:solidFill>
                          <a:latin typeface="Calibri"/>
                          <a:ea typeface="DejaVu Sans"/>
                        </a:rPr>
                        <a:t>Maintenance</a:t>
                      </a:r>
                      <a:endParaRPr lang="en-GB" sz="2300" b="0" strike="noStrike" spc="-1">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0" strike="noStrike" spc="-1" dirty="0">
                          <a:solidFill>
                            <a:srgbClr val="000000"/>
                          </a:solidFill>
                          <a:latin typeface="Calibri"/>
                          <a:ea typeface="DejaVu Sans"/>
                        </a:rPr>
                        <a:t>High</a:t>
                      </a:r>
                      <a:endParaRPr lang="en-GB" sz="2300" b="0" strike="noStrike" spc="-1" dirty="0">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0" strike="noStrike" spc="-1">
                          <a:solidFill>
                            <a:srgbClr val="000000"/>
                          </a:solidFill>
                          <a:latin typeface="Calibri"/>
                          <a:ea typeface="DejaVu Sans"/>
                        </a:rPr>
                        <a:t>Low</a:t>
                      </a:r>
                      <a:endParaRPr lang="en-GB" sz="2300" b="0" strike="noStrike" spc="-1">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0" strike="noStrike" spc="-1">
                          <a:solidFill>
                            <a:srgbClr val="000000"/>
                          </a:solidFill>
                          <a:latin typeface="Calibri"/>
                          <a:ea typeface="DejaVu Sans"/>
                        </a:rPr>
                        <a:t>Low(er)</a:t>
                      </a:r>
                      <a:endParaRPr lang="en-GB" sz="2300" b="0" strike="noStrike" spc="-1">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0" strike="noStrike" spc="-1">
                          <a:solidFill>
                            <a:srgbClr val="000000"/>
                          </a:solidFill>
                          <a:latin typeface="Calibri"/>
                          <a:ea typeface="DejaVu Sans"/>
                        </a:rPr>
                        <a:t>Low(est)</a:t>
                      </a:r>
                      <a:endParaRPr lang="en-GB" sz="2300" b="0" strike="noStrike" spc="-1">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extLst>
                  <a:ext uri="{0D108BD9-81ED-4DB2-BD59-A6C34878D82A}">
                    <a16:rowId xmlns:a16="http://schemas.microsoft.com/office/drawing/2014/main" val="10002"/>
                  </a:ext>
                </a:extLst>
              </a:tr>
              <a:tr h="953621">
                <a:tc>
                  <a:txBody>
                    <a:bodyPr/>
                    <a:lstStyle/>
                    <a:p>
                      <a:pPr algn="ctr">
                        <a:lnSpc>
                          <a:spcPct val="100000"/>
                        </a:lnSpc>
                      </a:pPr>
                      <a:r>
                        <a:rPr lang="en-GB" sz="2300" b="1" strike="noStrike" spc="-1">
                          <a:solidFill>
                            <a:srgbClr val="000000"/>
                          </a:solidFill>
                          <a:latin typeface="Calibri"/>
                          <a:ea typeface="DejaVu Sans"/>
                        </a:rPr>
                        <a:t>Motor &amp; Controller Cost</a:t>
                      </a:r>
                      <a:endParaRPr lang="en-GB" sz="2300" b="0" strike="noStrike" spc="-1">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0" strike="noStrike" spc="-1" dirty="0">
                          <a:solidFill>
                            <a:srgbClr val="000000"/>
                          </a:solidFill>
                          <a:latin typeface="Calibri"/>
                          <a:ea typeface="DejaVu Sans"/>
                        </a:rPr>
                        <a:t>Low</a:t>
                      </a:r>
                      <a:endParaRPr lang="en-GB" sz="2300" b="0" strike="noStrike" spc="-1" dirty="0">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0" strike="noStrike" spc="-1">
                          <a:solidFill>
                            <a:srgbClr val="000000"/>
                          </a:solidFill>
                          <a:latin typeface="Calibri"/>
                          <a:ea typeface="DejaVu Sans"/>
                        </a:rPr>
                        <a:t>Low</a:t>
                      </a:r>
                      <a:endParaRPr lang="en-GB" sz="2300" b="0" strike="noStrike" spc="-1">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0" strike="noStrike" spc="-1" dirty="0">
                          <a:solidFill>
                            <a:srgbClr val="000000"/>
                          </a:solidFill>
                          <a:latin typeface="Calibri"/>
                          <a:ea typeface="DejaVu Sans"/>
                        </a:rPr>
                        <a:t>Medium</a:t>
                      </a:r>
                      <a:endParaRPr lang="en-GB" sz="2300" b="0" strike="noStrike" spc="-1" dirty="0">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0" strike="noStrike" spc="-1">
                          <a:solidFill>
                            <a:srgbClr val="000000"/>
                          </a:solidFill>
                          <a:latin typeface="Calibri"/>
                          <a:ea typeface="DejaVu Sans"/>
                        </a:rPr>
                        <a:t>High</a:t>
                      </a:r>
                      <a:endParaRPr lang="en-GB" sz="2300" b="0" strike="noStrike" spc="-1">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extLst>
                  <a:ext uri="{0D108BD9-81ED-4DB2-BD59-A6C34878D82A}">
                    <a16:rowId xmlns:a16="http://schemas.microsoft.com/office/drawing/2014/main" val="10003"/>
                  </a:ext>
                </a:extLst>
              </a:tr>
              <a:tr h="542977">
                <a:tc>
                  <a:txBody>
                    <a:bodyPr/>
                    <a:lstStyle/>
                    <a:p>
                      <a:pPr algn="ctr">
                        <a:lnSpc>
                          <a:spcPct val="100000"/>
                        </a:lnSpc>
                      </a:pPr>
                      <a:r>
                        <a:rPr lang="en-GB" sz="2300" b="1" strike="noStrike" spc="-1">
                          <a:solidFill>
                            <a:srgbClr val="000000"/>
                          </a:solidFill>
                          <a:latin typeface="Calibri"/>
                          <a:ea typeface="DejaVu Sans"/>
                        </a:rPr>
                        <a:t>Torque Ripple</a:t>
                      </a:r>
                      <a:endParaRPr lang="en-GB" sz="2300" b="0" strike="noStrike" spc="-1">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0" strike="noStrike" spc="-1">
                          <a:solidFill>
                            <a:srgbClr val="000000"/>
                          </a:solidFill>
                          <a:latin typeface="Calibri"/>
                          <a:ea typeface="DejaVu Sans"/>
                        </a:rPr>
                        <a:t>Medium</a:t>
                      </a:r>
                      <a:endParaRPr lang="en-GB" sz="2300" b="0" strike="noStrike" spc="-1">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0" strike="noStrike" spc="-1">
                          <a:solidFill>
                            <a:srgbClr val="000000"/>
                          </a:solidFill>
                          <a:latin typeface="Calibri"/>
                          <a:ea typeface="DejaVu Sans"/>
                        </a:rPr>
                        <a:t>High</a:t>
                      </a:r>
                      <a:endParaRPr lang="en-GB" sz="2300" b="0" strike="noStrike" spc="-1">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0" strike="noStrike" spc="-1" dirty="0">
                          <a:solidFill>
                            <a:srgbClr val="000000"/>
                          </a:solidFill>
                          <a:latin typeface="Calibri"/>
                          <a:ea typeface="DejaVu Sans"/>
                        </a:rPr>
                        <a:t>Medium</a:t>
                      </a:r>
                      <a:endParaRPr lang="en-GB" sz="2300" b="0" strike="noStrike" spc="-1" dirty="0">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0" strike="noStrike" spc="-1" dirty="0">
                          <a:solidFill>
                            <a:srgbClr val="000000"/>
                          </a:solidFill>
                          <a:latin typeface="Calibri"/>
                          <a:ea typeface="DejaVu Sans"/>
                        </a:rPr>
                        <a:t>Low</a:t>
                      </a:r>
                      <a:endParaRPr lang="en-GB" sz="2300" b="0" strike="noStrike" spc="-1" dirty="0">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extLst>
                  <a:ext uri="{0D108BD9-81ED-4DB2-BD59-A6C34878D82A}">
                    <a16:rowId xmlns:a16="http://schemas.microsoft.com/office/drawing/2014/main" val="10004"/>
                  </a:ext>
                </a:extLst>
              </a:tr>
              <a:tr h="1057760">
                <a:tc>
                  <a:txBody>
                    <a:bodyPr/>
                    <a:lstStyle/>
                    <a:p>
                      <a:pPr algn="ctr">
                        <a:lnSpc>
                          <a:spcPct val="100000"/>
                        </a:lnSpc>
                      </a:pPr>
                      <a:r>
                        <a:rPr lang="en-GB" sz="2300" b="1" strike="noStrike" spc="-1">
                          <a:solidFill>
                            <a:srgbClr val="000000"/>
                          </a:solidFill>
                          <a:latin typeface="Calibri"/>
                          <a:ea typeface="DejaVu Sans"/>
                        </a:rPr>
                        <a:t>Shaft Position Encoder?</a:t>
                      </a:r>
                      <a:endParaRPr lang="en-GB" sz="2300" b="0" strike="noStrike" spc="-1">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0" strike="noStrike" spc="-1" dirty="0">
                          <a:solidFill>
                            <a:srgbClr val="000000"/>
                          </a:solidFill>
                          <a:latin typeface="Calibri"/>
                          <a:ea typeface="DejaVu Sans"/>
                        </a:rPr>
                        <a:t>None</a:t>
                      </a:r>
                      <a:endParaRPr lang="en-GB" sz="2300" b="0" strike="noStrike" spc="-1" dirty="0">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0" strike="noStrike" spc="-1">
                          <a:solidFill>
                            <a:srgbClr val="000000"/>
                          </a:solidFill>
                          <a:latin typeface="Calibri"/>
                          <a:ea typeface="DejaVu Sans"/>
                        </a:rPr>
                        <a:t>None</a:t>
                      </a:r>
                      <a:endParaRPr lang="en-GB" sz="2300" b="0" strike="noStrike" spc="-1">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0" strike="noStrike" spc="-1">
                          <a:solidFill>
                            <a:srgbClr val="000000"/>
                          </a:solidFill>
                          <a:latin typeface="Calibri"/>
                          <a:ea typeface="DejaVu Sans"/>
                        </a:rPr>
                        <a:t>Low Resolution (cheap)</a:t>
                      </a:r>
                      <a:endParaRPr lang="en-GB" sz="2300" b="0" strike="noStrike" spc="-1">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tc>
                  <a:txBody>
                    <a:bodyPr/>
                    <a:lstStyle/>
                    <a:p>
                      <a:pPr algn="ctr">
                        <a:lnSpc>
                          <a:spcPct val="100000"/>
                        </a:lnSpc>
                      </a:pPr>
                      <a:r>
                        <a:rPr lang="en-GB" sz="2300" b="0" strike="noStrike" spc="-1" dirty="0">
                          <a:solidFill>
                            <a:srgbClr val="000000"/>
                          </a:solidFill>
                          <a:latin typeface="Calibri"/>
                          <a:ea typeface="DejaVu Sans"/>
                        </a:rPr>
                        <a:t>High Resolution (expensive)</a:t>
                      </a:r>
                      <a:endParaRPr lang="en-GB" sz="2300" b="0" strike="noStrike" spc="-1" dirty="0">
                        <a:solidFill>
                          <a:srgbClr val="000000"/>
                        </a:solidFill>
                        <a:latin typeface="Arial"/>
                      </a:endParaRPr>
                    </a:p>
                  </a:txBody>
                  <a:tcPr marL="115508" marR="115508" marT="57754" marB="57754">
                    <a:lnL w="720">
                      <a:solidFill>
                        <a:srgbClr val="000000"/>
                      </a:solidFill>
                    </a:lnL>
                    <a:lnR w="720">
                      <a:solidFill>
                        <a:srgbClr val="000000"/>
                      </a:solidFill>
                    </a:lnR>
                    <a:lnT w="720">
                      <a:solidFill>
                        <a:srgbClr val="000000"/>
                      </a:solidFill>
                    </a:lnT>
                    <a:lnB w="720">
                      <a:solidFill>
                        <a:srgbClr val="000000"/>
                      </a:solidFill>
                    </a:lnB>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884565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A482A-A87D-21CE-71EE-DEF967CE38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78176F-78E3-76DF-CC8F-7865F622FBBB}"/>
              </a:ext>
            </a:extLst>
          </p:cNvPr>
          <p:cNvSpPr>
            <a:spLocks noGrp="1"/>
          </p:cNvSpPr>
          <p:nvPr>
            <p:ph type="title"/>
          </p:nvPr>
        </p:nvSpPr>
        <p:spPr/>
        <p:txBody>
          <a:bodyPr>
            <a:normAutofit/>
          </a:bodyPr>
          <a:lstStyle/>
          <a:p>
            <a:r>
              <a:rPr lang="en-GB" b="1" dirty="0"/>
              <a:t>Torque Requirements</a:t>
            </a:r>
          </a:p>
        </p:txBody>
      </p:sp>
      <p:sp>
        <p:nvSpPr>
          <p:cNvPr id="3" name="Subtitle 2">
            <a:extLst>
              <a:ext uri="{FF2B5EF4-FFF2-40B4-BE49-F238E27FC236}">
                <a16:creationId xmlns:a16="http://schemas.microsoft.com/office/drawing/2014/main" id="{5D43B795-86E1-59D3-505C-8028629D91D0}"/>
              </a:ext>
            </a:extLst>
          </p:cNvPr>
          <p:cNvSpPr>
            <a:spLocks noGrp="1"/>
          </p:cNvSpPr>
          <p:nvPr>
            <p:ph type="body" idx="1"/>
          </p:nvPr>
        </p:nvSpPr>
        <p:spPr/>
        <p:txBody>
          <a:bodyPr>
            <a:normAutofit/>
          </a:bodyPr>
          <a:lstStyle/>
          <a:p>
            <a:endParaRPr lang="en-GB" sz="3600" dirty="0"/>
          </a:p>
          <a:p>
            <a:endParaRPr lang="en-GB" sz="3600" dirty="0"/>
          </a:p>
        </p:txBody>
      </p:sp>
      <p:sp>
        <p:nvSpPr>
          <p:cNvPr id="4" name="Slide Number Placeholder 3">
            <a:extLst>
              <a:ext uri="{FF2B5EF4-FFF2-40B4-BE49-F238E27FC236}">
                <a16:creationId xmlns:a16="http://schemas.microsoft.com/office/drawing/2014/main" id="{08BBDFEA-EFFD-B10B-527D-D97308CF4B7F}"/>
              </a:ext>
            </a:extLst>
          </p:cNvPr>
          <p:cNvSpPr>
            <a:spLocks noGrp="1"/>
          </p:cNvSpPr>
          <p:nvPr>
            <p:ph type="sldNum" sz="quarter" idx="12"/>
          </p:nvPr>
        </p:nvSpPr>
        <p:spPr/>
        <p:txBody>
          <a:bodyPr/>
          <a:lstStyle/>
          <a:p>
            <a:fld id="{1ED87AFC-F3F3-4E09-A9D9-1873FFB55ECB}" type="slidenum">
              <a:rPr lang="en-GB" smtClean="0"/>
              <a:t>44</a:t>
            </a:fld>
            <a:endParaRPr lang="en-GB"/>
          </a:p>
        </p:txBody>
      </p:sp>
    </p:spTree>
    <p:extLst>
      <p:ext uri="{BB962C8B-B14F-4D97-AF65-F5344CB8AC3E}">
        <p14:creationId xmlns:p14="http://schemas.microsoft.com/office/powerpoint/2010/main" val="39577229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7B5E6-9313-1ACE-1FDB-EB66B2EC9B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83A4E0-A20E-2508-A5E3-3E4972838744}"/>
              </a:ext>
            </a:extLst>
          </p:cNvPr>
          <p:cNvSpPr>
            <a:spLocks noGrp="1"/>
          </p:cNvSpPr>
          <p:nvPr>
            <p:ph type="title"/>
          </p:nvPr>
        </p:nvSpPr>
        <p:spPr/>
        <p:txBody>
          <a:bodyPr>
            <a:normAutofit/>
          </a:bodyPr>
          <a:lstStyle/>
          <a:p>
            <a:r>
              <a:rPr lang="en-GB" b="1" dirty="0"/>
              <a:t>Torque Requirements for Trapezoidal Motion</a:t>
            </a:r>
          </a:p>
        </p:txBody>
      </p:sp>
      <p:sp>
        <p:nvSpPr>
          <p:cNvPr id="6" name="Content Placeholder 5">
            <a:extLst>
              <a:ext uri="{FF2B5EF4-FFF2-40B4-BE49-F238E27FC236}">
                <a16:creationId xmlns:a16="http://schemas.microsoft.com/office/drawing/2014/main" id="{38059DF5-BED6-3CAF-4F9E-5729ABE499EA}"/>
              </a:ext>
            </a:extLst>
          </p:cNvPr>
          <p:cNvSpPr>
            <a:spLocks noGrp="1"/>
          </p:cNvSpPr>
          <p:nvPr>
            <p:ph idx="1"/>
          </p:nvPr>
        </p:nvSpPr>
        <p:spPr/>
        <p:txBody>
          <a:bodyPr>
            <a:normAutofit/>
          </a:bodyPr>
          <a:lstStyle/>
          <a:p>
            <a:r>
              <a:rPr lang="en-GB" dirty="0"/>
              <a:t>Consider a motor driving a purely inertial load. What are the torque requirements on the motor during a trapezoidal position change?</a:t>
            </a:r>
          </a:p>
          <a:p>
            <a:pPr marL="0" indent="0">
              <a:buNone/>
            </a:pPr>
            <a:endParaRPr lang="en-GB" dirty="0"/>
          </a:p>
          <a:p>
            <a:pPr marL="0" indent="0">
              <a:buNone/>
            </a:pPr>
            <a:endParaRPr lang="en-GB" dirty="0"/>
          </a:p>
        </p:txBody>
      </p:sp>
      <p:sp>
        <p:nvSpPr>
          <p:cNvPr id="4" name="Slide Number Placeholder 3">
            <a:extLst>
              <a:ext uri="{FF2B5EF4-FFF2-40B4-BE49-F238E27FC236}">
                <a16:creationId xmlns:a16="http://schemas.microsoft.com/office/drawing/2014/main" id="{C8316F44-DA8A-96BF-647D-5584955206E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7BB37AD2-71B6-3E45-EFDE-24CAB99F2F90}"/>
              </a:ext>
            </a:extLst>
          </p:cNvPr>
          <p:cNvPicPr/>
          <p:nvPr/>
        </p:nvPicPr>
        <p:blipFill>
          <a:blip r:embed="rId2"/>
          <a:stretch/>
        </p:blipFill>
        <p:spPr>
          <a:xfrm>
            <a:off x="3804420" y="2955103"/>
            <a:ext cx="4583160" cy="2757960"/>
          </a:xfrm>
          <a:prstGeom prst="rect">
            <a:avLst/>
          </a:prstGeom>
          <a:ln w="0">
            <a:noFill/>
          </a:ln>
        </p:spPr>
      </p:pic>
      <p:sp>
        <p:nvSpPr>
          <p:cNvPr id="7" name="TextBox 6">
            <a:extLst>
              <a:ext uri="{FF2B5EF4-FFF2-40B4-BE49-F238E27FC236}">
                <a16:creationId xmlns:a16="http://schemas.microsoft.com/office/drawing/2014/main" id="{38CB8774-6566-A2AD-F68D-CF851807E369}"/>
              </a:ext>
            </a:extLst>
          </p:cNvPr>
          <p:cNvSpPr txBox="1"/>
          <p:nvPr/>
        </p:nvSpPr>
        <p:spPr>
          <a:xfrm>
            <a:off x="8610600" y="3244334"/>
            <a:ext cx="3009314" cy="1938992"/>
          </a:xfrm>
          <a:prstGeom prst="rect">
            <a:avLst/>
          </a:prstGeom>
          <a:noFill/>
        </p:spPr>
        <p:txBody>
          <a:bodyPr wrap="square" rtlCol="0">
            <a:spAutoFit/>
          </a:bodyPr>
          <a:lstStyle/>
          <a:p>
            <a:r>
              <a:rPr lang="en-GB" sz="2400" dirty="0" err="1"/>
              <a:t>T</a:t>
            </a:r>
            <a:r>
              <a:rPr lang="en-GB" sz="2400" baseline="-25000" dirty="0" err="1"/>
              <a:t>acc</a:t>
            </a:r>
            <a:r>
              <a:rPr lang="en-GB" sz="2400" dirty="0"/>
              <a:t> – torque required for acceleration</a:t>
            </a:r>
          </a:p>
          <a:p>
            <a:endParaRPr lang="en-GB" sz="2400" dirty="0"/>
          </a:p>
          <a:p>
            <a:r>
              <a:rPr lang="en-GB" sz="2400" dirty="0" err="1"/>
              <a:t>T</a:t>
            </a:r>
            <a:r>
              <a:rPr lang="en-GB" sz="2400" baseline="-25000" dirty="0" err="1"/>
              <a:t>dec</a:t>
            </a:r>
            <a:r>
              <a:rPr lang="en-GB" sz="2400" baseline="-25000" dirty="0"/>
              <a:t> </a:t>
            </a:r>
            <a:r>
              <a:rPr lang="en-GB" sz="2400" dirty="0"/>
              <a:t>– torque required for deceleration</a:t>
            </a:r>
          </a:p>
        </p:txBody>
      </p:sp>
    </p:spTree>
    <p:extLst>
      <p:ext uri="{BB962C8B-B14F-4D97-AF65-F5344CB8AC3E}">
        <p14:creationId xmlns:p14="http://schemas.microsoft.com/office/powerpoint/2010/main" val="325867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3AE74-386B-798A-71BC-A279C502B6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DD4B33-F532-F79E-3F4D-CA8E64E6F8DD}"/>
              </a:ext>
            </a:extLst>
          </p:cNvPr>
          <p:cNvSpPr>
            <a:spLocks noGrp="1"/>
          </p:cNvSpPr>
          <p:nvPr>
            <p:ph type="title"/>
          </p:nvPr>
        </p:nvSpPr>
        <p:spPr/>
        <p:txBody>
          <a:bodyPr>
            <a:normAutofit/>
          </a:bodyPr>
          <a:lstStyle/>
          <a:p>
            <a:r>
              <a:rPr lang="en-GB" b="1" dirty="0"/>
              <a:t>Torque Requirements for Trapezoidal Motion</a:t>
            </a:r>
          </a:p>
        </p:txBody>
      </p:sp>
      <p:sp>
        <p:nvSpPr>
          <p:cNvPr id="6" name="Content Placeholder 5">
            <a:extLst>
              <a:ext uri="{FF2B5EF4-FFF2-40B4-BE49-F238E27FC236}">
                <a16:creationId xmlns:a16="http://schemas.microsoft.com/office/drawing/2014/main" id="{8188C6E2-8873-0F57-6149-CF54ECD3BF7B}"/>
              </a:ext>
            </a:extLst>
          </p:cNvPr>
          <p:cNvSpPr>
            <a:spLocks noGrp="1"/>
          </p:cNvSpPr>
          <p:nvPr>
            <p:ph idx="1"/>
          </p:nvPr>
        </p:nvSpPr>
        <p:spPr/>
        <p:txBody>
          <a:bodyPr>
            <a:normAutofit/>
          </a:bodyPr>
          <a:lstStyle/>
          <a:p>
            <a:r>
              <a:rPr lang="en-GB" dirty="0"/>
              <a:t>Consider now a motor driving an inertial plus a fixed load. What are the torque requirements on the motor during a trapezoidal position change?</a:t>
            </a:r>
          </a:p>
          <a:p>
            <a:pPr marL="0" indent="0">
              <a:buNone/>
            </a:pPr>
            <a:endParaRPr lang="en-GB" dirty="0"/>
          </a:p>
          <a:p>
            <a:pPr marL="0" indent="0">
              <a:buNone/>
            </a:pPr>
            <a:endParaRPr lang="en-GB" dirty="0"/>
          </a:p>
        </p:txBody>
      </p:sp>
      <p:sp>
        <p:nvSpPr>
          <p:cNvPr id="4" name="Slide Number Placeholder 3">
            <a:extLst>
              <a:ext uri="{FF2B5EF4-FFF2-40B4-BE49-F238E27FC236}">
                <a16:creationId xmlns:a16="http://schemas.microsoft.com/office/drawing/2014/main" id="{ECDA41D0-7170-8B88-70BD-87DB0922D89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73B7950D-6290-FE89-E82D-BFB66B9CC484}"/>
              </a:ext>
            </a:extLst>
          </p:cNvPr>
          <p:cNvPicPr/>
          <p:nvPr/>
        </p:nvPicPr>
        <p:blipFill>
          <a:blip r:embed="rId2"/>
          <a:stretch/>
        </p:blipFill>
        <p:spPr>
          <a:xfrm>
            <a:off x="3606240" y="3218537"/>
            <a:ext cx="4979520" cy="3048120"/>
          </a:xfrm>
          <a:prstGeom prst="rect">
            <a:avLst/>
          </a:prstGeom>
          <a:ln w="0">
            <a:noFill/>
          </a:ln>
        </p:spPr>
      </p:pic>
      <p:sp>
        <p:nvSpPr>
          <p:cNvPr id="7" name="TextBox 6">
            <a:extLst>
              <a:ext uri="{FF2B5EF4-FFF2-40B4-BE49-F238E27FC236}">
                <a16:creationId xmlns:a16="http://schemas.microsoft.com/office/drawing/2014/main" id="{284496FE-9CC9-B003-0393-0CE845959E8A}"/>
              </a:ext>
            </a:extLst>
          </p:cNvPr>
          <p:cNvSpPr txBox="1"/>
          <p:nvPr/>
        </p:nvSpPr>
        <p:spPr>
          <a:xfrm>
            <a:off x="8610600" y="3244334"/>
            <a:ext cx="3009314" cy="3847207"/>
          </a:xfrm>
          <a:prstGeom prst="rect">
            <a:avLst/>
          </a:prstGeom>
          <a:noFill/>
        </p:spPr>
        <p:txBody>
          <a:bodyPr wrap="square" rtlCol="0">
            <a:spAutoFit/>
          </a:bodyPr>
          <a:lstStyle/>
          <a:p>
            <a:r>
              <a:rPr lang="en-GB" sz="2000" dirty="0" err="1"/>
              <a:t>T</a:t>
            </a:r>
            <a:r>
              <a:rPr lang="en-GB" sz="2000" baseline="-25000" dirty="0" err="1"/>
              <a:t>acc</a:t>
            </a:r>
            <a:r>
              <a:rPr lang="en-GB" sz="2000" dirty="0"/>
              <a:t> – torque required for acceleration</a:t>
            </a:r>
          </a:p>
          <a:p>
            <a:endParaRPr lang="en-GB" sz="2000" dirty="0"/>
          </a:p>
          <a:p>
            <a:r>
              <a:rPr lang="en-GB" sz="2000" dirty="0"/>
              <a:t>T</a:t>
            </a:r>
            <a:r>
              <a:rPr lang="en-GB" sz="2000" baseline="-25000" dirty="0"/>
              <a:t>L</a:t>
            </a:r>
            <a:r>
              <a:rPr lang="en-GB" sz="2000" dirty="0"/>
              <a:t> – torque required for moving the load</a:t>
            </a:r>
          </a:p>
          <a:p>
            <a:endParaRPr lang="en-GB" sz="2000" dirty="0"/>
          </a:p>
          <a:p>
            <a:r>
              <a:rPr lang="en-GB" sz="2000" dirty="0" err="1"/>
              <a:t>T</a:t>
            </a:r>
            <a:r>
              <a:rPr lang="en-GB" sz="2000" baseline="-25000" dirty="0" err="1"/>
              <a:t>dec</a:t>
            </a:r>
            <a:r>
              <a:rPr lang="en-GB" sz="2000" baseline="-25000" dirty="0"/>
              <a:t> </a:t>
            </a:r>
            <a:r>
              <a:rPr lang="en-GB" sz="2000" dirty="0"/>
              <a:t>– torque required for deceleration</a:t>
            </a:r>
          </a:p>
          <a:p>
            <a:endParaRPr lang="en-GB" sz="2000" dirty="0"/>
          </a:p>
          <a:p>
            <a:r>
              <a:rPr lang="en-GB" sz="2000" dirty="0"/>
              <a:t>T</a:t>
            </a:r>
            <a:r>
              <a:rPr lang="en-GB" sz="2000" baseline="-25000" dirty="0"/>
              <a:t>m </a:t>
            </a:r>
            <a:r>
              <a:rPr lang="en-GB" sz="2000" dirty="0"/>
              <a:t>– torque required by the motor</a:t>
            </a:r>
          </a:p>
          <a:p>
            <a:endParaRPr lang="en-GB" sz="2400" dirty="0"/>
          </a:p>
        </p:txBody>
      </p:sp>
    </p:spTree>
    <p:extLst>
      <p:ext uri="{BB962C8B-B14F-4D97-AF65-F5344CB8AC3E}">
        <p14:creationId xmlns:p14="http://schemas.microsoft.com/office/powerpoint/2010/main" val="326320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CB77E-5599-1752-396E-81BE1A0BEC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D92435-DE46-A778-5CA5-A7864F23F9DD}"/>
              </a:ext>
            </a:extLst>
          </p:cNvPr>
          <p:cNvSpPr>
            <a:spLocks noGrp="1"/>
          </p:cNvSpPr>
          <p:nvPr>
            <p:ph type="title"/>
          </p:nvPr>
        </p:nvSpPr>
        <p:spPr/>
        <p:txBody>
          <a:bodyPr>
            <a:normAutofit/>
          </a:bodyPr>
          <a:lstStyle/>
          <a:p>
            <a:r>
              <a:rPr lang="en-GB" sz="3600" b="1" dirty="0"/>
              <a:t>Torque Requirements for Trapezoidal Motion - Example</a:t>
            </a:r>
          </a:p>
        </p:txBody>
      </p:sp>
      <p:sp>
        <p:nvSpPr>
          <p:cNvPr id="6" name="Content Placeholder 5">
            <a:extLst>
              <a:ext uri="{FF2B5EF4-FFF2-40B4-BE49-F238E27FC236}">
                <a16:creationId xmlns:a16="http://schemas.microsoft.com/office/drawing/2014/main" id="{5D870F2D-99BC-C6D0-B71C-26A4412C5CB1}"/>
              </a:ext>
            </a:extLst>
          </p:cNvPr>
          <p:cNvSpPr>
            <a:spLocks noGrp="1"/>
          </p:cNvSpPr>
          <p:nvPr>
            <p:ph idx="1"/>
          </p:nvPr>
        </p:nvSpPr>
        <p:spPr/>
        <p:txBody>
          <a:bodyPr>
            <a:normAutofit/>
          </a:bodyPr>
          <a:lstStyle/>
          <a:p>
            <a:r>
              <a:rPr lang="en-GB" dirty="0"/>
              <a:t>A robotic arm can be approximated to a 2kg concentrated mass at a distance of 30cm from the actuator/gearing plus a fixed load torque of 2Nm. A gear ratio of 10 has been chosen for this application. The motor inertia can be approximated to a cylinder of diameter 10cm with a mass of 1kg. Determine the motor torque requirements for the following trapezoidal move:</a:t>
            </a:r>
          </a:p>
          <a:p>
            <a:pPr marL="0" indent="0">
              <a:buNone/>
            </a:pPr>
            <a:endParaRPr lang="en-GB" dirty="0"/>
          </a:p>
          <a:p>
            <a:pPr marL="0" indent="0">
              <a:buNone/>
            </a:pPr>
            <a:endParaRPr lang="en-GB" dirty="0"/>
          </a:p>
        </p:txBody>
      </p:sp>
      <p:sp>
        <p:nvSpPr>
          <p:cNvPr id="4" name="Slide Number Placeholder 3">
            <a:extLst>
              <a:ext uri="{FF2B5EF4-FFF2-40B4-BE49-F238E27FC236}">
                <a16:creationId xmlns:a16="http://schemas.microsoft.com/office/drawing/2014/main" id="{C6C32D9F-7ACF-3806-A2F1-E4C87F506E9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A582A562-1022-CD0F-CC97-CB288D1CF714}"/>
              </a:ext>
            </a:extLst>
          </p:cNvPr>
          <p:cNvPicPr/>
          <p:nvPr/>
        </p:nvPicPr>
        <p:blipFill>
          <a:blip r:embed="rId2"/>
          <a:stretch/>
        </p:blipFill>
        <p:spPr>
          <a:xfrm>
            <a:off x="3239580" y="4288340"/>
            <a:ext cx="5712840" cy="2023560"/>
          </a:xfrm>
          <a:prstGeom prst="rect">
            <a:avLst/>
          </a:prstGeom>
          <a:ln w="0">
            <a:noFill/>
          </a:ln>
        </p:spPr>
      </p:pic>
    </p:spTree>
    <p:extLst>
      <p:ext uri="{BB962C8B-B14F-4D97-AF65-F5344CB8AC3E}">
        <p14:creationId xmlns:p14="http://schemas.microsoft.com/office/powerpoint/2010/main" val="1632408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B4518-79B8-21D0-1B38-DDD8E9EC5A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CA8F70-A630-3C57-9340-1DF458B8A196}"/>
              </a:ext>
            </a:extLst>
          </p:cNvPr>
          <p:cNvSpPr>
            <a:spLocks noGrp="1"/>
          </p:cNvSpPr>
          <p:nvPr>
            <p:ph type="title"/>
          </p:nvPr>
        </p:nvSpPr>
        <p:spPr/>
        <p:txBody>
          <a:bodyPr>
            <a:normAutofit/>
          </a:bodyPr>
          <a:lstStyle/>
          <a:p>
            <a:r>
              <a:rPr lang="en-GB" sz="3600" b="1" dirty="0"/>
              <a:t>Torque Requirements for Trapezoidal Motion - Example</a:t>
            </a:r>
          </a:p>
        </p:txBody>
      </p:sp>
      <p:sp>
        <p:nvSpPr>
          <p:cNvPr id="6" name="Content Placeholder 5">
            <a:extLst>
              <a:ext uri="{FF2B5EF4-FFF2-40B4-BE49-F238E27FC236}">
                <a16:creationId xmlns:a16="http://schemas.microsoft.com/office/drawing/2014/main" id="{B9BD521A-FEB2-C819-292E-AB9D93945EC7}"/>
              </a:ext>
            </a:extLst>
          </p:cNvPr>
          <p:cNvSpPr>
            <a:spLocks noGrp="1"/>
          </p:cNvSpPr>
          <p:nvPr>
            <p:ph idx="1"/>
          </p:nvPr>
        </p:nvSpPr>
        <p:spPr/>
        <p:txBody>
          <a:bodyPr>
            <a:normAutofit/>
          </a:bodyPr>
          <a:lstStyle/>
          <a:p>
            <a:pPr marL="0" indent="0">
              <a:buNone/>
            </a:pPr>
            <a:endParaRPr lang="en-GB" dirty="0"/>
          </a:p>
          <a:p>
            <a:pPr marL="0" indent="0">
              <a:buNone/>
            </a:pPr>
            <a:endParaRPr lang="en-GB" dirty="0"/>
          </a:p>
        </p:txBody>
      </p:sp>
      <p:sp>
        <p:nvSpPr>
          <p:cNvPr id="4" name="Slide Number Placeholder 3">
            <a:extLst>
              <a:ext uri="{FF2B5EF4-FFF2-40B4-BE49-F238E27FC236}">
                <a16:creationId xmlns:a16="http://schemas.microsoft.com/office/drawing/2014/main" id="{5A05766A-C9AC-89A6-3A03-885DEEE1D74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DBBBB6C7-FC02-2DA9-6FF1-7F68CFE4A85E}"/>
              </a:ext>
            </a:extLst>
          </p:cNvPr>
          <p:cNvPicPr/>
          <p:nvPr/>
        </p:nvPicPr>
        <p:blipFill>
          <a:blip r:embed="rId2"/>
          <a:stretch/>
        </p:blipFill>
        <p:spPr>
          <a:xfrm>
            <a:off x="661077" y="1646238"/>
            <a:ext cx="10869846" cy="4351337"/>
          </a:xfrm>
          <a:prstGeom prst="rect">
            <a:avLst/>
          </a:prstGeom>
          <a:ln w="0">
            <a:noFill/>
          </a:ln>
        </p:spPr>
      </p:pic>
    </p:spTree>
    <p:extLst>
      <p:ext uri="{BB962C8B-B14F-4D97-AF65-F5344CB8AC3E}">
        <p14:creationId xmlns:p14="http://schemas.microsoft.com/office/powerpoint/2010/main" val="11679112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32F90-4B29-E794-15F7-A48EE24B7D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64BA6A-821A-FA12-04A3-9D86753E2B2E}"/>
              </a:ext>
            </a:extLst>
          </p:cNvPr>
          <p:cNvSpPr>
            <a:spLocks noGrp="1"/>
          </p:cNvSpPr>
          <p:nvPr>
            <p:ph type="title"/>
          </p:nvPr>
        </p:nvSpPr>
        <p:spPr/>
        <p:txBody>
          <a:bodyPr>
            <a:normAutofit/>
          </a:bodyPr>
          <a:lstStyle/>
          <a:p>
            <a:r>
              <a:rPr lang="en-GB" sz="3600" b="1" dirty="0"/>
              <a:t>Torque Requirements for Trapezoidal Motion - Example</a:t>
            </a:r>
          </a:p>
        </p:txBody>
      </p:sp>
      <p:sp>
        <p:nvSpPr>
          <p:cNvPr id="6" name="Content Placeholder 5">
            <a:extLst>
              <a:ext uri="{FF2B5EF4-FFF2-40B4-BE49-F238E27FC236}">
                <a16:creationId xmlns:a16="http://schemas.microsoft.com/office/drawing/2014/main" id="{8622A204-8E8A-1F64-3BE1-F6ECF8454316}"/>
              </a:ext>
            </a:extLst>
          </p:cNvPr>
          <p:cNvSpPr>
            <a:spLocks noGrp="1"/>
          </p:cNvSpPr>
          <p:nvPr>
            <p:ph idx="1"/>
          </p:nvPr>
        </p:nvSpPr>
        <p:spPr/>
        <p:txBody>
          <a:bodyPr>
            <a:normAutofit/>
          </a:bodyPr>
          <a:lstStyle/>
          <a:p>
            <a:r>
              <a:rPr lang="en-GB" dirty="0"/>
              <a:t>Acceleration of System:</a:t>
            </a:r>
          </a:p>
          <a:p>
            <a:pPr marL="0" indent="0">
              <a:buNone/>
            </a:pPr>
            <a:r>
              <a:rPr lang="en-GB" dirty="0"/>
              <a:t> </a:t>
            </a:r>
          </a:p>
          <a:p>
            <a:pPr marL="0" indent="0">
              <a:buNone/>
            </a:pPr>
            <a:r>
              <a:rPr lang="en-GB" dirty="0"/>
              <a:t> </a:t>
            </a:r>
          </a:p>
          <a:p>
            <a:r>
              <a:rPr lang="en-GB" dirty="0"/>
              <a:t>In this example the acceleration and deceleration have the same magnitude</a:t>
            </a:r>
          </a:p>
          <a:p>
            <a:r>
              <a:rPr lang="en-GB" dirty="0"/>
              <a:t>Required motor torque during acceleration is:</a:t>
            </a:r>
          </a:p>
          <a:p>
            <a:pPr marL="0" indent="0">
              <a:buNone/>
            </a:pPr>
            <a:r>
              <a:rPr lang="en-GB" dirty="0"/>
              <a:t> </a:t>
            </a:r>
          </a:p>
        </p:txBody>
      </p:sp>
      <p:sp>
        <p:nvSpPr>
          <p:cNvPr id="4" name="Slide Number Placeholder 3">
            <a:extLst>
              <a:ext uri="{FF2B5EF4-FFF2-40B4-BE49-F238E27FC236}">
                <a16:creationId xmlns:a16="http://schemas.microsoft.com/office/drawing/2014/main" id="{D41A918A-3EF9-AC1B-2885-839BF8753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D75BDA7A-B836-7823-4F25-1DD4FC01BBC4}"/>
              </a:ext>
            </a:extLst>
          </p:cNvPr>
          <p:cNvPicPr/>
          <p:nvPr/>
        </p:nvPicPr>
        <p:blipFill>
          <a:blip r:embed="rId2"/>
          <a:stretch/>
        </p:blipFill>
        <p:spPr>
          <a:xfrm>
            <a:off x="3939600" y="2245966"/>
            <a:ext cx="4312800" cy="964800"/>
          </a:xfrm>
          <a:prstGeom prst="rect">
            <a:avLst/>
          </a:prstGeom>
          <a:ln w="0">
            <a:noFill/>
          </a:ln>
        </p:spPr>
      </p:pic>
      <p:pic>
        <p:nvPicPr>
          <p:cNvPr id="7" name="Picture 6">
            <a:extLst>
              <a:ext uri="{FF2B5EF4-FFF2-40B4-BE49-F238E27FC236}">
                <a16:creationId xmlns:a16="http://schemas.microsoft.com/office/drawing/2014/main" id="{FE56C41A-FC5B-41E2-3DC5-5DCB3348BBC2}"/>
              </a:ext>
            </a:extLst>
          </p:cNvPr>
          <p:cNvPicPr/>
          <p:nvPr/>
        </p:nvPicPr>
        <p:blipFill>
          <a:blip r:embed="rId3"/>
          <a:stretch/>
        </p:blipFill>
        <p:spPr>
          <a:xfrm>
            <a:off x="3162900" y="5076083"/>
            <a:ext cx="5866200" cy="1100880"/>
          </a:xfrm>
          <a:prstGeom prst="rect">
            <a:avLst/>
          </a:prstGeom>
          <a:ln w="0">
            <a:noFill/>
          </a:ln>
        </p:spPr>
      </p:pic>
      <p:pic>
        <p:nvPicPr>
          <p:cNvPr id="8" name="Picture 7">
            <a:extLst>
              <a:ext uri="{FF2B5EF4-FFF2-40B4-BE49-F238E27FC236}">
                <a16:creationId xmlns:a16="http://schemas.microsoft.com/office/drawing/2014/main" id="{ED769A28-D258-D9B8-9E71-647D76EE8939}"/>
              </a:ext>
            </a:extLst>
          </p:cNvPr>
          <p:cNvPicPr/>
          <p:nvPr/>
        </p:nvPicPr>
        <p:blipFill>
          <a:blip r:embed="rId4"/>
          <a:stretch/>
        </p:blipFill>
        <p:spPr>
          <a:xfrm>
            <a:off x="8497380" y="2097293"/>
            <a:ext cx="3563241" cy="1262145"/>
          </a:xfrm>
          <a:prstGeom prst="rect">
            <a:avLst/>
          </a:prstGeom>
          <a:ln w="0">
            <a:noFill/>
          </a:ln>
        </p:spPr>
      </p:pic>
    </p:spTree>
    <p:extLst>
      <p:ext uri="{BB962C8B-B14F-4D97-AF65-F5344CB8AC3E}">
        <p14:creationId xmlns:p14="http://schemas.microsoft.com/office/powerpoint/2010/main" val="2469785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70B1B-35A9-F7EE-2DBE-B5D129F52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0BB0DA-72D9-F0BA-E520-4377E07502B6}"/>
              </a:ext>
            </a:extLst>
          </p:cNvPr>
          <p:cNvSpPr>
            <a:spLocks noGrp="1"/>
          </p:cNvSpPr>
          <p:nvPr>
            <p:ph type="title"/>
          </p:nvPr>
        </p:nvSpPr>
        <p:spPr/>
        <p:txBody>
          <a:bodyPr>
            <a:normAutofit/>
          </a:bodyPr>
          <a:lstStyle/>
          <a:p>
            <a:r>
              <a:rPr lang="en-GB" sz="3600" b="1" dirty="0"/>
              <a:t>Torque Requirements for Trapezoidal Motion - Example</a:t>
            </a:r>
          </a:p>
        </p:txBody>
      </p:sp>
      <p:sp>
        <p:nvSpPr>
          <p:cNvPr id="6" name="Content Placeholder 5">
            <a:extLst>
              <a:ext uri="{FF2B5EF4-FFF2-40B4-BE49-F238E27FC236}">
                <a16:creationId xmlns:a16="http://schemas.microsoft.com/office/drawing/2014/main" id="{56F64FBB-B58F-270E-0B44-7FAA7DABA4B9}"/>
              </a:ext>
            </a:extLst>
          </p:cNvPr>
          <p:cNvSpPr>
            <a:spLocks noGrp="1"/>
          </p:cNvSpPr>
          <p:nvPr>
            <p:ph idx="1"/>
          </p:nvPr>
        </p:nvSpPr>
        <p:spPr/>
        <p:txBody>
          <a:bodyPr>
            <a:normAutofit/>
          </a:bodyPr>
          <a:lstStyle/>
          <a:p>
            <a:r>
              <a:rPr lang="en-GB" dirty="0"/>
              <a:t>Motor torque during fixed speed period:</a:t>
            </a:r>
          </a:p>
          <a:p>
            <a:pPr marL="0" indent="0">
              <a:buNone/>
            </a:pPr>
            <a:r>
              <a:rPr lang="en-GB" dirty="0"/>
              <a:t> </a:t>
            </a:r>
          </a:p>
          <a:p>
            <a:pPr marL="0" indent="0">
              <a:buNone/>
            </a:pPr>
            <a:r>
              <a:rPr lang="en-GB" dirty="0"/>
              <a:t> </a:t>
            </a:r>
          </a:p>
          <a:p>
            <a:r>
              <a:rPr lang="en-GB" dirty="0"/>
              <a:t>Motor Torque requirements during deceleration:</a:t>
            </a:r>
          </a:p>
          <a:p>
            <a:pPr marL="0" indent="0">
              <a:buNone/>
            </a:pPr>
            <a:r>
              <a:rPr lang="en-GB" dirty="0"/>
              <a:t> </a:t>
            </a:r>
          </a:p>
        </p:txBody>
      </p:sp>
      <p:sp>
        <p:nvSpPr>
          <p:cNvPr id="4" name="Slide Number Placeholder 3">
            <a:extLst>
              <a:ext uri="{FF2B5EF4-FFF2-40B4-BE49-F238E27FC236}">
                <a16:creationId xmlns:a16="http://schemas.microsoft.com/office/drawing/2014/main" id="{F7667326-8377-29DB-F818-A696C7BD391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D6C87AF9-20AD-2A38-FFB3-1BBD9C1E2962}"/>
              </a:ext>
            </a:extLst>
          </p:cNvPr>
          <p:cNvPicPr/>
          <p:nvPr/>
        </p:nvPicPr>
        <p:blipFill>
          <a:blip r:embed="rId2"/>
          <a:stretch/>
        </p:blipFill>
        <p:spPr>
          <a:xfrm>
            <a:off x="4800180" y="2477575"/>
            <a:ext cx="2591640" cy="828360"/>
          </a:xfrm>
          <a:prstGeom prst="rect">
            <a:avLst/>
          </a:prstGeom>
          <a:ln w="0">
            <a:noFill/>
          </a:ln>
        </p:spPr>
      </p:pic>
      <p:pic>
        <p:nvPicPr>
          <p:cNvPr id="9" name="Picture 8">
            <a:extLst>
              <a:ext uri="{FF2B5EF4-FFF2-40B4-BE49-F238E27FC236}">
                <a16:creationId xmlns:a16="http://schemas.microsoft.com/office/drawing/2014/main" id="{E7CA65DE-8DCF-5FEF-A8EC-65BEB93BB03E}"/>
              </a:ext>
            </a:extLst>
          </p:cNvPr>
          <p:cNvPicPr/>
          <p:nvPr/>
        </p:nvPicPr>
        <p:blipFill>
          <a:blip r:embed="rId3"/>
          <a:stretch/>
        </p:blipFill>
        <p:spPr>
          <a:xfrm>
            <a:off x="2154003" y="3998684"/>
            <a:ext cx="7883993" cy="2494191"/>
          </a:xfrm>
          <a:prstGeom prst="rect">
            <a:avLst/>
          </a:prstGeom>
          <a:ln w="0">
            <a:noFill/>
          </a:ln>
        </p:spPr>
      </p:pic>
    </p:spTree>
    <p:extLst>
      <p:ext uri="{BB962C8B-B14F-4D97-AF65-F5344CB8AC3E}">
        <p14:creationId xmlns:p14="http://schemas.microsoft.com/office/powerpoint/2010/main" val="3646701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F8EE6-0BA7-0670-E815-5DAF35B926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EBFC7A-81B2-0675-DE84-CFF08229573B}"/>
              </a:ext>
            </a:extLst>
          </p:cNvPr>
          <p:cNvSpPr>
            <a:spLocks noGrp="1"/>
          </p:cNvSpPr>
          <p:nvPr>
            <p:ph type="title"/>
          </p:nvPr>
        </p:nvSpPr>
        <p:spPr/>
        <p:txBody>
          <a:bodyPr>
            <a:normAutofit/>
          </a:bodyPr>
          <a:lstStyle/>
          <a:p>
            <a:r>
              <a:rPr lang="en-GB" sz="3600" b="1" dirty="0"/>
              <a:t>Torque Requirements for Trapezoidal Motion - Example</a:t>
            </a:r>
          </a:p>
        </p:txBody>
      </p:sp>
      <p:sp>
        <p:nvSpPr>
          <p:cNvPr id="6" name="Content Placeholder 5">
            <a:extLst>
              <a:ext uri="{FF2B5EF4-FFF2-40B4-BE49-F238E27FC236}">
                <a16:creationId xmlns:a16="http://schemas.microsoft.com/office/drawing/2014/main" id="{39D7268F-377E-7F76-FA08-8AFCC1D70369}"/>
              </a:ext>
            </a:extLst>
          </p:cNvPr>
          <p:cNvSpPr>
            <a:spLocks noGrp="1"/>
          </p:cNvSpPr>
          <p:nvPr>
            <p:ph idx="1"/>
          </p:nvPr>
        </p:nvSpPr>
        <p:spPr/>
        <p:txBody>
          <a:bodyPr>
            <a:normAutofit/>
          </a:bodyPr>
          <a:lstStyle/>
          <a:p>
            <a:r>
              <a:rPr lang="en-GB" dirty="0"/>
              <a:t>Assuming a motor efficiency of 85% determine the instantaneous input motor power during the trapezoidal move:</a:t>
            </a:r>
          </a:p>
          <a:p>
            <a:pPr lvl="1"/>
            <a:r>
              <a:rPr lang="en-GB" dirty="0"/>
              <a:t>Motor Output Power = Speed (rad/s) x Torque (Nm)</a:t>
            </a:r>
          </a:p>
          <a:p>
            <a:pPr lvl="1"/>
            <a:r>
              <a:rPr lang="en-GB" dirty="0"/>
              <a:t>Motor Supply Power = (Speed x Torque)/(Efficiency/100)</a:t>
            </a:r>
          </a:p>
          <a:p>
            <a:pPr marL="0" indent="0">
              <a:buNone/>
            </a:pPr>
            <a:r>
              <a:rPr lang="en-GB" dirty="0"/>
              <a:t> </a:t>
            </a:r>
          </a:p>
        </p:txBody>
      </p:sp>
      <p:sp>
        <p:nvSpPr>
          <p:cNvPr id="4" name="Slide Number Placeholder 3">
            <a:extLst>
              <a:ext uri="{FF2B5EF4-FFF2-40B4-BE49-F238E27FC236}">
                <a16:creationId xmlns:a16="http://schemas.microsoft.com/office/drawing/2014/main" id="{E0F86428-7CE9-5F1D-5213-94C341C638C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30678D00-832B-DB0C-8305-5368D9B1DE83}"/>
              </a:ext>
            </a:extLst>
          </p:cNvPr>
          <p:cNvPicPr/>
          <p:nvPr/>
        </p:nvPicPr>
        <p:blipFill>
          <a:blip r:embed="rId2"/>
          <a:stretch/>
        </p:blipFill>
        <p:spPr>
          <a:xfrm>
            <a:off x="2762907" y="3580648"/>
            <a:ext cx="6666185" cy="3140827"/>
          </a:xfrm>
          <a:prstGeom prst="rect">
            <a:avLst/>
          </a:prstGeom>
          <a:ln w="0">
            <a:noFill/>
          </a:ln>
        </p:spPr>
      </p:pic>
    </p:spTree>
    <p:extLst>
      <p:ext uri="{BB962C8B-B14F-4D97-AF65-F5344CB8AC3E}">
        <p14:creationId xmlns:p14="http://schemas.microsoft.com/office/powerpoint/2010/main" val="216194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8A492-6685-77EB-EB65-15D878703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1B52FC-9B3E-BA52-50D3-90F4A2138959}"/>
              </a:ext>
            </a:extLst>
          </p:cNvPr>
          <p:cNvSpPr>
            <a:spLocks noGrp="1"/>
          </p:cNvSpPr>
          <p:nvPr>
            <p:ph type="title"/>
          </p:nvPr>
        </p:nvSpPr>
        <p:spPr/>
        <p:txBody>
          <a:bodyPr>
            <a:normAutofit/>
          </a:bodyPr>
          <a:lstStyle/>
          <a:p>
            <a:r>
              <a:rPr lang="en-GB" b="1" dirty="0"/>
              <a:t>Actuation Comparison</a:t>
            </a:r>
          </a:p>
        </p:txBody>
      </p:sp>
      <p:sp>
        <p:nvSpPr>
          <p:cNvPr id="3" name="Subtitle 2">
            <a:extLst>
              <a:ext uri="{FF2B5EF4-FFF2-40B4-BE49-F238E27FC236}">
                <a16:creationId xmlns:a16="http://schemas.microsoft.com/office/drawing/2014/main" id="{44B01EF0-9A01-0FA0-A32D-E937B78411D7}"/>
              </a:ext>
            </a:extLst>
          </p:cNvPr>
          <p:cNvSpPr>
            <a:spLocks noGrp="1"/>
          </p:cNvSpPr>
          <p:nvPr>
            <p:ph type="body" idx="1"/>
          </p:nvPr>
        </p:nvSpPr>
        <p:spPr/>
        <p:txBody>
          <a:bodyPr>
            <a:normAutofit/>
          </a:bodyPr>
          <a:lstStyle/>
          <a:p>
            <a:endParaRPr lang="en-GB" sz="3600" dirty="0"/>
          </a:p>
          <a:p>
            <a:endParaRPr lang="en-GB" sz="3600" dirty="0"/>
          </a:p>
        </p:txBody>
      </p:sp>
      <p:sp>
        <p:nvSpPr>
          <p:cNvPr id="4" name="Slide Number Placeholder 3">
            <a:extLst>
              <a:ext uri="{FF2B5EF4-FFF2-40B4-BE49-F238E27FC236}">
                <a16:creationId xmlns:a16="http://schemas.microsoft.com/office/drawing/2014/main" id="{B5DF3A35-C763-DD49-AB50-63A5E5472035}"/>
              </a:ext>
            </a:extLst>
          </p:cNvPr>
          <p:cNvSpPr>
            <a:spLocks noGrp="1"/>
          </p:cNvSpPr>
          <p:nvPr>
            <p:ph type="sldNum" sz="quarter" idx="12"/>
          </p:nvPr>
        </p:nvSpPr>
        <p:spPr/>
        <p:txBody>
          <a:bodyPr/>
          <a:lstStyle/>
          <a:p>
            <a:fld id="{1ED87AFC-F3F3-4E09-A9D9-1873FFB55ECB}" type="slidenum">
              <a:rPr lang="en-GB" smtClean="0"/>
              <a:t>52</a:t>
            </a:fld>
            <a:endParaRPr lang="en-GB"/>
          </a:p>
        </p:txBody>
      </p:sp>
    </p:spTree>
    <p:extLst>
      <p:ext uri="{BB962C8B-B14F-4D97-AF65-F5344CB8AC3E}">
        <p14:creationId xmlns:p14="http://schemas.microsoft.com/office/powerpoint/2010/main" val="20328213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5C17B-6CB9-87DA-3677-C13FBF49CA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45042-737C-D323-14D8-04268BA2D962}"/>
              </a:ext>
            </a:extLst>
          </p:cNvPr>
          <p:cNvSpPr>
            <a:spLocks noGrp="1"/>
          </p:cNvSpPr>
          <p:nvPr>
            <p:ph type="title"/>
          </p:nvPr>
        </p:nvSpPr>
        <p:spPr/>
        <p:txBody>
          <a:bodyPr>
            <a:normAutofit/>
          </a:bodyPr>
          <a:lstStyle/>
          <a:p>
            <a:r>
              <a:rPr lang="en-GB" b="1" dirty="0"/>
              <a:t>Actuation Comparison</a:t>
            </a:r>
          </a:p>
        </p:txBody>
      </p:sp>
      <p:sp>
        <p:nvSpPr>
          <p:cNvPr id="3" name="Subtitle 2">
            <a:extLst>
              <a:ext uri="{FF2B5EF4-FFF2-40B4-BE49-F238E27FC236}">
                <a16:creationId xmlns:a16="http://schemas.microsoft.com/office/drawing/2014/main" id="{D2AE4F6E-6A23-3226-C2CE-C8F28AE6151F}"/>
              </a:ext>
            </a:extLst>
          </p:cNvPr>
          <p:cNvSpPr>
            <a:spLocks noGrp="1"/>
          </p:cNvSpPr>
          <p:nvPr>
            <p:ph idx="1"/>
          </p:nvPr>
        </p:nvSpPr>
        <p:spPr/>
        <p:txBody>
          <a:bodyPr>
            <a:normAutofit/>
          </a:bodyPr>
          <a:lstStyle/>
          <a:p>
            <a:endParaRPr lang="en-GB" sz="3600" dirty="0"/>
          </a:p>
          <a:p>
            <a:endParaRPr lang="en-GB" sz="3600" dirty="0"/>
          </a:p>
        </p:txBody>
      </p:sp>
      <p:sp>
        <p:nvSpPr>
          <p:cNvPr id="4" name="Slide Number Placeholder 3">
            <a:extLst>
              <a:ext uri="{FF2B5EF4-FFF2-40B4-BE49-F238E27FC236}">
                <a16:creationId xmlns:a16="http://schemas.microsoft.com/office/drawing/2014/main" id="{AF5C186C-1291-2BE9-560B-3F7F524A5135}"/>
              </a:ext>
            </a:extLst>
          </p:cNvPr>
          <p:cNvSpPr>
            <a:spLocks noGrp="1"/>
          </p:cNvSpPr>
          <p:nvPr>
            <p:ph type="sldNum" sz="quarter" idx="12"/>
          </p:nvPr>
        </p:nvSpPr>
        <p:spPr/>
        <p:txBody>
          <a:bodyPr/>
          <a:lstStyle/>
          <a:p>
            <a:fld id="{1ED87AFC-F3F3-4E09-A9D9-1873FFB55ECB}" type="slidenum">
              <a:rPr lang="en-GB" smtClean="0"/>
              <a:t>53</a:t>
            </a:fld>
            <a:endParaRPr lang="en-GB"/>
          </a:p>
        </p:txBody>
      </p:sp>
      <p:pic>
        <p:nvPicPr>
          <p:cNvPr id="5" name="Picture 4">
            <a:extLst>
              <a:ext uri="{FF2B5EF4-FFF2-40B4-BE49-F238E27FC236}">
                <a16:creationId xmlns:a16="http://schemas.microsoft.com/office/drawing/2014/main" id="{C79795F1-3185-72C5-6191-322C7E2982E2}"/>
              </a:ext>
            </a:extLst>
          </p:cNvPr>
          <p:cNvPicPr/>
          <p:nvPr/>
        </p:nvPicPr>
        <p:blipFill>
          <a:blip r:embed="rId2"/>
          <a:stretch/>
        </p:blipFill>
        <p:spPr>
          <a:xfrm>
            <a:off x="1312792" y="1429016"/>
            <a:ext cx="9566416" cy="5144556"/>
          </a:xfrm>
          <a:prstGeom prst="rect">
            <a:avLst/>
          </a:prstGeom>
          <a:ln w="0">
            <a:noFill/>
          </a:ln>
        </p:spPr>
      </p:pic>
    </p:spTree>
    <p:extLst>
      <p:ext uri="{BB962C8B-B14F-4D97-AF65-F5344CB8AC3E}">
        <p14:creationId xmlns:p14="http://schemas.microsoft.com/office/powerpoint/2010/main" val="18612002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BEB27-4EE3-F99B-3479-3C4C26A74F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A1943F-92AD-D0BF-2CAD-421AA44E5868}"/>
              </a:ext>
            </a:extLst>
          </p:cNvPr>
          <p:cNvSpPr>
            <a:spLocks noGrp="1"/>
          </p:cNvSpPr>
          <p:nvPr>
            <p:ph type="title"/>
          </p:nvPr>
        </p:nvSpPr>
        <p:spPr/>
        <p:txBody>
          <a:bodyPr>
            <a:normAutofit/>
          </a:bodyPr>
          <a:lstStyle/>
          <a:p>
            <a:r>
              <a:rPr lang="en-GB" b="1" dirty="0"/>
              <a:t>References</a:t>
            </a:r>
          </a:p>
        </p:txBody>
      </p:sp>
      <p:sp>
        <p:nvSpPr>
          <p:cNvPr id="3" name="Subtitle 2">
            <a:extLst>
              <a:ext uri="{FF2B5EF4-FFF2-40B4-BE49-F238E27FC236}">
                <a16:creationId xmlns:a16="http://schemas.microsoft.com/office/drawing/2014/main" id="{D5BD401B-0079-A5B7-6CE9-565A4E032E49}"/>
              </a:ext>
            </a:extLst>
          </p:cNvPr>
          <p:cNvSpPr>
            <a:spLocks noGrp="1"/>
          </p:cNvSpPr>
          <p:nvPr>
            <p:ph idx="1"/>
          </p:nvPr>
        </p:nvSpPr>
        <p:spPr/>
        <p:txBody>
          <a:bodyPr>
            <a:normAutofit/>
          </a:bodyPr>
          <a:lstStyle/>
          <a:p>
            <a:r>
              <a:rPr lang="en-GB" sz="3600" dirty="0" err="1"/>
              <a:t>Niku</a:t>
            </a:r>
            <a:r>
              <a:rPr lang="en-GB" sz="3600" dirty="0"/>
              <a:t>, S.B. , Introduction to Robotics, 2nd Edition, Wiley, New Jersey, 2011.</a:t>
            </a:r>
          </a:p>
          <a:p>
            <a:r>
              <a:rPr lang="en-GB" sz="3600" dirty="0"/>
              <a:t>Bolton, W. , Mechatronics, 2 </a:t>
            </a:r>
            <a:r>
              <a:rPr lang="en-GB" sz="3600" dirty="0" err="1"/>
              <a:t>nd</a:t>
            </a:r>
            <a:r>
              <a:rPr lang="en-GB" sz="3600" dirty="0"/>
              <a:t> Edition, Longman, New York, 2000</a:t>
            </a:r>
          </a:p>
          <a:p>
            <a:endParaRPr lang="en-GB" sz="3600" dirty="0"/>
          </a:p>
        </p:txBody>
      </p:sp>
      <p:sp>
        <p:nvSpPr>
          <p:cNvPr id="4" name="Slide Number Placeholder 3">
            <a:extLst>
              <a:ext uri="{FF2B5EF4-FFF2-40B4-BE49-F238E27FC236}">
                <a16:creationId xmlns:a16="http://schemas.microsoft.com/office/drawing/2014/main" id="{C6365520-57B0-928E-2357-C6E90FB14BE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12434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TotalTime>
  <Words>2919</Words>
  <Application>Microsoft Office PowerPoint</Application>
  <PresentationFormat>Widescreen</PresentationFormat>
  <Paragraphs>319</Paragraphs>
  <Slides>54</Slides>
  <Notes>15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54</vt:i4>
      </vt:variant>
    </vt:vector>
  </HeadingPairs>
  <TitlesOfParts>
    <vt:vector size="61" baseType="lpstr">
      <vt:lpstr>Arial</vt:lpstr>
      <vt:lpstr>Calibri</vt:lpstr>
      <vt:lpstr>Calibri Light</vt:lpstr>
      <vt:lpstr>DejaVu Sans</vt:lpstr>
      <vt:lpstr>Wingdings</vt:lpstr>
      <vt:lpstr>Office Theme</vt:lpstr>
      <vt:lpstr>1_Office Theme</vt:lpstr>
      <vt:lpstr>ENG4118/5326 - Robotics 4/M Sensors, Actuators and Image capture, processing and analysis</vt:lpstr>
      <vt:lpstr>Lecture Overview</vt:lpstr>
      <vt:lpstr>Brushless DC Motors</vt:lpstr>
      <vt:lpstr>Brushless D.C. Motors</vt:lpstr>
      <vt:lpstr>Brushless D.C. Motors</vt:lpstr>
      <vt:lpstr>Brushless D.C. Motors</vt:lpstr>
      <vt:lpstr>Brushless D.C. Motors</vt:lpstr>
      <vt:lpstr>Brushless D.C. Motors</vt:lpstr>
      <vt:lpstr>Stepper Motor</vt:lpstr>
      <vt:lpstr>Stepper Motors</vt:lpstr>
      <vt:lpstr>Stepper Motors</vt:lpstr>
      <vt:lpstr>Stepper Motors - Variable reluctance </vt:lpstr>
      <vt:lpstr>Stepper Motors - Permanent magnet</vt:lpstr>
      <vt:lpstr>Permanent Magnet A.C. Motors (PMAC)</vt:lpstr>
      <vt:lpstr>Permanent Magnet A.C. Motors (PMAC)</vt:lpstr>
      <vt:lpstr>Permanent Magnet A.C. Motors (PMAC)</vt:lpstr>
      <vt:lpstr>Brushed D.C. &amp; A.C. Motors – Speed Control</vt:lpstr>
      <vt:lpstr>Brushed D.C. &amp; A.C. Motors – brushes</vt:lpstr>
      <vt:lpstr>Brushed D.C. &amp; A.C. Motors – Heat Dissipation</vt:lpstr>
      <vt:lpstr>Motor Heating</vt:lpstr>
      <vt:lpstr>Motor Heating</vt:lpstr>
      <vt:lpstr>Motor Heating</vt:lpstr>
      <vt:lpstr>Motor Heating</vt:lpstr>
      <vt:lpstr>Motor Heating</vt:lpstr>
      <vt:lpstr>Motor Heating</vt:lpstr>
      <vt:lpstr>Motor Control</vt:lpstr>
      <vt:lpstr>Motor Control</vt:lpstr>
      <vt:lpstr>Motor Control - Microcontroller</vt:lpstr>
      <vt:lpstr>Motor Control - Microcontroller</vt:lpstr>
      <vt:lpstr>Motor Control – Pulse Width Modulation</vt:lpstr>
      <vt:lpstr>Motor Control – Pulse Width Modulation</vt:lpstr>
      <vt:lpstr>Motor Control – Pulse Width Modulation</vt:lpstr>
      <vt:lpstr>Motor Control – Pulse Width Modulation</vt:lpstr>
      <vt:lpstr>Motor Control – Pulse Width Modulation</vt:lpstr>
      <vt:lpstr>Motor Control – Brushed DC</vt:lpstr>
      <vt:lpstr>Motor Control – Brushed DC</vt:lpstr>
      <vt:lpstr>Motor Control – Directional Control</vt:lpstr>
      <vt:lpstr>Motor Control – Directional Control</vt:lpstr>
      <vt:lpstr>Motor Control – Directional Control</vt:lpstr>
      <vt:lpstr>Motor Control – Directional Control</vt:lpstr>
      <vt:lpstr>Motor Control – Directional Control</vt:lpstr>
      <vt:lpstr>Summary</vt:lpstr>
      <vt:lpstr>Electrical Motor Summary</vt:lpstr>
      <vt:lpstr>Torque Requirements</vt:lpstr>
      <vt:lpstr>Torque Requirements for Trapezoidal Motion</vt:lpstr>
      <vt:lpstr>Torque Requirements for Trapezoidal Motion</vt:lpstr>
      <vt:lpstr>Torque Requirements for Trapezoidal Motion - Example</vt:lpstr>
      <vt:lpstr>Torque Requirements for Trapezoidal Motion - Example</vt:lpstr>
      <vt:lpstr>Torque Requirements for Trapezoidal Motion - Example</vt:lpstr>
      <vt:lpstr>Torque Requirements for Trapezoidal Motion - Example</vt:lpstr>
      <vt:lpstr>Torque Requirements for Trapezoidal Motion - Example</vt:lpstr>
      <vt:lpstr>Actuation Comparison</vt:lpstr>
      <vt:lpstr>Actuation Comparison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ENG5009 –  Advanced Control 5</dc:title>
  <dc:creator>Kevin Worrall</dc:creator>
  <cp:lastModifiedBy>Kevin Worrall</cp:lastModifiedBy>
  <cp:revision>1</cp:revision>
  <dcterms:created xsi:type="dcterms:W3CDTF">2024-01-08T14:11:01Z</dcterms:created>
  <dcterms:modified xsi:type="dcterms:W3CDTF">2026-02-21T13:42:39Z</dcterms:modified>
</cp:coreProperties>
</file>