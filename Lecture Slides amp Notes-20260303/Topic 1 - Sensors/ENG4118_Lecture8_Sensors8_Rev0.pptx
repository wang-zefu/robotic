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2"/>
  </p:notesMasterIdLst>
  <p:sldIdLst>
    <p:sldId id="256" r:id="rId3"/>
    <p:sldId id="258" r:id="rId4"/>
    <p:sldId id="367" r:id="rId5"/>
    <p:sldId id="370" r:id="rId6"/>
    <p:sldId id="371" r:id="rId7"/>
    <p:sldId id="373" r:id="rId8"/>
    <p:sldId id="374" r:id="rId9"/>
    <p:sldId id="375" r:id="rId10"/>
    <p:sldId id="376" r:id="rId11"/>
    <p:sldId id="377" r:id="rId12"/>
    <p:sldId id="378" r:id="rId13"/>
    <p:sldId id="379" r:id="rId14"/>
    <p:sldId id="372" r:id="rId15"/>
    <p:sldId id="260" r:id="rId16"/>
    <p:sldId id="268" r:id="rId17"/>
    <p:sldId id="314" r:id="rId18"/>
    <p:sldId id="317" r:id="rId19"/>
    <p:sldId id="318" r:id="rId20"/>
    <p:sldId id="319" r:id="rId21"/>
    <p:sldId id="320" r:id="rId22"/>
    <p:sldId id="322" r:id="rId23"/>
    <p:sldId id="321" r:id="rId24"/>
    <p:sldId id="323" r:id="rId25"/>
    <p:sldId id="324" r:id="rId26"/>
    <p:sldId id="325" r:id="rId27"/>
    <p:sldId id="326" r:id="rId28"/>
    <p:sldId id="315" r:id="rId29"/>
    <p:sldId id="327" r:id="rId30"/>
    <p:sldId id="328" r:id="rId31"/>
    <p:sldId id="329" r:id="rId32"/>
    <p:sldId id="330" r:id="rId33"/>
    <p:sldId id="331" r:id="rId34"/>
    <p:sldId id="332" r:id="rId35"/>
    <p:sldId id="333" r:id="rId36"/>
    <p:sldId id="336" r:id="rId37"/>
    <p:sldId id="334" r:id="rId38"/>
    <p:sldId id="335" r:id="rId39"/>
    <p:sldId id="382" r:id="rId40"/>
    <p:sldId id="31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D1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2" autoAdjust="0"/>
    <p:restoredTop sz="95983" autoAdjust="0"/>
  </p:normalViewPr>
  <p:slideViewPr>
    <p:cSldViewPr snapToGrid="0">
      <p:cViewPr varScale="1">
        <p:scale>
          <a:sx n="66" d="100"/>
          <a:sy n="66" d="100"/>
        </p:scale>
        <p:origin x="472" y="44"/>
      </p:cViewPr>
      <p:guideLst/>
    </p:cSldViewPr>
  </p:slideViewPr>
  <p:outlineViewPr>
    <p:cViewPr>
      <p:scale>
        <a:sx n="33" d="100"/>
        <a:sy n="33" d="100"/>
      </p:scale>
      <p:origin x="0" y="-685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Worrall" userId="e21a6e1f-6189-4284-9649-bf7c66c7a38c" providerId="ADAL" clId="{B294D135-36AD-4905-82C7-C24D4CC5C725}"/>
    <pc:docChg chg="modSld">
      <pc:chgData name="Kevin Worrall" userId="e21a6e1f-6189-4284-9649-bf7c66c7a38c" providerId="ADAL" clId="{B294D135-36AD-4905-82C7-C24D4CC5C725}" dt="2026-02-02T09:47:37.630" v="0" actId="20577"/>
      <pc:docMkLst>
        <pc:docMk/>
      </pc:docMkLst>
      <pc:sldChg chg="modSp mod">
        <pc:chgData name="Kevin Worrall" userId="e21a6e1f-6189-4284-9649-bf7c66c7a38c" providerId="ADAL" clId="{B294D135-36AD-4905-82C7-C24D4CC5C725}" dt="2026-02-02T09:47:37.630" v="0" actId="20577"/>
        <pc:sldMkLst>
          <pc:docMk/>
          <pc:sldMk cId="4242011844" sldId="256"/>
        </pc:sldMkLst>
        <pc:spChg chg="mod">
          <ac:chgData name="Kevin Worrall" userId="e21a6e1f-6189-4284-9649-bf7c66c7a38c" providerId="ADAL" clId="{B294D135-36AD-4905-82C7-C24D4CC5C725}" dt="2026-02-02T09:47:37.630" v="0" actId="20577"/>
          <ac:spMkLst>
            <pc:docMk/>
            <pc:sldMk cId="4242011844" sldId="256"/>
            <ac:spMk id="3" creationId="{0EC2D61B-0204-42F3-52E6-931A9496968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185B6B-ECE2-4879-A9A5-03850BAAFBB0}" type="datetimeFigureOut">
              <a:rPr lang="en-GB" smtClean="0"/>
              <a:t>02/02/2026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AA1267-AA76-4E48-81A7-ED6197690896}" type="slidenum">
              <a:rPr lang="en-GB" smtClean="0"/>
              <a:t>‹#›</a:t>
            </a:fld>
            <a:endParaRPr lang="en-GB"/>
          </a:p>
        </p:txBody>
      </p:sp>
    </p:spTree>
    <p:extLst>
      <p:ext uri="{BB962C8B-B14F-4D97-AF65-F5344CB8AC3E}">
        <p14:creationId xmlns:p14="http://schemas.microsoft.com/office/powerpoint/2010/main" val="2568971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8AA1267-AA76-4E48-81A7-ED6197690896}" type="slidenum">
              <a:rPr lang="en-GB" smtClean="0"/>
              <a:t>2</a:t>
            </a:fld>
            <a:endParaRPr lang="en-GB"/>
          </a:p>
        </p:txBody>
      </p:sp>
    </p:spTree>
    <p:extLst>
      <p:ext uri="{BB962C8B-B14F-4D97-AF65-F5344CB8AC3E}">
        <p14:creationId xmlns:p14="http://schemas.microsoft.com/office/powerpoint/2010/main" val="245082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5F04-E335-67A4-FA69-8365E526D2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9DAD6FB-F3BC-752E-D374-800B1DE648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C8BC70D-06A8-D18A-A788-8FD4FB1B4696}"/>
              </a:ext>
            </a:extLst>
          </p:cNvPr>
          <p:cNvSpPr>
            <a:spLocks noGrp="1"/>
          </p:cNvSpPr>
          <p:nvPr>
            <p:ph type="dt" sz="half" idx="10"/>
          </p:nvPr>
        </p:nvSpPr>
        <p:spPr/>
        <p:txBody>
          <a:bodyPr/>
          <a:lstStyle/>
          <a:p>
            <a:fld id="{72ECCC76-C4AE-4B26-A169-B504EF2FEA67}" type="datetime1">
              <a:rPr lang="en-GB" smtClean="0"/>
              <a:t>02/02/2026</a:t>
            </a:fld>
            <a:endParaRPr lang="en-GB"/>
          </a:p>
        </p:txBody>
      </p:sp>
      <p:sp>
        <p:nvSpPr>
          <p:cNvPr id="5" name="Footer Placeholder 4">
            <a:extLst>
              <a:ext uri="{FF2B5EF4-FFF2-40B4-BE49-F238E27FC236}">
                <a16:creationId xmlns:a16="http://schemas.microsoft.com/office/drawing/2014/main" id="{46DCE3A3-1862-497C-DDA8-5672505EB8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EEAD9D-BBC4-E88C-BB0F-497F1E27EF11}"/>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423590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7ED-67B0-A413-78B4-CDBF534FDB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A41D5D6-9D4D-11E4-06D4-372026C4A0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8B2683-A2AF-4A75-8A55-9D7F47C47B12}"/>
              </a:ext>
            </a:extLst>
          </p:cNvPr>
          <p:cNvSpPr>
            <a:spLocks noGrp="1"/>
          </p:cNvSpPr>
          <p:nvPr>
            <p:ph type="dt" sz="half" idx="10"/>
          </p:nvPr>
        </p:nvSpPr>
        <p:spPr/>
        <p:txBody>
          <a:bodyPr/>
          <a:lstStyle/>
          <a:p>
            <a:fld id="{96A1C347-D333-4772-8BBB-97D1519B978F}" type="datetime1">
              <a:rPr lang="en-GB" smtClean="0"/>
              <a:t>02/02/2026</a:t>
            </a:fld>
            <a:endParaRPr lang="en-GB"/>
          </a:p>
        </p:txBody>
      </p:sp>
      <p:sp>
        <p:nvSpPr>
          <p:cNvPr id="5" name="Footer Placeholder 4">
            <a:extLst>
              <a:ext uri="{FF2B5EF4-FFF2-40B4-BE49-F238E27FC236}">
                <a16:creationId xmlns:a16="http://schemas.microsoft.com/office/drawing/2014/main" id="{265BA211-1912-E80C-FB03-CEBF522613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279302-C457-E101-4432-A6FA5B745F6D}"/>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435030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383B-473A-5E42-BF42-66A87607B9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35053AF-2AFB-8A34-6F64-C969458351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75E19C-560D-582B-5C65-BABE728403AE}"/>
              </a:ext>
            </a:extLst>
          </p:cNvPr>
          <p:cNvSpPr>
            <a:spLocks noGrp="1"/>
          </p:cNvSpPr>
          <p:nvPr>
            <p:ph type="dt" sz="half" idx="10"/>
          </p:nvPr>
        </p:nvSpPr>
        <p:spPr/>
        <p:txBody>
          <a:bodyPr/>
          <a:lstStyle/>
          <a:p>
            <a:fld id="{9F23329E-57E4-4B3F-8988-77C63A75B884}" type="datetime1">
              <a:rPr lang="en-GB" smtClean="0"/>
              <a:t>02/02/2026</a:t>
            </a:fld>
            <a:endParaRPr lang="en-GB"/>
          </a:p>
        </p:txBody>
      </p:sp>
      <p:sp>
        <p:nvSpPr>
          <p:cNvPr id="5" name="Footer Placeholder 4">
            <a:extLst>
              <a:ext uri="{FF2B5EF4-FFF2-40B4-BE49-F238E27FC236}">
                <a16:creationId xmlns:a16="http://schemas.microsoft.com/office/drawing/2014/main" id="{89E26A85-9039-9DC7-FCE8-E59C15784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7E4C43-E1C4-CF43-D041-995B05E02BE4}"/>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070355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6A55-F2A7-95D7-5B21-8C725B77588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085870-E1A2-2279-E26B-485EDCBB07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75CDC7-3655-6623-C08B-2A0DDFBA47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5E85466-A2BA-0F1C-C0EE-3DDD9BBFB112}"/>
              </a:ext>
            </a:extLst>
          </p:cNvPr>
          <p:cNvSpPr>
            <a:spLocks noGrp="1"/>
          </p:cNvSpPr>
          <p:nvPr>
            <p:ph type="dt" sz="half" idx="10"/>
          </p:nvPr>
        </p:nvSpPr>
        <p:spPr/>
        <p:txBody>
          <a:bodyPr/>
          <a:lstStyle/>
          <a:p>
            <a:fld id="{5A98CBF2-F699-452C-AFF8-797997FDB794}" type="datetime1">
              <a:rPr lang="en-GB" smtClean="0"/>
              <a:t>02/02/2026</a:t>
            </a:fld>
            <a:endParaRPr lang="en-GB"/>
          </a:p>
        </p:txBody>
      </p:sp>
      <p:sp>
        <p:nvSpPr>
          <p:cNvPr id="6" name="Footer Placeholder 5">
            <a:extLst>
              <a:ext uri="{FF2B5EF4-FFF2-40B4-BE49-F238E27FC236}">
                <a16:creationId xmlns:a16="http://schemas.microsoft.com/office/drawing/2014/main" id="{40ADF506-CEA6-3A73-C30B-9E8664508B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BEED9-EA69-B899-A439-2F43F88F906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590666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FB61-0B1B-1AA8-C776-6E6E59874D8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E91144-0D95-8068-5D00-7A87B3CBA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ECA04A-9C50-74D8-50AB-68DCD684C4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6E713DA-D885-C472-BAD2-D383CFB17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4216DC-7E05-7364-DBE6-E5FCE8ADCF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A299C5-58E9-0915-C7F9-532BCEB533B9}"/>
              </a:ext>
            </a:extLst>
          </p:cNvPr>
          <p:cNvSpPr>
            <a:spLocks noGrp="1"/>
          </p:cNvSpPr>
          <p:nvPr>
            <p:ph type="dt" sz="half" idx="10"/>
          </p:nvPr>
        </p:nvSpPr>
        <p:spPr/>
        <p:txBody>
          <a:bodyPr/>
          <a:lstStyle/>
          <a:p>
            <a:fld id="{09ACF2AD-4956-4A53-AFF5-1B4F5D45EAF2}" type="datetime1">
              <a:rPr lang="en-GB" smtClean="0"/>
              <a:t>02/02/2026</a:t>
            </a:fld>
            <a:endParaRPr lang="en-GB"/>
          </a:p>
        </p:txBody>
      </p:sp>
      <p:sp>
        <p:nvSpPr>
          <p:cNvPr id="8" name="Footer Placeholder 7">
            <a:extLst>
              <a:ext uri="{FF2B5EF4-FFF2-40B4-BE49-F238E27FC236}">
                <a16:creationId xmlns:a16="http://schemas.microsoft.com/office/drawing/2014/main" id="{FD2A08F8-E9E4-42AA-2BF5-F3FD711CF8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9A90D6-B33F-B27A-89BC-5C61CD746F9F}"/>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854379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1DD-33BA-DC1A-503B-EDF553E9462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9C1459-127D-B946-DCC3-295E311F4556}"/>
              </a:ext>
            </a:extLst>
          </p:cNvPr>
          <p:cNvSpPr>
            <a:spLocks noGrp="1"/>
          </p:cNvSpPr>
          <p:nvPr>
            <p:ph type="dt" sz="half" idx="10"/>
          </p:nvPr>
        </p:nvSpPr>
        <p:spPr/>
        <p:txBody>
          <a:bodyPr/>
          <a:lstStyle/>
          <a:p>
            <a:fld id="{E8A177BF-F63D-4E30-BD42-E3449C11D41D}" type="datetime1">
              <a:rPr lang="en-GB" smtClean="0"/>
              <a:t>02/02/2026</a:t>
            </a:fld>
            <a:endParaRPr lang="en-GB"/>
          </a:p>
        </p:txBody>
      </p:sp>
      <p:sp>
        <p:nvSpPr>
          <p:cNvPr id="4" name="Footer Placeholder 3">
            <a:extLst>
              <a:ext uri="{FF2B5EF4-FFF2-40B4-BE49-F238E27FC236}">
                <a16:creationId xmlns:a16="http://schemas.microsoft.com/office/drawing/2014/main" id="{F06167AD-FE57-199A-AED0-34EC850A92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4E0EC7-4B04-9729-C509-C54966A06EF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4033516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124B3-7905-CDCE-B292-FD8A2BD1E19B}"/>
              </a:ext>
            </a:extLst>
          </p:cNvPr>
          <p:cNvSpPr>
            <a:spLocks noGrp="1"/>
          </p:cNvSpPr>
          <p:nvPr>
            <p:ph type="dt" sz="half" idx="10"/>
          </p:nvPr>
        </p:nvSpPr>
        <p:spPr/>
        <p:txBody>
          <a:bodyPr/>
          <a:lstStyle/>
          <a:p>
            <a:fld id="{14C573B2-2AE0-4192-8280-C1600F28AEE9}" type="datetime1">
              <a:rPr lang="en-GB" smtClean="0"/>
              <a:t>02/02/2026</a:t>
            </a:fld>
            <a:endParaRPr lang="en-GB"/>
          </a:p>
        </p:txBody>
      </p:sp>
      <p:sp>
        <p:nvSpPr>
          <p:cNvPr id="3" name="Footer Placeholder 2">
            <a:extLst>
              <a:ext uri="{FF2B5EF4-FFF2-40B4-BE49-F238E27FC236}">
                <a16:creationId xmlns:a16="http://schemas.microsoft.com/office/drawing/2014/main" id="{23FA3729-5522-EE34-2FCC-F4BC137CEF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CA7865-47F4-47C5-BBCB-A6249F2A9B3C}"/>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615388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DEA-FB17-B8A6-AA81-03FAA82022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EF307C4-5CF6-7B6B-7A9A-A16BDDA4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462CCBA-A6B6-D42B-9A6C-7C4515A57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EF61-BB13-5B78-32CC-DAE862704CBB}"/>
              </a:ext>
            </a:extLst>
          </p:cNvPr>
          <p:cNvSpPr>
            <a:spLocks noGrp="1"/>
          </p:cNvSpPr>
          <p:nvPr>
            <p:ph type="dt" sz="half" idx="10"/>
          </p:nvPr>
        </p:nvSpPr>
        <p:spPr/>
        <p:txBody>
          <a:bodyPr/>
          <a:lstStyle/>
          <a:p>
            <a:fld id="{B4A15260-07F2-476B-9C6F-C4D22041CE08}" type="datetime1">
              <a:rPr lang="en-GB" smtClean="0"/>
              <a:t>02/02/2026</a:t>
            </a:fld>
            <a:endParaRPr lang="en-GB"/>
          </a:p>
        </p:txBody>
      </p:sp>
      <p:sp>
        <p:nvSpPr>
          <p:cNvPr id="6" name="Footer Placeholder 5">
            <a:extLst>
              <a:ext uri="{FF2B5EF4-FFF2-40B4-BE49-F238E27FC236}">
                <a16:creationId xmlns:a16="http://schemas.microsoft.com/office/drawing/2014/main" id="{3E5CE7C5-8D38-2000-9396-6952E2AC53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481D8B-C963-0093-61E4-B314D8287EB9}"/>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98588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570-FFEA-139D-76DD-8FAD26F43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35F4C9-5646-2C72-5A74-36DBA95E0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B733E6-059F-B4E8-2665-301BD49D2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13E015-83D2-B22A-AEFA-3050D046CF74}"/>
              </a:ext>
            </a:extLst>
          </p:cNvPr>
          <p:cNvSpPr>
            <a:spLocks noGrp="1"/>
          </p:cNvSpPr>
          <p:nvPr>
            <p:ph type="dt" sz="half" idx="10"/>
          </p:nvPr>
        </p:nvSpPr>
        <p:spPr/>
        <p:txBody>
          <a:bodyPr/>
          <a:lstStyle/>
          <a:p>
            <a:fld id="{BB4E5123-108F-4342-94A0-5859029BE154}" type="datetime1">
              <a:rPr lang="en-GB" smtClean="0"/>
              <a:t>02/02/2026</a:t>
            </a:fld>
            <a:endParaRPr lang="en-GB"/>
          </a:p>
        </p:txBody>
      </p:sp>
      <p:sp>
        <p:nvSpPr>
          <p:cNvPr id="6" name="Footer Placeholder 5">
            <a:extLst>
              <a:ext uri="{FF2B5EF4-FFF2-40B4-BE49-F238E27FC236}">
                <a16:creationId xmlns:a16="http://schemas.microsoft.com/office/drawing/2014/main" id="{FE0DCC9E-7434-E9C4-BF07-F498CDF742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B5824-C721-15E0-005F-09D87B3694D5}"/>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593062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A8C0-0F4C-EB7E-4D83-13A13AB3468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2CC711-7438-1B41-AB61-31E43CBF3A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7412AF-0EE4-43D6-3E5A-8492725341EF}"/>
              </a:ext>
            </a:extLst>
          </p:cNvPr>
          <p:cNvSpPr>
            <a:spLocks noGrp="1"/>
          </p:cNvSpPr>
          <p:nvPr>
            <p:ph type="dt" sz="half" idx="10"/>
          </p:nvPr>
        </p:nvSpPr>
        <p:spPr/>
        <p:txBody>
          <a:bodyPr/>
          <a:lstStyle/>
          <a:p>
            <a:fld id="{60E4F266-503D-4864-9DE2-FA0A7EE85118}" type="datetime1">
              <a:rPr lang="en-GB" smtClean="0"/>
              <a:t>02/02/2026</a:t>
            </a:fld>
            <a:endParaRPr lang="en-GB"/>
          </a:p>
        </p:txBody>
      </p:sp>
      <p:sp>
        <p:nvSpPr>
          <p:cNvPr id="5" name="Footer Placeholder 4">
            <a:extLst>
              <a:ext uri="{FF2B5EF4-FFF2-40B4-BE49-F238E27FC236}">
                <a16:creationId xmlns:a16="http://schemas.microsoft.com/office/drawing/2014/main" id="{859C32D4-8659-7FED-DBB7-C92D7179A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987D87-07EB-4978-82B2-863E55F5247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533117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1CF52-EC45-CAB7-E131-1ECA7B9CBAE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1FF283-34F1-64D3-F66D-2F035B48F6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3D3432-534B-D87F-33AD-11D40092D389}"/>
              </a:ext>
            </a:extLst>
          </p:cNvPr>
          <p:cNvSpPr>
            <a:spLocks noGrp="1"/>
          </p:cNvSpPr>
          <p:nvPr>
            <p:ph type="dt" sz="half" idx="10"/>
          </p:nvPr>
        </p:nvSpPr>
        <p:spPr/>
        <p:txBody>
          <a:bodyPr/>
          <a:lstStyle/>
          <a:p>
            <a:fld id="{6E707F4A-1EE2-49D9-97EC-717DDE976EFD}" type="datetime1">
              <a:rPr lang="en-GB" smtClean="0"/>
              <a:t>02/02/2026</a:t>
            </a:fld>
            <a:endParaRPr lang="en-GB"/>
          </a:p>
        </p:txBody>
      </p:sp>
      <p:sp>
        <p:nvSpPr>
          <p:cNvPr id="5" name="Footer Placeholder 4">
            <a:extLst>
              <a:ext uri="{FF2B5EF4-FFF2-40B4-BE49-F238E27FC236}">
                <a16:creationId xmlns:a16="http://schemas.microsoft.com/office/drawing/2014/main" id="{76AAE0A8-0EFF-A6D0-21B8-38A2D7E8A3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FC8CA4-F6F3-B516-1FBA-074CDC4BF98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291223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5F04-E335-67A4-FA69-8365E526D2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9DAD6FB-F3BC-752E-D374-800B1DE648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C8BC70D-06A8-D18A-A788-8FD4FB1B4696}"/>
              </a:ext>
            </a:extLst>
          </p:cNvPr>
          <p:cNvSpPr>
            <a:spLocks noGrp="1"/>
          </p:cNvSpPr>
          <p:nvPr>
            <p:ph type="dt" sz="half" idx="10"/>
          </p:nvPr>
        </p:nvSpPr>
        <p:spPr/>
        <p:txBody>
          <a:bodyPr/>
          <a:lstStyle/>
          <a:p>
            <a:fld id="{C7B41495-F5D4-4BAE-846E-C1BA39B38C3E}" type="datetime1">
              <a:rPr lang="en-GB" smtClean="0"/>
              <a:t>02/02/2026</a:t>
            </a:fld>
            <a:endParaRPr lang="en-GB"/>
          </a:p>
        </p:txBody>
      </p:sp>
      <p:sp>
        <p:nvSpPr>
          <p:cNvPr id="5" name="Footer Placeholder 4">
            <a:extLst>
              <a:ext uri="{FF2B5EF4-FFF2-40B4-BE49-F238E27FC236}">
                <a16:creationId xmlns:a16="http://schemas.microsoft.com/office/drawing/2014/main" id="{46DCE3A3-1862-497C-DDA8-5672505EB8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EEAD9D-BBC4-E88C-BB0F-497F1E27EF11}"/>
              </a:ext>
            </a:extLst>
          </p:cNvPr>
          <p:cNvSpPr>
            <a:spLocks noGrp="1"/>
          </p:cNvSpPr>
          <p:nvPr>
            <p:ph type="sldNum" sz="quarter" idx="12"/>
          </p:nvPr>
        </p:nvSpPr>
        <p:spPr/>
        <p:txBody>
          <a:bodyPr/>
          <a:lstStyle>
            <a:lvl1pPr>
              <a:defRPr sz="2000" b="1"/>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1897181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C67ED-67B0-A413-78B4-CDBF534FDBB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A41D5D6-9D4D-11E4-06D4-372026C4A0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8B2683-A2AF-4A75-8A55-9D7F47C47B12}"/>
              </a:ext>
            </a:extLst>
          </p:cNvPr>
          <p:cNvSpPr>
            <a:spLocks noGrp="1"/>
          </p:cNvSpPr>
          <p:nvPr>
            <p:ph type="dt" sz="half" idx="10"/>
          </p:nvPr>
        </p:nvSpPr>
        <p:spPr/>
        <p:txBody>
          <a:bodyPr/>
          <a:lstStyle/>
          <a:p>
            <a:fld id="{F1F00E1F-D883-4734-8D17-FAFD2FE3F82B}" type="datetime1">
              <a:rPr lang="en-GB" smtClean="0"/>
              <a:t>02/02/2026</a:t>
            </a:fld>
            <a:endParaRPr lang="en-GB"/>
          </a:p>
        </p:txBody>
      </p:sp>
      <p:sp>
        <p:nvSpPr>
          <p:cNvPr id="5" name="Footer Placeholder 4">
            <a:extLst>
              <a:ext uri="{FF2B5EF4-FFF2-40B4-BE49-F238E27FC236}">
                <a16:creationId xmlns:a16="http://schemas.microsoft.com/office/drawing/2014/main" id="{265BA211-1912-E80C-FB03-CEBF522613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279302-C457-E101-4432-A6FA5B745F6D}"/>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52622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8383B-473A-5E42-BF42-66A87607B9D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35053AF-2AFB-8A34-6F64-C969458351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75E19C-560D-582B-5C65-BABE728403AE}"/>
              </a:ext>
            </a:extLst>
          </p:cNvPr>
          <p:cNvSpPr>
            <a:spLocks noGrp="1"/>
          </p:cNvSpPr>
          <p:nvPr>
            <p:ph type="dt" sz="half" idx="10"/>
          </p:nvPr>
        </p:nvSpPr>
        <p:spPr/>
        <p:txBody>
          <a:bodyPr/>
          <a:lstStyle/>
          <a:p>
            <a:fld id="{FAF03C43-999F-4677-8B7B-A143626357DE}" type="datetime1">
              <a:rPr lang="en-GB" smtClean="0"/>
              <a:t>02/02/2026</a:t>
            </a:fld>
            <a:endParaRPr lang="en-GB"/>
          </a:p>
        </p:txBody>
      </p:sp>
      <p:sp>
        <p:nvSpPr>
          <p:cNvPr id="5" name="Footer Placeholder 4">
            <a:extLst>
              <a:ext uri="{FF2B5EF4-FFF2-40B4-BE49-F238E27FC236}">
                <a16:creationId xmlns:a16="http://schemas.microsoft.com/office/drawing/2014/main" id="{89E26A85-9039-9DC7-FCE8-E59C15784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7E4C43-E1C4-CF43-D041-995B05E02BE4}"/>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0683740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6A55-F2A7-95D7-5B21-8C725B77588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085870-E1A2-2279-E26B-485EDCBB07A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D75CDC7-3655-6623-C08B-2A0DDFBA47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C5E85466-A2BA-0F1C-C0EE-3DDD9BBFB112}"/>
              </a:ext>
            </a:extLst>
          </p:cNvPr>
          <p:cNvSpPr>
            <a:spLocks noGrp="1"/>
          </p:cNvSpPr>
          <p:nvPr>
            <p:ph type="dt" sz="half" idx="10"/>
          </p:nvPr>
        </p:nvSpPr>
        <p:spPr/>
        <p:txBody>
          <a:bodyPr/>
          <a:lstStyle/>
          <a:p>
            <a:fld id="{AD62E2D2-7D84-4F62-AB79-04DD5D6E2A83}" type="datetime1">
              <a:rPr lang="en-GB" smtClean="0"/>
              <a:t>02/02/2026</a:t>
            </a:fld>
            <a:endParaRPr lang="en-GB"/>
          </a:p>
        </p:txBody>
      </p:sp>
      <p:sp>
        <p:nvSpPr>
          <p:cNvPr id="6" name="Footer Placeholder 5">
            <a:extLst>
              <a:ext uri="{FF2B5EF4-FFF2-40B4-BE49-F238E27FC236}">
                <a16:creationId xmlns:a16="http://schemas.microsoft.com/office/drawing/2014/main" id="{40ADF506-CEA6-3A73-C30B-9E8664508B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1BEED9-EA69-B899-A439-2F43F88F906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646784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FB61-0B1B-1AA8-C776-6E6E59874D8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E91144-0D95-8068-5D00-7A87B3CBA5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ECA04A-9C50-74D8-50AB-68DCD684C4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6E713DA-D885-C472-BAD2-D383CFB17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4216DC-7E05-7364-DBE6-E5FCE8ADCF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A299C5-58E9-0915-C7F9-532BCEB533B9}"/>
              </a:ext>
            </a:extLst>
          </p:cNvPr>
          <p:cNvSpPr>
            <a:spLocks noGrp="1"/>
          </p:cNvSpPr>
          <p:nvPr>
            <p:ph type="dt" sz="half" idx="10"/>
          </p:nvPr>
        </p:nvSpPr>
        <p:spPr/>
        <p:txBody>
          <a:bodyPr/>
          <a:lstStyle/>
          <a:p>
            <a:fld id="{3C542E2F-086F-40AD-AE37-0FE3516ECA88}" type="datetime1">
              <a:rPr lang="en-GB" smtClean="0"/>
              <a:t>02/02/2026</a:t>
            </a:fld>
            <a:endParaRPr lang="en-GB"/>
          </a:p>
        </p:txBody>
      </p:sp>
      <p:sp>
        <p:nvSpPr>
          <p:cNvPr id="8" name="Footer Placeholder 7">
            <a:extLst>
              <a:ext uri="{FF2B5EF4-FFF2-40B4-BE49-F238E27FC236}">
                <a16:creationId xmlns:a16="http://schemas.microsoft.com/office/drawing/2014/main" id="{FD2A08F8-E9E4-42AA-2BF5-F3FD711CF8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C9A90D6-B33F-B27A-89BC-5C61CD746F9F}"/>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801709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F1DD-33BA-DC1A-503B-EDF553E9462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59C1459-127D-B946-DCC3-295E311F4556}"/>
              </a:ext>
            </a:extLst>
          </p:cNvPr>
          <p:cNvSpPr>
            <a:spLocks noGrp="1"/>
          </p:cNvSpPr>
          <p:nvPr>
            <p:ph type="dt" sz="half" idx="10"/>
          </p:nvPr>
        </p:nvSpPr>
        <p:spPr/>
        <p:txBody>
          <a:bodyPr/>
          <a:lstStyle/>
          <a:p>
            <a:fld id="{28BB7FCF-08A1-4FE4-9E9D-DC420D650C18}" type="datetime1">
              <a:rPr lang="en-GB" smtClean="0"/>
              <a:t>02/02/2026</a:t>
            </a:fld>
            <a:endParaRPr lang="en-GB"/>
          </a:p>
        </p:txBody>
      </p:sp>
      <p:sp>
        <p:nvSpPr>
          <p:cNvPr id="4" name="Footer Placeholder 3">
            <a:extLst>
              <a:ext uri="{FF2B5EF4-FFF2-40B4-BE49-F238E27FC236}">
                <a16:creationId xmlns:a16="http://schemas.microsoft.com/office/drawing/2014/main" id="{F06167AD-FE57-199A-AED0-34EC850A92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4E0EC7-4B04-9729-C509-C54966A06EF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91028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EDD1B0"/>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124B3-7905-CDCE-B292-FD8A2BD1E19B}"/>
              </a:ext>
            </a:extLst>
          </p:cNvPr>
          <p:cNvSpPr>
            <a:spLocks noGrp="1"/>
          </p:cNvSpPr>
          <p:nvPr>
            <p:ph type="dt" sz="half" idx="10"/>
          </p:nvPr>
        </p:nvSpPr>
        <p:spPr/>
        <p:txBody>
          <a:bodyPr/>
          <a:lstStyle/>
          <a:p>
            <a:fld id="{EDDDA0C7-BAEE-4F35-8A3B-93DC0CEF01B4}" type="datetime1">
              <a:rPr lang="en-GB" smtClean="0"/>
              <a:t>02/02/2026</a:t>
            </a:fld>
            <a:endParaRPr lang="en-GB"/>
          </a:p>
        </p:txBody>
      </p:sp>
      <p:sp>
        <p:nvSpPr>
          <p:cNvPr id="3" name="Footer Placeholder 2">
            <a:extLst>
              <a:ext uri="{FF2B5EF4-FFF2-40B4-BE49-F238E27FC236}">
                <a16:creationId xmlns:a16="http://schemas.microsoft.com/office/drawing/2014/main" id="{23FA3729-5522-EE34-2FCC-F4BC137CEF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FCA7865-47F4-47C5-BBCB-A6249F2A9B3C}"/>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24345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4DEA-FB17-B8A6-AA81-03FAA82022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EF307C4-5CF6-7B6B-7A9A-A16BDDA45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462CCBA-A6B6-D42B-9A6C-7C4515A57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CB7EF61-BB13-5B78-32CC-DAE862704CBB}"/>
              </a:ext>
            </a:extLst>
          </p:cNvPr>
          <p:cNvSpPr>
            <a:spLocks noGrp="1"/>
          </p:cNvSpPr>
          <p:nvPr>
            <p:ph type="dt" sz="half" idx="10"/>
          </p:nvPr>
        </p:nvSpPr>
        <p:spPr/>
        <p:txBody>
          <a:bodyPr/>
          <a:lstStyle/>
          <a:p>
            <a:fld id="{E92368E4-9C31-482F-B818-B582CFCA3920}" type="datetime1">
              <a:rPr lang="en-GB" smtClean="0"/>
              <a:t>02/02/2026</a:t>
            </a:fld>
            <a:endParaRPr lang="en-GB"/>
          </a:p>
        </p:txBody>
      </p:sp>
      <p:sp>
        <p:nvSpPr>
          <p:cNvPr id="6" name="Footer Placeholder 5">
            <a:extLst>
              <a:ext uri="{FF2B5EF4-FFF2-40B4-BE49-F238E27FC236}">
                <a16:creationId xmlns:a16="http://schemas.microsoft.com/office/drawing/2014/main" id="{3E5CE7C5-8D38-2000-9396-6952E2AC53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481D8B-C963-0093-61E4-B314D8287EB9}"/>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7781208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570-FFEA-139D-76DD-8FAD26F435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235F4C9-5646-2C72-5A74-36DBA95E0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B733E6-059F-B4E8-2665-301BD49D2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13E015-83D2-B22A-AEFA-3050D046CF74}"/>
              </a:ext>
            </a:extLst>
          </p:cNvPr>
          <p:cNvSpPr>
            <a:spLocks noGrp="1"/>
          </p:cNvSpPr>
          <p:nvPr>
            <p:ph type="dt" sz="half" idx="10"/>
          </p:nvPr>
        </p:nvSpPr>
        <p:spPr/>
        <p:txBody>
          <a:bodyPr/>
          <a:lstStyle/>
          <a:p>
            <a:fld id="{CFA87033-DBE3-47C4-85A3-06E175F67215}" type="datetime1">
              <a:rPr lang="en-GB" smtClean="0"/>
              <a:t>02/02/2026</a:t>
            </a:fld>
            <a:endParaRPr lang="en-GB"/>
          </a:p>
        </p:txBody>
      </p:sp>
      <p:sp>
        <p:nvSpPr>
          <p:cNvPr id="6" name="Footer Placeholder 5">
            <a:extLst>
              <a:ext uri="{FF2B5EF4-FFF2-40B4-BE49-F238E27FC236}">
                <a16:creationId xmlns:a16="http://schemas.microsoft.com/office/drawing/2014/main" id="{FE0DCC9E-7434-E9C4-BF07-F498CDF742F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7B5824-C721-15E0-005F-09D87B3694D5}"/>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6493050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DA8C0-0F4C-EB7E-4D83-13A13AB3468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92CC711-7438-1B41-AB61-31E43CBF3A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47412AF-0EE4-43D6-3E5A-8492725341EF}"/>
              </a:ext>
            </a:extLst>
          </p:cNvPr>
          <p:cNvSpPr>
            <a:spLocks noGrp="1"/>
          </p:cNvSpPr>
          <p:nvPr>
            <p:ph type="dt" sz="half" idx="10"/>
          </p:nvPr>
        </p:nvSpPr>
        <p:spPr/>
        <p:txBody>
          <a:bodyPr/>
          <a:lstStyle/>
          <a:p>
            <a:fld id="{5188CAA1-DC3A-4AD5-88F3-EBC71BAF0E08}" type="datetime1">
              <a:rPr lang="en-GB" smtClean="0"/>
              <a:t>02/02/2026</a:t>
            </a:fld>
            <a:endParaRPr lang="en-GB"/>
          </a:p>
        </p:txBody>
      </p:sp>
      <p:sp>
        <p:nvSpPr>
          <p:cNvPr id="5" name="Footer Placeholder 4">
            <a:extLst>
              <a:ext uri="{FF2B5EF4-FFF2-40B4-BE49-F238E27FC236}">
                <a16:creationId xmlns:a16="http://schemas.microsoft.com/office/drawing/2014/main" id="{859C32D4-8659-7FED-DBB7-C92D7179A0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987D87-07EB-4978-82B2-863E55F52477}"/>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32738702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EDD1B0"/>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1CF52-EC45-CAB7-E131-1ECA7B9CBAE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81FF283-34F1-64D3-F66D-2F035B48F68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3D3432-534B-D87F-33AD-11D40092D389}"/>
              </a:ext>
            </a:extLst>
          </p:cNvPr>
          <p:cNvSpPr>
            <a:spLocks noGrp="1"/>
          </p:cNvSpPr>
          <p:nvPr>
            <p:ph type="dt" sz="half" idx="10"/>
          </p:nvPr>
        </p:nvSpPr>
        <p:spPr/>
        <p:txBody>
          <a:bodyPr/>
          <a:lstStyle/>
          <a:p>
            <a:fld id="{FED66873-85DD-4CDB-895B-8ED6F6A7367F}" type="datetime1">
              <a:rPr lang="en-GB" smtClean="0"/>
              <a:t>02/02/2026</a:t>
            </a:fld>
            <a:endParaRPr lang="en-GB"/>
          </a:p>
        </p:txBody>
      </p:sp>
      <p:sp>
        <p:nvSpPr>
          <p:cNvPr id="5" name="Footer Placeholder 4">
            <a:extLst>
              <a:ext uri="{FF2B5EF4-FFF2-40B4-BE49-F238E27FC236}">
                <a16:creationId xmlns:a16="http://schemas.microsoft.com/office/drawing/2014/main" id="{76AAE0A8-0EFF-A6D0-21B8-38A2D7E8A3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FC8CA4-F6F3-B516-1FBA-074CDC4BF988}"/>
              </a:ext>
            </a:extLst>
          </p:cNvPr>
          <p:cNvSpPr>
            <a:spLocks noGrp="1"/>
          </p:cNvSpPr>
          <p:nvPr>
            <p:ph type="sldNum" sz="quarter" idx="12"/>
          </p:nvPr>
        </p:nvSpPr>
        <p:spPr/>
        <p:txBody>
          <a:bodyPr/>
          <a:lstStyle/>
          <a:p>
            <a:fld id="{1ED87AFC-F3F3-4E09-A9D9-1873FFB55ECB}" type="slidenum">
              <a:rPr lang="en-GB" smtClean="0"/>
              <a:t>‹#›</a:t>
            </a:fld>
            <a:endParaRPr lang="en-GB"/>
          </a:p>
        </p:txBody>
      </p:sp>
    </p:spTree>
    <p:extLst>
      <p:ext uri="{BB962C8B-B14F-4D97-AF65-F5344CB8AC3E}">
        <p14:creationId xmlns:p14="http://schemas.microsoft.com/office/powerpoint/2010/main" val="1040322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5FCCA-3F3F-773D-CD33-62B98DC6A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A4DECA-96E2-A2E3-D34A-F7C25B021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B31FA4-DBAE-837F-EEB7-35143BA16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BCCD45-486D-4FE6-B311-4355809C78D3}" type="datetime1">
              <a:rPr lang="en-GB" smtClean="0"/>
              <a:t>02/02/2026</a:t>
            </a:fld>
            <a:endParaRPr lang="en-GB"/>
          </a:p>
        </p:txBody>
      </p:sp>
      <p:sp>
        <p:nvSpPr>
          <p:cNvPr id="5" name="Footer Placeholder 4">
            <a:extLst>
              <a:ext uri="{FF2B5EF4-FFF2-40B4-BE49-F238E27FC236}">
                <a16:creationId xmlns:a16="http://schemas.microsoft.com/office/drawing/2014/main" id="{9061C84C-67E4-49E5-DBCE-67ED85EF1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F2140A1-6DB9-3D28-8445-9C83A0B70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b="1">
                <a:solidFill>
                  <a:schemeClr val="tx1">
                    <a:tint val="75000"/>
                  </a:schemeClr>
                </a:solidFill>
              </a:defRPr>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847458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5FCCA-3F3F-773D-CD33-62B98DC6A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A4DECA-96E2-A2E3-D34A-F7C25B021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2B31FA4-DBAE-837F-EEB7-35143BA16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0EB35A-6C1C-44EB-A894-5CBC41E755B3}" type="datetime1">
              <a:rPr lang="en-GB" smtClean="0"/>
              <a:t>02/02/2026</a:t>
            </a:fld>
            <a:endParaRPr lang="en-GB"/>
          </a:p>
        </p:txBody>
      </p:sp>
      <p:sp>
        <p:nvSpPr>
          <p:cNvPr id="5" name="Footer Placeholder 4">
            <a:extLst>
              <a:ext uri="{FF2B5EF4-FFF2-40B4-BE49-F238E27FC236}">
                <a16:creationId xmlns:a16="http://schemas.microsoft.com/office/drawing/2014/main" id="{9061C84C-67E4-49E5-DBCE-67ED85EF16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F2140A1-6DB9-3D28-8445-9C83A0B707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000" b="1">
                <a:solidFill>
                  <a:schemeClr val="tx1">
                    <a:tint val="75000"/>
                  </a:schemeClr>
                </a:solidFill>
              </a:defRPr>
            </a:lvl1pPr>
          </a:lstStyle>
          <a:p>
            <a:fld id="{1ED87AFC-F3F3-4E09-A9D9-1873FFB55ECB}" type="slidenum">
              <a:rPr lang="en-GB" smtClean="0"/>
              <a:pPr/>
              <a:t>‹#›</a:t>
            </a:fld>
            <a:endParaRPr lang="en-GB" dirty="0"/>
          </a:p>
        </p:txBody>
      </p:sp>
    </p:spTree>
    <p:extLst>
      <p:ext uri="{BB962C8B-B14F-4D97-AF65-F5344CB8AC3E}">
        <p14:creationId xmlns:p14="http://schemas.microsoft.com/office/powerpoint/2010/main" val="3439585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60.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ctrTitle"/>
          </p:nvPr>
        </p:nvSpPr>
        <p:spPr/>
        <p:txBody>
          <a:bodyPr>
            <a:normAutofit fontScale="90000"/>
          </a:bodyPr>
          <a:lstStyle/>
          <a:p>
            <a:r>
              <a:rPr lang="en-GB" b="1" dirty="0"/>
              <a:t>ENG4118/5326 - Robotics 4/M</a:t>
            </a:r>
            <a:br>
              <a:rPr lang="en-GB" b="1" dirty="0"/>
            </a:br>
            <a:r>
              <a:rPr lang="en-GB" b="1" dirty="0"/>
              <a:t>Sensors, Actuators and Image capture, processing and analysis</a:t>
            </a:r>
          </a:p>
        </p:txBody>
      </p:sp>
      <p:sp>
        <p:nvSpPr>
          <p:cNvPr id="3" name="Subtitle 2">
            <a:extLst>
              <a:ext uri="{FF2B5EF4-FFF2-40B4-BE49-F238E27FC236}">
                <a16:creationId xmlns:a16="http://schemas.microsoft.com/office/drawing/2014/main" id="{0EC2D61B-0204-42F3-52E6-931A9496968D}"/>
              </a:ext>
            </a:extLst>
          </p:cNvPr>
          <p:cNvSpPr>
            <a:spLocks noGrp="1"/>
          </p:cNvSpPr>
          <p:nvPr>
            <p:ph type="subTitle" idx="1"/>
          </p:nvPr>
        </p:nvSpPr>
        <p:spPr/>
        <p:txBody>
          <a:bodyPr>
            <a:normAutofit/>
          </a:bodyPr>
          <a:lstStyle/>
          <a:p>
            <a:r>
              <a:rPr lang="en-GB" sz="3600" dirty="0"/>
              <a:t>Lecture 8</a:t>
            </a:r>
          </a:p>
          <a:p>
            <a:r>
              <a:rPr lang="en-GB" sz="3600" dirty="0"/>
              <a:t>Kevin Worrall</a:t>
            </a:r>
          </a:p>
        </p:txBody>
      </p:sp>
      <p:sp>
        <p:nvSpPr>
          <p:cNvPr id="5" name="Slide Number Placeholder 4">
            <a:extLst>
              <a:ext uri="{FF2B5EF4-FFF2-40B4-BE49-F238E27FC236}">
                <a16:creationId xmlns:a16="http://schemas.microsoft.com/office/drawing/2014/main" id="{AE42FB52-67A8-E2C7-2462-FB99CD1C6398}"/>
              </a:ext>
            </a:extLst>
          </p:cNvPr>
          <p:cNvSpPr>
            <a:spLocks noGrp="1"/>
          </p:cNvSpPr>
          <p:nvPr>
            <p:ph type="sldNum" sz="quarter" idx="12"/>
          </p:nvPr>
        </p:nvSpPr>
        <p:spPr/>
        <p:txBody>
          <a:bodyPr/>
          <a:lstStyle/>
          <a:p>
            <a:fld id="{1ED87AFC-F3F3-4E09-A9D9-1873FFB55ECB}" type="slidenum">
              <a:rPr lang="en-GB" smtClean="0"/>
              <a:t>1</a:t>
            </a:fld>
            <a:endParaRPr lang="en-GB"/>
          </a:p>
        </p:txBody>
      </p:sp>
    </p:spTree>
    <p:extLst>
      <p:ext uri="{BB962C8B-B14F-4D97-AF65-F5344CB8AC3E}">
        <p14:creationId xmlns:p14="http://schemas.microsoft.com/office/powerpoint/2010/main" val="4242011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D1B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Lecture Overview</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lnSpcReduction="10000"/>
          </a:bodyPr>
          <a:lstStyle/>
          <a:p>
            <a:r>
              <a:rPr lang="en-GB" sz="3600" dirty="0"/>
              <a:t>Range Finders</a:t>
            </a:r>
          </a:p>
          <a:p>
            <a:pPr lvl="1"/>
            <a:r>
              <a:rPr lang="en-GB" sz="3200" dirty="0"/>
              <a:t>Ultrasonic</a:t>
            </a:r>
          </a:p>
          <a:p>
            <a:pPr lvl="1"/>
            <a:r>
              <a:rPr lang="en-GB" sz="3200" dirty="0"/>
              <a:t>Optical</a:t>
            </a:r>
          </a:p>
          <a:p>
            <a:r>
              <a:rPr lang="en-GB" sz="3600" dirty="0"/>
              <a:t>Review of proximity sensors</a:t>
            </a:r>
          </a:p>
          <a:p>
            <a:r>
              <a:rPr lang="en-GB" sz="3600" dirty="0"/>
              <a:t>Force Sensors</a:t>
            </a:r>
          </a:p>
          <a:p>
            <a:pPr lvl="1"/>
            <a:r>
              <a:rPr lang="en-GB" sz="3200" dirty="0"/>
              <a:t>Strain Gauges</a:t>
            </a:r>
          </a:p>
          <a:p>
            <a:pPr lvl="1"/>
            <a:r>
              <a:rPr lang="en-GB" sz="3200" dirty="0"/>
              <a:t>Piezoelectric</a:t>
            </a:r>
          </a:p>
          <a:p>
            <a:r>
              <a:rPr lang="en-GB" sz="3600" dirty="0"/>
              <a:t>Touch and Tactile</a:t>
            </a:r>
          </a:p>
          <a:p>
            <a:endParaRPr lang="en-GB" sz="3600" dirty="0"/>
          </a:p>
          <a:p>
            <a:pPr lvl="1"/>
            <a:endParaRPr lang="en-GB" sz="3600" dirty="0"/>
          </a:p>
        </p:txBody>
      </p:sp>
      <p:sp>
        <p:nvSpPr>
          <p:cNvPr id="4" name="Slide Number Placeholder 3">
            <a:extLst>
              <a:ext uri="{FF2B5EF4-FFF2-40B4-BE49-F238E27FC236}">
                <a16:creationId xmlns:a16="http://schemas.microsoft.com/office/drawing/2014/main" id="{8B50761D-BFB0-57EF-E43B-6C4AC298B0C1}"/>
              </a:ext>
            </a:extLst>
          </p:cNvPr>
          <p:cNvSpPr>
            <a:spLocks noGrp="1"/>
          </p:cNvSpPr>
          <p:nvPr>
            <p:ph type="sldNum" sz="quarter" idx="12"/>
          </p:nvPr>
        </p:nvSpPr>
        <p:spPr/>
        <p:txBody>
          <a:bodyPr/>
          <a:lstStyle/>
          <a:p>
            <a:fld id="{1ED87AFC-F3F3-4E09-A9D9-1873FFB55ECB}" type="slidenum">
              <a:rPr lang="en-GB" smtClean="0"/>
              <a:t>2</a:t>
            </a:fld>
            <a:endParaRPr lang="en-GB"/>
          </a:p>
        </p:txBody>
      </p:sp>
      <p:pic>
        <p:nvPicPr>
          <p:cNvPr id="5" name="Picture 4">
            <a:extLst>
              <a:ext uri="{FF2B5EF4-FFF2-40B4-BE49-F238E27FC236}">
                <a16:creationId xmlns:a16="http://schemas.microsoft.com/office/drawing/2014/main" id="{50F57451-DC0D-84D4-4468-91BA2BD39266}"/>
              </a:ext>
            </a:extLst>
          </p:cNvPr>
          <p:cNvPicPr>
            <a:picLocks noChangeAspect="1"/>
          </p:cNvPicPr>
          <p:nvPr/>
        </p:nvPicPr>
        <p:blipFill>
          <a:blip r:embed="rId3"/>
          <a:stretch>
            <a:fillRect/>
          </a:stretch>
        </p:blipFill>
        <p:spPr>
          <a:xfrm>
            <a:off x="6872835" y="1330770"/>
            <a:ext cx="4480965" cy="4196459"/>
          </a:xfrm>
          <a:prstGeom prst="rect">
            <a:avLst/>
          </a:prstGeom>
        </p:spPr>
      </p:pic>
    </p:spTree>
    <p:extLst>
      <p:ext uri="{BB962C8B-B14F-4D97-AF65-F5344CB8AC3E}">
        <p14:creationId xmlns:p14="http://schemas.microsoft.com/office/powerpoint/2010/main" val="654745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Range Finders</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4457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Range Finders</a:t>
            </a:r>
            <a:endParaRPr lang="en-GB" b="1" i="1" dirty="0"/>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fontScale="85000" lnSpcReduction="20000"/>
          </a:bodyPr>
          <a:lstStyle/>
          <a:p>
            <a:r>
              <a:rPr lang="en-GB" sz="3600" dirty="0"/>
              <a:t>Unlike proximity sensors, range finders are used to </a:t>
            </a:r>
          </a:p>
          <a:p>
            <a:pPr lvl="1"/>
            <a:r>
              <a:rPr lang="en-GB" sz="3200" dirty="0"/>
              <a:t>find larger distances</a:t>
            </a:r>
          </a:p>
          <a:p>
            <a:pPr lvl="1"/>
            <a:r>
              <a:rPr lang="en-GB" sz="3200" dirty="0"/>
              <a:t>detect objects</a:t>
            </a:r>
          </a:p>
          <a:p>
            <a:pPr lvl="1"/>
            <a:r>
              <a:rPr lang="en-GB" sz="3200" dirty="0"/>
              <a:t>map the surfaces of objects</a:t>
            </a:r>
          </a:p>
          <a:p>
            <a:r>
              <a:rPr lang="en-GB" sz="3600" dirty="0"/>
              <a:t>Range finders are intended to provide information in advance to the system</a:t>
            </a:r>
          </a:p>
          <a:p>
            <a:r>
              <a:rPr lang="en-GB" sz="3600" dirty="0"/>
              <a:t>Range finders are generally based upon </a:t>
            </a:r>
          </a:p>
          <a:p>
            <a:pPr lvl="1"/>
            <a:r>
              <a:rPr lang="en-GB" sz="3200" dirty="0"/>
              <a:t>light such as visible, IR, laser</a:t>
            </a:r>
          </a:p>
          <a:p>
            <a:pPr lvl="1"/>
            <a:r>
              <a:rPr lang="en-GB" sz="3200" dirty="0"/>
              <a:t>ultrasonics</a:t>
            </a:r>
          </a:p>
          <a:p>
            <a:r>
              <a:rPr lang="en-GB" sz="3600" dirty="0"/>
              <a:t>Two common methods of measurement are triangulation and time of flight</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1256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Range Finders – Time of Flight (</a:t>
            </a:r>
            <a:r>
              <a:rPr lang="en-GB" b="1" dirty="0" err="1"/>
              <a:t>ToF</a:t>
            </a:r>
            <a:r>
              <a:rPr lang="en-GB" b="1" dirty="0"/>
              <a:t>)</a:t>
            </a:r>
            <a:endParaRPr lang="en-GB" b="1" i="1" dirty="0"/>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92500" lnSpcReduction="10000"/>
          </a:bodyPr>
          <a:lstStyle/>
          <a:p>
            <a:r>
              <a:rPr lang="en-GB" sz="3600" dirty="0"/>
              <a:t>Consists of sending a signal from a transmitter that reflects off an object that is detected by the receiver</a:t>
            </a:r>
          </a:p>
          <a:p>
            <a:r>
              <a:rPr lang="en-GB" sz="3600" dirty="0"/>
              <a:t>The distance between the sensor and object is half the distance travelled by the signal and is calculated from the time of travel and speed of the signal</a:t>
            </a:r>
          </a:p>
        </p:txBody>
      </p:sp>
      <p:pic>
        <p:nvPicPr>
          <p:cNvPr id="6" name="Content Placeholder 5">
            <a:extLst>
              <a:ext uri="{FF2B5EF4-FFF2-40B4-BE49-F238E27FC236}">
                <a16:creationId xmlns:a16="http://schemas.microsoft.com/office/drawing/2014/main" id="{9788FCF7-5008-0131-9CAC-31A11837746C}"/>
              </a:ext>
            </a:extLst>
          </p:cNvPr>
          <p:cNvPicPr>
            <a:picLocks noGrp="1" noChangeAspect="1"/>
          </p:cNvPicPr>
          <p:nvPr>
            <p:ph sz="half" idx="2"/>
          </p:nvPr>
        </p:nvPicPr>
        <p:blipFill>
          <a:blip r:embed="rId2"/>
          <a:stretch>
            <a:fillRect/>
          </a:stretch>
        </p:blipFill>
        <p:spPr>
          <a:xfrm>
            <a:off x="6172200" y="2274769"/>
            <a:ext cx="5181600" cy="3453050"/>
          </a:xfrm>
          <a:prstGeom prst="rect">
            <a:avLst/>
          </a:prstGeom>
        </p:spPr>
      </p:pic>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8620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err="1"/>
              <a:t>ToF</a:t>
            </a:r>
            <a:r>
              <a:rPr lang="en-GB" b="1" dirty="0"/>
              <a:t> Range Finders – Ultrasonic</a:t>
            </a:r>
            <a:endParaRPr lang="en-GB" b="1" i="1" dirty="0"/>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85000" lnSpcReduction="20000"/>
          </a:bodyPr>
          <a:lstStyle/>
          <a:p>
            <a:r>
              <a:rPr lang="en-GB" sz="3600" dirty="0"/>
              <a:t>An ultrasonic signal (typically&gt;200kHz) is transmitted by a piezoelectric ceramic disk</a:t>
            </a:r>
          </a:p>
          <a:p>
            <a:r>
              <a:rPr lang="en-GB" sz="3600" dirty="0"/>
              <a:t>A receiver detects any reflections from a surface in proximity to the sensor</a:t>
            </a:r>
          </a:p>
          <a:p>
            <a:r>
              <a:rPr lang="en-GB" sz="3600" dirty="0"/>
              <a:t>Sensing range can be in the region of meters and can be used for range finding </a:t>
            </a:r>
          </a:p>
          <a:p>
            <a:r>
              <a:rPr lang="en-GB" sz="3600" dirty="0"/>
              <a:t>…but be aware of materials</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Content Placeholder 7">
            <a:extLst>
              <a:ext uri="{FF2B5EF4-FFF2-40B4-BE49-F238E27FC236}">
                <a16:creationId xmlns:a16="http://schemas.microsoft.com/office/drawing/2014/main" id="{0ABFAC83-F94A-E6C6-D210-F2319A2DFEE9}"/>
              </a:ext>
            </a:extLst>
          </p:cNvPr>
          <p:cNvPicPr>
            <a:picLocks noGrp="1" noChangeAspect="1"/>
          </p:cNvPicPr>
          <p:nvPr>
            <p:ph sz="half" idx="2"/>
          </p:nvPr>
        </p:nvPicPr>
        <p:blipFill>
          <a:blip r:embed="rId2"/>
          <a:stretch>
            <a:fillRect/>
          </a:stretch>
        </p:blipFill>
        <p:spPr>
          <a:xfrm>
            <a:off x="6587331" y="1825625"/>
            <a:ext cx="4351338" cy="4351338"/>
          </a:xfrm>
          <a:prstGeom prst="rect">
            <a:avLst/>
          </a:prstGeom>
        </p:spPr>
      </p:pic>
    </p:spTree>
    <p:extLst>
      <p:ext uri="{BB962C8B-B14F-4D97-AF65-F5344CB8AC3E}">
        <p14:creationId xmlns:p14="http://schemas.microsoft.com/office/powerpoint/2010/main" val="648894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err="1"/>
              <a:t>ToF</a:t>
            </a:r>
            <a:r>
              <a:rPr lang="en-GB" b="1" dirty="0"/>
              <a:t> Range Finders – Ultrasonic</a:t>
            </a:r>
            <a:endParaRPr lang="en-GB" b="1" i="1" dirty="0"/>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55000" lnSpcReduction="20000"/>
          </a:bodyPr>
          <a:lstStyle/>
          <a:p>
            <a:r>
              <a:rPr lang="en-GB" sz="3600" dirty="0"/>
              <a:t>Ultrasonic rangefinders operate in the region 20kHz – 2MHz</a:t>
            </a:r>
          </a:p>
          <a:p>
            <a:r>
              <a:rPr lang="en-GB" sz="3600" dirty="0"/>
              <a:t>Resolution improves as the frequency increases (resolution is approximately +/- half a wavelength)</a:t>
            </a:r>
          </a:p>
          <a:p>
            <a:r>
              <a:rPr lang="en-GB" sz="3600" dirty="0"/>
              <a:t>Range and beam width increase as the frequency decreases</a:t>
            </a:r>
          </a:p>
          <a:p>
            <a:r>
              <a:rPr lang="en-GB" sz="3600" dirty="0"/>
              <a:t>Modern industrial environments can have ‘noisy’ emissions in regions below 100kHz which can degrade performance at these frequencies</a:t>
            </a:r>
          </a:p>
          <a:p>
            <a:r>
              <a:rPr lang="en-GB" sz="3600" dirty="0"/>
              <a:t>Ultrasonic range finders are rugged, simple, inexpensive and use low power</a:t>
            </a:r>
          </a:p>
          <a:p>
            <a:r>
              <a:rPr lang="en-GB" sz="3600" dirty="0"/>
              <a:t>Be aware of the cone size and the angle of attack</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D2CBF43D-36AA-1CA4-4F28-BEAF5CBE5290}"/>
              </a:ext>
            </a:extLst>
          </p:cNvPr>
          <p:cNvPicPr>
            <a:picLocks noGrp="1" noChangeAspect="1"/>
          </p:cNvPicPr>
          <p:nvPr>
            <p:ph sz="half" idx="2"/>
          </p:nvPr>
        </p:nvPicPr>
        <p:blipFill>
          <a:blip r:embed="rId2"/>
          <a:stretch>
            <a:fillRect/>
          </a:stretch>
        </p:blipFill>
        <p:spPr>
          <a:xfrm>
            <a:off x="6562725" y="2682081"/>
            <a:ext cx="4400550" cy="2638425"/>
          </a:xfrm>
          <a:prstGeom prst="rect">
            <a:avLst/>
          </a:prstGeom>
        </p:spPr>
      </p:pic>
    </p:spTree>
    <p:extLst>
      <p:ext uri="{BB962C8B-B14F-4D97-AF65-F5344CB8AC3E}">
        <p14:creationId xmlns:p14="http://schemas.microsoft.com/office/powerpoint/2010/main" val="99400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err="1"/>
              <a:t>ToF</a:t>
            </a:r>
            <a:r>
              <a:rPr lang="en-GB" b="1" dirty="0"/>
              <a:t> Range Finders – Laser</a:t>
            </a:r>
            <a:endParaRPr lang="en-GB" b="1" i="1" dirty="0"/>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a:bodyPr>
          <a:lstStyle/>
          <a:p>
            <a:r>
              <a:rPr lang="en-GB" sz="3600" dirty="0"/>
              <a:t>Same principle but uses a low lower laser source instead of sound waves</a:t>
            </a:r>
          </a:p>
          <a:p>
            <a:r>
              <a:rPr lang="en-GB" sz="3600" dirty="0"/>
              <a:t>Typically - 940 nm invisible laser</a:t>
            </a:r>
          </a:p>
          <a:p>
            <a:r>
              <a:rPr lang="en-GB" sz="3600" dirty="0"/>
              <a:t>4-400cm range (27° field of view)</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1BBC49A2-2C07-1096-2987-EE45A2151AA7}"/>
              </a:ext>
            </a:extLst>
          </p:cNvPr>
          <p:cNvPicPr>
            <a:picLocks noGrp="1" noChangeAspect="1"/>
          </p:cNvPicPr>
          <p:nvPr>
            <p:ph sz="half" idx="2"/>
          </p:nvPr>
        </p:nvPicPr>
        <p:blipFill>
          <a:blip r:embed="rId2"/>
          <a:stretch>
            <a:fillRect/>
          </a:stretch>
        </p:blipFill>
        <p:spPr>
          <a:xfrm>
            <a:off x="6587331" y="1825625"/>
            <a:ext cx="4351338" cy="4351338"/>
          </a:xfrm>
          <a:prstGeom prst="rect">
            <a:avLst/>
          </a:prstGeom>
        </p:spPr>
      </p:pic>
    </p:spTree>
    <p:extLst>
      <p:ext uri="{BB962C8B-B14F-4D97-AF65-F5344CB8AC3E}">
        <p14:creationId xmlns:p14="http://schemas.microsoft.com/office/powerpoint/2010/main" val="2968225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Range Finders – Triangulation</a:t>
            </a:r>
            <a:endParaRPr lang="en-GB" b="1" i="1" dirty="0"/>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a:t>Involves illuminating an object by a single ray of light that forms a spot on the object. </a:t>
            </a:r>
          </a:p>
          <a:p>
            <a:r>
              <a:rPr lang="en-GB" sz="3600" dirty="0"/>
              <a:t>The spot is detected by the receiver and the range, or depth, is calculated from the triangle formed between the receiver, light source and spot on the object</a:t>
            </a:r>
          </a:p>
          <a:p>
            <a:r>
              <a:rPr lang="en-GB" sz="3600" dirty="0"/>
              <a:t>Normally optical based</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851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Range Finders – Triangulation</a:t>
            </a:r>
            <a:endParaRPr lang="en-GB" b="1" i="1" dirty="0"/>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825625"/>
            <a:ext cx="10515600" cy="2653610"/>
          </a:xfrm>
        </p:spPr>
        <p:txBody>
          <a:bodyPr>
            <a:normAutofit fontScale="92500" lnSpcReduction="10000"/>
          </a:bodyPr>
          <a:lstStyle/>
          <a:p>
            <a:r>
              <a:rPr lang="en-GB" sz="3600" dirty="0"/>
              <a:t>A rotating light emitter (usually from either a Laser or LED) projects a beam of light on to a nearby object which is reflected towards the sensor</a:t>
            </a:r>
          </a:p>
          <a:p>
            <a:r>
              <a:rPr lang="en-GB" sz="3600" dirty="0"/>
              <a:t>If no input is detected by the fixed receiver (aligned along fixed angle β) the emitter is rotated until light is detected by the receiver with the emitter is at some angle α</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08DB870-D033-66CD-E0A0-9A1E0CEFBA3E}"/>
              </a:ext>
            </a:extLst>
          </p:cNvPr>
          <p:cNvPicPr/>
          <p:nvPr/>
        </p:nvPicPr>
        <p:blipFill>
          <a:blip r:embed="rId2"/>
          <a:stretch/>
        </p:blipFill>
        <p:spPr>
          <a:xfrm>
            <a:off x="2180100" y="4479235"/>
            <a:ext cx="3132720" cy="2124360"/>
          </a:xfrm>
          <a:prstGeom prst="rect">
            <a:avLst/>
          </a:prstGeom>
          <a:ln w="0">
            <a:noFill/>
          </a:ln>
        </p:spPr>
      </p:pic>
      <p:pic>
        <p:nvPicPr>
          <p:cNvPr id="6" name="Picture 5">
            <a:extLst>
              <a:ext uri="{FF2B5EF4-FFF2-40B4-BE49-F238E27FC236}">
                <a16:creationId xmlns:a16="http://schemas.microsoft.com/office/drawing/2014/main" id="{6DDBE40D-C879-830D-AE60-BD2DE659A287}"/>
              </a:ext>
            </a:extLst>
          </p:cNvPr>
          <p:cNvPicPr/>
          <p:nvPr/>
        </p:nvPicPr>
        <p:blipFill>
          <a:blip r:embed="rId3"/>
          <a:stretch/>
        </p:blipFill>
        <p:spPr>
          <a:xfrm>
            <a:off x="6473745" y="4477208"/>
            <a:ext cx="3132720" cy="2126387"/>
          </a:xfrm>
          <a:prstGeom prst="rect">
            <a:avLst/>
          </a:prstGeom>
          <a:ln w="0">
            <a:noFill/>
          </a:ln>
        </p:spPr>
      </p:pic>
    </p:spTree>
    <p:extLst>
      <p:ext uri="{BB962C8B-B14F-4D97-AF65-F5344CB8AC3E}">
        <p14:creationId xmlns:p14="http://schemas.microsoft.com/office/powerpoint/2010/main" val="1198370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Range Finders – Triangulation</a:t>
            </a:r>
            <a:endParaRPr lang="en-GB" b="1" i="1" dirty="0"/>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825625"/>
                <a:ext cx="10515600" cy="2533703"/>
              </a:xfrm>
            </p:spPr>
            <p:txBody>
              <a:bodyPr>
                <a:normAutofit/>
              </a:bodyPr>
              <a:lstStyle/>
              <a:p>
                <a:r>
                  <a:rPr lang="en-GB" sz="3600" dirty="0"/>
                  <a:t>The following relations can then be utilised to obtain the object distance, d:</a:t>
                </a:r>
              </a:p>
              <a:p>
                <a:pPr marL="0" indent="0" algn="ctr">
                  <a:buNone/>
                </a:pPr>
                <a:r>
                  <a:rPr lang="en-GB" sz="3600" dirty="0"/>
                  <a:t> </a:t>
                </a:r>
                <a14:m>
                  <m:oMath xmlns:m="http://schemas.openxmlformats.org/officeDocument/2006/math">
                    <m:r>
                      <a:rPr lang="en-GB" sz="3600" b="0" i="1" smtClean="0">
                        <a:latin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𝛼</m:t>
                    </m:r>
                    <m:r>
                      <a:rPr lang="en-GB" sz="3600" b="0" i="1" smtClean="0">
                        <a:latin typeface="Cambria Math" panose="02040503050406030204" pitchFamily="18" charset="0"/>
                        <a:ea typeface="Cambria Math" panose="02040503050406030204" pitchFamily="18" charset="0"/>
                      </a:rPr>
                      <m:t>=</m:t>
                    </m:r>
                    <m:f>
                      <m:fPr>
                        <m:ctrlPr>
                          <a:rPr lang="en-GB" sz="3600" b="0" i="1" smtClean="0">
                            <a:latin typeface="Cambria Math" panose="02040503050406030204" pitchFamily="18" charset="0"/>
                            <a:ea typeface="Cambria Math" panose="02040503050406030204" pitchFamily="18" charset="0"/>
                          </a:rPr>
                        </m:ctrlPr>
                      </m:fPr>
                      <m:num>
                        <m:r>
                          <a:rPr lang="en-GB" sz="3600" b="0" i="1" smtClean="0">
                            <a:latin typeface="Cambria Math" panose="02040503050406030204" pitchFamily="18" charset="0"/>
                            <a:ea typeface="Cambria Math" panose="02040503050406030204" pitchFamily="18" charset="0"/>
                          </a:rPr>
                          <m:t>𝑑</m:t>
                        </m:r>
                      </m:num>
                      <m:den>
                        <m:r>
                          <a:rPr lang="en-GB" sz="3600" b="0" i="1" smtClean="0">
                            <a:latin typeface="Cambria Math" panose="02040503050406030204" pitchFamily="18" charset="0"/>
                            <a:ea typeface="Cambria Math" panose="02040503050406030204" pitchFamily="18" charset="0"/>
                          </a:rPr>
                          <m:t>𝐿</m:t>
                        </m:r>
                        <m:r>
                          <a:rPr lang="en-GB" sz="3600" b="0" i="1" smtClean="0">
                            <a:latin typeface="Cambria Math" panose="02040503050406030204" pitchFamily="18" charset="0"/>
                            <a:ea typeface="Cambria Math" panose="02040503050406030204" pitchFamily="18" charset="0"/>
                          </a:rPr>
                          <m:t>1</m:t>
                        </m:r>
                      </m:den>
                    </m:f>
                    <m:r>
                      <a:rPr lang="en-GB" sz="3600" b="0" i="1" smtClean="0">
                        <a:latin typeface="Cambria Math" panose="02040503050406030204" pitchFamily="18" charset="0"/>
                        <a:ea typeface="Cambria Math" panose="02040503050406030204" pitchFamily="18" charset="0"/>
                      </a:rPr>
                      <m:t>,</m:t>
                    </m:r>
                    <m:r>
                      <a:rPr lang="en-GB" sz="3600" i="1">
                        <a:latin typeface="Cambria Math" panose="02040503050406030204" pitchFamily="18" charset="0"/>
                      </a:rPr>
                      <m:t>𝑡𝑎𝑛</m:t>
                    </m:r>
                    <m:r>
                      <a:rPr lang="en-GB" sz="3600" i="1" smtClean="0">
                        <a:latin typeface="Cambria Math" panose="02040503050406030204" pitchFamily="18" charset="0"/>
                        <a:ea typeface="Cambria Math" panose="02040503050406030204" pitchFamily="18" charset="0"/>
                      </a:rPr>
                      <m:t>𝛽</m:t>
                    </m:r>
                    <m:r>
                      <a:rPr lang="en-GB" sz="3600" i="1">
                        <a:latin typeface="Cambria Math" panose="02040503050406030204" pitchFamily="18" charset="0"/>
                        <a:ea typeface="Cambria Math" panose="02040503050406030204" pitchFamily="18" charset="0"/>
                      </a:rPr>
                      <m:t>=</m:t>
                    </m:r>
                    <m:f>
                      <m:fPr>
                        <m:ctrlPr>
                          <a:rPr lang="en-GB" sz="3600" i="1">
                            <a:latin typeface="Cambria Math" panose="02040503050406030204" pitchFamily="18" charset="0"/>
                            <a:ea typeface="Cambria Math" panose="02040503050406030204" pitchFamily="18" charset="0"/>
                          </a:rPr>
                        </m:ctrlPr>
                      </m:fPr>
                      <m:num>
                        <m:r>
                          <a:rPr lang="en-GB" sz="3600" i="1">
                            <a:latin typeface="Cambria Math" panose="02040503050406030204" pitchFamily="18" charset="0"/>
                            <a:ea typeface="Cambria Math" panose="02040503050406030204" pitchFamily="18" charset="0"/>
                          </a:rPr>
                          <m:t>𝑑</m:t>
                        </m:r>
                      </m:num>
                      <m:den>
                        <m:r>
                          <a:rPr lang="en-GB" sz="3600" i="1">
                            <a:latin typeface="Cambria Math" panose="02040503050406030204" pitchFamily="18" charset="0"/>
                            <a:ea typeface="Cambria Math" panose="02040503050406030204" pitchFamily="18" charset="0"/>
                          </a:rPr>
                          <m:t>𝐿</m:t>
                        </m:r>
                        <m:r>
                          <a:rPr lang="en-GB" sz="3600" b="0" i="1" smtClean="0">
                            <a:latin typeface="Cambria Math" panose="02040503050406030204" pitchFamily="18" charset="0"/>
                            <a:ea typeface="Cambria Math" panose="02040503050406030204" pitchFamily="18" charset="0"/>
                          </a:rPr>
                          <m:t>2</m:t>
                        </m:r>
                      </m:den>
                    </m:f>
                    <m:r>
                      <a:rPr lang="en-GB" sz="3600" b="0" i="0" smtClean="0">
                        <a:latin typeface="Cambria Math" panose="02040503050406030204" pitchFamily="18" charset="0"/>
                        <a:ea typeface="Cambria Math" panose="02040503050406030204" pitchFamily="18" charset="0"/>
                      </a:rPr>
                      <m:t>,</m:t>
                    </m:r>
                    <m:r>
                      <a:rPr lang="en-GB" sz="3600" b="0" i="1" smtClean="0">
                        <a:latin typeface="Cambria Math" panose="02040503050406030204" pitchFamily="18" charset="0"/>
                      </a:rPr>
                      <m:t>𝐿</m:t>
                    </m:r>
                    <m:r>
                      <a:rPr lang="en-GB" sz="3600" b="0" i="1" smtClean="0">
                        <a:latin typeface="Cambria Math" panose="02040503050406030204" pitchFamily="18" charset="0"/>
                      </a:rPr>
                      <m:t>1=</m:t>
                    </m:r>
                    <m:f>
                      <m:fPr>
                        <m:ctrlPr>
                          <a:rPr lang="en-GB" sz="3600" i="1">
                            <a:latin typeface="Cambria Math" panose="02040503050406030204" pitchFamily="18" charset="0"/>
                            <a:ea typeface="Cambria Math" panose="02040503050406030204" pitchFamily="18" charset="0"/>
                          </a:rPr>
                        </m:ctrlPr>
                      </m:fPr>
                      <m:num>
                        <m:r>
                          <a:rPr lang="en-GB" sz="3600" i="1">
                            <a:latin typeface="Cambria Math" panose="02040503050406030204" pitchFamily="18" charset="0"/>
                            <a:ea typeface="Cambria Math" panose="02040503050406030204" pitchFamily="18" charset="0"/>
                          </a:rPr>
                          <m:t>𝑑</m:t>
                        </m:r>
                      </m:num>
                      <m:den>
                        <m:r>
                          <a:rPr lang="en-GB" sz="3600" b="0" i="1" smtClean="0">
                            <a:latin typeface="Cambria Math" panose="02040503050406030204" pitchFamily="18" charset="0"/>
                            <a:ea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𝛼</m:t>
                        </m:r>
                      </m:den>
                    </m:f>
                    <m:r>
                      <a:rPr lang="en-GB" sz="3600" b="0" i="0" smtClean="0">
                        <a:latin typeface="Cambria Math" panose="02040503050406030204" pitchFamily="18" charset="0"/>
                        <a:ea typeface="Cambria Math" panose="02040503050406030204" pitchFamily="18" charset="0"/>
                      </a:rPr>
                      <m:t>,</m:t>
                    </m:r>
                    <m:r>
                      <a:rPr lang="en-GB" sz="3600" i="1">
                        <a:latin typeface="Cambria Math" panose="02040503050406030204" pitchFamily="18" charset="0"/>
                      </a:rPr>
                      <m:t>𝐿</m:t>
                    </m:r>
                    <m:r>
                      <a:rPr lang="en-GB" sz="3600" b="0" i="1" smtClean="0">
                        <a:latin typeface="Cambria Math" panose="02040503050406030204" pitchFamily="18" charset="0"/>
                      </a:rPr>
                      <m:t>2</m:t>
                    </m:r>
                    <m:r>
                      <a:rPr lang="en-GB" sz="3600" i="1">
                        <a:latin typeface="Cambria Math" panose="02040503050406030204" pitchFamily="18" charset="0"/>
                      </a:rPr>
                      <m:t>=</m:t>
                    </m:r>
                    <m:f>
                      <m:fPr>
                        <m:ctrlPr>
                          <a:rPr lang="en-GB" sz="3600" i="1">
                            <a:latin typeface="Cambria Math" panose="02040503050406030204" pitchFamily="18" charset="0"/>
                            <a:ea typeface="Cambria Math" panose="02040503050406030204" pitchFamily="18" charset="0"/>
                          </a:rPr>
                        </m:ctrlPr>
                      </m:fPr>
                      <m:num>
                        <m:r>
                          <a:rPr lang="en-GB" sz="3600" i="1">
                            <a:latin typeface="Cambria Math" panose="02040503050406030204" pitchFamily="18" charset="0"/>
                            <a:ea typeface="Cambria Math" panose="02040503050406030204" pitchFamily="18" charset="0"/>
                          </a:rPr>
                          <m:t>𝑑</m:t>
                        </m:r>
                      </m:num>
                      <m:den>
                        <m:r>
                          <a:rPr lang="en-GB" sz="3600" i="1">
                            <a:latin typeface="Cambria Math" panose="02040503050406030204" pitchFamily="18" charset="0"/>
                            <a:ea typeface="Cambria Math" panose="02040503050406030204" pitchFamily="18" charset="0"/>
                          </a:rPr>
                          <m:t>𝑡𝑎𝑛</m:t>
                        </m:r>
                        <m:r>
                          <a:rPr lang="en-GB" sz="3600" i="1" smtClean="0">
                            <a:latin typeface="Cambria Math" panose="02040503050406030204" pitchFamily="18" charset="0"/>
                            <a:ea typeface="Cambria Math" panose="02040503050406030204" pitchFamily="18" charset="0"/>
                          </a:rPr>
                          <m:t>𝛽</m:t>
                        </m:r>
                      </m:den>
                    </m:f>
                  </m:oMath>
                </a14:m>
                <a:endParaRPr lang="en-GB" sz="36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825625"/>
                <a:ext cx="10515600" cy="2533703"/>
              </a:xfrm>
              <a:blipFill>
                <a:blip r:embed="rId2"/>
                <a:stretch>
                  <a:fillRect l="-1623" t="-5769"/>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08DB870-D033-66CD-E0A0-9A1E0CEFBA3E}"/>
              </a:ext>
            </a:extLst>
          </p:cNvPr>
          <p:cNvPicPr/>
          <p:nvPr/>
        </p:nvPicPr>
        <p:blipFill>
          <a:blip r:embed="rId3"/>
          <a:stretch/>
        </p:blipFill>
        <p:spPr>
          <a:xfrm>
            <a:off x="2180100" y="4479235"/>
            <a:ext cx="3132720" cy="2124360"/>
          </a:xfrm>
          <a:prstGeom prst="rect">
            <a:avLst/>
          </a:prstGeom>
          <a:ln w="0">
            <a:noFill/>
          </a:ln>
        </p:spPr>
      </p:pic>
      <p:pic>
        <p:nvPicPr>
          <p:cNvPr id="6" name="Picture 5">
            <a:extLst>
              <a:ext uri="{FF2B5EF4-FFF2-40B4-BE49-F238E27FC236}">
                <a16:creationId xmlns:a16="http://schemas.microsoft.com/office/drawing/2014/main" id="{6DDBE40D-C879-830D-AE60-BD2DE659A287}"/>
              </a:ext>
            </a:extLst>
          </p:cNvPr>
          <p:cNvPicPr/>
          <p:nvPr/>
        </p:nvPicPr>
        <p:blipFill>
          <a:blip r:embed="rId4"/>
          <a:stretch/>
        </p:blipFill>
        <p:spPr>
          <a:xfrm>
            <a:off x="6473745" y="4477208"/>
            <a:ext cx="3132720" cy="2126387"/>
          </a:xfrm>
          <a:prstGeom prst="rect">
            <a:avLst/>
          </a:prstGeom>
          <a:ln w="0">
            <a:noFill/>
          </a:ln>
        </p:spPr>
      </p:pic>
    </p:spTree>
    <p:extLst>
      <p:ext uri="{BB962C8B-B14F-4D97-AF65-F5344CB8AC3E}">
        <p14:creationId xmlns:p14="http://schemas.microsoft.com/office/powerpoint/2010/main" val="823113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Range Finders – Triangulation</a:t>
            </a:r>
            <a:endParaRPr lang="en-GB" b="1" i="1" dirty="0"/>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825625"/>
                <a:ext cx="10515600" cy="2651583"/>
              </a:xfrm>
            </p:spPr>
            <p:txBody>
              <a:bodyPr>
                <a:normAutofit fontScale="77500" lnSpcReduction="20000"/>
              </a:bodyPr>
              <a:lstStyle/>
              <a:p>
                <a:r>
                  <a:rPr lang="en-GB" sz="3600" dirty="0"/>
                  <a:t>Using these relations and with a known L (L1+L2):</a:t>
                </a:r>
              </a:p>
              <a:p>
                <a:pPr marL="0" indent="0">
                  <a:buNone/>
                </a:pPr>
                <a:endParaRPr lang="en-GB" sz="3600" dirty="0"/>
              </a:p>
              <a:p>
                <a:pPr marL="0" indent="0" algn="ctr">
                  <a:buNone/>
                </a:pPr>
                <a:r>
                  <a:rPr lang="en-GB" sz="3600" dirty="0"/>
                  <a:t> </a:t>
                </a:r>
                <a14:m>
                  <m:oMath xmlns:m="http://schemas.openxmlformats.org/officeDocument/2006/math">
                    <m:r>
                      <a:rPr lang="en-GB" sz="3600" b="0" i="1" smtClean="0">
                        <a:latin typeface="Cambria Math" panose="02040503050406030204" pitchFamily="18" charset="0"/>
                      </a:rPr>
                      <m:t>𝐿</m:t>
                    </m:r>
                    <m:r>
                      <a:rPr lang="en-GB" sz="3600" b="0" i="1" smtClean="0">
                        <a:latin typeface="Cambria Math" panose="02040503050406030204" pitchFamily="18" charset="0"/>
                      </a:rPr>
                      <m:t>=</m:t>
                    </m:r>
                    <m:r>
                      <a:rPr lang="en-GB" sz="3600" b="0" i="1" smtClean="0">
                        <a:latin typeface="Cambria Math" panose="02040503050406030204" pitchFamily="18" charset="0"/>
                      </a:rPr>
                      <m:t>𝐿</m:t>
                    </m:r>
                    <m:r>
                      <a:rPr lang="en-GB" sz="3600" b="0" i="1" smtClean="0">
                        <a:latin typeface="Cambria Math" panose="02040503050406030204" pitchFamily="18" charset="0"/>
                      </a:rPr>
                      <m:t>1+</m:t>
                    </m:r>
                    <m:r>
                      <a:rPr lang="en-GB" sz="3600" b="0" i="1" smtClean="0">
                        <a:latin typeface="Cambria Math" panose="02040503050406030204" pitchFamily="18" charset="0"/>
                      </a:rPr>
                      <m:t>𝐿</m:t>
                    </m:r>
                    <m:r>
                      <a:rPr lang="en-GB" sz="3600" b="0" i="1" smtClean="0">
                        <a:latin typeface="Cambria Math" panose="02040503050406030204" pitchFamily="18" charset="0"/>
                      </a:rPr>
                      <m:t>2=</m:t>
                    </m:r>
                    <m:f>
                      <m:fPr>
                        <m:ctrlPr>
                          <a:rPr lang="en-GB" sz="3600" b="0" i="1" smtClean="0">
                            <a:latin typeface="Cambria Math" panose="02040503050406030204" pitchFamily="18" charset="0"/>
                          </a:rPr>
                        </m:ctrlPr>
                      </m:fPr>
                      <m:num>
                        <m:r>
                          <a:rPr lang="en-GB" sz="3600" b="0" i="1" smtClean="0">
                            <a:latin typeface="Cambria Math" panose="02040503050406030204" pitchFamily="18" charset="0"/>
                          </a:rPr>
                          <m:t>𝑑</m:t>
                        </m:r>
                      </m:num>
                      <m:den>
                        <m:r>
                          <a:rPr lang="en-GB" sz="3600" b="0" i="1" smtClean="0">
                            <a:latin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𝛼</m:t>
                        </m:r>
                      </m:den>
                    </m:f>
                    <m:r>
                      <a:rPr lang="en-GB" sz="3600" b="0" i="1" smtClean="0">
                        <a:latin typeface="Cambria Math" panose="02040503050406030204" pitchFamily="18" charset="0"/>
                      </a:rPr>
                      <m:t>+</m:t>
                    </m:r>
                    <m:f>
                      <m:fPr>
                        <m:ctrlPr>
                          <a:rPr lang="en-GB" sz="3600" b="0" i="1" smtClean="0">
                            <a:latin typeface="Cambria Math" panose="02040503050406030204" pitchFamily="18" charset="0"/>
                          </a:rPr>
                        </m:ctrlPr>
                      </m:fPr>
                      <m:num>
                        <m:r>
                          <a:rPr lang="en-GB" sz="3600" b="0" i="1" smtClean="0">
                            <a:latin typeface="Cambria Math" panose="02040503050406030204" pitchFamily="18" charset="0"/>
                          </a:rPr>
                          <m:t>𝑑</m:t>
                        </m:r>
                      </m:num>
                      <m:den>
                        <m:r>
                          <a:rPr lang="en-GB" sz="3600" b="0" i="1" smtClean="0">
                            <a:latin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𝛽</m:t>
                        </m:r>
                      </m:den>
                    </m:f>
                    <m:r>
                      <a:rPr lang="en-GB" sz="3600" b="0" i="1" smtClean="0">
                        <a:latin typeface="Cambria Math" panose="02040503050406030204" pitchFamily="18" charset="0"/>
                      </a:rPr>
                      <m:t>=</m:t>
                    </m:r>
                    <m:f>
                      <m:fPr>
                        <m:ctrlPr>
                          <a:rPr lang="en-GB" sz="3600" b="0" i="1" smtClean="0">
                            <a:latin typeface="Cambria Math" panose="02040503050406030204" pitchFamily="18" charset="0"/>
                          </a:rPr>
                        </m:ctrlPr>
                      </m:fPr>
                      <m:num>
                        <m:r>
                          <a:rPr lang="en-GB" sz="3600" b="0" i="1" smtClean="0">
                            <a:latin typeface="Cambria Math" panose="02040503050406030204" pitchFamily="18" charset="0"/>
                          </a:rPr>
                          <m:t>𝑑</m:t>
                        </m:r>
                        <m:r>
                          <a:rPr lang="en-GB" sz="3600" b="0" i="1" smtClean="0">
                            <a:latin typeface="Cambria Math" panose="02040503050406030204" pitchFamily="18" charset="0"/>
                          </a:rPr>
                          <m:t>.</m:t>
                        </m:r>
                        <m:r>
                          <a:rPr lang="en-GB" sz="3600" b="0" i="1" smtClean="0">
                            <a:latin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𝛽</m:t>
                        </m:r>
                        <m:r>
                          <a:rPr lang="en-GB" sz="3600" b="0" i="1" smtClean="0">
                            <a:latin typeface="Cambria Math" panose="02040503050406030204" pitchFamily="18" charset="0"/>
                            <a:ea typeface="Cambria Math" panose="02040503050406030204" pitchFamily="18" charset="0"/>
                          </a:rPr>
                          <m:t>+</m:t>
                        </m:r>
                        <m:r>
                          <a:rPr lang="en-GB" sz="3600" b="0" i="1" smtClean="0">
                            <a:latin typeface="Cambria Math" panose="02040503050406030204" pitchFamily="18" charset="0"/>
                            <a:ea typeface="Cambria Math" panose="02040503050406030204" pitchFamily="18" charset="0"/>
                          </a:rPr>
                          <m:t>𝑑</m:t>
                        </m:r>
                        <m:r>
                          <a:rPr lang="en-GB" sz="3600" b="0" i="1" smtClean="0">
                            <a:latin typeface="Cambria Math" panose="02040503050406030204" pitchFamily="18" charset="0"/>
                            <a:ea typeface="Cambria Math" panose="02040503050406030204" pitchFamily="18" charset="0"/>
                          </a:rPr>
                          <m:t>.</m:t>
                        </m:r>
                        <m:r>
                          <a:rPr lang="en-GB" sz="3600" b="0" i="1" smtClean="0">
                            <a:latin typeface="Cambria Math" panose="02040503050406030204" pitchFamily="18" charset="0"/>
                            <a:ea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𝛼</m:t>
                        </m:r>
                      </m:num>
                      <m:den>
                        <m:r>
                          <a:rPr lang="en-GB" sz="3600" b="0" i="1" smtClean="0">
                            <a:latin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𝛼</m:t>
                        </m:r>
                        <m:r>
                          <a:rPr lang="en-GB" sz="3600" b="0" i="1" smtClean="0">
                            <a:latin typeface="Cambria Math" panose="02040503050406030204" pitchFamily="18" charset="0"/>
                            <a:ea typeface="Cambria Math" panose="02040503050406030204" pitchFamily="18" charset="0"/>
                          </a:rPr>
                          <m:t>.</m:t>
                        </m:r>
                        <m:r>
                          <a:rPr lang="en-GB" sz="3600" b="0" i="1" smtClean="0">
                            <a:latin typeface="Cambria Math" panose="02040503050406030204" pitchFamily="18" charset="0"/>
                            <a:ea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𝛽</m:t>
                        </m:r>
                      </m:den>
                    </m:f>
                  </m:oMath>
                </a14:m>
                <a:endParaRPr lang="en-GB" sz="3600" b="0" dirty="0"/>
              </a:p>
              <a:p>
                <a:pPr marL="0" indent="0" algn="ctr">
                  <a:buNone/>
                </a:pPr>
                <a:endParaRPr lang="en-GB" sz="3600" b="0" dirty="0"/>
              </a:p>
              <a:p>
                <a:pPr marL="0" indent="0" algn="ctr">
                  <a:buNone/>
                </a:pPr>
                <a14:m>
                  <m:oMathPara xmlns:m="http://schemas.openxmlformats.org/officeDocument/2006/math">
                    <m:oMathParaPr>
                      <m:jc m:val="centerGroup"/>
                    </m:oMathParaPr>
                    <m:oMath xmlns:m="http://schemas.openxmlformats.org/officeDocument/2006/math">
                      <m:r>
                        <a:rPr lang="en-GB" sz="3600" b="0" i="1" smtClean="0">
                          <a:latin typeface="Cambria Math" panose="02040503050406030204" pitchFamily="18" charset="0"/>
                        </a:rPr>
                        <m:t>𝑑</m:t>
                      </m:r>
                      <m:r>
                        <a:rPr lang="en-GB" sz="3600" b="0" i="1" smtClean="0">
                          <a:latin typeface="Cambria Math" panose="02040503050406030204" pitchFamily="18" charset="0"/>
                        </a:rPr>
                        <m:t>=</m:t>
                      </m:r>
                      <m:f>
                        <m:fPr>
                          <m:ctrlPr>
                            <a:rPr lang="en-GB" sz="3600" b="0" i="1" smtClean="0">
                              <a:latin typeface="Cambria Math" panose="02040503050406030204" pitchFamily="18" charset="0"/>
                            </a:rPr>
                          </m:ctrlPr>
                        </m:fPr>
                        <m:num>
                          <m:r>
                            <a:rPr lang="en-GB" sz="3600" b="0" i="1" smtClean="0">
                              <a:latin typeface="Cambria Math" panose="02040503050406030204" pitchFamily="18" charset="0"/>
                            </a:rPr>
                            <m:t>𝐿</m:t>
                          </m:r>
                          <m:r>
                            <a:rPr lang="en-GB" sz="3600" b="0" i="1" smtClean="0">
                              <a:latin typeface="Cambria Math" panose="02040503050406030204" pitchFamily="18" charset="0"/>
                            </a:rPr>
                            <m:t>.</m:t>
                          </m:r>
                          <m:r>
                            <a:rPr lang="en-GB" sz="3600" b="0" i="1" smtClean="0">
                              <a:latin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𝛼</m:t>
                          </m:r>
                          <m:r>
                            <a:rPr lang="en-GB" sz="3600" b="0" i="1" smtClean="0">
                              <a:latin typeface="Cambria Math" panose="02040503050406030204" pitchFamily="18" charset="0"/>
                              <a:ea typeface="Cambria Math" panose="02040503050406030204" pitchFamily="18" charset="0"/>
                            </a:rPr>
                            <m:t>.</m:t>
                          </m:r>
                          <m:r>
                            <a:rPr lang="en-GB" sz="3600" b="0" i="1" smtClean="0">
                              <a:latin typeface="Cambria Math" panose="02040503050406030204" pitchFamily="18" charset="0"/>
                              <a:ea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𝛽</m:t>
                          </m:r>
                        </m:num>
                        <m:den>
                          <m:r>
                            <a:rPr lang="en-GB" sz="3600" b="0" i="1" smtClean="0">
                              <a:latin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𝛼</m:t>
                          </m:r>
                          <m:r>
                            <a:rPr lang="en-GB" sz="3600" b="0" i="1" smtClean="0">
                              <a:latin typeface="Cambria Math" panose="02040503050406030204" pitchFamily="18" charset="0"/>
                              <a:ea typeface="Cambria Math" panose="02040503050406030204" pitchFamily="18" charset="0"/>
                            </a:rPr>
                            <m:t>+</m:t>
                          </m:r>
                          <m:r>
                            <a:rPr lang="en-GB" sz="3600" b="0" i="1" smtClean="0">
                              <a:latin typeface="Cambria Math" panose="02040503050406030204" pitchFamily="18" charset="0"/>
                              <a:ea typeface="Cambria Math" panose="02040503050406030204" pitchFamily="18" charset="0"/>
                            </a:rPr>
                            <m:t>𝑡𝑎𝑛</m:t>
                          </m:r>
                          <m:r>
                            <a:rPr lang="en-GB" sz="3600" b="0" i="1" smtClean="0">
                              <a:latin typeface="Cambria Math" panose="02040503050406030204" pitchFamily="18" charset="0"/>
                              <a:ea typeface="Cambria Math" panose="02040503050406030204" pitchFamily="18" charset="0"/>
                            </a:rPr>
                            <m:t>𝛽</m:t>
                          </m:r>
                        </m:den>
                      </m:f>
                    </m:oMath>
                  </m:oMathPara>
                </a14:m>
                <a:endParaRPr lang="en-GB" sz="3600" dirty="0"/>
              </a:p>
            </p:txBody>
          </p:sp>
        </mc:Choice>
        <mc:Fallback xmlns="">
          <p:sp>
            <p:nvSpPr>
              <p:cNvPr id="3" name="Subtitle 2">
                <a:extLst>
                  <a:ext uri="{FF2B5EF4-FFF2-40B4-BE49-F238E27FC236}">
                    <a16:creationId xmlns:a16="http://schemas.microsoft.com/office/drawing/2014/main" id="{0EC2D61B-0204-42F3-52E6-931A9496968D}"/>
                  </a:ext>
                </a:extLst>
              </p:cNvPr>
              <p:cNvSpPr>
                <a:spLocks noGrp="1" noRot="1" noChangeAspect="1" noMove="1" noResize="1" noEditPoints="1" noAdjustHandles="1" noChangeArrowheads="1" noChangeShapeType="1" noTextEdit="1"/>
              </p:cNvSpPr>
              <p:nvPr>
                <p:ph idx="1"/>
              </p:nvPr>
            </p:nvSpPr>
            <p:spPr>
              <a:xfrm>
                <a:off x="838200" y="1825625"/>
                <a:ext cx="10515600" cy="2651583"/>
              </a:xfrm>
              <a:blipFill>
                <a:blip r:embed="rId2"/>
                <a:stretch>
                  <a:fillRect l="-1043" t="-6207"/>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08DB870-D033-66CD-E0A0-9A1E0CEFBA3E}"/>
              </a:ext>
            </a:extLst>
          </p:cNvPr>
          <p:cNvPicPr/>
          <p:nvPr/>
        </p:nvPicPr>
        <p:blipFill>
          <a:blip r:embed="rId3"/>
          <a:stretch/>
        </p:blipFill>
        <p:spPr>
          <a:xfrm>
            <a:off x="2180100" y="4479235"/>
            <a:ext cx="3132720" cy="2124360"/>
          </a:xfrm>
          <a:prstGeom prst="rect">
            <a:avLst/>
          </a:prstGeom>
          <a:ln w="0">
            <a:noFill/>
          </a:ln>
        </p:spPr>
      </p:pic>
      <p:pic>
        <p:nvPicPr>
          <p:cNvPr id="6" name="Picture 5">
            <a:extLst>
              <a:ext uri="{FF2B5EF4-FFF2-40B4-BE49-F238E27FC236}">
                <a16:creationId xmlns:a16="http://schemas.microsoft.com/office/drawing/2014/main" id="{6DDBE40D-C879-830D-AE60-BD2DE659A287}"/>
              </a:ext>
            </a:extLst>
          </p:cNvPr>
          <p:cNvPicPr/>
          <p:nvPr/>
        </p:nvPicPr>
        <p:blipFill>
          <a:blip r:embed="rId4"/>
          <a:stretch/>
        </p:blipFill>
        <p:spPr>
          <a:xfrm>
            <a:off x="6473745" y="4477208"/>
            <a:ext cx="3132720" cy="2126387"/>
          </a:xfrm>
          <a:prstGeom prst="rect">
            <a:avLst/>
          </a:prstGeom>
          <a:ln w="0">
            <a:noFill/>
          </a:ln>
        </p:spPr>
      </p:pic>
    </p:spTree>
    <p:extLst>
      <p:ext uri="{BB962C8B-B14F-4D97-AF65-F5344CB8AC3E}">
        <p14:creationId xmlns:p14="http://schemas.microsoft.com/office/powerpoint/2010/main" val="184600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Proximity and Range Sensor Summary</a:t>
            </a:r>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Table 4">
            <a:extLst>
              <a:ext uri="{FF2B5EF4-FFF2-40B4-BE49-F238E27FC236}">
                <a16:creationId xmlns:a16="http://schemas.microsoft.com/office/drawing/2014/main" id="{0518950D-C056-95DB-8463-F22726F7388F}"/>
              </a:ext>
            </a:extLst>
          </p:cNvPr>
          <p:cNvGraphicFramePr>
            <a:graphicFrameLocks noGrp="1"/>
          </p:cNvGraphicFramePr>
          <p:nvPr>
            <p:ph idx="1"/>
          </p:nvPr>
        </p:nvGraphicFramePr>
        <p:xfrm>
          <a:off x="648071" y="2039739"/>
          <a:ext cx="10705730" cy="3586681"/>
        </p:xfrm>
        <a:graphic>
          <a:graphicData uri="http://schemas.openxmlformats.org/drawingml/2006/table">
            <a:tbl>
              <a:tblPr>
                <a:tableStyleId>{F5AB1C69-6EDB-4FF4-983F-18BD219EF322}</a:tableStyleId>
              </a:tblPr>
              <a:tblGrid>
                <a:gridCol w="2654422">
                  <a:extLst>
                    <a:ext uri="{9D8B030D-6E8A-4147-A177-3AD203B41FA5}">
                      <a16:colId xmlns:a16="http://schemas.microsoft.com/office/drawing/2014/main" val="20000"/>
                    </a:ext>
                  </a:extLst>
                </a:gridCol>
                <a:gridCol w="3169328">
                  <a:extLst>
                    <a:ext uri="{9D8B030D-6E8A-4147-A177-3AD203B41FA5}">
                      <a16:colId xmlns:a16="http://schemas.microsoft.com/office/drawing/2014/main" val="20001"/>
                    </a:ext>
                  </a:extLst>
                </a:gridCol>
                <a:gridCol w="4881980">
                  <a:extLst>
                    <a:ext uri="{9D8B030D-6E8A-4147-A177-3AD203B41FA5}">
                      <a16:colId xmlns:a16="http://schemas.microsoft.com/office/drawing/2014/main" val="20002"/>
                    </a:ext>
                  </a:extLst>
                </a:gridCol>
              </a:tblGrid>
              <a:tr h="512383">
                <a:tc>
                  <a:txBody>
                    <a:bodyPr/>
                    <a:lstStyle/>
                    <a:p>
                      <a:pPr algn="ctr">
                        <a:lnSpc>
                          <a:spcPct val="100000"/>
                        </a:lnSpc>
                      </a:pPr>
                      <a:r>
                        <a:rPr lang="en-GB" sz="2400" b="1" strike="noStrike" spc="-1" dirty="0">
                          <a:solidFill>
                            <a:srgbClr val="000000"/>
                          </a:solidFill>
                        </a:rPr>
                        <a:t>Sensor</a:t>
                      </a:r>
                      <a:endParaRPr lang="en-GB" sz="2400" b="0" strike="noStrike" spc="-1" dirty="0">
                        <a:solidFill>
                          <a:srgbClr val="000000"/>
                        </a:solidFill>
                        <a:latin typeface="Arial"/>
                      </a:endParaRPr>
                    </a:p>
                  </a:txBody>
                  <a:tcPr/>
                </a:tc>
                <a:tc>
                  <a:txBody>
                    <a:bodyPr/>
                    <a:lstStyle/>
                    <a:p>
                      <a:pPr algn="ctr">
                        <a:lnSpc>
                          <a:spcPct val="100000"/>
                        </a:lnSpc>
                      </a:pPr>
                      <a:r>
                        <a:rPr lang="en-GB" sz="2400" b="1" strike="noStrike" spc="-1">
                          <a:solidFill>
                            <a:srgbClr val="000000"/>
                          </a:solidFill>
                        </a:rPr>
                        <a:t>Range</a:t>
                      </a:r>
                      <a:endParaRPr lang="en-GB" sz="2400" b="0" strike="noStrike" spc="-1">
                        <a:solidFill>
                          <a:srgbClr val="000000"/>
                        </a:solidFill>
                        <a:latin typeface="Arial"/>
                      </a:endParaRPr>
                    </a:p>
                  </a:txBody>
                  <a:tcPr/>
                </a:tc>
                <a:tc>
                  <a:txBody>
                    <a:bodyPr/>
                    <a:lstStyle/>
                    <a:p>
                      <a:pPr algn="ctr">
                        <a:lnSpc>
                          <a:spcPct val="100000"/>
                        </a:lnSpc>
                      </a:pPr>
                      <a:r>
                        <a:rPr lang="en-GB" sz="2400" b="1" strike="noStrike" spc="-1">
                          <a:solidFill>
                            <a:srgbClr val="000000"/>
                          </a:solidFill>
                        </a:rPr>
                        <a:t>Object Material</a:t>
                      </a:r>
                      <a:endParaRPr lang="en-GB" sz="2400" b="0" strike="noStrike" spc="-1">
                        <a:solidFill>
                          <a:srgbClr val="000000"/>
                        </a:solidFill>
                        <a:latin typeface="Arial"/>
                      </a:endParaRPr>
                    </a:p>
                  </a:txBody>
                  <a:tcPr/>
                </a:tc>
                <a:extLst>
                  <a:ext uri="{0D108BD9-81ED-4DB2-BD59-A6C34878D82A}">
                    <a16:rowId xmlns:a16="http://schemas.microsoft.com/office/drawing/2014/main" val="10000"/>
                  </a:ext>
                </a:extLst>
              </a:tr>
              <a:tr h="512383">
                <a:tc>
                  <a:txBody>
                    <a:bodyPr/>
                    <a:lstStyle/>
                    <a:p>
                      <a:pPr algn="ctr">
                        <a:lnSpc>
                          <a:spcPct val="100000"/>
                        </a:lnSpc>
                      </a:pPr>
                      <a:r>
                        <a:rPr lang="en-GB" sz="2400" b="0" strike="noStrike" spc="-1" dirty="0">
                          <a:solidFill>
                            <a:srgbClr val="000000"/>
                          </a:solidFill>
                        </a:rPr>
                        <a:t>Microswitches</a:t>
                      </a:r>
                      <a:endParaRPr lang="en-GB" sz="2400" b="0" strike="noStrike" spc="-1" dirty="0">
                        <a:solidFill>
                          <a:srgbClr val="000000"/>
                        </a:solidFill>
                        <a:latin typeface="Arial"/>
                      </a:endParaRPr>
                    </a:p>
                  </a:txBody>
                  <a:tcPr/>
                </a:tc>
                <a:tc>
                  <a:txBody>
                    <a:bodyPr/>
                    <a:lstStyle/>
                    <a:p>
                      <a:pPr algn="ctr">
                        <a:lnSpc>
                          <a:spcPct val="100000"/>
                        </a:lnSpc>
                      </a:pPr>
                      <a:r>
                        <a:rPr lang="en-GB" sz="2400" b="0" strike="noStrike" spc="-1" dirty="0">
                          <a:solidFill>
                            <a:srgbClr val="000000"/>
                          </a:solidFill>
                        </a:rPr>
                        <a:t>0</a:t>
                      </a:r>
                      <a:endParaRPr lang="en-GB" sz="2400" b="0" strike="noStrike" spc="-1" dirty="0">
                        <a:solidFill>
                          <a:srgbClr val="000000"/>
                        </a:solidFill>
                        <a:latin typeface="Arial"/>
                      </a:endParaRPr>
                    </a:p>
                  </a:txBody>
                  <a:tcPr/>
                </a:tc>
                <a:tc>
                  <a:txBody>
                    <a:bodyPr/>
                    <a:lstStyle/>
                    <a:p>
                      <a:pPr algn="ctr">
                        <a:lnSpc>
                          <a:spcPct val="100000"/>
                        </a:lnSpc>
                      </a:pPr>
                      <a:r>
                        <a:rPr lang="en-GB" sz="2400" b="0" strike="noStrike" spc="-1">
                          <a:solidFill>
                            <a:srgbClr val="000000"/>
                          </a:solidFill>
                        </a:rPr>
                        <a:t>Any solid</a:t>
                      </a:r>
                      <a:endParaRPr lang="en-GB" sz="2400" b="0" strike="noStrike" spc="-1">
                        <a:solidFill>
                          <a:srgbClr val="000000"/>
                        </a:solidFill>
                        <a:latin typeface="Arial"/>
                      </a:endParaRPr>
                    </a:p>
                  </a:txBody>
                  <a:tcPr/>
                </a:tc>
                <a:extLst>
                  <a:ext uri="{0D108BD9-81ED-4DB2-BD59-A6C34878D82A}">
                    <a16:rowId xmlns:a16="http://schemas.microsoft.com/office/drawing/2014/main" val="10001"/>
                  </a:ext>
                </a:extLst>
              </a:tr>
              <a:tr h="512383">
                <a:tc>
                  <a:txBody>
                    <a:bodyPr/>
                    <a:lstStyle/>
                    <a:p>
                      <a:pPr algn="ctr">
                        <a:lnSpc>
                          <a:spcPct val="100000"/>
                        </a:lnSpc>
                      </a:pPr>
                      <a:r>
                        <a:rPr lang="en-GB" sz="2400" b="0" strike="noStrike" spc="-1">
                          <a:solidFill>
                            <a:srgbClr val="000000"/>
                          </a:solidFill>
                        </a:rPr>
                        <a:t>Eddy Current</a:t>
                      </a:r>
                      <a:endParaRPr lang="en-GB" sz="2400" b="0" strike="noStrike" spc="-1">
                        <a:solidFill>
                          <a:srgbClr val="000000"/>
                        </a:solidFill>
                        <a:latin typeface="Arial"/>
                      </a:endParaRPr>
                    </a:p>
                  </a:txBody>
                  <a:tcPr/>
                </a:tc>
                <a:tc>
                  <a:txBody>
                    <a:bodyPr/>
                    <a:lstStyle/>
                    <a:p>
                      <a:pPr algn="ctr">
                        <a:lnSpc>
                          <a:spcPct val="100000"/>
                        </a:lnSpc>
                      </a:pPr>
                      <a:r>
                        <a:rPr lang="en-GB" sz="2400" b="0" strike="noStrike" spc="-1" dirty="0">
                          <a:solidFill>
                            <a:srgbClr val="000000"/>
                          </a:solidFill>
                        </a:rPr>
                        <a:t>&lt;20mm typical</a:t>
                      </a:r>
                      <a:endParaRPr lang="en-GB" sz="2400" b="0" strike="noStrike" spc="-1" dirty="0">
                        <a:solidFill>
                          <a:srgbClr val="000000"/>
                        </a:solidFill>
                        <a:latin typeface="Arial"/>
                      </a:endParaRPr>
                    </a:p>
                  </a:txBody>
                  <a:tcPr/>
                </a:tc>
                <a:tc>
                  <a:txBody>
                    <a:bodyPr/>
                    <a:lstStyle/>
                    <a:p>
                      <a:pPr algn="ctr">
                        <a:lnSpc>
                          <a:spcPct val="100000"/>
                        </a:lnSpc>
                      </a:pPr>
                      <a:r>
                        <a:rPr lang="en-GB" sz="2400" b="0" strike="noStrike" spc="-1">
                          <a:solidFill>
                            <a:srgbClr val="000000"/>
                          </a:solidFill>
                        </a:rPr>
                        <a:t>Any Metal</a:t>
                      </a:r>
                      <a:endParaRPr lang="en-GB" sz="2400" b="0" strike="noStrike" spc="-1">
                        <a:solidFill>
                          <a:srgbClr val="000000"/>
                        </a:solidFill>
                        <a:latin typeface="Arial"/>
                      </a:endParaRPr>
                    </a:p>
                  </a:txBody>
                  <a:tcPr/>
                </a:tc>
                <a:extLst>
                  <a:ext uri="{0D108BD9-81ED-4DB2-BD59-A6C34878D82A}">
                    <a16:rowId xmlns:a16="http://schemas.microsoft.com/office/drawing/2014/main" val="10002"/>
                  </a:ext>
                </a:extLst>
              </a:tr>
              <a:tr h="512383">
                <a:tc>
                  <a:txBody>
                    <a:bodyPr/>
                    <a:lstStyle/>
                    <a:p>
                      <a:pPr algn="ctr">
                        <a:lnSpc>
                          <a:spcPct val="100000"/>
                        </a:lnSpc>
                      </a:pPr>
                      <a:r>
                        <a:rPr lang="en-GB" sz="2400" b="0" strike="noStrike" spc="-1">
                          <a:solidFill>
                            <a:srgbClr val="000000"/>
                          </a:solidFill>
                        </a:rPr>
                        <a:t>Inductive/Hall</a:t>
                      </a:r>
                      <a:endParaRPr lang="en-GB" sz="2400" b="0" strike="noStrike" spc="-1">
                        <a:solidFill>
                          <a:srgbClr val="000000"/>
                        </a:solidFill>
                        <a:latin typeface="Arial"/>
                      </a:endParaRPr>
                    </a:p>
                  </a:txBody>
                  <a:tcPr/>
                </a:tc>
                <a:tc>
                  <a:txBody>
                    <a:bodyPr/>
                    <a:lstStyle/>
                    <a:p>
                      <a:pPr algn="ctr">
                        <a:lnSpc>
                          <a:spcPct val="100000"/>
                        </a:lnSpc>
                      </a:pPr>
                      <a:r>
                        <a:rPr lang="en-GB" sz="2400" b="0" strike="noStrike" spc="-1" dirty="0">
                          <a:solidFill>
                            <a:srgbClr val="000000"/>
                          </a:solidFill>
                        </a:rPr>
                        <a:t>&lt;20mm typical</a:t>
                      </a:r>
                      <a:endParaRPr lang="en-GB" sz="2400" b="0" strike="noStrike" spc="-1" dirty="0">
                        <a:solidFill>
                          <a:srgbClr val="000000"/>
                        </a:solidFill>
                        <a:latin typeface="Arial"/>
                      </a:endParaRPr>
                    </a:p>
                  </a:txBody>
                  <a:tcPr/>
                </a:tc>
                <a:tc>
                  <a:txBody>
                    <a:bodyPr/>
                    <a:lstStyle/>
                    <a:p>
                      <a:pPr algn="ctr">
                        <a:lnSpc>
                          <a:spcPct val="100000"/>
                        </a:lnSpc>
                      </a:pPr>
                      <a:r>
                        <a:rPr lang="en-GB" sz="2400" b="0" strike="noStrike" spc="-1">
                          <a:solidFill>
                            <a:srgbClr val="000000"/>
                          </a:solidFill>
                        </a:rPr>
                        <a:t>Iron or Steel</a:t>
                      </a:r>
                      <a:endParaRPr lang="en-GB" sz="2400" b="0" strike="noStrike" spc="-1">
                        <a:solidFill>
                          <a:srgbClr val="000000"/>
                        </a:solidFill>
                        <a:latin typeface="Arial"/>
                      </a:endParaRPr>
                    </a:p>
                  </a:txBody>
                  <a:tcPr/>
                </a:tc>
                <a:extLst>
                  <a:ext uri="{0D108BD9-81ED-4DB2-BD59-A6C34878D82A}">
                    <a16:rowId xmlns:a16="http://schemas.microsoft.com/office/drawing/2014/main" val="10003"/>
                  </a:ext>
                </a:extLst>
              </a:tr>
              <a:tr h="512383">
                <a:tc>
                  <a:txBody>
                    <a:bodyPr/>
                    <a:lstStyle/>
                    <a:p>
                      <a:pPr algn="ctr">
                        <a:lnSpc>
                          <a:spcPct val="100000"/>
                        </a:lnSpc>
                      </a:pPr>
                      <a:r>
                        <a:rPr lang="en-GB" sz="2400" b="0" strike="noStrike" spc="-1" dirty="0">
                          <a:solidFill>
                            <a:srgbClr val="000000"/>
                          </a:solidFill>
                        </a:rPr>
                        <a:t>Capacitive</a:t>
                      </a:r>
                      <a:endParaRPr lang="en-GB" sz="2400" b="0" strike="noStrike" spc="-1" dirty="0">
                        <a:solidFill>
                          <a:srgbClr val="000000"/>
                        </a:solidFill>
                        <a:latin typeface="Arial"/>
                      </a:endParaRPr>
                    </a:p>
                  </a:txBody>
                  <a:tcPr/>
                </a:tc>
                <a:tc>
                  <a:txBody>
                    <a:bodyPr/>
                    <a:lstStyle/>
                    <a:p>
                      <a:pPr algn="ctr">
                        <a:lnSpc>
                          <a:spcPct val="100000"/>
                        </a:lnSpc>
                      </a:pPr>
                      <a:r>
                        <a:rPr lang="en-GB" sz="2400" b="0" strike="noStrike" spc="-1" dirty="0">
                          <a:solidFill>
                            <a:srgbClr val="000000"/>
                          </a:solidFill>
                        </a:rPr>
                        <a:t>&lt;20mm typical</a:t>
                      </a:r>
                      <a:endParaRPr lang="en-GB" sz="2400" b="0" strike="noStrike" spc="-1" dirty="0">
                        <a:solidFill>
                          <a:srgbClr val="000000"/>
                        </a:solidFill>
                        <a:latin typeface="Arial"/>
                      </a:endParaRPr>
                    </a:p>
                  </a:txBody>
                  <a:tcPr/>
                </a:tc>
                <a:tc>
                  <a:txBody>
                    <a:bodyPr/>
                    <a:lstStyle/>
                    <a:p>
                      <a:pPr algn="ctr">
                        <a:lnSpc>
                          <a:spcPct val="100000"/>
                        </a:lnSpc>
                      </a:pPr>
                      <a:r>
                        <a:rPr lang="en-GB" sz="2400" b="0" strike="noStrike" spc="-1" dirty="0">
                          <a:solidFill>
                            <a:srgbClr val="000000"/>
                          </a:solidFill>
                        </a:rPr>
                        <a:t>Plastics, liquids, rubber, wood, etc</a:t>
                      </a:r>
                      <a:endParaRPr lang="en-GB" sz="2400" b="0" strike="noStrike" spc="-1" dirty="0">
                        <a:solidFill>
                          <a:srgbClr val="000000"/>
                        </a:solidFill>
                        <a:latin typeface="Arial"/>
                      </a:endParaRPr>
                    </a:p>
                  </a:txBody>
                  <a:tcPr/>
                </a:tc>
                <a:extLst>
                  <a:ext uri="{0D108BD9-81ED-4DB2-BD59-A6C34878D82A}">
                    <a16:rowId xmlns:a16="http://schemas.microsoft.com/office/drawing/2014/main" val="10004"/>
                  </a:ext>
                </a:extLst>
              </a:tr>
              <a:tr h="512383">
                <a:tc>
                  <a:txBody>
                    <a:bodyPr/>
                    <a:lstStyle/>
                    <a:p>
                      <a:pPr algn="ctr">
                        <a:lnSpc>
                          <a:spcPct val="100000"/>
                        </a:lnSpc>
                      </a:pPr>
                      <a:r>
                        <a:rPr lang="en-GB" sz="2400" b="0" strike="noStrike" spc="-1">
                          <a:solidFill>
                            <a:srgbClr val="000000"/>
                          </a:solidFill>
                        </a:rPr>
                        <a:t>Optical</a:t>
                      </a:r>
                      <a:endParaRPr lang="en-GB" sz="2400" b="0" strike="noStrike" spc="-1">
                        <a:solidFill>
                          <a:srgbClr val="000000"/>
                        </a:solidFill>
                        <a:latin typeface="Arial"/>
                      </a:endParaRPr>
                    </a:p>
                  </a:txBody>
                  <a:tcPr/>
                </a:tc>
                <a:tc>
                  <a:txBody>
                    <a:bodyPr/>
                    <a:lstStyle/>
                    <a:p>
                      <a:pPr algn="ctr">
                        <a:lnSpc>
                          <a:spcPct val="100000"/>
                        </a:lnSpc>
                      </a:pPr>
                      <a:r>
                        <a:rPr lang="en-GB" sz="2400" b="0" strike="noStrike" spc="-1">
                          <a:solidFill>
                            <a:srgbClr val="000000"/>
                          </a:solidFill>
                        </a:rPr>
                        <a:t>Cm's</a:t>
                      </a:r>
                      <a:endParaRPr lang="en-GB" sz="2400" b="0" strike="noStrike" spc="-1">
                        <a:solidFill>
                          <a:srgbClr val="000000"/>
                        </a:solidFill>
                        <a:latin typeface="Arial"/>
                      </a:endParaRPr>
                    </a:p>
                  </a:txBody>
                  <a:tcPr/>
                </a:tc>
                <a:tc>
                  <a:txBody>
                    <a:bodyPr/>
                    <a:lstStyle/>
                    <a:p>
                      <a:pPr algn="ctr">
                        <a:lnSpc>
                          <a:spcPct val="100000"/>
                        </a:lnSpc>
                      </a:pPr>
                      <a:r>
                        <a:rPr lang="en-GB" sz="2400" b="0" strike="noStrike" spc="-1" dirty="0">
                          <a:solidFill>
                            <a:srgbClr val="000000"/>
                          </a:solidFill>
                        </a:rPr>
                        <a:t>Reflective</a:t>
                      </a:r>
                      <a:endParaRPr lang="en-GB" sz="2400" b="0" strike="noStrike" spc="-1" dirty="0">
                        <a:solidFill>
                          <a:srgbClr val="000000"/>
                        </a:solidFill>
                        <a:latin typeface="Arial"/>
                      </a:endParaRPr>
                    </a:p>
                  </a:txBody>
                  <a:tcPr/>
                </a:tc>
                <a:extLst>
                  <a:ext uri="{0D108BD9-81ED-4DB2-BD59-A6C34878D82A}">
                    <a16:rowId xmlns:a16="http://schemas.microsoft.com/office/drawing/2014/main" val="10005"/>
                  </a:ext>
                </a:extLst>
              </a:tr>
              <a:tr h="512383">
                <a:tc>
                  <a:txBody>
                    <a:bodyPr/>
                    <a:lstStyle/>
                    <a:p>
                      <a:pPr algn="ctr">
                        <a:lnSpc>
                          <a:spcPct val="100000"/>
                        </a:lnSpc>
                      </a:pPr>
                      <a:r>
                        <a:rPr lang="en-GB" sz="2400" b="0" strike="noStrike" spc="-1">
                          <a:solidFill>
                            <a:srgbClr val="000000"/>
                          </a:solidFill>
                        </a:rPr>
                        <a:t>Ultrasonic</a:t>
                      </a:r>
                      <a:endParaRPr lang="en-GB" sz="2400" b="0" strike="noStrike" spc="-1">
                        <a:solidFill>
                          <a:srgbClr val="000000"/>
                        </a:solidFill>
                        <a:latin typeface="Arial"/>
                      </a:endParaRPr>
                    </a:p>
                  </a:txBody>
                  <a:tcPr/>
                </a:tc>
                <a:tc>
                  <a:txBody>
                    <a:bodyPr/>
                    <a:lstStyle/>
                    <a:p>
                      <a:pPr algn="ctr">
                        <a:lnSpc>
                          <a:spcPct val="100000"/>
                        </a:lnSpc>
                      </a:pPr>
                      <a:r>
                        <a:rPr lang="en-GB" sz="2400" b="0" strike="noStrike" spc="-1">
                          <a:solidFill>
                            <a:srgbClr val="000000"/>
                          </a:solidFill>
                        </a:rPr>
                        <a:t>meters</a:t>
                      </a:r>
                      <a:endParaRPr lang="en-GB" sz="2400" b="0" strike="noStrike" spc="-1">
                        <a:solidFill>
                          <a:srgbClr val="000000"/>
                        </a:solidFill>
                        <a:latin typeface="Arial"/>
                      </a:endParaRPr>
                    </a:p>
                  </a:txBody>
                  <a:tcPr/>
                </a:tc>
                <a:tc>
                  <a:txBody>
                    <a:bodyPr/>
                    <a:lstStyle/>
                    <a:p>
                      <a:pPr algn="ctr">
                        <a:lnSpc>
                          <a:spcPct val="100000"/>
                        </a:lnSpc>
                      </a:pPr>
                      <a:r>
                        <a:rPr lang="en-GB" sz="2400" b="0" strike="noStrike" spc="-1" dirty="0">
                          <a:solidFill>
                            <a:srgbClr val="000000"/>
                          </a:solidFill>
                        </a:rPr>
                        <a:t>Any solid</a:t>
                      </a:r>
                      <a:endParaRPr lang="en-GB" sz="2400" b="0" strike="noStrike" spc="-1" dirty="0">
                        <a:solidFill>
                          <a:srgbClr val="000000"/>
                        </a:solidFill>
                        <a:latin typeface="Arial"/>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95910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Force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p:txBody>
          <a:bodyPr/>
          <a:lstStyle/>
          <a:p>
            <a:fld id="{1ED87AFC-F3F3-4E09-A9D9-1873FFB55ECB}" type="slidenum">
              <a:rPr lang="en-GB" smtClean="0"/>
              <a:t>14</a:t>
            </a:fld>
            <a:endParaRPr lang="en-GB"/>
          </a:p>
        </p:txBody>
      </p:sp>
    </p:spTree>
    <p:extLst>
      <p:ext uri="{BB962C8B-B14F-4D97-AF65-F5344CB8AC3E}">
        <p14:creationId xmlns:p14="http://schemas.microsoft.com/office/powerpoint/2010/main" val="1779676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Force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fontScale="92500" lnSpcReduction="10000"/>
          </a:bodyPr>
          <a:lstStyle/>
          <a:p>
            <a:r>
              <a:rPr lang="en-GB" sz="3600" dirty="0"/>
              <a:t>Mostly used as External Sensors associated with overall task control</a:t>
            </a:r>
          </a:p>
          <a:p>
            <a:r>
              <a:rPr lang="en-GB" sz="3600" dirty="0"/>
              <a:t>Forces cannot be measured directly but are estimated through using mechanical elasticity to convert to an equivalent change in length which is measured</a:t>
            </a:r>
          </a:p>
          <a:p>
            <a:r>
              <a:rPr lang="en-GB" sz="3600" dirty="0"/>
              <a:t>Several different forms are available based on the strain gauge elements</a:t>
            </a:r>
          </a:p>
          <a:p>
            <a:pPr lvl="1"/>
            <a:r>
              <a:rPr lang="en-GB" sz="3200" dirty="0"/>
              <a:t>Strain gauges sensors</a:t>
            </a:r>
          </a:p>
          <a:p>
            <a:pPr lvl="1"/>
            <a:r>
              <a:rPr lang="en-GB" sz="3200" dirty="0"/>
              <a:t>Load cells</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430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Strain Gauges</a:t>
            </a:r>
          </a:p>
        </p:txBody>
      </p:sp>
      <p:sp>
        <p:nvSpPr>
          <p:cNvPr id="4" name="Slide Number Placeholder 3">
            <a:extLst>
              <a:ext uri="{FF2B5EF4-FFF2-40B4-BE49-F238E27FC236}">
                <a16:creationId xmlns:a16="http://schemas.microsoft.com/office/drawing/2014/main" id="{B7A4FE44-321E-BBB1-C3AA-144A9A5E2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7FB244B-6ECD-B8CD-5D64-9B0728808A73}"/>
                  </a:ext>
                </a:extLst>
              </p:cNvPr>
              <p:cNvSpPr>
                <a:spLocks noGrp="1"/>
              </p:cNvSpPr>
              <p:nvPr>
                <p:ph idx="1"/>
              </p:nvPr>
            </p:nvSpPr>
            <p:spPr/>
            <p:txBody>
              <a:bodyPr/>
              <a:lstStyle/>
              <a:p>
                <a:r>
                  <a:rPr lang="en-GB" dirty="0"/>
                  <a:t>Used to measure the strain on an object</a:t>
                </a:r>
              </a:p>
              <a:p>
                <a:r>
                  <a:rPr lang="en-GB" dirty="0"/>
                  <a:t>Axial Strain, ε, is defined as the ratio of change in length, ΔL, to the original length, L, when a material is subjected to an external axial force:</a:t>
                </a:r>
              </a:p>
              <a:p>
                <a:endParaRPr lang="en-GB" dirty="0"/>
              </a:p>
              <a:p>
                <a:pPr marL="0" indent="0">
                  <a:buNone/>
                </a:pPr>
                <a14:m>
                  <m:oMathPara xmlns:m="http://schemas.openxmlformats.org/officeDocument/2006/math">
                    <m:oMathParaPr>
                      <m:jc m:val="centerGroup"/>
                    </m:oMathParaPr>
                    <m:oMath xmlns:m="http://schemas.openxmlformats.org/officeDocument/2006/math">
                      <m:r>
                        <a:rPr lang="en-GB" sz="4800" i="1" smtClean="0">
                          <a:latin typeface="Cambria Math" panose="02040503050406030204" pitchFamily="18" charset="0"/>
                          <a:ea typeface="Cambria Math" panose="02040503050406030204" pitchFamily="18" charset="0"/>
                        </a:rPr>
                        <m:t>𝜀</m:t>
                      </m:r>
                      <m:r>
                        <a:rPr lang="en-GB" sz="4800" b="0" i="1" smtClean="0">
                          <a:latin typeface="Cambria Math" panose="02040503050406030204" pitchFamily="18" charset="0"/>
                          <a:ea typeface="Cambria Math" panose="02040503050406030204" pitchFamily="18" charset="0"/>
                        </a:rPr>
                        <m:t>=</m:t>
                      </m:r>
                      <m:f>
                        <m:fPr>
                          <m:ctrlPr>
                            <a:rPr lang="en-GB" sz="4800" b="0" i="1" smtClean="0">
                              <a:latin typeface="Cambria Math" panose="02040503050406030204" pitchFamily="18" charset="0"/>
                              <a:ea typeface="Cambria Math" panose="02040503050406030204" pitchFamily="18" charset="0"/>
                            </a:rPr>
                          </m:ctrlPr>
                        </m:fPr>
                        <m:num>
                          <m:r>
                            <a:rPr lang="en-GB" sz="4800" b="0" i="1" smtClean="0">
                              <a:latin typeface="Cambria Math" panose="02040503050406030204" pitchFamily="18" charset="0"/>
                              <a:ea typeface="Cambria Math" panose="02040503050406030204" pitchFamily="18" charset="0"/>
                            </a:rPr>
                            <m:t>∆</m:t>
                          </m:r>
                          <m:r>
                            <a:rPr lang="en-GB" sz="4800" b="0" i="1" smtClean="0">
                              <a:latin typeface="Cambria Math" panose="02040503050406030204" pitchFamily="18" charset="0"/>
                              <a:ea typeface="Cambria Math" panose="02040503050406030204" pitchFamily="18" charset="0"/>
                            </a:rPr>
                            <m:t>𝐿</m:t>
                          </m:r>
                        </m:num>
                        <m:den>
                          <m:r>
                            <a:rPr lang="en-GB" sz="4800" b="0" i="1" smtClean="0">
                              <a:latin typeface="Cambria Math" panose="02040503050406030204" pitchFamily="18" charset="0"/>
                              <a:ea typeface="Cambria Math" panose="02040503050406030204" pitchFamily="18" charset="0"/>
                            </a:rPr>
                            <m:t>𝐿</m:t>
                          </m:r>
                        </m:den>
                      </m:f>
                    </m:oMath>
                  </m:oMathPara>
                </a14:m>
                <a:endParaRPr lang="en-GB" sz="4800" dirty="0"/>
              </a:p>
              <a:p>
                <a:endParaRPr lang="en-GB" dirty="0"/>
              </a:p>
            </p:txBody>
          </p:sp>
        </mc:Choice>
        <mc:Fallback xmlns="">
          <p:sp>
            <p:nvSpPr>
              <p:cNvPr id="5" name="Content Placeholder 4">
                <a:extLst>
                  <a:ext uri="{FF2B5EF4-FFF2-40B4-BE49-F238E27FC236}">
                    <a16:creationId xmlns:a16="http://schemas.microsoft.com/office/drawing/2014/main" id="{17FB244B-6ECD-B8CD-5D64-9B0728808A7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GB">
                    <a:noFill/>
                  </a:rPr>
                  <a:t> </a:t>
                </a:r>
              </a:p>
            </p:txBody>
          </p:sp>
        </mc:Fallback>
      </mc:AlternateContent>
    </p:spTree>
    <p:extLst>
      <p:ext uri="{BB962C8B-B14F-4D97-AF65-F5344CB8AC3E}">
        <p14:creationId xmlns:p14="http://schemas.microsoft.com/office/powerpoint/2010/main" val="48437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Strain Gauges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a:t>The electrical resistance, R, of a block of conducing material is proportional to the distance, L, between the parallel faces and the electrical resistivity, ρ, and inversely proportional to the area, A, of the faces:</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B05FD8B-38F4-4D93-EE5F-CC36D1B5B860}"/>
                  </a:ext>
                </a:extLst>
              </p:cNvPr>
              <p:cNvSpPr txBox="1"/>
              <p:nvPr/>
            </p:nvSpPr>
            <p:spPr>
              <a:xfrm>
                <a:off x="3046379" y="4490268"/>
                <a:ext cx="6099242" cy="14704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4800" b="0" i="1" smtClean="0">
                          <a:latin typeface="Cambria Math" panose="02040503050406030204" pitchFamily="18" charset="0"/>
                          <a:ea typeface="Cambria Math" panose="02040503050406030204" pitchFamily="18" charset="0"/>
                        </a:rPr>
                        <m:t>𝑅</m:t>
                      </m:r>
                      <m:r>
                        <a:rPr lang="en-GB" sz="4800" b="0" i="1" smtClean="0">
                          <a:latin typeface="Cambria Math" panose="02040503050406030204" pitchFamily="18" charset="0"/>
                          <a:ea typeface="Cambria Math" panose="02040503050406030204" pitchFamily="18" charset="0"/>
                        </a:rPr>
                        <m:t>=</m:t>
                      </m:r>
                      <m:f>
                        <m:fPr>
                          <m:ctrlPr>
                            <a:rPr lang="en-GB" sz="4800" b="0" i="1" smtClean="0">
                              <a:latin typeface="Cambria Math" panose="02040503050406030204" pitchFamily="18" charset="0"/>
                              <a:ea typeface="Cambria Math" panose="02040503050406030204" pitchFamily="18" charset="0"/>
                            </a:rPr>
                          </m:ctrlPr>
                        </m:fPr>
                        <m:num>
                          <m:r>
                            <a:rPr lang="en-GB" sz="4800" i="1">
                              <a:latin typeface="Cambria Math" panose="02040503050406030204" pitchFamily="18" charset="0"/>
                              <a:ea typeface="Cambria Math" panose="02040503050406030204" pitchFamily="18" charset="0"/>
                            </a:rPr>
                            <m:t>𝜌</m:t>
                          </m:r>
                          <m:r>
                            <a:rPr lang="en-GB" sz="4800" b="0" i="1" smtClean="0">
                              <a:latin typeface="Cambria Math" panose="02040503050406030204" pitchFamily="18" charset="0"/>
                              <a:ea typeface="Cambria Math" panose="02040503050406030204" pitchFamily="18" charset="0"/>
                            </a:rPr>
                            <m:t>.</m:t>
                          </m:r>
                          <m:r>
                            <a:rPr lang="en-GB" sz="4800" b="0" i="1" smtClean="0">
                              <a:latin typeface="Cambria Math" panose="02040503050406030204" pitchFamily="18" charset="0"/>
                              <a:ea typeface="Cambria Math" panose="02040503050406030204" pitchFamily="18" charset="0"/>
                            </a:rPr>
                            <m:t>𝐿</m:t>
                          </m:r>
                        </m:num>
                        <m:den>
                          <m:r>
                            <a:rPr lang="en-GB" sz="4800" b="0" i="1" smtClean="0">
                              <a:latin typeface="Cambria Math" panose="02040503050406030204" pitchFamily="18" charset="0"/>
                              <a:ea typeface="Cambria Math" panose="02040503050406030204" pitchFamily="18" charset="0"/>
                            </a:rPr>
                            <m:t>𝐴</m:t>
                          </m:r>
                        </m:den>
                      </m:f>
                    </m:oMath>
                  </m:oMathPara>
                </a14:m>
                <a:endParaRPr lang="en-GB" sz="4800" dirty="0"/>
              </a:p>
            </p:txBody>
          </p:sp>
        </mc:Choice>
        <mc:Fallback xmlns="">
          <p:sp>
            <p:nvSpPr>
              <p:cNvPr id="6" name="TextBox 5">
                <a:extLst>
                  <a:ext uri="{FF2B5EF4-FFF2-40B4-BE49-F238E27FC236}">
                    <a16:creationId xmlns:a16="http://schemas.microsoft.com/office/drawing/2014/main" id="{EB05FD8B-38F4-4D93-EE5F-CC36D1B5B860}"/>
                  </a:ext>
                </a:extLst>
              </p:cNvPr>
              <p:cNvSpPr txBox="1">
                <a:spLocks noRot="1" noChangeAspect="1" noMove="1" noResize="1" noEditPoints="1" noAdjustHandles="1" noChangeArrowheads="1" noChangeShapeType="1" noTextEdit="1"/>
              </p:cNvSpPr>
              <p:nvPr/>
            </p:nvSpPr>
            <p:spPr>
              <a:xfrm>
                <a:off x="3046379" y="4490268"/>
                <a:ext cx="6099242" cy="1470403"/>
              </a:xfrm>
              <a:prstGeom prst="rect">
                <a:avLst/>
              </a:prstGeo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37340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Strain Gauges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a:t>The change in resistance in a conducting block of material can be related to the strain on the material, </a:t>
            </a:r>
            <a:r>
              <a:rPr lang="en-GB" sz="3600" spc="-1" dirty="0">
                <a:solidFill>
                  <a:srgbClr val="2E461B"/>
                </a:solidFill>
                <a:latin typeface="Arial"/>
                <a:ea typeface="DejaVu Sans"/>
              </a:rPr>
              <a:t>where K is a constant of proportionality termed the </a:t>
            </a:r>
            <a:r>
              <a:rPr lang="en-GB" sz="3600" b="1" i="1" spc="-1" dirty="0">
                <a:solidFill>
                  <a:srgbClr val="2E461B"/>
                </a:solidFill>
                <a:latin typeface="Arial"/>
                <a:ea typeface="DejaVu Sans"/>
              </a:rPr>
              <a:t>Gauge Factor</a:t>
            </a:r>
            <a:r>
              <a:rPr lang="en-GB" sz="3600" dirty="0"/>
              <a:t>:</a:t>
            </a:r>
            <a:endParaRPr lang="en-GB" sz="3600" spc="-1" dirty="0">
              <a:solidFill>
                <a:srgbClr val="000000"/>
              </a:solidFill>
              <a:latin typeface="Arial"/>
            </a:endParaRP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B05FD8B-38F4-4D93-EE5F-CC36D1B5B860}"/>
                  </a:ext>
                </a:extLst>
              </p:cNvPr>
              <p:cNvSpPr txBox="1"/>
              <p:nvPr/>
            </p:nvSpPr>
            <p:spPr>
              <a:xfrm>
                <a:off x="3046379" y="4490268"/>
                <a:ext cx="6099242" cy="14752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4800" b="0" i="1" smtClean="0">
                              <a:latin typeface="Cambria Math" panose="02040503050406030204" pitchFamily="18" charset="0"/>
                              <a:ea typeface="Cambria Math" panose="02040503050406030204" pitchFamily="18" charset="0"/>
                            </a:rPr>
                          </m:ctrlPr>
                        </m:fPr>
                        <m:num>
                          <m:r>
                            <a:rPr lang="en-GB" sz="4800" b="0" i="1" smtClean="0">
                              <a:latin typeface="Cambria Math" panose="02040503050406030204" pitchFamily="18" charset="0"/>
                              <a:ea typeface="Cambria Math" panose="02040503050406030204" pitchFamily="18" charset="0"/>
                            </a:rPr>
                            <m:t>∆</m:t>
                          </m:r>
                          <m:r>
                            <a:rPr lang="en-GB" sz="4800" b="0" i="1" smtClean="0">
                              <a:latin typeface="Cambria Math" panose="02040503050406030204" pitchFamily="18" charset="0"/>
                              <a:ea typeface="Cambria Math" panose="02040503050406030204" pitchFamily="18" charset="0"/>
                            </a:rPr>
                            <m:t>𝑅</m:t>
                          </m:r>
                        </m:num>
                        <m:den>
                          <m:r>
                            <a:rPr lang="en-GB" sz="4800" b="0" i="1" smtClean="0">
                              <a:latin typeface="Cambria Math" panose="02040503050406030204" pitchFamily="18" charset="0"/>
                              <a:ea typeface="Cambria Math" panose="02040503050406030204" pitchFamily="18" charset="0"/>
                            </a:rPr>
                            <m:t>𝑅</m:t>
                          </m:r>
                        </m:den>
                      </m:f>
                      <m:r>
                        <a:rPr lang="en-GB" sz="4800" b="0" i="1" smtClean="0">
                          <a:latin typeface="Cambria Math" panose="02040503050406030204" pitchFamily="18" charset="0"/>
                          <a:ea typeface="Cambria Math" panose="02040503050406030204" pitchFamily="18" charset="0"/>
                        </a:rPr>
                        <m:t>=</m:t>
                      </m:r>
                      <m:r>
                        <a:rPr lang="en-GB" sz="4800" b="0" i="1" smtClean="0">
                          <a:latin typeface="Cambria Math" panose="02040503050406030204" pitchFamily="18" charset="0"/>
                          <a:ea typeface="Cambria Math" panose="02040503050406030204" pitchFamily="18" charset="0"/>
                        </a:rPr>
                        <m:t>𝐾</m:t>
                      </m:r>
                      <m:r>
                        <a:rPr lang="en-GB" sz="4800" b="0" i="1" smtClean="0">
                          <a:latin typeface="Cambria Math" panose="02040503050406030204" pitchFamily="18" charset="0"/>
                          <a:ea typeface="Cambria Math" panose="02040503050406030204" pitchFamily="18" charset="0"/>
                        </a:rPr>
                        <m:t>.</m:t>
                      </m:r>
                      <m:f>
                        <m:fPr>
                          <m:ctrlPr>
                            <a:rPr lang="en-GB" sz="4800" b="0" i="1" smtClean="0">
                              <a:latin typeface="Cambria Math" panose="02040503050406030204" pitchFamily="18" charset="0"/>
                              <a:ea typeface="Cambria Math" panose="02040503050406030204" pitchFamily="18" charset="0"/>
                            </a:rPr>
                          </m:ctrlPr>
                        </m:fPr>
                        <m:num>
                          <m:r>
                            <a:rPr lang="en-GB" sz="4800" b="0" i="1" smtClean="0">
                              <a:latin typeface="Cambria Math" panose="02040503050406030204" pitchFamily="18" charset="0"/>
                              <a:ea typeface="Cambria Math" panose="02040503050406030204" pitchFamily="18" charset="0"/>
                            </a:rPr>
                            <m:t>∆</m:t>
                          </m:r>
                          <m:r>
                            <a:rPr lang="en-GB" sz="4800" b="0" i="1" smtClean="0">
                              <a:latin typeface="Cambria Math" panose="02040503050406030204" pitchFamily="18" charset="0"/>
                              <a:ea typeface="Cambria Math" panose="02040503050406030204" pitchFamily="18" charset="0"/>
                            </a:rPr>
                            <m:t>𝐿</m:t>
                          </m:r>
                        </m:num>
                        <m:den>
                          <m:r>
                            <a:rPr lang="en-GB" sz="4800" b="0" i="1" smtClean="0">
                              <a:latin typeface="Cambria Math" panose="02040503050406030204" pitchFamily="18" charset="0"/>
                              <a:ea typeface="Cambria Math" panose="02040503050406030204" pitchFamily="18" charset="0"/>
                            </a:rPr>
                            <m:t>𝐿</m:t>
                          </m:r>
                        </m:den>
                      </m:f>
                      <m:r>
                        <a:rPr lang="en-GB" sz="4800" b="0" i="1" smtClean="0">
                          <a:latin typeface="Cambria Math" panose="02040503050406030204" pitchFamily="18" charset="0"/>
                          <a:ea typeface="Cambria Math" panose="02040503050406030204" pitchFamily="18" charset="0"/>
                        </a:rPr>
                        <m:t>=</m:t>
                      </m:r>
                      <m:r>
                        <a:rPr lang="en-GB" sz="4800" b="0" i="1" smtClean="0">
                          <a:latin typeface="Cambria Math" panose="02040503050406030204" pitchFamily="18" charset="0"/>
                          <a:ea typeface="Cambria Math" panose="02040503050406030204" pitchFamily="18" charset="0"/>
                        </a:rPr>
                        <m:t>𝐾</m:t>
                      </m:r>
                      <m:r>
                        <a:rPr lang="en-GB" sz="4800" b="0" i="1" smtClean="0">
                          <a:latin typeface="Cambria Math" panose="02040503050406030204" pitchFamily="18" charset="0"/>
                          <a:ea typeface="Cambria Math" panose="02040503050406030204" pitchFamily="18" charset="0"/>
                        </a:rPr>
                        <m:t>.</m:t>
                      </m:r>
                      <m:r>
                        <a:rPr lang="en-GB" sz="4800" b="0" i="1" smtClean="0">
                          <a:latin typeface="Cambria Math" panose="02040503050406030204" pitchFamily="18" charset="0"/>
                          <a:ea typeface="Cambria Math" panose="02040503050406030204" pitchFamily="18" charset="0"/>
                        </a:rPr>
                        <m:t>𝜀</m:t>
                      </m:r>
                    </m:oMath>
                  </m:oMathPara>
                </a14:m>
                <a:endParaRPr lang="en-GB" sz="4800" dirty="0"/>
              </a:p>
            </p:txBody>
          </p:sp>
        </mc:Choice>
        <mc:Fallback xmlns="">
          <p:sp>
            <p:nvSpPr>
              <p:cNvPr id="6" name="TextBox 5">
                <a:extLst>
                  <a:ext uri="{FF2B5EF4-FFF2-40B4-BE49-F238E27FC236}">
                    <a16:creationId xmlns:a16="http://schemas.microsoft.com/office/drawing/2014/main" id="{EB05FD8B-38F4-4D93-EE5F-CC36D1B5B860}"/>
                  </a:ext>
                </a:extLst>
              </p:cNvPr>
              <p:cNvSpPr txBox="1">
                <a:spLocks noRot="1" noChangeAspect="1" noMove="1" noResize="1" noEditPoints="1" noAdjustHandles="1" noChangeArrowheads="1" noChangeShapeType="1" noTextEdit="1"/>
              </p:cNvSpPr>
              <p:nvPr/>
            </p:nvSpPr>
            <p:spPr>
              <a:xfrm>
                <a:off x="3046379" y="4490268"/>
                <a:ext cx="6099242" cy="1475212"/>
              </a:xfrm>
              <a:prstGeom prst="rect">
                <a:avLst/>
              </a:prstGeo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5390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Strain Gauges</a:t>
            </a: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70000" lnSpcReduction="20000"/>
          </a:bodyPr>
          <a:lstStyle/>
          <a:p>
            <a:r>
              <a:rPr lang="en-GB" sz="3600" dirty="0"/>
              <a:t>Strain gauges can be made from</a:t>
            </a:r>
          </a:p>
          <a:p>
            <a:pPr lvl="1"/>
            <a:r>
              <a:rPr lang="en-GB" sz="3200" dirty="0"/>
              <a:t> fine wires glued to a backing sheet, </a:t>
            </a:r>
          </a:p>
          <a:p>
            <a:pPr lvl="1"/>
            <a:r>
              <a:rPr lang="en-GB" sz="3200" dirty="0"/>
              <a:t>thin metal foil punched,</a:t>
            </a:r>
          </a:p>
          <a:p>
            <a:pPr lvl="1"/>
            <a:r>
              <a:rPr lang="en-GB" sz="3200" dirty="0"/>
              <a:t>etched into the required shape or made from germanium or silicon semi-conductors impregnated with a small quantity of impurities.</a:t>
            </a:r>
          </a:p>
          <a:p>
            <a:r>
              <a:rPr lang="en-GB" sz="3600" dirty="0"/>
              <a:t>The sensitivity of the strain gauge is defined in terms of the gauge factor K</a:t>
            </a:r>
          </a:p>
          <a:p>
            <a:r>
              <a:rPr lang="en-GB" sz="3600" dirty="0"/>
              <a:t>K = relative change in resistance/ relative change in length</a:t>
            </a:r>
          </a:p>
        </p:txBody>
      </p:sp>
      <p:pic>
        <p:nvPicPr>
          <p:cNvPr id="11" name="Content Placeholder 10" descr="A yellow rectangular object with wires&#10;&#10;Description automatically generated">
            <a:extLst>
              <a:ext uri="{FF2B5EF4-FFF2-40B4-BE49-F238E27FC236}">
                <a16:creationId xmlns:a16="http://schemas.microsoft.com/office/drawing/2014/main" id="{7380EA21-8677-35B6-8223-DC268C9817F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543969"/>
            <a:ext cx="5181600" cy="2914649"/>
          </a:xfrm>
        </p:spPr>
      </p:pic>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086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Strain Gauges</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5" name="Table 5">
            <a:extLst>
              <a:ext uri="{FF2B5EF4-FFF2-40B4-BE49-F238E27FC236}">
                <a16:creationId xmlns:a16="http://schemas.microsoft.com/office/drawing/2014/main" id="{BEF57154-C870-619F-6F50-C625075EBA36}"/>
              </a:ext>
            </a:extLst>
          </p:cNvPr>
          <p:cNvGraphicFramePr>
            <a:graphicFrameLocks noGrp="1"/>
          </p:cNvGraphicFramePr>
          <p:nvPr>
            <p:ph idx="1"/>
          </p:nvPr>
        </p:nvGraphicFramePr>
        <p:xfrm>
          <a:off x="2077680" y="2490039"/>
          <a:ext cx="8036640" cy="2649600"/>
        </p:xfrm>
        <a:graphic>
          <a:graphicData uri="http://schemas.openxmlformats.org/drawingml/2006/table">
            <a:tbl>
              <a:tblPr>
                <a:tableStyleId>{3C2FFA5D-87B4-456A-9821-1D502468CF0F}</a:tableStyleId>
              </a:tblPr>
              <a:tblGrid>
                <a:gridCol w="2677680">
                  <a:extLst>
                    <a:ext uri="{9D8B030D-6E8A-4147-A177-3AD203B41FA5}">
                      <a16:colId xmlns:a16="http://schemas.microsoft.com/office/drawing/2014/main" val="20000"/>
                    </a:ext>
                  </a:extLst>
                </a:gridCol>
                <a:gridCol w="2677680">
                  <a:extLst>
                    <a:ext uri="{9D8B030D-6E8A-4147-A177-3AD203B41FA5}">
                      <a16:colId xmlns:a16="http://schemas.microsoft.com/office/drawing/2014/main" val="20001"/>
                    </a:ext>
                  </a:extLst>
                </a:gridCol>
                <a:gridCol w="2681280">
                  <a:extLst>
                    <a:ext uri="{9D8B030D-6E8A-4147-A177-3AD203B41FA5}">
                      <a16:colId xmlns:a16="http://schemas.microsoft.com/office/drawing/2014/main" val="20002"/>
                    </a:ext>
                  </a:extLst>
                </a:gridCol>
              </a:tblGrid>
              <a:tr h="384120">
                <a:tc>
                  <a:txBody>
                    <a:bodyPr/>
                    <a:lstStyle/>
                    <a:p>
                      <a:pPr algn="ctr">
                        <a:lnSpc>
                          <a:spcPct val="100000"/>
                        </a:lnSpc>
                      </a:pPr>
                      <a:r>
                        <a:rPr lang="en-GB" sz="1800" b="1" strike="noStrike" spc="-1" dirty="0">
                          <a:solidFill>
                            <a:srgbClr val="000000"/>
                          </a:solidFill>
                        </a:rPr>
                        <a:t>Material</a:t>
                      </a:r>
                      <a:endParaRPr lang="en-GB" sz="1800" b="1" strike="noStrike" spc="-1" dirty="0">
                        <a:solidFill>
                          <a:srgbClr val="000000"/>
                        </a:solidFill>
                        <a:latin typeface="Arial"/>
                      </a:endParaRPr>
                    </a:p>
                  </a:txBody>
                  <a:tcPr/>
                </a:tc>
                <a:tc>
                  <a:txBody>
                    <a:bodyPr/>
                    <a:lstStyle/>
                    <a:p>
                      <a:pPr algn="ctr">
                        <a:lnSpc>
                          <a:spcPct val="100000"/>
                        </a:lnSpc>
                      </a:pPr>
                      <a:r>
                        <a:rPr lang="en-GB" sz="1800" b="1" strike="noStrike" spc="-1" dirty="0">
                          <a:solidFill>
                            <a:srgbClr val="000000"/>
                          </a:solidFill>
                        </a:rPr>
                        <a:t>Composition</a:t>
                      </a:r>
                      <a:endParaRPr lang="en-GB" sz="1800" b="1" strike="noStrike" spc="-1" dirty="0">
                        <a:solidFill>
                          <a:srgbClr val="000000"/>
                        </a:solidFill>
                        <a:latin typeface="Arial"/>
                      </a:endParaRPr>
                    </a:p>
                  </a:txBody>
                  <a:tcPr/>
                </a:tc>
                <a:tc>
                  <a:txBody>
                    <a:bodyPr/>
                    <a:lstStyle/>
                    <a:p>
                      <a:pPr algn="ctr">
                        <a:lnSpc>
                          <a:spcPct val="100000"/>
                        </a:lnSpc>
                      </a:pPr>
                      <a:r>
                        <a:rPr lang="en-GB" sz="1800" b="1" strike="noStrike" spc="-1" dirty="0">
                          <a:solidFill>
                            <a:srgbClr val="000000"/>
                          </a:solidFill>
                        </a:rPr>
                        <a:t>Typical Gauge Factor</a:t>
                      </a:r>
                      <a:endParaRPr lang="en-GB" sz="1800" b="1" strike="noStrike" spc="-1" dirty="0">
                        <a:solidFill>
                          <a:srgbClr val="000000"/>
                        </a:solidFill>
                        <a:latin typeface="Arial"/>
                      </a:endParaRPr>
                    </a:p>
                  </a:txBody>
                  <a:tcPr/>
                </a:tc>
                <a:extLst>
                  <a:ext uri="{0D108BD9-81ED-4DB2-BD59-A6C34878D82A}">
                    <a16:rowId xmlns:a16="http://schemas.microsoft.com/office/drawing/2014/main" val="10000"/>
                  </a:ext>
                </a:extLst>
              </a:tr>
              <a:tr h="370440">
                <a:tc>
                  <a:txBody>
                    <a:bodyPr/>
                    <a:lstStyle/>
                    <a:p>
                      <a:pPr algn="ctr">
                        <a:lnSpc>
                          <a:spcPct val="100000"/>
                        </a:lnSpc>
                      </a:pPr>
                      <a:r>
                        <a:rPr lang="en-GB" sz="1600" b="0" strike="noStrike" spc="-1">
                          <a:solidFill>
                            <a:srgbClr val="000000"/>
                          </a:solidFill>
                        </a:rPr>
                        <a:t>Manganin</a:t>
                      </a:r>
                      <a:endParaRPr lang="en-GB" sz="1600" b="0" strike="noStrike" spc="-1">
                        <a:solidFill>
                          <a:srgbClr val="000000"/>
                        </a:solidFill>
                        <a:latin typeface="Arial"/>
                      </a:endParaRPr>
                    </a:p>
                  </a:txBody>
                  <a:tcPr/>
                </a:tc>
                <a:tc>
                  <a:txBody>
                    <a:bodyPr/>
                    <a:lstStyle/>
                    <a:p>
                      <a:pPr algn="ctr">
                        <a:lnSpc>
                          <a:spcPct val="100000"/>
                        </a:lnSpc>
                      </a:pPr>
                      <a:r>
                        <a:rPr lang="en-GB" sz="1600" b="0" strike="noStrike" spc="-1">
                          <a:solidFill>
                            <a:srgbClr val="000000"/>
                          </a:solidFill>
                        </a:rPr>
                        <a:t>Cu (84%), Mn (12%),Ni (4%)</a:t>
                      </a:r>
                      <a:endParaRPr lang="en-GB" sz="1600" b="0" strike="noStrike" spc="-1">
                        <a:solidFill>
                          <a:srgbClr val="000000"/>
                        </a:solidFill>
                        <a:latin typeface="Arial"/>
                      </a:endParaRPr>
                    </a:p>
                  </a:txBody>
                  <a:tcPr/>
                </a:tc>
                <a:tc>
                  <a:txBody>
                    <a:bodyPr/>
                    <a:lstStyle/>
                    <a:p>
                      <a:pPr algn="ctr">
                        <a:lnSpc>
                          <a:spcPct val="100000"/>
                        </a:lnSpc>
                      </a:pPr>
                      <a:r>
                        <a:rPr lang="en-GB" sz="1600" b="0" strike="noStrike" spc="-1" dirty="0">
                          <a:solidFill>
                            <a:srgbClr val="000000"/>
                          </a:solidFill>
                        </a:rPr>
                        <a:t>+0.5</a:t>
                      </a:r>
                      <a:endParaRPr lang="en-GB" sz="1600" b="0" strike="noStrike" spc="-1" dirty="0">
                        <a:solidFill>
                          <a:srgbClr val="000000"/>
                        </a:solidFill>
                        <a:latin typeface="Arial"/>
                      </a:endParaRPr>
                    </a:p>
                  </a:txBody>
                  <a:tcPr/>
                </a:tc>
                <a:extLst>
                  <a:ext uri="{0D108BD9-81ED-4DB2-BD59-A6C34878D82A}">
                    <a16:rowId xmlns:a16="http://schemas.microsoft.com/office/drawing/2014/main" val="10001"/>
                  </a:ext>
                </a:extLst>
              </a:tr>
              <a:tr h="370440">
                <a:tc>
                  <a:txBody>
                    <a:bodyPr/>
                    <a:lstStyle/>
                    <a:p>
                      <a:pPr algn="ctr">
                        <a:lnSpc>
                          <a:spcPct val="100000"/>
                        </a:lnSpc>
                      </a:pPr>
                      <a:r>
                        <a:rPr lang="en-GB" sz="1600" b="0" strike="noStrike" spc="-1">
                          <a:solidFill>
                            <a:srgbClr val="000000"/>
                          </a:solidFill>
                        </a:rPr>
                        <a:t>Nichrome</a:t>
                      </a:r>
                      <a:endParaRPr lang="en-GB" sz="1600" b="0" strike="noStrike" spc="-1">
                        <a:solidFill>
                          <a:srgbClr val="000000"/>
                        </a:solidFill>
                        <a:latin typeface="Arial"/>
                      </a:endParaRPr>
                    </a:p>
                  </a:txBody>
                  <a:tcPr/>
                </a:tc>
                <a:tc>
                  <a:txBody>
                    <a:bodyPr/>
                    <a:lstStyle/>
                    <a:p>
                      <a:pPr algn="ctr">
                        <a:lnSpc>
                          <a:spcPct val="100000"/>
                        </a:lnSpc>
                      </a:pPr>
                      <a:r>
                        <a:rPr lang="en-GB" sz="1600" b="0" strike="noStrike" spc="-1">
                          <a:solidFill>
                            <a:srgbClr val="000000"/>
                          </a:solidFill>
                        </a:rPr>
                        <a:t>Ni (80%),Cr(20%)</a:t>
                      </a:r>
                      <a:endParaRPr lang="en-GB" sz="1600" b="0" strike="noStrike" spc="-1">
                        <a:solidFill>
                          <a:srgbClr val="000000"/>
                        </a:solidFill>
                        <a:latin typeface="Arial"/>
                      </a:endParaRPr>
                    </a:p>
                  </a:txBody>
                  <a:tcPr/>
                </a:tc>
                <a:tc>
                  <a:txBody>
                    <a:bodyPr/>
                    <a:lstStyle/>
                    <a:p>
                      <a:pPr algn="ctr">
                        <a:lnSpc>
                          <a:spcPct val="100000"/>
                        </a:lnSpc>
                      </a:pPr>
                      <a:r>
                        <a:rPr lang="en-GB" sz="1600" b="0" strike="noStrike" spc="-1">
                          <a:solidFill>
                            <a:srgbClr val="000000"/>
                          </a:solidFill>
                        </a:rPr>
                        <a:t>+2.2</a:t>
                      </a:r>
                      <a:endParaRPr lang="en-GB" sz="1600" b="0" strike="noStrike" spc="-1">
                        <a:solidFill>
                          <a:srgbClr val="000000"/>
                        </a:solidFill>
                        <a:latin typeface="Arial"/>
                      </a:endParaRPr>
                    </a:p>
                  </a:txBody>
                  <a:tcPr/>
                </a:tc>
                <a:extLst>
                  <a:ext uri="{0D108BD9-81ED-4DB2-BD59-A6C34878D82A}">
                    <a16:rowId xmlns:a16="http://schemas.microsoft.com/office/drawing/2014/main" val="10002"/>
                  </a:ext>
                </a:extLst>
              </a:tr>
              <a:tr h="370440">
                <a:tc>
                  <a:txBody>
                    <a:bodyPr/>
                    <a:lstStyle/>
                    <a:p>
                      <a:pPr algn="ctr">
                        <a:lnSpc>
                          <a:spcPct val="100000"/>
                        </a:lnSpc>
                      </a:pPr>
                      <a:r>
                        <a:rPr lang="en-GB" sz="1600" b="0" strike="noStrike" spc="-1">
                          <a:solidFill>
                            <a:srgbClr val="000000"/>
                          </a:solidFill>
                        </a:rPr>
                        <a:t>Chromel</a:t>
                      </a:r>
                      <a:endParaRPr lang="en-GB" sz="1600" b="0" strike="noStrike" spc="-1">
                        <a:solidFill>
                          <a:srgbClr val="000000"/>
                        </a:solidFill>
                        <a:latin typeface="Arial"/>
                      </a:endParaRPr>
                    </a:p>
                  </a:txBody>
                  <a:tcPr/>
                </a:tc>
                <a:tc>
                  <a:txBody>
                    <a:bodyPr/>
                    <a:lstStyle/>
                    <a:p>
                      <a:pPr algn="ctr">
                        <a:lnSpc>
                          <a:spcPct val="100000"/>
                        </a:lnSpc>
                      </a:pPr>
                      <a:r>
                        <a:rPr lang="en-GB" sz="1600" b="0" strike="noStrike" spc="-1">
                          <a:solidFill>
                            <a:srgbClr val="000000"/>
                          </a:solidFill>
                        </a:rPr>
                        <a:t>Ni (64%), Fe (25%), Cr(20%)</a:t>
                      </a:r>
                      <a:endParaRPr lang="en-GB" sz="1600" b="0" strike="noStrike" spc="-1">
                        <a:solidFill>
                          <a:srgbClr val="000000"/>
                        </a:solidFill>
                        <a:latin typeface="Arial"/>
                      </a:endParaRPr>
                    </a:p>
                  </a:txBody>
                  <a:tcPr/>
                </a:tc>
                <a:tc>
                  <a:txBody>
                    <a:bodyPr/>
                    <a:lstStyle/>
                    <a:p>
                      <a:pPr algn="ctr">
                        <a:lnSpc>
                          <a:spcPct val="100000"/>
                        </a:lnSpc>
                      </a:pPr>
                      <a:r>
                        <a:rPr lang="en-GB" sz="1600" b="0" strike="noStrike" spc="-1">
                          <a:solidFill>
                            <a:srgbClr val="000000"/>
                          </a:solidFill>
                        </a:rPr>
                        <a:t>+2.5</a:t>
                      </a:r>
                      <a:endParaRPr lang="en-GB" sz="1600" b="0" strike="noStrike" spc="-1">
                        <a:solidFill>
                          <a:srgbClr val="000000"/>
                        </a:solidFill>
                        <a:latin typeface="Arial"/>
                      </a:endParaRPr>
                    </a:p>
                  </a:txBody>
                  <a:tcPr/>
                </a:tc>
                <a:extLst>
                  <a:ext uri="{0D108BD9-81ED-4DB2-BD59-A6C34878D82A}">
                    <a16:rowId xmlns:a16="http://schemas.microsoft.com/office/drawing/2014/main" val="10003"/>
                  </a:ext>
                </a:extLst>
              </a:tr>
              <a:tr h="384120">
                <a:tc>
                  <a:txBody>
                    <a:bodyPr/>
                    <a:lstStyle/>
                    <a:p>
                      <a:pPr algn="ctr">
                        <a:lnSpc>
                          <a:spcPct val="100000"/>
                        </a:lnSpc>
                      </a:pPr>
                      <a:r>
                        <a:rPr lang="en-GB" sz="1600" b="0" strike="noStrike" spc="-1">
                          <a:solidFill>
                            <a:srgbClr val="000000"/>
                          </a:solidFill>
                        </a:rPr>
                        <a:t>Nickel</a:t>
                      </a:r>
                      <a:endParaRPr lang="en-GB" sz="1600" b="0" strike="noStrike" spc="-1">
                        <a:solidFill>
                          <a:srgbClr val="000000"/>
                        </a:solidFill>
                        <a:latin typeface="Arial"/>
                      </a:endParaRPr>
                    </a:p>
                  </a:txBody>
                  <a:tcPr/>
                </a:tc>
                <a:tc>
                  <a:txBody>
                    <a:bodyPr/>
                    <a:lstStyle/>
                    <a:p>
                      <a:endParaRPr lang="en-GB" sz="1800" b="0" strike="noStrike" spc="-1">
                        <a:solidFill>
                          <a:srgbClr val="000000"/>
                        </a:solidFill>
                        <a:latin typeface="Arial"/>
                      </a:endParaRPr>
                    </a:p>
                  </a:txBody>
                  <a:tcPr/>
                </a:tc>
                <a:tc>
                  <a:txBody>
                    <a:bodyPr/>
                    <a:lstStyle/>
                    <a:p>
                      <a:pPr algn="ctr">
                        <a:lnSpc>
                          <a:spcPct val="100000"/>
                        </a:lnSpc>
                      </a:pPr>
                      <a:r>
                        <a:rPr lang="en-GB" sz="1800" b="0" strike="noStrike" spc="-1">
                          <a:solidFill>
                            <a:srgbClr val="000000"/>
                          </a:solidFill>
                        </a:rPr>
                        <a:t>+12</a:t>
                      </a:r>
                      <a:endParaRPr lang="en-GB" sz="1800" b="0" strike="noStrike" spc="-1">
                        <a:solidFill>
                          <a:srgbClr val="000000"/>
                        </a:solidFill>
                        <a:latin typeface="Arial"/>
                      </a:endParaRPr>
                    </a:p>
                  </a:txBody>
                  <a:tcPr/>
                </a:tc>
                <a:extLst>
                  <a:ext uri="{0D108BD9-81ED-4DB2-BD59-A6C34878D82A}">
                    <a16:rowId xmlns:a16="http://schemas.microsoft.com/office/drawing/2014/main" val="10004"/>
                  </a:ext>
                </a:extLst>
              </a:tr>
              <a:tr h="384120">
                <a:tc>
                  <a:txBody>
                    <a:bodyPr/>
                    <a:lstStyle/>
                    <a:p>
                      <a:pPr algn="ctr">
                        <a:lnSpc>
                          <a:spcPct val="100000"/>
                        </a:lnSpc>
                      </a:pPr>
                      <a:r>
                        <a:rPr lang="en-GB" sz="1600" b="0" strike="noStrike" spc="-1">
                          <a:solidFill>
                            <a:srgbClr val="000000"/>
                          </a:solidFill>
                        </a:rPr>
                        <a:t>Platinum</a:t>
                      </a:r>
                      <a:endParaRPr lang="en-GB" sz="1600" b="0" strike="noStrike" spc="-1">
                        <a:solidFill>
                          <a:srgbClr val="000000"/>
                        </a:solidFill>
                        <a:latin typeface="Arial"/>
                      </a:endParaRPr>
                    </a:p>
                  </a:txBody>
                  <a:tcPr/>
                </a:tc>
                <a:tc>
                  <a:txBody>
                    <a:bodyPr/>
                    <a:lstStyle/>
                    <a:p>
                      <a:endParaRPr lang="en-GB" sz="1800" b="0" strike="noStrike" spc="-1">
                        <a:solidFill>
                          <a:srgbClr val="000000"/>
                        </a:solidFill>
                        <a:latin typeface="Arial"/>
                      </a:endParaRPr>
                    </a:p>
                  </a:txBody>
                  <a:tcPr/>
                </a:tc>
                <a:tc>
                  <a:txBody>
                    <a:bodyPr/>
                    <a:lstStyle/>
                    <a:p>
                      <a:pPr algn="ctr">
                        <a:lnSpc>
                          <a:spcPct val="100000"/>
                        </a:lnSpc>
                      </a:pPr>
                      <a:r>
                        <a:rPr lang="en-GB" sz="1800" b="0" strike="noStrike" spc="-1">
                          <a:solidFill>
                            <a:srgbClr val="000000"/>
                          </a:solidFill>
                        </a:rPr>
                        <a:t>+4.8</a:t>
                      </a:r>
                      <a:endParaRPr lang="en-GB" sz="1800" b="0" strike="noStrike" spc="-1">
                        <a:solidFill>
                          <a:srgbClr val="000000"/>
                        </a:solidFill>
                        <a:latin typeface="Arial"/>
                      </a:endParaRPr>
                    </a:p>
                  </a:txBody>
                  <a:tcPr/>
                </a:tc>
                <a:extLst>
                  <a:ext uri="{0D108BD9-81ED-4DB2-BD59-A6C34878D82A}">
                    <a16:rowId xmlns:a16="http://schemas.microsoft.com/office/drawing/2014/main" val="10005"/>
                  </a:ext>
                </a:extLst>
              </a:tr>
              <a:tr h="385920">
                <a:tc>
                  <a:txBody>
                    <a:bodyPr/>
                    <a:lstStyle/>
                    <a:p>
                      <a:pPr algn="ctr">
                        <a:lnSpc>
                          <a:spcPct val="100000"/>
                        </a:lnSpc>
                      </a:pPr>
                      <a:r>
                        <a:rPr lang="en-GB" sz="1600" b="0" strike="noStrike" spc="-1">
                          <a:solidFill>
                            <a:srgbClr val="000000"/>
                          </a:solidFill>
                        </a:rPr>
                        <a:t>Semiconductor</a:t>
                      </a:r>
                      <a:endParaRPr lang="en-GB" sz="1600" b="0" strike="noStrike" spc="-1">
                        <a:solidFill>
                          <a:srgbClr val="000000"/>
                        </a:solidFill>
                        <a:latin typeface="Arial"/>
                      </a:endParaRPr>
                    </a:p>
                  </a:txBody>
                  <a:tcPr/>
                </a:tc>
                <a:tc>
                  <a:txBody>
                    <a:bodyPr/>
                    <a:lstStyle/>
                    <a:p>
                      <a:endParaRPr lang="en-GB" sz="1800" b="0" strike="noStrike" spc="-1">
                        <a:solidFill>
                          <a:srgbClr val="000000"/>
                        </a:solidFill>
                        <a:latin typeface="Arial"/>
                      </a:endParaRPr>
                    </a:p>
                  </a:txBody>
                  <a:tcPr/>
                </a:tc>
                <a:tc>
                  <a:txBody>
                    <a:bodyPr/>
                    <a:lstStyle/>
                    <a:p>
                      <a:pPr algn="ctr">
                        <a:lnSpc>
                          <a:spcPct val="100000"/>
                        </a:lnSpc>
                      </a:pPr>
                      <a:r>
                        <a:rPr lang="en-GB" sz="1800" b="0" strike="noStrike" spc="-1" dirty="0">
                          <a:solidFill>
                            <a:srgbClr val="000000"/>
                          </a:solidFill>
                        </a:rPr>
                        <a:t>&gt;100</a:t>
                      </a:r>
                      <a:endParaRPr lang="en-GB" sz="1800" b="0" strike="noStrike" spc="-1" dirty="0">
                        <a:solidFill>
                          <a:srgbClr val="000000"/>
                        </a:solidFill>
                        <a:latin typeface="Arial"/>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69216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Strain Gauges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fontScale="92500" lnSpcReduction="20000"/>
          </a:bodyPr>
          <a:lstStyle/>
          <a:p>
            <a:r>
              <a:rPr lang="en-GB" sz="3600" dirty="0"/>
              <a:t>Although semiconductor strain gauges have very large gauge factors they tend to be:</a:t>
            </a:r>
          </a:p>
          <a:p>
            <a:pPr lvl="1"/>
            <a:r>
              <a:rPr lang="en-GB" sz="3200" dirty="0"/>
              <a:t>non-linear, </a:t>
            </a:r>
          </a:p>
          <a:p>
            <a:pPr lvl="1"/>
            <a:r>
              <a:rPr lang="en-GB" sz="3200" dirty="0"/>
              <a:t>highly temperature sensitive</a:t>
            </a:r>
          </a:p>
          <a:p>
            <a:pPr lvl="1"/>
            <a:r>
              <a:rPr lang="en-GB" sz="3200" dirty="0"/>
              <a:t>more brittle than the other types</a:t>
            </a:r>
          </a:p>
          <a:p>
            <a:pPr lvl="1"/>
            <a:r>
              <a:rPr lang="en-GB" sz="3200" dirty="0"/>
              <a:t>more expensive</a:t>
            </a:r>
          </a:p>
          <a:p>
            <a:r>
              <a:rPr lang="en-GB" sz="3600" dirty="0"/>
              <a:t>However, semiconductor strain gauges do offer the prospect of integrated sensor devices that incorporate some signal processing or communications circuitry within the same piece of material</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320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Strain Gauges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BF7CE06-91EC-254A-FA9F-8CD42ACB8AB3}"/>
                  </a:ext>
                </a:extLst>
              </p:cNvPr>
              <p:cNvSpPr>
                <a:spLocks noGrp="1"/>
              </p:cNvSpPr>
              <p:nvPr>
                <p:ph sz="half" idx="1"/>
              </p:nvPr>
            </p:nvSpPr>
            <p:spPr/>
            <p:txBody>
              <a:bodyPr>
                <a:normAutofit/>
              </a:bodyPr>
              <a:lstStyle/>
              <a:p>
                <a:r>
                  <a:rPr lang="en-GB" dirty="0"/>
                  <a:t>Strain gauges are normally arranged in a Wheatstone Bridge circuit</a:t>
                </a:r>
              </a:p>
              <a:p>
                <a:r>
                  <a:rPr lang="en-GB" dirty="0"/>
                  <a:t>If resistor Rx changes by ΔR then the resulting output voltage is:</a:t>
                </a:r>
              </a:p>
              <a:p>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𝑉</m:t>
                          </m:r>
                        </m:e>
                        <m:sub>
                          <m:r>
                            <a:rPr lang="en-GB" sz="2400" b="0" i="1" smtClean="0">
                              <a:latin typeface="Cambria Math" panose="02040503050406030204" pitchFamily="18" charset="0"/>
                            </a:rPr>
                            <m:t>𝑜𝑢𝑡</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𝑉</m:t>
                          </m:r>
                        </m:e>
                        <m:sub>
                          <m:r>
                            <a:rPr lang="en-GB" sz="2400" b="0" i="1" smtClean="0">
                              <a:latin typeface="Cambria Math" panose="02040503050406030204" pitchFamily="18" charset="0"/>
                            </a:rPr>
                            <m:t>𝑖𝑛</m:t>
                          </m:r>
                        </m:sub>
                      </m:sSub>
                      <m:r>
                        <a:rPr lang="en-GB" sz="2400" b="0" i="1" smtClean="0">
                          <a:latin typeface="Cambria Math" panose="02040503050406030204" pitchFamily="18" charset="0"/>
                        </a:rPr>
                        <m:t>.</m:t>
                      </m:r>
                      <m:d>
                        <m:dPr>
                          <m:ctrlPr>
                            <a:rPr lang="en-GB" sz="2400" b="0" i="1" smtClean="0">
                              <a:latin typeface="Cambria Math" panose="02040503050406030204" pitchFamily="18" charset="0"/>
                            </a:rPr>
                          </m:ctrlPr>
                        </m:dPr>
                        <m:e>
                          <m:f>
                            <m:fPr>
                              <m:ctrlPr>
                                <a:rPr lang="en-GB" sz="2400" b="0" i="1" smtClean="0">
                                  <a:latin typeface="Cambria Math" panose="02040503050406030204" pitchFamily="18" charset="0"/>
                                </a:rPr>
                              </m:ctrlPr>
                            </m:fPr>
                            <m:num>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𝑅</m:t>
                                  </m:r>
                                </m:e>
                                <m:sub>
                                  <m:r>
                                    <a:rPr lang="en-GB" sz="2400" b="0" i="1" smtClean="0">
                                      <a:latin typeface="Cambria Math" panose="02040503050406030204" pitchFamily="18" charset="0"/>
                                    </a:rPr>
                                    <m:t>4</m:t>
                                  </m:r>
                                </m:sub>
                              </m:sSub>
                            </m:num>
                            <m:den>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𝑅</m:t>
                                  </m:r>
                                </m:e>
                                <m:sub>
                                  <m:r>
                                    <a:rPr lang="en-GB" sz="2400" b="0" i="1" smtClean="0">
                                      <a:latin typeface="Cambria Math" panose="02040503050406030204" pitchFamily="18" charset="0"/>
                                    </a:rPr>
                                    <m:t>1</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𝑅</m:t>
                                  </m:r>
                                </m:e>
                                <m:sub>
                                  <m:r>
                                    <a:rPr lang="en-GB" sz="2400" b="0" i="1" smtClean="0">
                                      <a:latin typeface="Cambria Math" panose="02040503050406030204" pitchFamily="18" charset="0"/>
                                    </a:rPr>
                                    <m:t>4</m:t>
                                  </m:r>
                                </m:sub>
                              </m:sSub>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𝑅</m:t>
                                  </m:r>
                                </m:e>
                                <m:sub>
                                  <m:r>
                                    <a:rPr lang="en-GB" sz="2400" b="0" i="1" smtClean="0">
                                      <a:latin typeface="Cambria Math" panose="02040503050406030204" pitchFamily="18" charset="0"/>
                                    </a:rPr>
                                    <m:t>3</m:t>
                                  </m:r>
                                </m:sub>
                              </m:sSub>
                            </m:num>
                            <m:den>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𝑅</m:t>
                                  </m:r>
                                </m:e>
                                <m:sub>
                                  <m:r>
                                    <a:rPr lang="en-GB" sz="2400" b="0" i="1" smtClean="0">
                                      <a:latin typeface="Cambria Math" panose="02040503050406030204" pitchFamily="18" charset="0"/>
                                    </a:rPr>
                                    <m:t>3</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𝑅</m:t>
                                  </m:r>
                                </m:e>
                                <m:sub>
                                  <m:r>
                                    <a:rPr lang="en-GB" sz="2400" b="0" i="1" smtClean="0">
                                      <a:latin typeface="Cambria Math" panose="02040503050406030204" pitchFamily="18" charset="0"/>
                                    </a:rPr>
                                    <m:t>2</m:t>
                                  </m:r>
                                </m:sub>
                              </m:sSub>
                            </m:den>
                          </m:f>
                        </m:e>
                      </m:d>
                    </m:oMath>
                  </m:oMathPara>
                </a14:m>
                <a:endParaRPr lang="en-GB" dirty="0"/>
              </a:p>
              <a:p>
                <a:endParaRPr lang="en-GB" dirty="0"/>
              </a:p>
            </p:txBody>
          </p:sp>
        </mc:Choice>
        <mc:Fallback xmlns="">
          <p:sp>
            <p:nvSpPr>
              <p:cNvPr id="5" name="Content Placeholder 4">
                <a:extLst>
                  <a:ext uri="{FF2B5EF4-FFF2-40B4-BE49-F238E27FC236}">
                    <a16:creationId xmlns:a16="http://schemas.microsoft.com/office/drawing/2014/main" id="{4BF7CE06-91EC-254A-FA9F-8CD42ACB8AB3}"/>
                  </a:ext>
                </a:extLst>
              </p:cNvPr>
              <p:cNvSpPr>
                <a:spLocks noGrp="1" noRot="1" noChangeAspect="1" noMove="1" noResize="1" noEditPoints="1" noAdjustHandles="1" noChangeArrowheads="1" noChangeShapeType="1" noTextEdit="1"/>
              </p:cNvSpPr>
              <p:nvPr>
                <p:ph sz="half" idx="1"/>
              </p:nvPr>
            </p:nvSpPr>
            <p:spPr>
              <a:blipFill>
                <a:blip r:embed="rId2"/>
                <a:stretch>
                  <a:fillRect l="-2118" t="-2241" r="-3529"/>
                </a:stretch>
              </a:blipFill>
            </p:spPr>
            <p:txBody>
              <a:bodyPr/>
              <a:lstStyle/>
              <a:p>
                <a:r>
                  <a:rPr lang="en-GB">
                    <a:noFill/>
                  </a:rPr>
                  <a:t> </a:t>
                </a:r>
              </a:p>
            </p:txBody>
          </p:sp>
        </mc:Fallback>
      </mc:AlternateContent>
      <p:pic>
        <p:nvPicPr>
          <p:cNvPr id="10" name="Content Placeholder 9">
            <a:extLst>
              <a:ext uri="{FF2B5EF4-FFF2-40B4-BE49-F238E27FC236}">
                <a16:creationId xmlns:a16="http://schemas.microsoft.com/office/drawing/2014/main" id="{15E6C5F3-8B89-4AA4-ABDE-E73A4A98EB5C}"/>
              </a:ext>
            </a:extLst>
          </p:cNvPr>
          <p:cNvPicPr>
            <a:picLocks noGrp="1" noChangeAspect="1"/>
          </p:cNvPicPr>
          <p:nvPr>
            <p:ph sz="half" idx="2"/>
          </p:nvPr>
        </p:nvPicPr>
        <p:blipFill>
          <a:blip r:embed="rId3"/>
          <a:stretch>
            <a:fillRect/>
          </a:stretch>
        </p:blipFill>
        <p:spPr>
          <a:xfrm>
            <a:off x="6595158" y="1690688"/>
            <a:ext cx="4030883" cy="4456617"/>
          </a:xfrm>
        </p:spPr>
      </p:pic>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4415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Strain Gauges</a:t>
            </a: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77500" lnSpcReduction="20000"/>
          </a:bodyPr>
          <a:lstStyle/>
          <a:p>
            <a:r>
              <a:rPr lang="en-GB" sz="3600" dirty="0"/>
              <a:t>A displacement sensor using strain gauges has strain gauges attached to flexible elements in the form of cantilevers. When the element is deformed the strain gauges give a resistance change which can be measured.</a:t>
            </a:r>
          </a:p>
          <a:p>
            <a:r>
              <a:rPr lang="en-GB" sz="3600" dirty="0"/>
              <a:t>This arrangement is typically used to measure displacements between 1 to 30mm and have a nonlinearity error +/-1% of the full range (0-50kN). </a:t>
            </a:r>
          </a:p>
        </p:txBody>
      </p:sp>
      <p:pic>
        <p:nvPicPr>
          <p:cNvPr id="9" name="Content Placeholder 8">
            <a:extLst>
              <a:ext uri="{FF2B5EF4-FFF2-40B4-BE49-F238E27FC236}">
                <a16:creationId xmlns:a16="http://schemas.microsoft.com/office/drawing/2014/main" id="{E3CB2306-BBCD-2F51-A605-F3C55E534A39}"/>
              </a:ext>
            </a:extLst>
          </p:cNvPr>
          <p:cNvPicPr>
            <a:picLocks noGrp="1" noChangeAspect="1"/>
          </p:cNvPicPr>
          <p:nvPr>
            <p:ph sz="half" idx="2"/>
          </p:nvPr>
        </p:nvPicPr>
        <p:blipFill>
          <a:blip r:embed="rId2"/>
          <a:stretch>
            <a:fillRect/>
          </a:stretch>
        </p:blipFill>
        <p:spPr>
          <a:xfrm>
            <a:off x="6245765" y="1882378"/>
            <a:ext cx="4729670" cy="3093244"/>
          </a:xfrm>
        </p:spPr>
      </p:pic>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8286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Strain Gauges</a:t>
            </a: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55000" lnSpcReduction="20000"/>
          </a:bodyPr>
          <a:lstStyle/>
          <a:p>
            <a:r>
              <a:rPr lang="en-GB" sz="3600" dirty="0"/>
              <a:t>Another common force measuring sensor uses strain gauges in the form of load cells.</a:t>
            </a:r>
          </a:p>
          <a:p>
            <a:r>
              <a:rPr lang="en-GB" sz="3600" dirty="0"/>
              <a:t>This consists of a cylindrical tube to which the strain gauge have been attached.</a:t>
            </a:r>
          </a:p>
          <a:p>
            <a:r>
              <a:rPr lang="en-GB" sz="3600" dirty="0"/>
              <a:t>When force is applied to the cylinder it becomes compressed and this is measured as a change in resistance by the strain gauges.</a:t>
            </a:r>
          </a:p>
          <a:p>
            <a:r>
              <a:rPr lang="en-GB" sz="3600" dirty="0"/>
              <a:t>Since temperature also produces a resistance change the signal conditioning circuit has to eliminate these temperature effects.</a:t>
            </a:r>
          </a:p>
          <a:p>
            <a:r>
              <a:rPr lang="en-GB" sz="3600" dirty="0"/>
              <a:t>This arrangement is typically has a nonlinearity error +/-0.05% of full range (50kN-10MN)</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1CFAB74F-C019-6883-1C12-812C8A30724E}"/>
              </a:ext>
            </a:extLst>
          </p:cNvPr>
          <p:cNvPicPr>
            <a:picLocks noGrp="1"/>
          </p:cNvPicPr>
          <p:nvPr>
            <p:ph sz="half" idx="2"/>
          </p:nvPr>
        </p:nvPicPr>
        <p:blipFill>
          <a:blip r:embed="rId2"/>
          <a:stretch/>
        </p:blipFill>
        <p:spPr>
          <a:xfrm>
            <a:off x="7039492" y="1825625"/>
            <a:ext cx="3447016" cy="4351338"/>
          </a:xfrm>
          <a:prstGeom prst="rect">
            <a:avLst/>
          </a:prstGeom>
          <a:ln w="0">
            <a:noFill/>
          </a:ln>
        </p:spPr>
      </p:pic>
    </p:spTree>
    <p:extLst>
      <p:ext uri="{BB962C8B-B14F-4D97-AF65-F5344CB8AC3E}">
        <p14:creationId xmlns:p14="http://schemas.microsoft.com/office/powerpoint/2010/main" val="2676725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Piezoelectric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fontScale="85000" lnSpcReduction="20000"/>
          </a:bodyPr>
          <a:lstStyle/>
          <a:p>
            <a:r>
              <a:rPr lang="en-GB" sz="3600" dirty="0"/>
              <a:t>Piezoelectric materials (e.g. quartz) generate electric charges when subject to an applied external force.</a:t>
            </a:r>
          </a:p>
          <a:p>
            <a:r>
              <a:rPr lang="en-GB" sz="3600" dirty="0"/>
              <a:t>One face of the material becomes positively charged and the other negatively charged and acts as a capacitor with the resultant potential difference being an indicator of the external force</a:t>
            </a:r>
          </a:p>
          <a:p>
            <a:r>
              <a:rPr lang="en-GB" sz="3600" dirty="0"/>
              <a:t>These sensors are used to measure pressure, force and acceleration</a:t>
            </a:r>
          </a:p>
          <a:p>
            <a:r>
              <a:rPr lang="en-GB" sz="3600" dirty="0"/>
              <a:t>The reverse is also true and if the material is subjected to a voltage then a force is generated which results in compression of the material. (Applied in Ultrasonic range finders )</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9941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Piezoelectric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fontScale="92500" lnSpcReduction="20000"/>
          </a:bodyPr>
          <a:lstStyle/>
          <a:p>
            <a:r>
              <a:rPr lang="en-GB" sz="3600" dirty="0"/>
              <a:t>Piezoresistive materials change resistance proportionally to the applied force.</a:t>
            </a:r>
          </a:p>
          <a:p>
            <a:r>
              <a:rPr lang="en-GB" sz="3600" dirty="0"/>
              <a:t>One of the most common forms employs conductive elastomers (insulating natural or silicon based rubbers made to conduct by the addition of silver or carbon atoms).</a:t>
            </a:r>
          </a:p>
          <a:p>
            <a:r>
              <a:rPr lang="en-GB" sz="3600" dirty="0"/>
              <a:t>Piezoresistive sensors are produced by sandwiching carbon impregnated felt between two metal electrodes. As the mechanical load is increased the carbon fibres are pressed together to reduce the resistance of the felt.</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388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Touch and Tactile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type="body" idx="1"/>
          </p:nvPr>
        </p:nvSpPr>
        <p:spPr/>
        <p:txBody>
          <a:bodyPr>
            <a:normAutofit/>
          </a:bodyPr>
          <a:lstStyle/>
          <a:p>
            <a:endParaRPr lang="en-GB" sz="3600" dirty="0"/>
          </a:p>
          <a:p>
            <a:endParaRPr lang="en-GB" sz="3600" dirty="0"/>
          </a:p>
        </p:txBody>
      </p:sp>
      <p:sp>
        <p:nvSpPr>
          <p:cNvPr id="4" name="Slide Number Placeholder 3">
            <a:extLst>
              <a:ext uri="{FF2B5EF4-FFF2-40B4-BE49-F238E27FC236}">
                <a16:creationId xmlns:a16="http://schemas.microsoft.com/office/drawing/2014/main" id="{972127E7-BBE6-243F-1E03-DA2A2738DA11}"/>
              </a:ext>
            </a:extLst>
          </p:cNvPr>
          <p:cNvSpPr>
            <a:spLocks noGrp="1"/>
          </p:cNvSpPr>
          <p:nvPr>
            <p:ph type="sldNum" sz="quarter" idx="12"/>
          </p:nvPr>
        </p:nvSpPr>
        <p:spPr/>
        <p:txBody>
          <a:bodyPr/>
          <a:lstStyle/>
          <a:p>
            <a:fld id="{1ED87AFC-F3F3-4E09-A9D9-1873FFB55ECB}" type="slidenum">
              <a:rPr lang="en-GB" smtClean="0"/>
              <a:t>27</a:t>
            </a:fld>
            <a:endParaRPr lang="en-GB"/>
          </a:p>
        </p:txBody>
      </p:sp>
    </p:spTree>
    <p:extLst>
      <p:ext uri="{BB962C8B-B14F-4D97-AF65-F5344CB8AC3E}">
        <p14:creationId xmlns:p14="http://schemas.microsoft.com/office/powerpoint/2010/main" val="1982128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Touch and Tactile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fontScale="92500" lnSpcReduction="10000"/>
          </a:bodyPr>
          <a:lstStyle/>
          <a:p>
            <a:r>
              <a:rPr lang="en-GB" sz="3600" dirty="0"/>
              <a:t>Touch sensors are devices that transmit a signal when physical contact is made</a:t>
            </a:r>
          </a:p>
          <a:p>
            <a:r>
              <a:rPr lang="en-GB" sz="3600" dirty="0"/>
              <a:t>Simplest form of this are the microswitches discussed previously that turn on or off when contact is when made</a:t>
            </a:r>
          </a:p>
          <a:p>
            <a:r>
              <a:rPr lang="en-GB" sz="3600" dirty="0"/>
              <a:t>More sophisticated forms of this sensor incorporate the magnitude of the contact force into the generated signal</a:t>
            </a:r>
          </a:p>
          <a:p>
            <a:r>
              <a:rPr lang="en-GB" sz="3600" dirty="0"/>
              <a:t>Tactile sensors are defined as collections of touch sensors</a:t>
            </a:r>
          </a:p>
          <a:p>
            <a:r>
              <a:rPr lang="en-GB" sz="3600" dirty="0"/>
              <a:t>In addition to determining contact, they also provide additional information about the object</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857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Touch and Tactile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92500" lnSpcReduction="10000"/>
          </a:bodyPr>
          <a:lstStyle/>
          <a:p>
            <a:r>
              <a:rPr lang="en-GB" sz="3600" dirty="0"/>
              <a:t>This additional information can be about shape, size or material type</a:t>
            </a:r>
          </a:p>
          <a:p>
            <a:r>
              <a:rPr lang="en-GB" sz="3600" dirty="0"/>
              <a:t>These touch sensors are arranged in an array or matrix form</a:t>
            </a:r>
          </a:p>
          <a:p>
            <a:r>
              <a:rPr lang="en-GB" sz="3600" dirty="0"/>
              <a:t>Each touch sensor is made up of a plunger, an LED and a light detector</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Content Placeholder 5">
            <a:extLst>
              <a:ext uri="{FF2B5EF4-FFF2-40B4-BE49-F238E27FC236}">
                <a16:creationId xmlns:a16="http://schemas.microsoft.com/office/drawing/2014/main" id="{2F75A190-2BA6-37BB-CE7A-8BA3C6210E04}"/>
              </a:ext>
            </a:extLst>
          </p:cNvPr>
          <p:cNvPicPr>
            <a:picLocks noGrp="1"/>
          </p:cNvPicPr>
          <p:nvPr>
            <p:ph sz="half" idx="2"/>
          </p:nvPr>
        </p:nvPicPr>
        <p:blipFill>
          <a:blip r:embed="rId2"/>
          <a:stretch/>
        </p:blipFill>
        <p:spPr>
          <a:xfrm>
            <a:off x="6172200" y="2873872"/>
            <a:ext cx="5181600" cy="2254843"/>
          </a:xfrm>
          <a:prstGeom prst="rect">
            <a:avLst/>
          </a:prstGeom>
          <a:ln w="0">
            <a:noFill/>
          </a:ln>
        </p:spPr>
      </p:pic>
    </p:spTree>
    <p:extLst>
      <p:ext uri="{BB962C8B-B14F-4D97-AF65-F5344CB8AC3E}">
        <p14:creationId xmlns:p14="http://schemas.microsoft.com/office/powerpoint/2010/main" val="362339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Touch and Tactile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77500" lnSpcReduction="20000"/>
          </a:bodyPr>
          <a:lstStyle/>
          <a:p>
            <a:r>
              <a:rPr lang="en-GB" sz="3600" dirty="0"/>
              <a:t>When contact is made the sensor closes and the plunger interrupts the detection of the light emitted from the LED</a:t>
            </a:r>
          </a:p>
          <a:p>
            <a:r>
              <a:rPr lang="en-GB" sz="3600" dirty="0"/>
              <a:t>The output from the light sensor is proportional to the displacement of the plunger</a:t>
            </a:r>
          </a:p>
          <a:p>
            <a:r>
              <a:rPr lang="en-GB" sz="3600" dirty="0"/>
              <a:t>These touch sensors are basically displacement sensors and therefore alternatives such as pressure sensors, LVDTs, magnetic sensors etc. could be used.</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Content Placeholder 5">
            <a:extLst>
              <a:ext uri="{FF2B5EF4-FFF2-40B4-BE49-F238E27FC236}">
                <a16:creationId xmlns:a16="http://schemas.microsoft.com/office/drawing/2014/main" id="{2F75A190-2BA6-37BB-CE7A-8BA3C6210E04}"/>
              </a:ext>
            </a:extLst>
          </p:cNvPr>
          <p:cNvPicPr>
            <a:picLocks noGrp="1"/>
          </p:cNvPicPr>
          <p:nvPr>
            <p:ph sz="half" idx="2"/>
          </p:nvPr>
        </p:nvPicPr>
        <p:blipFill>
          <a:blip r:embed="rId2"/>
          <a:stretch/>
        </p:blipFill>
        <p:spPr>
          <a:xfrm>
            <a:off x="6455959" y="1553758"/>
            <a:ext cx="4309282" cy="1875242"/>
          </a:xfrm>
          <a:prstGeom prst="rect">
            <a:avLst/>
          </a:prstGeom>
          <a:ln w="0">
            <a:noFill/>
          </a:ln>
        </p:spPr>
      </p:pic>
      <p:pic>
        <p:nvPicPr>
          <p:cNvPr id="5" name="Picture 4">
            <a:extLst>
              <a:ext uri="{FF2B5EF4-FFF2-40B4-BE49-F238E27FC236}">
                <a16:creationId xmlns:a16="http://schemas.microsoft.com/office/drawing/2014/main" id="{72103486-768A-C8E1-177A-C99D3398AFED}"/>
              </a:ext>
            </a:extLst>
          </p:cNvPr>
          <p:cNvPicPr/>
          <p:nvPr/>
        </p:nvPicPr>
        <p:blipFill>
          <a:blip r:embed="rId3"/>
          <a:stretch/>
        </p:blipFill>
        <p:spPr>
          <a:xfrm>
            <a:off x="6455959" y="3575978"/>
            <a:ext cx="4309281" cy="2633393"/>
          </a:xfrm>
          <a:prstGeom prst="rect">
            <a:avLst/>
          </a:prstGeom>
          <a:ln w="0">
            <a:noFill/>
          </a:ln>
        </p:spPr>
      </p:pic>
    </p:spTree>
    <p:extLst>
      <p:ext uri="{BB962C8B-B14F-4D97-AF65-F5344CB8AC3E}">
        <p14:creationId xmlns:p14="http://schemas.microsoft.com/office/powerpoint/2010/main" val="87240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Touch and Tactile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a:xfrm>
            <a:off x="838200" y="1825625"/>
            <a:ext cx="10515600" cy="2466457"/>
          </a:xfrm>
        </p:spPr>
        <p:txBody>
          <a:bodyPr>
            <a:normAutofit fontScale="77500" lnSpcReduction="20000"/>
          </a:bodyPr>
          <a:lstStyle/>
          <a:p>
            <a:r>
              <a:rPr lang="en-GB" sz="3600" dirty="0"/>
              <a:t>As a tactile sensor encounters an object, different touch sensors will act differently and in different orders depending on the size and shape of the object.</a:t>
            </a:r>
          </a:p>
          <a:p>
            <a:r>
              <a:rPr lang="en-GB" sz="3600" dirty="0"/>
              <a:t>This information is used by the controller to determine the size and shape of the object.</a:t>
            </a:r>
          </a:p>
          <a:p>
            <a:r>
              <a:rPr lang="en-GB" sz="3600" dirty="0"/>
              <a:t>For each of the object shapes in contact this creates a unique signature which can be used for object detection.</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C11AA756-96F2-F64C-05AD-C01BADC9E317}"/>
              </a:ext>
            </a:extLst>
          </p:cNvPr>
          <p:cNvPicPr/>
          <p:nvPr/>
        </p:nvPicPr>
        <p:blipFill>
          <a:blip r:embed="rId2"/>
          <a:stretch/>
        </p:blipFill>
        <p:spPr>
          <a:xfrm>
            <a:off x="1830360" y="4732611"/>
            <a:ext cx="8531280" cy="1450440"/>
          </a:xfrm>
          <a:prstGeom prst="rect">
            <a:avLst/>
          </a:prstGeom>
          <a:ln w="0">
            <a:noFill/>
          </a:ln>
        </p:spPr>
      </p:pic>
    </p:spTree>
    <p:extLst>
      <p:ext uri="{BB962C8B-B14F-4D97-AF65-F5344CB8AC3E}">
        <p14:creationId xmlns:p14="http://schemas.microsoft.com/office/powerpoint/2010/main" val="337877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Piezoelectric Tactile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55000" lnSpcReduction="20000"/>
          </a:bodyPr>
          <a:lstStyle/>
          <a:p>
            <a:r>
              <a:rPr lang="en-GB" sz="3600" dirty="0"/>
              <a:t>Polyvinylidene </a:t>
            </a:r>
            <a:r>
              <a:rPr lang="en-GB" sz="3600" dirty="0" err="1"/>
              <a:t>Flouride</a:t>
            </a:r>
            <a:r>
              <a:rPr lang="en-GB" sz="3600" dirty="0"/>
              <a:t> (PVDF) is a material which exhibits a very large piezoelectric effect</a:t>
            </a:r>
          </a:p>
          <a:p>
            <a:r>
              <a:rPr lang="en-GB" sz="3600" dirty="0"/>
              <a:t>Using two layers of PVDF sandwiching a soft film, the lower layer has an A.C. potential applied across it resulting in oscillations which are transmitted through the film to the upper PVDF layer</a:t>
            </a:r>
          </a:p>
          <a:p>
            <a:r>
              <a:rPr lang="en-GB" sz="3600" dirty="0"/>
              <a:t>When pressure is applied these oscillations change which in turn changes the A.C. output of the system</a:t>
            </a:r>
          </a:p>
          <a:p>
            <a:r>
              <a:rPr lang="en-GB" sz="3600" dirty="0"/>
              <a:t>These sensors are used to determine when a robotic hand has encountered an object or when a mobile robot has come up against an obstacle</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Content Placeholder 7">
            <a:extLst>
              <a:ext uri="{FF2B5EF4-FFF2-40B4-BE49-F238E27FC236}">
                <a16:creationId xmlns:a16="http://schemas.microsoft.com/office/drawing/2014/main" id="{F1589AB6-5C0E-5955-0843-A352417D0678}"/>
              </a:ext>
            </a:extLst>
          </p:cNvPr>
          <p:cNvPicPr>
            <a:picLocks noGrp="1"/>
          </p:cNvPicPr>
          <p:nvPr>
            <p:ph sz="half" idx="2"/>
          </p:nvPr>
        </p:nvPicPr>
        <p:blipFill>
          <a:blip r:embed="rId2"/>
          <a:stretch/>
        </p:blipFill>
        <p:spPr>
          <a:xfrm>
            <a:off x="6196426" y="1825625"/>
            <a:ext cx="5133147" cy="4351338"/>
          </a:xfrm>
          <a:prstGeom prst="rect">
            <a:avLst/>
          </a:prstGeom>
          <a:ln w="0">
            <a:noFill/>
          </a:ln>
        </p:spPr>
      </p:pic>
    </p:spTree>
    <p:extLst>
      <p:ext uri="{BB962C8B-B14F-4D97-AF65-F5344CB8AC3E}">
        <p14:creationId xmlns:p14="http://schemas.microsoft.com/office/powerpoint/2010/main" val="292257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Piezoelectric Tactile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lnSpcReduction="10000"/>
          </a:bodyPr>
          <a:lstStyle/>
          <a:p>
            <a:r>
              <a:rPr lang="en-GB" sz="3600" dirty="0"/>
              <a:t>Applied load leads to a change in the distance between the two foil electrodes and therefore a change in resistance</a:t>
            </a:r>
          </a:p>
          <a:p>
            <a:r>
              <a:rPr lang="en-GB" sz="3600" dirty="0"/>
              <a:t>These types of sensors are used to determine object or obstacle contact</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633DCDFC-FEA1-50EB-9C1B-1D1074568786}"/>
              </a:ext>
            </a:extLst>
          </p:cNvPr>
          <p:cNvPicPr>
            <a:picLocks noGrp="1"/>
          </p:cNvPicPr>
          <p:nvPr>
            <p:ph sz="half" idx="2"/>
          </p:nvPr>
        </p:nvPicPr>
        <p:blipFill>
          <a:blip r:embed="rId2"/>
          <a:stretch/>
        </p:blipFill>
        <p:spPr>
          <a:xfrm>
            <a:off x="6172200" y="2502195"/>
            <a:ext cx="5181600" cy="2998197"/>
          </a:xfrm>
          <a:prstGeom prst="rect">
            <a:avLst/>
          </a:prstGeom>
          <a:ln w="0">
            <a:noFill/>
          </a:ln>
        </p:spPr>
      </p:pic>
    </p:spTree>
    <p:extLst>
      <p:ext uri="{BB962C8B-B14F-4D97-AF65-F5344CB8AC3E}">
        <p14:creationId xmlns:p14="http://schemas.microsoft.com/office/powerpoint/2010/main" val="1073090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Ultrasonic Tactile Sensors</a:t>
            </a: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70000" lnSpcReduction="20000"/>
          </a:bodyPr>
          <a:lstStyle/>
          <a:p>
            <a:r>
              <a:rPr lang="en-GB" sz="3600" dirty="0"/>
              <a:t>By transmitting ultrasonic waves through an elastic medium (or skin) the change in thickness of this layer can be determined when it is in contact with an object.</a:t>
            </a:r>
          </a:p>
          <a:p>
            <a:r>
              <a:rPr lang="en-GB" sz="3600" dirty="0"/>
              <a:t>An ultrasonic wave is transmitted through the medium and reflected at the interface of the medium.</a:t>
            </a:r>
          </a:p>
          <a:p>
            <a:r>
              <a:rPr lang="en-GB" sz="3600" dirty="0"/>
              <a:t>The reflected wave exerts a force on the PVDF layer which produces a current proportional to this applied force.</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Content Placeholder 7">
            <a:extLst>
              <a:ext uri="{FF2B5EF4-FFF2-40B4-BE49-F238E27FC236}">
                <a16:creationId xmlns:a16="http://schemas.microsoft.com/office/drawing/2014/main" id="{721CD466-6644-CC89-F47C-E2B2E778ADD3}"/>
              </a:ext>
            </a:extLst>
          </p:cNvPr>
          <p:cNvPicPr>
            <a:picLocks noGrp="1"/>
          </p:cNvPicPr>
          <p:nvPr>
            <p:ph sz="half" idx="2"/>
          </p:nvPr>
        </p:nvPicPr>
        <p:blipFill>
          <a:blip r:embed="rId2"/>
          <a:stretch/>
        </p:blipFill>
        <p:spPr>
          <a:xfrm>
            <a:off x="6172200" y="2524488"/>
            <a:ext cx="5181600" cy="2953611"/>
          </a:xfrm>
          <a:prstGeom prst="rect">
            <a:avLst/>
          </a:prstGeom>
          <a:ln w="0">
            <a:noFill/>
          </a:ln>
        </p:spPr>
      </p:pic>
    </p:spTree>
    <p:extLst>
      <p:ext uri="{BB962C8B-B14F-4D97-AF65-F5344CB8AC3E}">
        <p14:creationId xmlns:p14="http://schemas.microsoft.com/office/powerpoint/2010/main" val="124144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Tactile Sensors using Light Guides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b="1" i="1" dirty="0"/>
              <a:t>light guide </a:t>
            </a:r>
            <a:r>
              <a:rPr lang="en-GB" sz="3600" dirty="0"/>
              <a:t>can be made from a sheet of clear plastic material (e.g. </a:t>
            </a:r>
            <a:r>
              <a:rPr lang="en-GB" sz="3600" dirty="0" err="1"/>
              <a:t>perspex</a:t>
            </a:r>
            <a:r>
              <a:rPr lang="en-GB" sz="3600" dirty="0"/>
              <a:t>) using principles of total internal reflection where the refractive indices of the mediums determine the amount of light reflected from the interface between the materials</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910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Tactile Sensors using Light Guides</a:t>
            </a: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a:bodyPr>
          <a:lstStyle/>
          <a:p>
            <a:r>
              <a:rPr lang="en-GB" sz="3600" dirty="0"/>
              <a:t>Total internal reflection occurs when light is propagating in the denser of the two mediums and strikes the interface at an angle greater than some critical angle </a:t>
            </a:r>
            <a:r>
              <a:rPr lang="en-GB" sz="3600" dirty="0" err="1"/>
              <a:t>θ</a:t>
            </a:r>
            <a:r>
              <a:rPr lang="en-GB" sz="3600" baseline="-25000" dirty="0" err="1"/>
              <a:t>c</a:t>
            </a:r>
            <a:endParaRPr lang="en-GB" sz="3600" dirty="0"/>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0ED12F8F-C2EF-2667-C417-9AB7EAB63935}"/>
              </a:ext>
            </a:extLst>
          </p:cNvPr>
          <p:cNvPicPr>
            <a:picLocks noGrp="1"/>
          </p:cNvPicPr>
          <p:nvPr>
            <p:ph sz="half" idx="2"/>
          </p:nvPr>
        </p:nvPicPr>
        <p:blipFill>
          <a:blip r:embed="rId2"/>
          <a:stretch/>
        </p:blipFill>
        <p:spPr>
          <a:xfrm>
            <a:off x="6172200" y="2999008"/>
            <a:ext cx="5181600" cy="2004572"/>
          </a:xfrm>
          <a:prstGeom prst="rect">
            <a:avLst/>
          </a:prstGeom>
          <a:ln w="0">
            <a:noFill/>
          </a:ln>
        </p:spPr>
      </p:pic>
    </p:spTree>
    <p:extLst>
      <p:ext uri="{BB962C8B-B14F-4D97-AF65-F5344CB8AC3E}">
        <p14:creationId xmlns:p14="http://schemas.microsoft.com/office/powerpoint/2010/main" val="128284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Tactile Sensors using Light Guides</a:t>
            </a:r>
          </a:p>
        </p:txBody>
      </p:sp>
      <p:sp>
        <p:nvSpPr>
          <p:cNvPr id="3" name="Subtitle 2">
            <a:extLst>
              <a:ext uri="{FF2B5EF4-FFF2-40B4-BE49-F238E27FC236}">
                <a16:creationId xmlns:a16="http://schemas.microsoft.com/office/drawing/2014/main" id="{0EC2D61B-0204-42F3-52E6-931A9496968D}"/>
              </a:ext>
            </a:extLst>
          </p:cNvPr>
          <p:cNvSpPr>
            <a:spLocks noGrp="1"/>
          </p:cNvSpPr>
          <p:nvPr>
            <p:ph sz="half" idx="1"/>
          </p:nvPr>
        </p:nvSpPr>
        <p:spPr/>
        <p:txBody>
          <a:bodyPr>
            <a:normAutofit fontScale="77500" lnSpcReduction="20000"/>
          </a:bodyPr>
          <a:lstStyle/>
          <a:p>
            <a:r>
              <a:rPr lang="en-GB" sz="3600" dirty="0"/>
              <a:t>In the case of a Perspex light guide, propagation along the guide will take place provided that the </a:t>
            </a:r>
            <a:r>
              <a:rPr lang="en-GB" sz="3600"/>
              <a:t>air/Perspex </a:t>
            </a:r>
            <a:r>
              <a:rPr lang="en-GB" sz="3600" dirty="0"/>
              <a:t>angle is greater than about 42 degrees.</a:t>
            </a:r>
          </a:p>
          <a:p>
            <a:r>
              <a:rPr lang="en-GB" sz="3600" dirty="0"/>
              <a:t>If this is distorted the angle is changed and light escapes through the opposite side of the guide.</a:t>
            </a:r>
          </a:p>
          <a:p>
            <a:r>
              <a:rPr lang="en-GB" sz="3600" dirty="0"/>
              <a:t>The change in the amount of light detected is sensed using a photodiode array.</a:t>
            </a:r>
          </a:p>
        </p:txBody>
      </p:sp>
      <p:sp>
        <p:nvSpPr>
          <p:cNvPr id="4" name="Slide Number Placeholder 3">
            <a:extLst>
              <a:ext uri="{FF2B5EF4-FFF2-40B4-BE49-F238E27FC236}">
                <a16:creationId xmlns:a16="http://schemas.microsoft.com/office/drawing/2014/main" id="{1A2050B1-DF37-2DFC-FDF3-0B4F63C76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D87AFC-F3F3-4E09-A9D9-1873FFB55ECB}" type="slidenum">
              <a:rPr kumimoji="0" lang="en-GB" sz="2000" b="1"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2000" b="1"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Content Placeholder 7">
            <a:extLst>
              <a:ext uri="{FF2B5EF4-FFF2-40B4-BE49-F238E27FC236}">
                <a16:creationId xmlns:a16="http://schemas.microsoft.com/office/drawing/2014/main" id="{296159F0-B4B1-BC0C-0755-3C29D574DEB6}"/>
              </a:ext>
            </a:extLst>
          </p:cNvPr>
          <p:cNvPicPr>
            <a:picLocks noGrp="1"/>
          </p:cNvPicPr>
          <p:nvPr>
            <p:ph sz="half" idx="2"/>
          </p:nvPr>
        </p:nvPicPr>
        <p:blipFill>
          <a:blip r:embed="rId2"/>
          <a:stretch/>
        </p:blipFill>
        <p:spPr>
          <a:xfrm>
            <a:off x="6172200" y="2563516"/>
            <a:ext cx="5181600" cy="2875555"/>
          </a:xfrm>
          <a:prstGeom prst="rect">
            <a:avLst/>
          </a:prstGeom>
          <a:ln w="0">
            <a:noFill/>
          </a:ln>
        </p:spPr>
      </p:pic>
    </p:spTree>
    <p:extLst>
      <p:ext uri="{BB962C8B-B14F-4D97-AF65-F5344CB8AC3E}">
        <p14:creationId xmlns:p14="http://schemas.microsoft.com/office/powerpoint/2010/main" val="894147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3EB5E-DCA8-620A-2F83-903123C3F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D9606-9303-A0FC-E642-ECF694E96080}"/>
              </a:ext>
            </a:extLst>
          </p:cNvPr>
          <p:cNvSpPr>
            <a:spLocks noGrp="1"/>
          </p:cNvSpPr>
          <p:nvPr>
            <p:ph type="title"/>
          </p:nvPr>
        </p:nvSpPr>
        <p:spPr/>
        <p:txBody>
          <a:bodyPr>
            <a:normAutofit/>
          </a:bodyPr>
          <a:lstStyle/>
          <a:p>
            <a:r>
              <a:rPr lang="en-GB" b="1" dirty="0"/>
              <a:t>Review</a:t>
            </a:r>
          </a:p>
        </p:txBody>
      </p:sp>
      <p:sp>
        <p:nvSpPr>
          <p:cNvPr id="3" name="Subtitle 2">
            <a:extLst>
              <a:ext uri="{FF2B5EF4-FFF2-40B4-BE49-F238E27FC236}">
                <a16:creationId xmlns:a16="http://schemas.microsoft.com/office/drawing/2014/main" id="{719A483D-BF89-17B8-87C0-DFEF07E77B82}"/>
              </a:ext>
            </a:extLst>
          </p:cNvPr>
          <p:cNvSpPr>
            <a:spLocks noGrp="1"/>
          </p:cNvSpPr>
          <p:nvPr>
            <p:ph idx="1"/>
          </p:nvPr>
        </p:nvSpPr>
        <p:spPr/>
        <p:txBody>
          <a:bodyPr>
            <a:normAutofit lnSpcReduction="10000"/>
          </a:bodyPr>
          <a:lstStyle/>
          <a:p>
            <a:r>
              <a:rPr lang="en-GB" sz="3600" dirty="0"/>
              <a:t>Range Finders</a:t>
            </a:r>
          </a:p>
          <a:p>
            <a:pPr lvl="1"/>
            <a:r>
              <a:rPr lang="en-GB" sz="3200" dirty="0"/>
              <a:t>Ultrasonic</a:t>
            </a:r>
          </a:p>
          <a:p>
            <a:pPr lvl="1"/>
            <a:r>
              <a:rPr lang="en-GB" sz="3200" dirty="0"/>
              <a:t>Optical</a:t>
            </a:r>
          </a:p>
          <a:p>
            <a:r>
              <a:rPr lang="en-GB" sz="3600" dirty="0"/>
              <a:t>Review of proximity sensors</a:t>
            </a:r>
          </a:p>
          <a:p>
            <a:r>
              <a:rPr lang="en-GB" sz="3600" dirty="0"/>
              <a:t>Force Sensors</a:t>
            </a:r>
          </a:p>
          <a:p>
            <a:pPr lvl="1"/>
            <a:r>
              <a:rPr lang="en-GB" sz="3200" dirty="0"/>
              <a:t>Strain Gauges</a:t>
            </a:r>
          </a:p>
          <a:p>
            <a:pPr lvl="1"/>
            <a:r>
              <a:rPr lang="en-GB" sz="3200" dirty="0"/>
              <a:t>Piezoelectric</a:t>
            </a:r>
          </a:p>
          <a:p>
            <a:r>
              <a:rPr lang="en-GB" sz="3600"/>
              <a:t>Touch and Tactile</a:t>
            </a:r>
            <a:endParaRPr lang="en-GB" sz="3600" dirty="0"/>
          </a:p>
        </p:txBody>
      </p:sp>
      <p:sp>
        <p:nvSpPr>
          <p:cNvPr id="4" name="Slide Number Placeholder 3">
            <a:extLst>
              <a:ext uri="{FF2B5EF4-FFF2-40B4-BE49-F238E27FC236}">
                <a16:creationId xmlns:a16="http://schemas.microsoft.com/office/drawing/2014/main" id="{FA95F060-A51E-DF2E-2841-C49474DA6441}"/>
              </a:ext>
            </a:extLst>
          </p:cNvPr>
          <p:cNvSpPr>
            <a:spLocks noGrp="1"/>
          </p:cNvSpPr>
          <p:nvPr>
            <p:ph type="sldNum" sz="quarter" idx="12"/>
          </p:nvPr>
        </p:nvSpPr>
        <p:spPr/>
        <p:txBody>
          <a:bodyPr/>
          <a:lstStyle/>
          <a:p>
            <a:fld id="{1ED87AFC-F3F3-4E09-A9D9-1873FFB55ECB}" type="slidenum">
              <a:rPr lang="en-GB" smtClean="0"/>
              <a:t>38</a:t>
            </a:fld>
            <a:endParaRPr lang="en-GB"/>
          </a:p>
        </p:txBody>
      </p:sp>
    </p:spTree>
    <p:extLst>
      <p:ext uri="{BB962C8B-B14F-4D97-AF65-F5344CB8AC3E}">
        <p14:creationId xmlns:p14="http://schemas.microsoft.com/office/powerpoint/2010/main" val="25254246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409A-BED6-DA5F-AA0C-747413019A7E}"/>
              </a:ext>
            </a:extLst>
          </p:cNvPr>
          <p:cNvSpPr>
            <a:spLocks noGrp="1"/>
          </p:cNvSpPr>
          <p:nvPr>
            <p:ph type="title"/>
          </p:nvPr>
        </p:nvSpPr>
        <p:spPr/>
        <p:txBody>
          <a:bodyPr>
            <a:normAutofit/>
          </a:bodyPr>
          <a:lstStyle/>
          <a:p>
            <a:r>
              <a:rPr lang="en-GB" b="1" dirty="0"/>
              <a:t>References</a:t>
            </a:r>
          </a:p>
        </p:txBody>
      </p:sp>
      <p:sp>
        <p:nvSpPr>
          <p:cNvPr id="3" name="Subtitle 2">
            <a:extLst>
              <a:ext uri="{FF2B5EF4-FFF2-40B4-BE49-F238E27FC236}">
                <a16:creationId xmlns:a16="http://schemas.microsoft.com/office/drawing/2014/main" id="{0EC2D61B-0204-42F3-52E6-931A9496968D}"/>
              </a:ext>
            </a:extLst>
          </p:cNvPr>
          <p:cNvSpPr>
            <a:spLocks noGrp="1"/>
          </p:cNvSpPr>
          <p:nvPr>
            <p:ph idx="1"/>
          </p:nvPr>
        </p:nvSpPr>
        <p:spPr/>
        <p:txBody>
          <a:bodyPr>
            <a:normAutofit/>
          </a:bodyPr>
          <a:lstStyle/>
          <a:p>
            <a:r>
              <a:rPr lang="en-GB" sz="3600" dirty="0"/>
              <a:t>Emanuel, P. and Leff, E., Introduction to Feedback Control Systems, McGraw-Hill </a:t>
            </a:r>
            <a:r>
              <a:rPr lang="en-GB" sz="3600" dirty="0" err="1"/>
              <a:t>Kogakusha</a:t>
            </a:r>
            <a:r>
              <a:rPr lang="en-GB" sz="3600" dirty="0"/>
              <a:t>, Tokyo, 1976</a:t>
            </a:r>
          </a:p>
          <a:p>
            <a:r>
              <a:rPr lang="en-GB" sz="3600" dirty="0"/>
              <a:t>Bolton, W., Mechatronics, Longman, 1999</a:t>
            </a:r>
          </a:p>
          <a:p>
            <a:r>
              <a:rPr lang="en-GB" sz="3600" dirty="0"/>
              <a:t>Fu, K.S., Gonzales, R.C. and Lee, C.S.G., Robotics, McGraw-Hill, New York, 1987</a:t>
            </a:r>
          </a:p>
          <a:p>
            <a:r>
              <a:rPr lang="en-GB" sz="3600" dirty="0" err="1"/>
              <a:t>Niku</a:t>
            </a:r>
            <a:r>
              <a:rPr lang="en-GB" sz="3600" dirty="0"/>
              <a:t>, S.B. , Introduction to Robotics, 2nd Edition, Wiley, New Jersey, 2011</a:t>
            </a:r>
          </a:p>
        </p:txBody>
      </p:sp>
      <p:sp>
        <p:nvSpPr>
          <p:cNvPr id="4" name="Slide Number Placeholder 3">
            <a:extLst>
              <a:ext uri="{FF2B5EF4-FFF2-40B4-BE49-F238E27FC236}">
                <a16:creationId xmlns:a16="http://schemas.microsoft.com/office/drawing/2014/main" id="{62FD1B44-9760-B004-EF98-E85A9BE76561}"/>
              </a:ext>
            </a:extLst>
          </p:cNvPr>
          <p:cNvSpPr>
            <a:spLocks noGrp="1"/>
          </p:cNvSpPr>
          <p:nvPr>
            <p:ph type="sldNum" sz="quarter" idx="12"/>
          </p:nvPr>
        </p:nvSpPr>
        <p:spPr/>
        <p:txBody>
          <a:bodyPr/>
          <a:lstStyle/>
          <a:p>
            <a:fld id="{1ED87AFC-F3F3-4E09-A9D9-1873FFB55ECB}" type="slidenum">
              <a:rPr lang="en-GB" smtClean="0"/>
              <a:t>39</a:t>
            </a:fld>
            <a:endParaRPr lang="en-GB"/>
          </a:p>
        </p:txBody>
      </p:sp>
    </p:spTree>
    <p:extLst>
      <p:ext uri="{BB962C8B-B14F-4D97-AF65-F5344CB8AC3E}">
        <p14:creationId xmlns:p14="http://schemas.microsoft.com/office/powerpoint/2010/main" val="1122386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TotalTime>
  <Words>2051</Words>
  <Application>Microsoft Office PowerPoint</Application>
  <PresentationFormat>Widescreen</PresentationFormat>
  <Paragraphs>247</Paragraphs>
  <Slides>39</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39</vt:i4>
      </vt:variant>
    </vt:vector>
  </HeadingPairs>
  <TitlesOfParts>
    <vt:vector size="45" baseType="lpstr">
      <vt:lpstr>Arial</vt:lpstr>
      <vt:lpstr>Calibri</vt:lpstr>
      <vt:lpstr>Calibri Light</vt:lpstr>
      <vt:lpstr>Cambria Math</vt:lpstr>
      <vt:lpstr>Office Theme</vt:lpstr>
      <vt:lpstr>1_Office Theme</vt:lpstr>
      <vt:lpstr>ENG4118/5326 - Robotics 4/M Sensors, Actuators and Image capture, processing and analysis</vt:lpstr>
      <vt:lpstr>Lecture Overview</vt:lpstr>
      <vt:lpstr>Range Finders</vt:lpstr>
      <vt:lpstr>Range Finders</vt:lpstr>
      <vt:lpstr>Range Finders – Time of Flight (ToF)</vt:lpstr>
      <vt:lpstr>ToF Range Finders – Ultrasonic</vt:lpstr>
      <vt:lpstr>ToF Range Finders – Ultrasonic</vt:lpstr>
      <vt:lpstr>ToF Range Finders – Laser</vt:lpstr>
      <vt:lpstr>Range Finders – Triangulation</vt:lpstr>
      <vt:lpstr>Range Finders – Triangulation</vt:lpstr>
      <vt:lpstr>Range Finders – Triangulation</vt:lpstr>
      <vt:lpstr>Range Finders – Triangulation</vt:lpstr>
      <vt:lpstr>Proximity and Range Sensor Summary</vt:lpstr>
      <vt:lpstr>Force Sensors</vt:lpstr>
      <vt:lpstr>Force Sensors</vt:lpstr>
      <vt:lpstr>Strain Gauges</vt:lpstr>
      <vt:lpstr>Strain Gauges</vt:lpstr>
      <vt:lpstr>Strain Gauges</vt:lpstr>
      <vt:lpstr>Strain Gauges</vt:lpstr>
      <vt:lpstr>Strain Gauges</vt:lpstr>
      <vt:lpstr>Strain Gauges</vt:lpstr>
      <vt:lpstr>Strain Gauges</vt:lpstr>
      <vt:lpstr>Strain Gauges</vt:lpstr>
      <vt:lpstr>Strain Gauges</vt:lpstr>
      <vt:lpstr>Piezoelectric Sensors</vt:lpstr>
      <vt:lpstr>Piezoelectric Sensors</vt:lpstr>
      <vt:lpstr>Touch and Tactile Sensors</vt:lpstr>
      <vt:lpstr>Touch and Tactile Sensors</vt:lpstr>
      <vt:lpstr>Touch and Tactile Sensors</vt:lpstr>
      <vt:lpstr>Touch and Tactile Sensors</vt:lpstr>
      <vt:lpstr>Touch and Tactile Sensors</vt:lpstr>
      <vt:lpstr>Piezoelectric Tactile Sensors</vt:lpstr>
      <vt:lpstr>Piezoelectric Tactile Sensors</vt:lpstr>
      <vt:lpstr>Ultrasonic Tactile Sensors</vt:lpstr>
      <vt:lpstr>Tactile Sensors using Light Guides</vt:lpstr>
      <vt:lpstr>Tactile Sensors using Light Guides</vt:lpstr>
      <vt:lpstr>Tactile Sensors using Light Guides</vt:lpstr>
      <vt:lpstr>Review</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ENG5009 –  Advanced Control 5</dc:title>
  <dc:creator>Kevin Worrall</dc:creator>
  <cp:lastModifiedBy>Kevin Worrall</cp:lastModifiedBy>
  <cp:revision>1</cp:revision>
  <dcterms:created xsi:type="dcterms:W3CDTF">2024-01-08T14:11:01Z</dcterms:created>
  <dcterms:modified xsi:type="dcterms:W3CDTF">2026-02-02T09:48:05Z</dcterms:modified>
</cp:coreProperties>
</file>