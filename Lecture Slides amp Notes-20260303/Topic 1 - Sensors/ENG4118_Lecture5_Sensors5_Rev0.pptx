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sldIdLst>
    <p:sldId id="442" r:id="rId4"/>
    <p:sldId id="443" r:id="rId5"/>
    <p:sldId id="438" r:id="rId6"/>
    <p:sldId id="345" r:id="rId7"/>
    <p:sldId id="347" r:id="rId8"/>
    <p:sldId id="348" r:id="rId9"/>
    <p:sldId id="349" r:id="rId10"/>
    <p:sldId id="351" r:id="rId11"/>
    <p:sldId id="352" r:id="rId12"/>
    <p:sldId id="353" r:id="rId13"/>
    <p:sldId id="415" r:id="rId14"/>
    <p:sldId id="441" r:id="rId15"/>
    <p:sldId id="355" r:id="rId16"/>
    <p:sldId id="356" r:id="rId17"/>
    <p:sldId id="357" r:id="rId18"/>
    <p:sldId id="359" r:id="rId19"/>
    <p:sldId id="358" r:id="rId20"/>
    <p:sldId id="360" r:id="rId21"/>
    <p:sldId id="361" r:id="rId22"/>
    <p:sldId id="416" r:id="rId23"/>
    <p:sldId id="362" r:id="rId24"/>
    <p:sldId id="363" r:id="rId25"/>
    <p:sldId id="365" r:id="rId26"/>
    <p:sldId id="444" r:id="rId27"/>
    <p:sldId id="434" r:id="rId28"/>
    <p:sldId id="435" r:id="rId29"/>
    <p:sldId id="43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2" autoAdjust="0"/>
    <p:restoredTop sz="94660"/>
  </p:normalViewPr>
  <p:slideViewPr>
    <p:cSldViewPr snapToGrid="0">
      <p:cViewPr varScale="1">
        <p:scale>
          <a:sx n="78" d="100"/>
          <a:sy n="78" d="100"/>
        </p:scale>
        <p:origin x="1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24E8B-37FD-9C94-2364-2F80AFA83A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0D68344D-C46E-8B56-7CC9-045FF5A356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8973CD2-6AF9-2D57-2EEA-7D28811E2B8E}"/>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5" name="Footer Placeholder 4">
            <a:extLst>
              <a:ext uri="{FF2B5EF4-FFF2-40B4-BE49-F238E27FC236}">
                <a16:creationId xmlns:a16="http://schemas.microsoft.com/office/drawing/2014/main" id="{8216C50A-3123-CB97-E85F-66DB0E057A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476919-EBFB-985B-1C50-35ADCAA75FBB}"/>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912447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1B74E-DD69-3178-BAC1-F3CD932A94F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5ED8BE5-E142-4D6C-AC14-5BA0C6CEDE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30839DF-8512-ADDE-07FE-85CD6E9C641E}"/>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5" name="Footer Placeholder 4">
            <a:extLst>
              <a:ext uri="{FF2B5EF4-FFF2-40B4-BE49-F238E27FC236}">
                <a16:creationId xmlns:a16="http://schemas.microsoft.com/office/drawing/2014/main" id="{565B027B-8D3B-C64A-3025-8A8EB27910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853BE-2DBD-0099-16AF-CC53B3A233D8}"/>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2437345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84818-5ED3-2C98-30FE-6B3EF7D60D7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293C8BD0-25FF-25B1-0FD5-6725F977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F22761D-B2E5-34BA-76D0-FC4E54ACB7F0}"/>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5" name="Footer Placeholder 4">
            <a:extLst>
              <a:ext uri="{FF2B5EF4-FFF2-40B4-BE49-F238E27FC236}">
                <a16:creationId xmlns:a16="http://schemas.microsoft.com/office/drawing/2014/main" id="{762FCAB1-F0EB-B5BE-7F58-F323BD66B5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9419B5C-49BF-8986-B8BD-C6FE1E0DC948}"/>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3921200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CA9A3-681D-59B3-CC9F-D557B060A84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09961ED-C2D4-967C-3EFE-2684D455214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493AFD9-BCDE-2B9D-6951-5E27E57C3BD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8026A7B-CC0D-6EFF-B9D9-44F16767CBDD}"/>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6" name="Footer Placeholder 5">
            <a:extLst>
              <a:ext uri="{FF2B5EF4-FFF2-40B4-BE49-F238E27FC236}">
                <a16:creationId xmlns:a16="http://schemas.microsoft.com/office/drawing/2014/main" id="{23BCA6E8-5A9B-05DA-73D7-A96BF460E4D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37C921-2691-6FD5-CF10-A6B1DF97F22D}"/>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198978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3AF9-E752-190E-985C-5DE562AB43E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D12A2E9-3BE6-384A-8718-7B955468A6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24A1F94-B677-1E33-CD58-8489B26902B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2A6DBA2-7847-75B9-25EE-5616456E0E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B454976-76EF-4AA3-2366-5226697A62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04885D9-CFA0-1D63-407B-B7704F9B4E7A}"/>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8" name="Footer Placeholder 7">
            <a:extLst>
              <a:ext uri="{FF2B5EF4-FFF2-40B4-BE49-F238E27FC236}">
                <a16:creationId xmlns:a16="http://schemas.microsoft.com/office/drawing/2014/main" id="{5A4617BA-FFDE-E2A8-4685-D7581C1EF2A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328BE74-2B56-CF2C-87E1-4EFC75126885}"/>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649074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0689-A260-FA7E-60A7-FE49A32D94C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8C4C8E7A-C7F3-CEE6-A7FE-3FEB4F092216}"/>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4" name="Footer Placeholder 3">
            <a:extLst>
              <a:ext uri="{FF2B5EF4-FFF2-40B4-BE49-F238E27FC236}">
                <a16:creationId xmlns:a16="http://schemas.microsoft.com/office/drawing/2014/main" id="{A3E7114B-5D8B-91DF-5BE1-CE129CF2313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97B0248-68CC-BD44-9967-84F7C9950F21}"/>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2313430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AE1B69-3C24-BACF-E6F1-9DCF3671D9D5}"/>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3" name="Footer Placeholder 2">
            <a:extLst>
              <a:ext uri="{FF2B5EF4-FFF2-40B4-BE49-F238E27FC236}">
                <a16:creationId xmlns:a16="http://schemas.microsoft.com/office/drawing/2014/main" id="{8DB4D620-AEB9-B462-B013-5F74B5254C5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0578E37-534F-2BFF-834D-CB0694BEFBD6}"/>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3834501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F86BD-9430-53AA-9C43-03868A2DF4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EF5E51F7-6B27-D5F9-9825-40DC7E04D1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34BACF2-5A5D-4678-71BE-7E3D8A1C0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241DECC-F9DA-0EB6-3D64-71F32CFD5C6D}"/>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6" name="Footer Placeholder 5">
            <a:extLst>
              <a:ext uri="{FF2B5EF4-FFF2-40B4-BE49-F238E27FC236}">
                <a16:creationId xmlns:a16="http://schemas.microsoft.com/office/drawing/2014/main" id="{3A4D5606-8EF0-5271-56A3-1A5689A2D85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599569-227A-C4B5-4D81-D69B215E2A19}"/>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400934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C0A94-6CF6-AFDD-D291-8B1B098EEE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96A2E682-6CAC-6D50-979D-B8A197DC12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BD23CA4-C841-0296-21B0-CE41A102F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3331D5-2982-DA84-5C7B-F07C45903B58}"/>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6" name="Footer Placeholder 5">
            <a:extLst>
              <a:ext uri="{FF2B5EF4-FFF2-40B4-BE49-F238E27FC236}">
                <a16:creationId xmlns:a16="http://schemas.microsoft.com/office/drawing/2014/main" id="{0BA645DB-7D41-D268-567B-59F09C00B2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C59E3E-2370-C950-40E5-DF1AA58A9663}"/>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419498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3C5D8-6A69-4432-39BD-DBFA2E371D5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A970860-48EB-51AB-5212-F0D13FBA4F1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EC6F6CD-D53A-A1FD-E954-7ADEFB359CE2}"/>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5" name="Footer Placeholder 4">
            <a:extLst>
              <a:ext uri="{FF2B5EF4-FFF2-40B4-BE49-F238E27FC236}">
                <a16:creationId xmlns:a16="http://schemas.microsoft.com/office/drawing/2014/main" id="{A12024B7-9DA2-A7FE-F5D5-6AB3B8CA6B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B997BE-FDB8-00CE-A6EA-D92B8DB4CD8C}"/>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2058861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87A5BB-CC85-548C-AA97-52E038E43DE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2814C2E-AF04-6140-859D-E89F9766C8A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944B7DD-208E-6AE5-9CBD-9B2AA2885371}"/>
              </a:ext>
            </a:extLst>
          </p:cNvPr>
          <p:cNvSpPr>
            <a:spLocks noGrp="1"/>
          </p:cNvSpPr>
          <p:nvPr>
            <p:ph type="dt" sz="half" idx="10"/>
          </p:nvPr>
        </p:nvSpPr>
        <p:spPr/>
        <p:txBody>
          <a:bodyPr/>
          <a:lstStyle/>
          <a:p>
            <a:fld id="{26BD4A1C-62C1-4010-836C-8C594F99AAE1}" type="datetimeFigureOut">
              <a:rPr lang="en-GB" smtClean="0"/>
              <a:t>24/01/2026</a:t>
            </a:fld>
            <a:endParaRPr lang="en-GB"/>
          </a:p>
        </p:txBody>
      </p:sp>
      <p:sp>
        <p:nvSpPr>
          <p:cNvPr id="5" name="Footer Placeholder 4">
            <a:extLst>
              <a:ext uri="{FF2B5EF4-FFF2-40B4-BE49-F238E27FC236}">
                <a16:creationId xmlns:a16="http://schemas.microsoft.com/office/drawing/2014/main" id="{1216FC67-B154-C2C9-57B4-CF39D2BCE9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43DE01-6F38-5004-12BA-65C3B9DC1D08}"/>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3083090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C7B41495-F5D4-4BAE-846E-C1BA39B38C3E}" type="datetime1">
              <a:rPr lang="en-GB" smtClean="0"/>
              <a:t>24/01/2026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lvl1pPr>
              <a:defRPr sz="2000" b="1"/>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151627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F1F00E1F-D883-4734-8D17-FAFD2FE3F82B}" type="datetime1">
              <a:rPr lang="en-GB" smtClean="0"/>
              <a:t>24/01/2026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68200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FAF03C43-999F-4677-8B7B-A143626357DE}" type="datetime1">
              <a:rPr lang="en-GB" smtClean="0"/>
              <a:t>24/01/2026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028323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AD62E2D2-7D84-4F62-AB79-04DD5D6E2A83}" type="datetime1">
              <a:rPr lang="en-GB" smtClean="0"/>
              <a:t>24/01/2026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17744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3C542E2F-086F-40AD-AE37-0FE3516ECA88}" type="datetime1">
              <a:rPr lang="en-GB" smtClean="0"/>
              <a:t>24/01/2026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024093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28BB7FCF-08A1-4FE4-9E9D-DC420D650C18}" type="datetime1">
              <a:rPr lang="en-GB" smtClean="0"/>
              <a:t>24/01/2026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963462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EDD1B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EDDDA0C7-BAEE-4F35-8A3B-93DC0CEF01B4}" type="datetime1">
              <a:rPr lang="en-GB" smtClean="0"/>
              <a:t>24/01/2026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5677587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E92368E4-9C31-482F-B818-B582CFCA3920}" type="datetime1">
              <a:rPr lang="en-GB" smtClean="0"/>
              <a:t>24/01/2026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2910101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CFA87033-DBE3-47C4-85A3-06E175F67215}" type="datetime1">
              <a:rPr lang="en-GB" smtClean="0"/>
              <a:t>24/01/2026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2462122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5188CAA1-DC3A-4AD5-88F3-EBC71BAF0E08}" type="datetime1">
              <a:rPr lang="en-GB" smtClean="0"/>
              <a:t>24/01/2026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9734307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EDD1B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FED66873-85DD-4CDB-895B-8ED6F6A7367F}" type="datetime1">
              <a:rPr lang="en-GB" smtClean="0"/>
              <a:t>24/01/2026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0727088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F58C-8BCA-9DAE-BD74-C1C2FCD7FAC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34EAE072-E804-2A49-16DF-AF7E7A48BA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BC2DCEB-63E3-2C3C-5733-70A2EAAE7C29}"/>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5" name="Footer Placeholder 4">
            <a:extLst>
              <a:ext uri="{FF2B5EF4-FFF2-40B4-BE49-F238E27FC236}">
                <a16:creationId xmlns:a16="http://schemas.microsoft.com/office/drawing/2014/main" id="{20162FAF-A12F-D343-44AC-E2D06CA7F8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6C3395-F0CE-3125-9EE1-EEBFB00BB8D4}"/>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4233366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3F12A-F468-EA7B-215A-2B5422DFC1D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2F239ED-4BC3-0D3C-BF12-00CF3DB7B4D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8602BEF-488D-CEE3-962A-3311BB880BCF}"/>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5" name="Footer Placeholder 4">
            <a:extLst>
              <a:ext uri="{FF2B5EF4-FFF2-40B4-BE49-F238E27FC236}">
                <a16:creationId xmlns:a16="http://schemas.microsoft.com/office/drawing/2014/main" id="{7FBF3C24-25C4-8E32-4359-C77132A077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811864-67DB-9FA9-B747-9269A3D12A50}"/>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3033883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0AE9E-059D-77A1-18E9-C16FB514ED2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B32A608-004E-F948-57F1-624E0E6BAE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708EB74-1498-BF75-4C86-0B062F57EA3B}"/>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5" name="Footer Placeholder 4">
            <a:extLst>
              <a:ext uri="{FF2B5EF4-FFF2-40B4-BE49-F238E27FC236}">
                <a16:creationId xmlns:a16="http://schemas.microsoft.com/office/drawing/2014/main" id="{FED3779B-05F5-B613-22AE-55203B01BC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227DB7-2543-9D89-2AFC-F387623BD950}"/>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42073067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3A16B-3F9E-C765-1FED-2539BA4A3C7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820453F-A977-378C-A314-13159B4D36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2504D162-A8CF-DF37-B039-DA5C90CD560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378CFE9-B33C-DB52-523F-F1EE49B7847A}"/>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6" name="Footer Placeholder 5">
            <a:extLst>
              <a:ext uri="{FF2B5EF4-FFF2-40B4-BE49-F238E27FC236}">
                <a16:creationId xmlns:a16="http://schemas.microsoft.com/office/drawing/2014/main" id="{5CF3D199-93C8-6062-7A7F-FC38CC03E5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90DC2B-F3C1-F520-346E-47E8CDFC5CBC}"/>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22218274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734C3-9B69-8CB5-3C5A-2C7E6518FCB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959580E-DE21-74E3-301E-6257C176B3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F1C6000-528B-B692-E7DE-C192443E5B4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3A00D0-74F9-9AED-40BD-4A3A8BDAB2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0D4537B-B865-1916-E771-33E1DA4CA5F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1E30F72F-3C91-2D41-CDD6-CC0868BEC666}"/>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8" name="Footer Placeholder 7">
            <a:extLst>
              <a:ext uri="{FF2B5EF4-FFF2-40B4-BE49-F238E27FC236}">
                <a16:creationId xmlns:a16="http://schemas.microsoft.com/office/drawing/2014/main" id="{202CFE57-26F5-9073-7025-DD44DE717D0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03415BC-F079-B996-7075-6AD280B33D95}"/>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2732290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0DC4-2B73-9033-2098-CC8E533F78E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1F90E09-48DF-774F-A86D-104A974E8045}"/>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4" name="Footer Placeholder 3">
            <a:extLst>
              <a:ext uri="{FF2B5EF4-FFF2-40B4-BE49-F238E27FC236}">
                <a16:creationId xmlns:a16="http://schemas.microsoft.com/office/drawing/2014/main" id="{5A794195-E419-8B64-946A-99C62EF75F8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408FBC8-03D0-FEDB-EF27-411862398E04}"/>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39172637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465F72-70F1-8288-2127-24A9E3B60FAC}"/>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3" name="Footer Placeholder 2">
            <a:extLst>
              <a:ext uri="{FF2B5EF4-FFF2-40B4-BE49-F238E27FC236}">
                <a16:creationId xmlns:a16="http://schemas.microsoft.com/office/drawing/2014/main" id="{40CE0233-F9E8-728B-B5FC-FC61F0F71C1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81ABAA-BCEE-FBCA-9615-F131D5C68DB3}"/>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13904793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291D4-285B-77BF-6343-79AEAA6391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A360F65-9235-9D41-E166-3C50807B25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D0C9127-6F9E-B3C2-D739-A7FE9AF1B7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326EA6-52E4-6ABA-0DE5-0D5FBFE3C3D1}"/>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6" name="Footer Placeholder 5">
            <a:extLst>
              <a:ext uri="{FF2B5EF4-FFF2-40B4-BE49-F238E27FC236}">
                <a16:creationId xmlns:a16="http://schemas.microsoft.com/office/drawing/2014/main" id="{6CE6F52C-4438-32A7-6368-2FDC1F995F3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6D39FD-7B30-0F81-0222-7905AB1B7B40}"/>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34423044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B8D2E-1861-0848-7223-6CDF7630250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65769B0-D980-868D-8143-C518D334C8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EA797C0-0E09-6420-D535-3F14948C25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0D7B103-1AB4-A121-4C11-2B2B30C845AF}"/>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6" name="Footer Placeholder 5">
            <a:extLst>
              <a:ext uri="{FF2B5EF4-FFF2-40B4-BE49-F238E27FC236}">
                <a16:creationId xmlns:a16="http://schemas.microsoft.com/office/drawing/2014/main" id="{F7FC8EBA-7F62-3BA6-2DA9-9655799EB4A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C31B207-8185-CAA3-FEFB-DB6CAC1F4813}"/>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3302483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FEA0-AA01-0AE9-9136-B422ECB2231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CE8E6DA3-C98B-5AE6-75F1-34FC55BB435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157033F-5962-1735-CD4E-4EF0F87D1BF8}"/>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5" name="Footer Placeholder 4">
            <a:extLst>
              <a:ext uri="{FF2B5EF4-FFF2-40B4-BE49-F238E27FC236}">
                <a16:creationId xmlns:a16="http://schemas.microsoft.com/office/drawing/2014/main" id="{1E37BE1D-17CD-5488-20BB-5AF169C9C0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8B1782-B585-61A9-F0C5-B7DAD1D9FC56}"/>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772909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065441-1440-F504-9E5F-91A1A3D6F797}"/>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572084F2-1881-9050-1E7C-B42D32B95FE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73BC68E-071E-C819-F0BC-62932ED029E4}"/>
              </a:ext>
            </a:extLst>
          </p:cNvPr>
          <p:cNvSpPr>
            <a:spLocks noGrp="1"/>
          </p:cNvSpPr>
          <p:nvPr>
            <p:ph type="dt" sz="half" idx="10"/>
          </p:nvPr>
        </p:nvSpPr>
        <p:spPr/>
        <p:txBody>
          <a:bodyPr/>
          <a:lstStyle/>
          <a:p>
            <a:fld id="{183EB537-59C1-470B-B7DB-A4273EAFC1DC}" type="datetimeFigureOut">
              <a:rPr lang="en-GB" smtClean="0"/>
              <a:t>24/01/2026</a:t>
            </a:fld>
            <a:endParaRPr lang="en-GB"/>
          </a:p>
        </p:txBody>
      </p:sp>
      <p:sp>
        <p:nvSpPr>
          <p:cNvPr id="5" name="Footer Placeholder 4">
            <a:extLst>
              <a:ext uri="{FF2B5EF4-FFF2-40B4-BE49-F238E27FC236}">
                <a16:creationId xmlns:a16="http://schemas.microsoft.com/office/drawing/2014/main" id="{9CA97C12-C04F-23B4-82AC-C8D76FBDDF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BB6C36-7D32-3940-2A6A-70078B412D7E}"/>
              </a:ext>
            </a:extLst>
          </p:cNvPr>
          <p:cNvSpPr>
            <a:spLocks noGrp="1"/>
          </p:cNvSpPr>
          <p:nvPr>
            <p:ph type="sldNum" sz="quarter" idx="12"/>
          </p:nvPr>
        </p:nvSpPr>
        <p:spPr/>
        <p:txBody>
          <a:bodyPr/>
          <a:lstStyle/>
          <a:p>
            <a:fld id="{544E19E8-2C3C-4074-9891-2130400782C6}" type="slidenum">
              <a:rPr lang="en-GB" smtClean="0"/>
              <a:t>‹#›</a:t>
            </a:fld>
            <a:endParaRPr lang="en-GB"/>
          </a:p>
        </p:txBody>
      </p:sp>
    </p:spTree>
    <p:extLst>
      <p:ext uri="{BB962C8B-B14F-4D97-AF65-F5344CB8AC3E}">
        <p14:creationId xmlns:p14="http://schemas.microsoft.com/office/powerpoint/2010/main" val="232981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24F3F6-2061-A0C8-CCDC-17FFD0ADE6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CB6A7E1-D830-5C56-3CC4-5018384D8B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245BF59-0EF5-BC33-8418-8E59C28F1F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BD4A1C-62C1-4010-836C-8C594F99AAE1}" type="datetimeFigureOut">
              <a:rPr lang="en-GB" smtClean="0"/>
              <a:t>24/01/2026</a:t>
            </a:fld>
            <a:endParaRPr lang="en-GB"/>
          </a:p>
        </p:txBody>
      </p:sp>
      <p:sp>
        <p:nvSpPr>
          <p:cNvPr id="5" name="Footer Placeholder 4">
            <a:extLst>
              <a:ext uri="{FF2B5EF4-FFF2-40B4-BE49-F238E27FC236}">
                <a16:creationId xmlns:a16="http://schemas.microsoft.com/office/drawing/2014/main" id="{248C5A2F-07C4-0B64-5D10-411D7F0F53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684FF3D-228F-A48B-8C91-F5BE9C443E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89D6D7-0A44-4FA4-92D1-1D1E766E0D67}" type="slidenum">
              <a:rPr lang="en-GB" smtClean="0"/>
              <a:t>‹#›</a:t>
            </a:fld>
            <a:endParaRPr lang="en-GB"/>
          </a:p>
        </p:txBody>
      </p:sp>
    </p:spTree>
    <p:extLst>
      <p:ext uri="{BB962C8B-B14F-4D97-AF65-F5344CB8AC3E}">
        <p14:creationId xmlns:p14="http://schemas.microsoft.com/office/powerpoint/2010/main" val="16970289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EB35A-6C1C-44EB-A894-5CBC41E755B3}" type="datetime1">
              <a:rPr lang="en-GB" smtClean="0"/>
              <a:t>24/01/2026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1314634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1BE372-C2C9-F9AF-833F-B3EE795E3B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67296A35-619D-3AD0-E638-145E099EC7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F1BD850-D43F-D232-8CCF-FD074823F7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3EB537-59C1-470B-B7DB-A4273EAFC1DC}" type="datetimeFigureOut">
              <a:rPr lang="en-GB" smtClean="0"/>
              <a:t>24/01/2026</a:t>
            </a:fld>
            <a:endParaRPr lang="en-GB"/>
          </a:p>
        </p:txBody>
      </p:sp>
      <p:sp>
        <p:nvSpPr>
          <p:cNvPr id="5" name="Footer Placeholder 4">
            <a:extLst>
              <a:ext uri="{FF2B5EF4-FFF2-40B4-BE49-F238E27FC236}">
                <a16:creationId xmlns:a16="http://schemas.microsoft.com/office/drawing/2014/main" id="{5A736D51-2B55-253D-7AD9-BE523588B3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814A25D-A934-6744-A8F2-3CA701561C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4E19E8-2C3C-4074-9891-2130400782C6}" type="slidenum">
              <a:rPr lang="en-GB" smtClean="0"/>
              <a:t>‹#›</a:t>
            </a:fld>
            <a:endParaRPr lang="en-GB"/>
          </a:p>
        </p:txBody>
      </p:sp>
    </p:spTree>
    <p:extLst>
      <p:ext uri="{BB962C8B-B14F-4D97-AF65-F5344CB8AC3E}">
        <p14:creationId xmlns:p14="http://schemas.microsoft.com/office/powerpoint/2010/main" val="94962356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ctrTitle"/>
          </p:nvPr>
        </p:nvSpPr>
        <p:spPr>
          <a:xfrm>
            <a:off x="1522030" y="1209220"/>
            <a:ext cx="9147940" cy="2337238"/>
          </a:xfrm>
        </p:spPr>
        <p:txBody>
          <a:bodyPr anchor="b">
            <a:normAutofit/>
          </a:bodyPr>
          <a:lstStyle/>
          <a:p>
            <a:r>
              <a:rPr lang="en-GB" sz="5200" b="1">
                <a:solidFill>
                  <a:srgbClr val="FFFFFF"/>
                </a:solidFill>
              </a:rPr>
              <a:t>ENG4118/5326 - Robotics 4/M</a:t>
            </a:r>
            <a:br>
              <a:rPr lang="en-GB" sz="5200" b="1">
                <a:solidFill>
                  <a:srgbClr val="FFFFFF"/>
                </a:solidFill>
              </a:rPr>
            </a:br>
            <a:r>
              <a:rPr lang="en-GB" sz="5200" b="1">
                <a:solidFill>
                  <a:srgbClr val="FFFFFF"/>
                </a:solidFill>
              </a:rPr>
              <a:t>Sensors, Actuators and Image capture, processing and analysis</a:t>
            </a:r>
          </a:p>
        </p:txBody>
      </p:sp>
      <p:sp>
        <p:nvSpPr>
          <p:cNvPr id="3" name="Subtitle 2">
            <a:extLst>
              <a:ext uri="{FF2B5EF4-FFF2-40B4-BE49-F238E27FC236}">
                <a16:creationId xmlns:a16="http://schemas.microsoft.com/office/drawing/2014/main" id="{0EC2D61B-0204-42F3-52E6-931A9496968D}"/>
              </a:ext>
            </a:extLst>
          </p:cNvPr>
          <p:cNvSpPr>
            <a:spLocks noGrp="1"/>
          </p:cNvSpPr>
          <p:nvPr>
            <p:ph type="subTitle" idx="1"/>
          </p:nvPr>
        </p:nvSpPr>
        <p:spPr>
          <a:xfrm>
            <a:off x="1522030" y="3605577"/>
            <a:ext cx="9147940" cy="1324303"/>
          </a:xfrm>
        </p:spPr>
        <p:txBody>
          <a:bodyPr anchor="t">
            <a:normAutofit/>
          </a:bodyPr>
          <a:lstStyle/>
          <a:p>
            <a:r>
              <a:rPr lang="en-GB" sz="2000" dirty="0">
                <a:solidFill>
                  <a:srgbClr val="FFFFFF"/>
                </a:solidFill>
              </a:rPr>
              <a:t>Lecture 5</a:t>
            </a:r>
          </a:p>
          <a:p>
            <a:r>
              <a:rPr lang="en-GB" sz="2000" dirty="0">
                <a:solidFill>
                  <a:srgbClr val="FFFFFF"/>
                </a:solidFill>
              </a:rPr>
              <a:t>Kevin Worrall</a:t>
            </a:r>
          </a:p>
        </p:txBody>
      </p:sp>
      <p:sp>
        <p:nvSpPr>
          <p:cNvPr id="1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8"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E42FB52-67A8-E2C7-2462-FB99CD1C6398}"/>
              </a:ext>
            </a:extLst>
          </p:cNvPr>
          <p:cNvSpPr>
            <a:spLocks noGrp="1"/>
          </p:cNvSpPr>
          <p:nvPr>
            <p:ph type="sldNum" sz="quarter" idx="12"/>
          </p:nvPr>
        </p:nvSpPr>
        <p:spPr>
          <a:xfrm>
            <a:off x="8610600" y="6133916"/>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a:t>
            </a:fld>
            <a:endParaRPr kumimoji="0" lang="en-GB" sz="19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996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6657715" y="467271"/>
            <a:ext cx="4195674" cy="879391"/>
          </a:xfrm>
        </p:spPr>
        <p:txBody>
          <a:bodyPr anchor="b">
            <a:normAutofit/>
          </a:bodyPr>
          <a:lstStyle/>
          <a:p>
            <a:r>
              <a:rPr lang="en-GB" sz="5600" b="1" dirty="0"/>
              <a:t>Overview</a:t>
            </a:r>
          </a:p>
        </p:txBody>
      </p:sp>
      <p:sp>
        <p:nvSpPr>
          <p:cNvPr id="8" name="Oval 7">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50F57451-DC0D-84D4-4468-91BA2BD39266}"/>
              </a:ext>
            </a:extLst>
          </p:cNvPr>
          <p:cNvPicPr>
            <a:picLocks noChangeAspect="1"/>
          </p:cNvPicPr>
          <p:nvPr/>
        </p:nvPicPr>
        <p:blipFill>
          <a:blip r:embed="rId2"/>
          <a:srcRect r="6253" b="3"/>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9"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6657715" y="1346663"/>
            <a:ext cx="4195673" cy="4558028"/>
          </a:xfrm>
        </p:spPr>
        <p:txBody>
          <a:bodyPr anchor="t">
            <a:normAutofit/>
          </a:bodyPr>
          <a:lstStyle/>
          <a:p>
            <a:r>
              <a:rPr lang="en-GB" sz="4000" dirty="0">
                <a:solidFill>
                  <a:schemeClr val="tx1">
                    <a:alpha val="80000"/>
                  </a:schemeClr>
                </a:solidFill>
              </a:rPr>
              <a:t>Potentiometers</a:t>
            </a:r>
          </a:p>
          <a:p>
            <a:r>
              <a:rPr lang="en-GB" sz="4000" dirty="0">
                <a:solidFill>
                  <a:schemeClr val="tx1">
                    <a:alpha val="80000"/>
                  </a:schemeClr>
                </a:solidFill>
              </a:rPr>
              <a:t>LVDT</a:t>
            </a:r>
          </a:p>
          <a:p>
            <a:r>
              <a:rPr lang="en-GB" sz="4000" dirty="0">
                <a:solidFill>
                  <a:prstClr val="black">
                    <a:alpha val="80000"/>
                  </a:prstClr>
                </a:solidFill>
                <a:latin typeface="Calibri" panose="020F0502020204030204"/>
              </a:rPr>
              <a:t>Resolvers</a:t>
            </a:r>
          </a:p>
          <a:p>
            <a:r>
              <a:rPr lang="en-GB" sz="4000" dirty="0">
                <a:solidFill>
                  <a:prstClr val="black">
                    <a:alpha val="80000"/>
                  </a:prstClr>
                </a:solidFill>
                <a:latin typeface="Calibri" panose="020F0502020204030204"/>
              </a:rPr>
              <a:t>Draw Strings</a:t>
            </a:r>
            <a:endParaRPr lang="en-GB" sz="4000" dirty="0">
              <a:solidFill>
                <a:schemeClr val="tx1">
                  <a:alpha val="80000"/>
                </a:schemeClr>
              </a:solidFill>
            </a:endParaRPr>
          </a:p>
          <a:p>
            <a:r>
              <a:rPr lang="en-GB" sz="4000" dirty="0">
                <a:solidFill>
                  <a:schemeClr val="tx1">
                    <a:alpha val="80000"/>
                  </a:schemeClr>
                </a:solidFill>
              </a:rPr>
              <a:t>Review</a:t>
            </a:r>
          </a:p>
        </p:txBody>
      </p:sp>
      <p:sp>
        <p:nvSpPr>
          <p:cNvPr id="13"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Slide Number Placeholder 3">
            <a:extLst>
              <a:ext uri="{FF2B5EF4-FFF2-40B4-BE49-F238E27FC236}">
                <a16:creationId xmlns:a16="http://schemas.microsoft.com/office/drawing/2014/main" id="{8B50761D-BFB0-57EF-E43B-6C4AC298B0C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1" i="0" u="none" strike="noStrike" kern="1200" cap="none" spc="0" normalizeH="0" baseline="0" noProof="0">
                <a:ln>
                  <a:noFill/>
                </a:ln>
                <a:solidFill>
                  <a:prstClr val="black">
                    <a:alpha val="6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GB" sz="1200" b="1" i="0" u="none" strike="noStrike" kern="1200" cap="none" spc="0" normalizeH="0" baseline="0" noProof="0">
              <a:ln>
                <a:noFill/>
              </a:ln>
              <a:solidFill>
                <a:prstClr val="black">
                  <a:alpha val="60000"/>
                </a:prstClr>
              </a:solidFill>
              <a:effectLst/>
              <a:uLnTx/>
              <a:uFillTx/>
              <a:latin typeface="Calibri" panose="020F0502020204030204"/>
              <a:ea typeface="+mn-ea"/>
              <a:cs typeface="+mn-cs"/>
            </a:endParaRPr>
          </a:p>
        </p:txBody>
      </p:sp>
      <p:cxnSp>
        <p:nvCxnSpPr>
          <p:cNvPr id="15"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9498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D36D38-35AB-0982-E3DC-D081A2E7819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302262B-7562-B9CD-7B45-1314DB157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F1E3AD4-9EE3-E301-E299-2390B606A9F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Potentiometers</a:t>
            </a:r>
          </a:p>
        </p:txBody>
      </p:sp>
      <p:sp>
        <p:nvSpPr>
          <p:cNvPr id="14" name="sketchy line">
            <a:extLst>
              <a:ext uri="{FF2B5EF4-FFF2-40B4-BE49-F238E27FC236}">
                <a16:creationId xmlns:a16="http://schemas.microsoft.com/office/drawing/2014/main" id="{AD70F5C3-E934-A709-EC3C-95A28581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78453AEB-13AF-8A20-9421-0B3767585952}"/>
              </a:ext>
            </a:extLst>
          </p:cNvPr>
          <p:cNvSpPr>
            <a:spLocks noGrp="1"/>
          </p:cNvSpPr>
          <p:nvPr>
            <p:ph sz="half" idx="1"/>
          </p:nvPr>
        </p:nvSpPr>
        <p:spPr>
          <a:xfrm>
            <a:off x="572493" y="2071316"/>
            <a:ext cx="5761805" cy="4119172"/>
          </a:xfrm>
        </p:spPr>
        <p:txBody>
          <a:bodyPr vert="horz" lIns="91440" tIns="45720" rIns="91440" bIns="45720" rtlCol="0" anchor="t">
            <a:normAutofit/>
          </a:bodyPr>
          <a:lstStyle/>
          <a:p>
            <a:r>
              <a:rPr lang="en-GB" sz="2200" dirty="0"/>
              <a:t>Potentiometers are available in both linear and rotary forms and can be used to measure linear or angular motion</a:t>
            </a:r>
          </a:p>
          <a:p>
            <a:r>
              <a:rPr lang="en-GB" sz="2200" dirty="0"/>
              <a:t>The resistor is in the form of a track along the potentiometer</a:t>
            </a:r>
          </a:p>
          <a:p>
            <a:r>
              <a:rPr lang="en-GB" sz="2200" dirty="0"/>
              <a:t>This track may be of thin film of a resistive material such as carbon, conductive ceramic, conductive plastic or metal</a:t>
            </a:r>
          </a:p>
          <a:p>
            <a:r>
              <a:rPr lang="en-GB" sz="2200" dirty="0"/>
              <a:t>Alternatively wire wound potentiometers are used with the track consisting of a highly resistive wire wound on to anodised aluminium</a:t>
            </a:r>
          </a:p>
        </p:txBody>
      </p:sp>
      <p:sp>
        <p:nvSpPr>
          <p:cNvPr id="4" name="Slide Number Placeholder 3">
            <a:extLst>
              <a:ext uri="{FF2B5EF4-FFF2-40B4-BE49-F238E27FC236}">
                <a16:creationId xmlns:a16="http://schemas.microsoft.com/office/drawing/2014/main" id="{978AD06B-B7FF-6652-A4CB-A140CF3C5FC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13D6FFB3-0533-0FC7-2FE8-CC751A37765C}"/>
              </a:ext>
            </a:extLst>
          </p:cNvPr>
          <p:cNvPicPr>
            <a:picLocks noGrp="1" noChangeAspect="1"/>
          </p:cNvPicPr>
          <p:nvPr>
            <p:ph sz="half" idx="2"/>
          </p:nvPr>
        </p:nvPicPr>
        <p:blipFill>
          <a:blip r:embed="rId2"/>
          <a:stretch>
            <a:fillRect/>
          </a:stretch>
        </p:blipFill>
        <p:spPr>
          <a:xfrm>
            <a:off x="6172200" y="1994942"/>
            <a:ext cx="5181600" cy="4012703"/>
          </a:xfrm>
          <a:prstGeom prst="rect">
            <a:avLst/>
          </a:prstGeom>
        </p:spPr>
      </p:pic>
      <p:sp>
        <p:nvSpPr>
          <p:cNvPr id="9" name="TextBox 8">
            <a:extLst>
              <a:ext uri="{FF2B5EF4-FFF2-40B4-BE49-F238E27FC236}">
                <a16:creationId xmlns:a16="http://schemas.microsoft.com/office/drawing/2014/main" id="{2D497F43-1DCD-B412-5BEE-CB968E6CE971}"/>
              </a:ext>
            </a:extLst>
          </p:cNvPr>
          <p:cNvSpPr txBox="1"/>
          <p:nvPr/>
        </p:nvSpPr>
        <p:spPr>
          <a:xfrm>
            <a:off x="7667991" y="5876840"/>
            <a:ext cx="392302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https://www.build-electronic-circuits.com/potentiometer/</a:t>
            </a:r>
          </a:p>
        </p:txBody>
      </p:sp>
    </p:spTree>
    <p:extLst>
      <p:ext uri="{BB962C8B-B14F-4D97-AF65-F5344CB8AC3E}">
        <p14:creationId xmlns:p14="http://schemas.microsoft.com/office/powerpoint/2010/main" val="295097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Potentiometers</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a:xfrm>
            <a:off x="572493" y="2071316"/>
            <a:ext cx="5523507" cy="4119172"/>
          </a:xfrm>
        </p:spPr>
        <p:txBody>
          <a:bodyPr vert="horz" lIns="91440" tIns="45720" rIns="91440" bIns="45720" rtlCol="0" anchor="t">
            <a:normAutofit/>
          </a:bodyPr>
          <a:lstStyle/>
          <a:p>
            <a:r>
              <a:rPr lang="en-US" sz="2200" dirty="0"/>
              <a:t>Input voltage, Vs, is between terminals 1 and 3</a:t>
            </a:r>
          </a:p>
          <a:p>
            <a:r>
              <a:rPr lang="en-US" sz="2200" dirty="0"/>
              <a:t>Output voltage is between terminals 2 and 3.</a:t>
            </a:r>
          </a:p>
          <a:p>
            <a:r>
              <a:rPr lang="en-US" sz="2200" dirty="0"/>
              <a:t>With a constant input voltage, V</a:t>
            </a:r>
            <a:r>
              <a:rPr lang="en-US" sz="2200" baseline="-25000" dirty="0"/>
              <a:t>S</a:t>
            </a:r>
            <a:r>
              <a:rPr lang="en-US" sz="2200" dirty="0"/>
              <a:t>, the output voltage, </a:t>
            </a:r>
            <a:r>
              <a:rPr lang="en-US" sz="2200" dirty="0" err="1"/>
              <a:t>V</a:t>
            </a:r>
            <a:r>
              <a:rPr lang="en-US" sz="2200" baseline="-25000" dirty="0" err="1"/>
              <a:t>out</a:t>
            </a:r>
            <a:r>
              <a:rPr lang="en-US" sz="2200" dirty="0"/>
              <a:t>, is a fraction of the input voltage</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Content Placeholder 8" descr="A diagram of a slider&#10;&#10;Description automatically generated">
            <a:extLst>
              <a:ext uri="{FF2B5EF4-FFF2-40B4-BE49-F238E27FC236}">
                <a16:creationId xmlns:a16="http://schemas.microsoft.com/office/drawing/2014/main" id="{4C3C653D-B4DE-6EB0-7F6D-92ED91B5F28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252599"/>
            <a:ext cx="5181600" cy="3497390"/>
          </a:xfrm>
        </p:spPr>
      </p:pic>
      <p:pic>
        <p:nvPicPr>
          <p:cNvPr id="8" name="Picture 3_0" descr="Text&#10;&#10;Description automatically generated">
            <a:extLst>
              <a:ext uri="{FF2B5EF4-FFF2-40B4-BE49-F238E27FC236}">
                <a16:creationId xmlns:a16="http://schemas.microsoft.com/office/drawing/2014/main" id="{DD466FC3-3403-5E58-D03F-8FA337DE7E2C}"/>
              </a:ext>
            </a:extLst>
          </p:cNvPr>
          <p:cNvPicPr/>
          <p:nvPr/>
        </p:nvPicPr>
        <p:blipFill>
          <a:blip r:embed="rId3"/>
          <a:stretch/>
        </p:blipFill>
        <p:spPr>
          <a:xfrm>
            <a:off x="2226362" y="4868240"/>
            <a:ext cx="1848098" cy="1104003"/>
          </a:xfrm>
          <a:prstGeom prst="rect">
            <a:avLst/>
          </a:prstGeom>
          <a:ln w="0">
            <a:noFill/>
          </a:ln>
        </p:spPr>
      </p:pic>
    </p:spTree>
    <p:extLst>
      <p:ext uri="{BB962C8B-B14F-4D97-AF65-F5344CB8AC3E}">
        <p14:creationId xmlns:p14="http://schemas.microsoft.com/office/powerpoint/2010/main" val="155984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3800" b="1" kern="1200">
                <a:solidFill>
                  <a:schemeClr val="tx1"/>
                </a:solidFill>
                <a:latin typeface="+mj-lt"/>
                <a:ea typeface="+mj-ea"/>
                <a:cs typeface="+mj-cs"/>
              </a:rPr>
              <a:t>Potentiometers</a:t>
            </a:r>
          </a:p>
        </p:txBody>
      </p:sp>
      <p:sp>
        <p:nvSpPr>
          <p:cNvPr id="1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8" name="Content Placeholder 7" descr="A diagram of a slider&#10;&#10;Description automatically generated">
            <a:extLst>
              <a:ext uri="{FF2B5EF4-FFF2-40B4-BE49-F238E27FC236}">
                <a16:creationId xmlns:a16="http://schemas.microsoft.com/office/drawing/2014/main" id="{5BAC7303-ABFD-1320-3697-10B742C1F84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54296" y="1208837"/>
            <a:ext cx="6894576" cy="2757830"/>
          </a:xfrm>
          <a:prstGeom prst="rect">
            <a:avLst/>
          </a:prstGeom>
        </p:spPr>
      </p:pic>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a:xfrm>
            <a:off x="4654296" y="4798577"/>
            <a:ext cx="6894576" cy="1428487"/>
          </a:xfrm>
        </p:spPr>
        <p:txBody>
          <a:bodyPr vert="horz" lIns="91440" tIns="45720" rIns="91440" bIns="45720" rtlCol="0" anchor="t">
            <a:normAutofit/>
          </a:bodyPr>
          <a:lstStyle/>
          <a:p>
            <a:r>
              <a:rPr lang="en-US" sz="2200" dirty="0"/>
              <a:t>An important effect to be considered with potentiometers is the effect of load, </a:t>
            </a:r>
            <a:r>
              <a:rPr lang="en-US" sz="2200" dirty="0" err="1"/>
              <a:t>Rl</a:t>
            </a:r>
            <a:r>
              <a:rPr lang="en-US" sz="2200" dirty="0"/>
              <a:t>, connected across the output.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1" i="0" u="none" strike="noStrike" kern="1200" cap="none" spc="0" normalizeH="0" baseline="0" noProof="0" smtClean="0">
                <a:ln>
                  <a:noFill/>
                </a:ln>
                <a:solidFill>
                  <a:prstClr val="black">
                    <a:tint val="75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1" i="0" u="none" strike="noStrike" kern="1200" cap="none" spc="0" normalizeH="0" baseline="0" noProof="0">
              <a:ln>
                <a:noFill/>
              </a:ln>
              <a:solidFill>
                <a:prstClr val="black">
                  <a:tint val="75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983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3200" dirty="0"/>
              <a:t>The potential difference across the load, </a:t>
            </a:r>
            <a:r>
              <a:rPr lang="en-GB" sz="3200" dirty="0" err="1"/>
              <a:t>Vl</a:t>
            </a:r>
            <a:r>
              <a:rPr lang="en-GB" sz="3200" dirty="0"/>
              <a:t>, is only directly proportional to the output voltage, </a:t>
            </a:r>
            <a:r>
              <a:rPr lang="en-GB" sz="3200" dirty="0" err="1"/>
              <a:t>Vout</a:t>
            </a:r>
            <a:r>
              <a:rPr lang="en-GB" sz="3200" dirty="0"/>
              <a:t>, if the load resistance, </a:t>
            </a:r>
            <a:r>
              <a:rPr lang="en-GB" sz="3200" dirty="0" err="1"/>
              <a:t>Rl</a:t>
            </a:r>
            <a:r>
              <a:rPr lang="en-GB" sz="3200" dirty="0"/>
              <a:t>, is infinite</a:t>
            </a:r>
          </a:p>
          <a:p>
            <a:r>
              <a:rPr lang="en-GB" sz="3200" dirty="0"/>
              <a:t>For loads of finite resistance, the effect of the load is to transform the linear relationship between voltage and displacement into a non-linear relationship</a:t>
            </a:r>
          </a:p>
          <a:p>
            <a:r>
              <a:rPr lang="en-GB" sz="3200" dirty="0"/>
              <a:t>To find the total resistance across the input voltage we analyse the circuit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1" i="0" u="none" strike="noStrike" kern="1200" cap="none" spc="0" normalizeH="0" baseline="0" noProof="0" smtClean="0">
                <a:ln>
                  <a:noFill/>
                </a:ln>
                <a:solidFill>
                  <a:prstClr val="black">
                    <a:tint val="82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GB" sz="1200" b="1" i="0" u="none" strike="noStrike" kern="1200" cap="none" spc="0" normalizeH="0" baseline="0" noProof="0">
              <a:ln>
                <a:noFill/>
              </a:ln>
              <a:solidFill>
                <a:prstClr val="black">
                  <a:tint val="82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766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Full Calculation is:</a:t>
                </a:r>
              </a:p>
              <a:p>
                <a:pPr marL="0" indent="0">
                  <a:buNone/>
                </a:pPr>
                <a:endParaRPr lang="en-GB" sz="2200"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𝑉𝑙</m:t>
                          </m:r>
                        </m:num>
                        <m:den>
                          <m:r>
                            <a:rPr lang="en-GB" b="0" i="1" smtClean="0">
                              <a:latin typeface="Cambria Math" panose="02040503050406030204" pitchFamily="18" charset="0"/>
                            </a:rPr>
                            <m:t>𝑉𝑠</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𝑥</m:t>
                          </m:r>
                        </m:num>
                        <m:den>
                          <m:f>
                            <m:fPr>
                              <m:ctrlPr>
                                <a:rPr lang="en-GB" b="0" i="1" smtClean="0">
                                  <a:latin typeface="Cambria Math" panose="02040503050406030204" pitchFamily="18" charset="0"/>
                                </a:rPr>
                              </m:ctrlPr>
                            </m:fPr>
                            <m:num>
                              <m:r>
                                <a:rPr lang="en-GB" b="0" i="1" smtClean="0">
                                  <a:latin typeface="Cambria Math" panose="02040503050406030204" pitchFamily="18" charset="0"/>
                                </a:rPr>
                                <m:t>𝑅𝑝</m:t>
                              </m:r>
                            </m:num>
                            <m:den>
                              <m:r>
                                <a:rPr lang="en-GB" b="0" i="1" smtClean="0">
                                  <a:latin typeface="Cambria Math" panose="02040503050406030204" pitchFamily="18" charset="0"/>
                                </a:rPr>
                                <m:t>𝑅𝑙</m:t>
                              </m:r>
                            </m:den>
                          </m:f>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𝑥</m:t>
                              </m:r>
                            </m:e>
                          </m:d>
                          <m:r>
                            <a:rPr lang="en-GB" b="0" i="1" smtClean="0">
                              <a:latin typeface="Cambria Math" panose="02040503050406030204" pitchFamily="18" charset="0"/>
                            </a:rPr>
                            <m:t>+1</m:t>
                          </m:r>
                        </m:den>
                      </m:f>
                    </m:oMath>
                  </m:oMathPara>
                </a14:m>
                <a:endParaRPr lang="en-GB" sz="1600" dirty="0"/>
              </a:p>
              <a:p>
                <a:pPr marL="0" indent="0">
                  <a:buNone/>
                </a:pPr>
                <a:endParaRPr lang="en-GB" sz="2200" dirty="0"/>
              </a:p>
              <a:p>
                <a:r>
                  <a:rPr lang="en-GB" sz="2200" dirty="0"/>
                  <a:t>With x being a fraction of Rp</a:t>
                </a:r>
              </a:p>
              <a:p>
                <a:r>
                  <a:rPr lang="en-GB" sz="2200" dirty="0"/>
                  <a:t>However…</a:t>
                </a:r>
              </a:p>
              <a:p>
                <a:pPr marL="0" indent="0">
                  <a:buNone/>
                </a:pPr>
                <a:endParaRPr lang="en-GB" sz="2200" dirty="0"/>
              </a:p>
              <a:p>
                <a:pPr marL="0" indent="0">
                  <a:buNone/>
                </a:pPr>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1" i="0" u="none" strike="noStrike" kern="1200" cap="none" spc="0" normalizeH="0" baseline="0" noProof="0" smtClean="0">
                <a:ln>
                  <a:noFill/>
                </a:ln>
                <a:solidFill>
                  <a:prstClr val="black">
                    <a:tint val="82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GB" sz="1200" b="1" i="0" u="none" strike="noStrike" kern="1200" cap="none" spc="0" normalizeH="0" baseline="0" noProof="0">
              <a:ln>
                <a:noFill/>
              </a:ln>
              <a:solidFill>
                <a:prstClr val="black">
                  <a:tint val="82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069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Error introduced by load having finite resistance is: </a:t>
                </a:r>
              </a:p>
              <a:p>
                <a:pPr marL="0" indent="0">
                  <a:buNone/>
                </a:pPr>
                <a:endParaRPr lang="en-GB" sz="2000" dirty="0"/>
              </a:p>
              <a:p>
                <a:pPr marL="0" inden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𝑒𝑟𝑟𝑜𝑟</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𝑉𝑠</m:t>
                      </m:r>
                      <m:r>
                        <a:rPr lang="en-GB" sz="2400" b="0" i="1" smtClean="0">
                          <a:latin typeface="Cambria Math" panose="02040503050406030204" pitchFamily="18" charset="0"/>
                        </a:rPr>
                        <m:t>−</m:t>
                      </m:r>
                      <m:r>
                        <a:rPr lang="en-GB" sz="2400" b="0" i="1" smtClean="0">
                          <a:latin typeface="Cambria Math" panose="02040503050406030204" pitchFamily="18" charset="0"/>
                        </a:rPr>
                        <m:t>𝑉𝑙</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𝑉𝑠</m:t>
                      </m:r>
                      <m:r>
                        <a:rPr lang="en-GB" sz="2400" b="0" i="1" smtClean="0">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𝑉𝑠</m:t>
                          </m:r>
                        </m:num>
                        <m:den>
                          <m:f>
                            <m:fPr>
                              <m:ctrlPr>
                                <a:rPr lang="en-GB" sz="2400" i="1">
                                  <a:latin typeface="Cambria Math" panose="02040503050406030204" pitchFamily="18" charset="0"/>
                                </a:rPr>
                              </m:ctrlPr>
                            </m:fPr>
                            <m:num>
                              <m:r>
                                <a:rPr lang="en-GB" sz="2400" i="1">
                                  <a:latin typeface="Cambria Math" panose="02040503050406030204" pitchFamily="18" charset="0"/>
                                </a:rPr>
                                <m:t>𝑅𝑝</m:t>
                              </m:r>
                            </m:num>
                            <m:den>
                              <m:r>
                                <a:rPr lang="en-GB" sz="2400" i="1">
                                  <a:latin typeface="Cambria Math" panose="02040503050406030204" pitchFamily="18" charset="0"/>
                                </a:rPr>
                                <m:t>𝑅𝑙</m:t>
                              </m:r>
                            </m:den>
                          </m:f>
                          <m:r>
                            <a:rPr lang="en-GB" sz="2400" i="1">
                              <a:latin typeface="Cambria Math" panose="02040503050406030204" pitchFamily="18" charset="0"/>
                            </a:rPr>
                            <m:t>.</m:t>
                          </m:r>
                          <m:r>
                            <a:rPr lang="en-GB" sz="2400" i="1">
                              <a:latin typeface="Cambria Math" panose="02040503050406030204" pitchFamily="18" charset="0"/>
                            </a:rPr>
                            <m:t>𝑥</m:t>
                          </m:r>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1−</m:t>
                              </m:r>
                              <m:r>
                                <a:rPr lang="en-GB" sz="2400" i="1">
                                  <a:latin typeface="Cambria Math" panose="02040503050406030204" pitchFamily="18" charset="0"/>
                                </a:rPr>
                                <m:t>𝑥</m:t>
                              </m:r>
                            </m:e>
                          </m:d>
                          <m:r>
                            <a:rPr lang="en-GB" sz="2400" i="1">
                              <a:latin typeface="Cambria Math" panose="02040503050406030204" pitchFamily="18" charset="0"/>
                            </a:rPr>
                            <m:t>+1</m:t>
                          </m:r>
                        </m:den>
                      </m:f>
                      <m:r>
                        <a:rPr lang="en-GB" sz="2400" b="0" i="1" smtClean="0">
                          <a:latin typeface="Cambria Math" panose="02040503050406030204" pitchFamily="18" charset="0"/>
                        </a:rPr>
                        <m:t>=</m:t>
                      </m:r>
                      <m:r>
                        <a:rPr lang="en-GB" sz="2400" b="0" i="1" smtClean="0">
                          <a:latin typeface="Cambria Math" panose="02040503050406030204" pitchFamily="18" charset="0"/>
                        </a:rPr>
                        <m:t>𝑉𝑠</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𝑅𝑝</m:t>
                          </m:r>
                        </m:num>
                        <m:den>
                          <m:r>
                            <a:rPr lang="en-GB" sz="2400" b="0" i="1" smtClean="0">
                              <a:latin typeface="Cambria Math" panose="02040503050406030204" pitchFamily="18" charset="0"/>
                            </a:rPr>
                            <m:t>𝑅𝑙</m:t>
                          </m:r>
                        </m:den>
                      </m:f>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3</m:t>
                              </m:r>
                            </m:sup>
                          </m:sSup>
                        </m:e>
                      </m:d>
                    </m:oMath>
                  </m:oMathPara>
                </a14:m>
                <a:endParaRPr lang="en-GB" sz="2200" dirty="0"/>
              </a:p>
              <a:p>
                <a:endParaRPr lang="en-GB" sz="2200" dirty="0"/>
              </a:p>
              <a:p>
                <a:endParaRPr lang="en-GB" sz="2200" dirty="0"/>
              </a:p>
              <a:p>
                <a:pPr marL="0" indent="0">
                  <a:buNone/>
                </a:pPr>
                <a:endParaRPr lang="en-GB" sz="2200" dirty="0"/>
              </a:p>
              <a:p>
                <a:pPr marL="0" indent="0">
                  <a:buNone/>
                </a:pPr>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1" i="0" u="none" strike="noStrike" kern="1200" cap="none" spc="0" normalizeH="0" baseline="0" noProof="0" smtClean="0">
                <a:ln>
                  <a:noFill/>
                </a:ln>
                <a:solidFill>
                  <a:prstClr val="black">
                    <a:tint val="82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GB" sz="1200" b="1" i="0" u="none" strike="noStrike" kern="1200" cap="none" spc="0" normalizeH="0" baseline="0" noProof="0">
              <a:ln>
                <a:noFill/>
              </a:ln>
              <a:solidFill>
                <a:prstClr val="black">
                  <a:tint val="82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956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dirty="0"/>
              <a:t>Potentiometers - Error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88076" y="1895052"/>
                <a:ext cx="10515600" cy="4251960"/>
              </a:xfrm>
            </p:spPr>
            <p:txBody>
              <a:bodyPr>
                <a:normAutofit/>
              </a:bodyPr>
              <a:lstStyle/>
              <a:p>
                <a:pPr indent="-225720">
                  <a:spcAft>
                    <a:spcPts val="1414"/>
                  </a:spcAft>
                  <a:buClr>
                    <a:srgbClr val="000000"/>
                  </a:buClr>
                  <a:buSzPct val="45000"/>
                  <a:buFont typeface="Wingdings" charset="2"/>
                  <a:buChar char=""/>
                </a:pPr>
                <a:r>
                  <a:rPr lang="en-GB" sz="2000" spc="-1" dirty="0">
                    <a:latin typeface="Arial"/>
                    <a:ea typeface="DejaVu Sans"/>
                  </a:rPr>
                  <a:t>Example - </a:t>
                </a:r>
                <a:r>
                  <a:rPr lang="en-GB" sz="2000" spc="-1" dirty="0">
                    <a:latin typeface="Arial"/>
                  </a:rPr>
                  <a:t>500</a:t>
                </a:r>
                <a:r>
                  <a:rPr lang="en-GB" sz="2000" spc="-1" dirty="0">
                    <a:latin typeface="Arial"/>
                    <a:ea typeface="DejaVu Sans"/>
                  </a:rPr>
                  <a:t>Ω with slider 1/2 along the track, </a:t>
                </a:r>
                <a:r>
                  <a:rPr lang="en-GB" sz="2000" spc="-1" dirty="0" err="1">
                    <a:latin typeface="Arial"/>
                  </a:rPr>
                  <a:t>Rl</a:t>
                </a:r>
                <a:r>
                  <a:rPr lang="en-GB" sz="2000" spc="-1" dirty="0">
                    <a:latin typeface="Arial"/>
                  </a:rPr>
                  <a:t> 10k</a:t>
                </a:r>
                <a:r>
                  <a:rPr lang="en-GB" sz="2000" spc="-1" dirty="0">
                    <a:latin typeface="Arial"/>
                    <a:ea typeface="DejaVu Sans"/>
                  </a:rPr>
                  <a:t>Ω, Vs 4V</a:t>
                </a:r>
                <a:endParaRPr lang="en-GB" sz="2400" spc="-1" dirty="0">
                  <a:latin typeface="Arial"/>
                  <a:ea typeface="DejaVu Sans"/>
                </a:endParaRPr>
              </a:p>
              <a:p>
                <a:pPr marL="460080" lvl="1" indent="0">
                  <a:spcAft>
                    <a:spcPts val="1414"/>
                  </a:spcAft>
                  <a:buClr>
                    <a:srgbClr val="000000"/>
                  </a:buClr>
                  <a:buSzPct val="45000"/>
                  <a:buNone/>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𝑒𝑟𝑟𝑜𝑟</m:t>
                      </m:r>
                      <m:r>
                        <a:rPr lang="en-GB" sz="2000" b="0" i="1" smtClean="0">
                          <a:latin typeface="Cambria Math" panose="02040503050406030204" pitchFamily="18" charset="0"/>
                        </a:rPr>
                        <m:t>=</m:t>
                      </m:r>
                      <m:r>
                        <a:rPr lang="en-GB" sz="2000" b="0" i="1" smtClean="0">
                          <a:latin typeface="Cambria Math" panose="02040503050406030204" pitchFamily="18" charset="0"/>
                        </a:rPr>
                        <m:t>𝑉𝑠</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𝑅𝑝</m:t>
                          </m:r>
                        </m:num>
                        <m:den>
                          <m:r>
                            <a:rPr lang="en-GB" sz="2000" b="0" i="1" smtClean="0">
                              <a:latin typeface="Cambria Math" panose="02040503050406030204" pitchFamily="18" charset="0"/>
                            </a:rPr>
                            <m:t>𝑅𝑙</m:t>
                          </m:r>
                        </m:den>
                      </m:f>
                      <m:r>
                        <a:rPr lang="en-GB" sz="2000" b="0" i="1" smtClean="0">
                          <a:latin typeface="Cambria Math" panose="02040503050406030204" pitchFamily="18" charset="0"/>
                        </a:rPr>
                        <m:t>.</m:t>
                      </m:r>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3</m:t>
                              </m:r>
                            </m:sup>
                          </m:sSup>
                        </m:e>
                      </m:d>
                      <m:r>
                        <a:rPr lang="en-GB" sz="2000" b="0" i="1" smtClean="0">
                          <a:latin typeface="Cambria Math" panose="02040503050406030204" pitchFamily="18" charset="0"/>
                        </a:rPr>
                        <m:t>=4</m:t>
                      </m:r>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500</m:t>
                          </m:r>
                        </m:num>
                        <m:den>
                          <m:r>
                            <a:rPr lang="en-GB" sz="2000" b="0" i="1" smtClean="0">
                              <a:latin typeface="Cambria Math" panose="02040503050406030204" pitchFamily="18" charset="0"/>
                              <a:ea typeface="Cambria Math" panose="02040503050406030204" pitchFamily="18" charset="0"/>
                            </a:rPr>
                            <m:t>10000</m:t>
                          </m:r>
                        </m:den>
                      </m:f>
                      <m:r>
                        <a:rPr lang="en-GB" sz="2000" b="0" i="1" smtClean="0">
                          <a:latin typeface="Cambria Math" panose="02040503050406030204" pitchFamily="18" charset="0"/>
                          <a:ea typeface="Cambria Math" panose="02040503050406030204" pitchFamily="18" charset="0"/>
                        </a:rPr>
                        <m:t>×</m:t>
                      </m:r>
                      <m:d>
                        <m:dPr>
                          <m:ctrlPr>
                            <a:rPr lang="en-GB" sz="2000" b="0" i="1" smtClean="0">
                              <a:latin typeface="Cambria Math" panose="02040503050406030204" pitchFamily="18" charset="0"/>
                              <a:ea typeface="Cambria Math" panose="02040503050406030204" pitchFamily="18" charset="0"/>
                            </a:rPr>
                          </m:ctrlPr>
                        </m:dPr>
                        <m:e>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2</m:t>
                              </m:r>
                            </m:sup>
                          </m:sSup>
                          <m:r>
                            <a:rPr lang="en-GB" sz="2000" b="0" i="1" smtClean="0">
                              <a:latin typeface="Cambria Math" panose="02040503050406030204" pitchFamily="18" charset="0"/>
                              <a:ea typeface="Cambria Math" panose="02040503050406030204" pitchFamily="18" charset="0"/>
                            </a:rPr>
                            <m:t>−</m:t>
                          </m:r>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3</m:t>
                              </m:r>
                            </m:sup>
                          </m:sSup>
                        </m:e>
                      </m:d>
                      <m:r>
                        <a:rPr lang="en-GB" sz="2000" b="0" i="1" smtClean="0">
                          <a:latin typeface="Cambria Math" panose="02040503050406030204" pitchFamily="18" charset="0"/>
                          <a:ea typeface="Cambria Math" panose="02040503050406030204" pitchFamily="18" charset="0"/>
                        </a:rPr>
                        <m:t>=0.025</m:t>
                      </m:r>
                      <m:r>
                        <a:rPr lang="en-GB" sz="2000" b="0" i="1" smtClean="0">
                          <a:latin typeface="Cambria Math" panose="02040503050406030204" pitchFamily="18" charset="0"/>
                          <a:ea typeface="Cambria Math" panose="02040503050406030204" pitchFamily="18" charset="0"/>
                        </a:rPr>
                        <m:t>𝑉</m:t>
                      </m:r>
                    </m:oMath>
                  </m:oMathPara>
                </a14:m>
                <a:endParaRPr lang="en-GB" sz="2000" spc="-1" dirty="0">
                  <a:latin typeface="Arial"/>
                </a:endParaRPr>
              </a:p>
              <a:p>
                <a:pPr lvl="1" indent="-225720">
                  <a:spcAft>
                    <a:spcPts val="1414"/>
                  </a:spcAft>
                  <a:buClr>
                    <a:srgbClr val="000000"/>
                  </a:buClr>
                  <a:buSzPct val="45000"/>
                  <a:buFont typeface="Wingdings" charset="2"/>
                  <a:buChar char=""/>
                </a:pPr>
                <a:r>
                  <a:rPr lang="en-GB" sz="1600" spc="-1" dirty="0">
                    <a:latin typeface="Arial"/>
                  </a:rPr>
                  <a:t>As a percentage of </a:t>
                </a:r>
                <a:r>
                  <a:rPr lang="en-GB" sz="1600" spc="-1" dirty="0" err="1">
                    <a:latin typeface="Arial"/>
                  </a:rPr>
                  <a:t>fullscale</a:t>
                </a:r>
                <a:r>
                  <a:rPr lang="en-GB" sz="1600" spc="-1" dirty="0">
                    <a:latin typeface="Arial"/>
                  </a:rPr>
                  <a:t> input range this 0.625% (0.025/4 * 100)</a:t>
                </a:r>
              </a:p>
              <a:p>
                <a:pPr indent="-225720">
                  <a:spcAft>
                    <a:spcPts val="1414"/>
                  </a:spcAft>
                  <a:buClr>
                    <a:srgbClr val="000000"/>
                  </a:buClr>
                  <a:buSzPct val="45000"/>
                  <a:buFont typeface="Wingdings" charset="2"/>
                  <a:buChar char=""/>
                </a:pPr>
                <a:r>
                  <a:rPr lang="en-GB" sz="2000" spc="-1" dirty="0">
                    <a:latin typeface="Arial"/>
                  </a:rPr>
                  <a:t>Example </a:t>
                </a:r>
                <a:r>
                  <a:rPr lang="en-GB" sz="2000" spc="-1" dirty="0">
                    <a:latin typeface="Arial"/>
                    <a:ea typeface="DejaVu Sans"/>
                  </a:rPr>
                  <a:t>- </a:t>
                </a:r>
                <a:r>
                  <a:rPr lang="en-GB" sz="2000" spc="-1" dirty="0">
                    <a:latin typeface="Arial"/>
                  </a:rPr>
                  <a:t>500</a:t>
                </a:r>
                <a:r>
                  <a:rPr lang="en-GB" sz="2000" spc="-1" dirty="0">
                    <a:latin typeface="Arial"/>
                    <a:ea typeface="DejaVu Sans"/>
                  </a:rPr>
                  <a:t>Ω with slider 1/2 along the track, </a:t>
                </a:r>
                <a:r>
                  <a:rPr lang="en-GB" sz="2000" spc="-1" dirty="0" err="1">
                    <a:latin typeface="Arial"/>
                  </a:rPr>
                  <a:t>Rl</a:t>
                </a:r>
                <a:r>
                  <a:rPr lang="en-GB" sz="2000" spc="-1" dirty="0">
                    <a:latin typeface="Arial"/>
                  </a:rPr>
                  <a:t> 50k</a:t>
                </a:r>
                <a:r>
                  <a:rPr lang="en-GB" sz="2000" spc="-1" dirty="0">
                    <a:latin typeface="Arial"/>
                    <a:ea typeface="DejaVu Sans"/>
                  </a:rPr>
                  <a:t>Ω, Vs 4V</a:t>
                </a:r>
              </a:p>
              <a:p>
                <a:pPr marL="2880" indent="0">
                  <a:spcAft>
                    <a:spcPts val="1414"/>
                  </a:spcAft>
                  <a:buClr>
                    <a:srgbClr val="000000"/>
                  </a:buClr>
                  <a:buSzPct val="45000"/>
                  <a:buNone/>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𝑒𝑟𝑟𝑜𝑟</m:t>
                      </m:r>
                      <m:r>
                        <a:rPr lang="en-GB" sz="2000" b="0" i="1" smtClean="0">
                          <a:latin typeface="Cambria Math" panose="02040503050406030204" pitchFamily="18" charset="0"/>
                        </a:rPr>
                        <m:t>=</m:t>
                      </m:r>
                      <m:r>
                        <a:rPr lang="en-GB" sz="2000" b="0" i="1" smtClean="0">
                          <a:latin typeface="Cambria Math" panose="02040503050406030204" pitchFamily="18" charset="0"/>
                        </a:rPr>
                        <m:t>𝑉𝑠</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𝑅𝑝</m:t>
                          </m:r>
                        </m:num>
                        <m:den>
                          <m:r>
                            <a:rPr lang="en-GB" sz="2000" b="0" i="1" smtClean="0">
                              <a:latin typeface="Cambria Math" panose="02040503050406030204" pitchFamily="18" charset="0"/>
                            </a:rPr>
                            <m:t>𝑅𝑙</m:t>
                          </m:r>
                        </m:den>
                      </m:f>
                      <m:r>
                        <a:rPr lang="en-GB" sz="2000" b="0" i="1" smtClean="0">
                          <a:latin typeface="Cambria Math" panose="02040503050406030204" pitchFamily="18" charset="0"/>
                        </a:rPr>
                        <m:t>.</m:t>
                      </m:r>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3</m:t>
                              </m:r>
                            </m:sup>
                          </m:sSup>
                        </m:e>
                      </m:d>
                      <m:r>
                        <a:rPr lang="en-GB" sz="2000" b="0" i="1" smtClean="0">
                          <a:latin typeface="Cambria Math" panose="02040503050406030204" pitchFamily="18" charset="0"/>
                        </a:rPr>
                        <m:t>=4</m:t>
                      </m:r>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500</m:t>
                          </m:r>
                        </m:num>
                        <m:den>
                          <m:r>
                            <a:rPr lang="en-GB" sz="2000" b="0" i="1" smtClean="0">
                              <a:latin typeface="Cambria Math" panose="02040503050406030204" pitchFamily="18" charset="0"/>
                              <a:ea typeface="Cambria Math" panose="02040503050406030204" pitchFamily="18" charset="0"/>
                            </a:rPr>
                            <m:t>50000</m:t>
                          </m:r>
                        </m:den>
                      </m:f>
                      <m:r>
                        <a:rPr lang="en-GB" sz="2000" b="0" i="1" smtClean="0">
                          <a:latin typeface="Cambria Math" panose="02040503050406030204" pitchFamily="18" charset="0"/>
                          <a:ea typeface="Cambria Math" panose="02040503050406030204" pitchFamily="18" charset="0"/>
                        </a:rPr>
                        <m:t>×</m:t>
                      </m:r>
                      <m:d>
                        <m:dPr>
                          <m:ctrlPr>
                            <a:rPr lang="en-GB" sz="2000" b="0" i="1" smtClean="0">
                              <a:latin typeface="Cambria Math" panose="02040503050406030204" pitchFamily="18" charset="0"/>
                              <a:ea typeface="Cambria Math" panose="02040503050406030204" pitchFamily="18" charset="0"/>
                            </a:rPr>
                          </m:ctrlPr>
                        </m:dPr>
                        <m:e>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2</m:t>
                              </m:r>
                            </m:sup>
                          </m:sSup>
                          <m:r>
                            <a:rPr lang="en-GB" sz="2000" b="0" i="1" smtClean="0">
                              <a:latin typeface="Cambria Math" panose="02040503050406030204" pitchFamily="18" charset="0"/>
                              <a:ea typeface="Cambria Math" panose="02040503050406030204" pitchFamily="18" charset="0"/>
                            </a:rPr>
                            <m:t>−</m:t>
                          </m:r>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3</m:t>
                              </m:r>
                            </m:sup>
                          </m:sSup>
                        </m:e>
                      </m:d>
                      <m:r>
                        <a:rPr lang="en-GB" sz="2000" b="0" i="1" smtClean="0">
                          <a:latin typeface="Cambria Math" panose="02040503050406030204" pitchFamily="18" charset="0"/>
                          <a:ea typeface="Cambria Math" panose="02040503050406030204" pitchFamily="18" charset="0"/>
                        </a:rPr>
                        <m:t>=0.005</m:t>
                      </m:r>
                      <m:r>
                        <a:rPr lang="en-GB" sz="2000" b="0" i="1" smtClean="0">
                          <a:latin typeface="Cambria Math" panose="02040503050406030204" pitchFamily="18" charset="0"/>
                          <a:ea typeface="Cambria Math" panose="02040503050406030204" pitchFamily="18" charset="0"/>
                        </a:rPr>
                        <m:t>𝑉</m:t>
                      </m:r>
                    </m:oMath>
                  </m:oMathPara>
                </a14:m>
                <a:endParaRPr lang="en-GB" sz="2000" dirty="0">
                  <a:latin typeface="Arial"/>
                  <a:ea typeface="Cambria Math" panose="02040503050406030204" pitchFamily="18" charset="0"/>
                </a:endParaRPr>
              </a:p>
              <a:p>
                <a:pPr lvl="1" indent="-225720">
                  <a:spcAft>
                    <a:spcPts val="1414"/>
                  </a:spcAft>
                  <a:buClr>
                    <a:srgbClr val="000000"/>
                  </a:buClr>
                  <a:buSzPct val="45000"/>
                  <a:buFont typeface="Wingdings" charset="2"/>
                  <a:buChar char=""/>
                </a:pPr>
                <a:r>
                  <a:rPr lang="en-GB" sz="1600" spc="-1" dirty="0">
                    <a:latin typeface="Arial"/>
                  </a:rPr>
                  <a:t>As a percentage of </a:t>
                </a:r>
                <a:r>
                  <a:rPr lang="en-GB" sz="1600" spc="-1" dirty="0" err="1">
                    <a:latin typeface="Arial"/>
                  </a:rPr>
                  <a:t>fullscale</a:t>
                </a:r>
                <a:r>
                  <a:rPr lang="en-GB" sz="1600" spc="-1" dirty="0">
                    <a:latin typeface="Arial"/>
                  </a:rPr>
                  <a:t> input range this 0.125% (0.005/4 * 100)</a:t>
                </a:r>
              </a:p>
              <a:p>
                <a:pPr indent="-225720">
                  <a:spcAft>
                    <a:spcPts val="1414"/>
                  </a:spcAft>
                  <a:buClr>
                    <a:srgbClr val="000000"/>
                  </a:buClr>
                  <a:buSzPct val="45000"/>
                  <a:buFont typeface="Wingdings" charset="2"/>
                  <a:buChar char=""/>
                </a:pPr>
                <a:r>
                  <a:rPr lang="en-GB" sz="2000" spc="-1" dirty="0">
                    <a:latin typeface="Arial"/>
                  </a:rPr>
                  <a:t>This shows the difference </a:t>
                </a:r>
                <a:r>
                  <a:rPr lang="en-GB" sz="2000" spc="-1" dirty="0" err="1">
                    <a:latin typeface="Arial"/>
                  </a:rPr>
                  <a:t>Rl</a:t>
                </a:r>
                <a:r>
                  <a:rPr lang="en-GB" sz="2000" spc="-1" dirty="0">
                    <a:latin typeface="Arial"/>
                  </a:rPr>
                  <a:t> can make. </a:t>
                </a:r>
              </a:p>
              <a:p>
                <a:pPr lvl="1" indent="-225720">
                  <a:spcAft>
                    <a:spcPts val="1414"/>
                  </a:spcAft>
                  <a:buClr>
                    <a:srgbClr val="000000"/>
                  </a:buClr>
                  <a:buSzPct val="45000"/>
                  <a:buFont typeface="Wingdings" charset="2"/>
                  <a:buChar char=""/>
                </a:pPr>
                <a:endParaRPr lang="en-GB" sz="2200" spc="-1" dirty="0">
                  <a:latin typeface="Arial"/>
                </a:endParaRPr>
              </a:p>
              <a:p>
                <a:pPr lvl="1" indent="-225720">
                  <a:spcAft>
                    <a:spcPts val="1414"/>
                  </a:spcAft>
                  <a:buClr>
                    <a:srgbClr val="000000"/>
                  </a:buClr>
                  <a:buSzPct val="45000"/>
                  <a:buFont typeface="Wingdings" charset="2"/>
                  <a:buChar char=""/>
                </a:pPr>
                <a:endParaRPr lang="en-GB" sz="2200" spc="-1" dirty="0">
                  <a:latin typeface="Arial"/>
                </a:endParaRPr>
              </a:p>
              <a:p>
                <a:pPr lvl="1" indent="-225720">
                  <a:spcAft>
                    <a:spcPts val="1414"/>
                  </a:spcAft>
                  <a:buClr>
                    <a:srgbClr val="000000"/>
                  </a:buClr>
                  <a:buSzPct val="45000"/>
                  <a:buFont typeface="Wingdings" charset="2"/>
                  <a:buChar char=""/>
                </a:pPr>
                <a:endParaRPr lang="en-GB" sz="2200" spc="-1" dirty="0">
                  <a:latin typeface="Arial"/>
                </a:endParaRPr>
              </a:p>
              <a:p>
                <a:pPr lvl="1" indent="-225720">
                  <a:spcAft>
                    <a:spcPts val="1414"/>
                  </a:spcAft>
                  <a:buClr>
                    <a:srgbClr val="000000"/>
                  </a:buClr>
                  <a:buSzPct val="45000"/>
                  <a:buFont typeface="Wingdings" charset="2"/>
                  <a:buChar char=""/>
                </a:pPr>
                <a:endParaRPr lang="en-GB" sz="2200" spc="-1" dirty="0">
                  <a:latin typeface="Arial"/>
                </a:endParaRPr>
              </a:p>
              <a:p>
                <a:pPr marL="0" indent="0">
                  <a:buNone/>
                </a:pPr>
                <a:endParaRPr lang="en-GB" sz="2200" dirty="0"/>
              </a:p>
              <a:p>
                <a:endParaRPr lang="en-GB" sz="2200" dirty="0"/>
              </a:p>
              <a:p>
                <a:endParaRPr lang="en-GB" sz="2200" dirty="0"/>
              </a:p>
              <a:p>
                <a:pPr marL="0" indent="0">
                  <a:buNone/>
                </a:pPr>
                <a:endParaRPr lang="en-GB" sz="2200" dirty="0"/>
              </a:p>
              <a:p>
                <a:pPr marL="0" indent="0">
                  <a:buNone/>
                </a:pPr>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88076" y="1895052"/>
                <a:ext cx="10515600" cy="4251960"/>
              </a:xfrm>
              <a:blipFill>
                <a:blip r:embed="rId2"/>
                <a:stretch>
                  <a:fillRect t="-1435"/>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1" i="0" u="none" strike="noStrike" kern="1200" cap="none" spc="0" normalizeH="0" baseline="0" noProof="0" smtClean="0">
                <a:ln>
                  <a:noFill/>
                </a:ln>
                <a:solidFill>
                  <a:prstClr val="black">
                    <a:tint val="82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GB" sz="1200" b="1" i="0" u="none" strike="noStrike" kern="1200" cap="none" spc="0" normalizeH="0" baseline="0" noProof="0">
              <a:ln>
                <a:noFill/>
              </a:ln>
              <a:solidFill>
                <a:prstClr val="black">
                  <a:tint val="82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7951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3200" dirty="0"/>
              <a:t>Problems with wiper wear are significant and result from the friction between the wiper and track</a:t>
            </a:r>
          </a:p>
          <a:p>
            <a:r>
              <a:rPr lang="en-GB" sz="3200" dirty="0"/>
              <a:t>Reliability improved by minimising current drawn from wiper contact</a:t>
            </a:r>
          </a:p>
          <a:p>
            <a:r>
              <a:rPr lang="en-GB" sz="3200" dirty="0"/>
              <a:t>Provide absolute position information at relatively low cost (unless very high accuracy needed)</a:t>
            </a:r>
          </a:p>
          <a:p>
            <a:endParaRPr lang="en-GB" sz="2200" dirty="0"/>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304225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5D5644-56B4-3FEF-2FF1-8055A3DBF47A}"/>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4CDC8CC-4094-72C7-6C15-781EAE17CF35}"/>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a:solidFill>
                  <a:srgbClr val="FFFFFF"/>
                </a:solidFill>
                <a:latin typeface="+mj-lt"/>
                <a:ea typeface="+mj-ea"/>
                <a:cs typeface="+mj-cs"/>
              </a:rPr>
              <a:t>Linear Variable Differential Transformer</a:t>
            </a:r>
            <a:endParaRPr lang="en-US" sz="5600" b="1" kern="1200" dirty="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32AE3F4E-9413-B874-E288-474B5D90792C}"/>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2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5"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6"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8"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cxnSp>
        <p:nvCxnSpPr>
          <p:cNvPr id="29" name="Straight Connector 2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0484291-4E58-4800-CD0A-B4282D0FB3A6}"/>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1"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1"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4624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DDE4C4-79DA-94FC-4DB9-3F4488275DB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AC5A5DF-5894-6FF1-830F-189759B64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9D1A009-E6AB-E269-E59C-49EA2F44AC58}"/>
              </a:ext>
            </a:extLst>
          </p:cNvPr>
          <p:cNvSpPr>
            <a:spLocks noGrp="1"/>
          </p:cNvSpPr>
          <p:nvPr>
            <p:ph type="title"/>
          </p:nvPr>
        </p:nvSpPr>
        <p:spPr>
          <a:xfrm>
            <a:off x="572493" y="238539"/>
            <a:ext cx="11018520" cy="1434415"/>
          </a:xfrm>
        </p:spPr>
        <p:txBody>
          <a:bodyPr vert="horz" lIns="91440" tIns="45720" rIns="91440" bIns="45720" rtlCol="0" anchor="b">
            <a:normAutofit fontScale="90000"/>
          </a:bodyPr>
          <a:lstStyle/>
          <a:p>
            <a:r>
              <a:rPr kumimoji="0" lang="en-GB" sz="5400" b="1" i="0" u="none" strike="noStrike" kern="1200" cap="none" spc="0" normalizeH="0" baseline="0" noProof="0" dirty="0">
                <a:ln>
                  <a:noFill/>
                </a:ln>
                <a:solidFill>
                  <a:prstClr val="black"/>
                </a:solidFill>
                <a:effectLst/>
                <a:uLnTx/>
                <a:uFillTx/>
                <a:latin typeface="Aptos Display" panose="02110004020202020204"/>
                <a:ea typeface="+mj-ea"/>
                <a:cs typeface="+mj-cs"/>
              </a:rPr>
              <a:t>Linear Variable Differential Transformer</a:t>
            </a:r>
            <a:endParaRPr lang="en-US" sz="5400" b="1" dirty="0"/>
          </a:p>
        </p:txBody>
      </p:sp>
      <p:sp>
        <p:nvSpPr>
          <p:cNvPr id="14" name="sketchy line">
            <a:extLst>
              <a:ext uri="{FF2B5EF4-FFF2-40B4-BE49-F238E27FC236}">
                <a16:creationId xmlns:a16="http://schemas.microsoft.com/office/drawing/2014/main" id="{78F0E030-CC80-5929-37D3-5548EE9CE5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A5D482B5-D23B-7C6F-3CA0-B6F862855701}"/>
              </a:ext>
            </a:extLst>
          </p:cNvPr>
          <p:cNvSpPr>
            <a:spLocks noGrp="1"/>
          </p:cNvSpPr>
          <p:nvPr>
            <p:ph sz="half" idx="1"/>
          </p:nvPr>
        </p:nvSpPr>
        <p:spPr>
          <a:xfrm>
            <a:off x="572493" y="2071316"/>
            <a:ext cx="5761805" cy="4119172"/>
          </a:xfrm>
        </p:spPr>
        <p:txBody>
          <a:bodyPr vert="horz" lIns="91440" tIns="45720" rIns="91440" bIns="45720" rtlCol="0" anchor="t">
            <a:normAutofit fontScale="92500" lnSpcReduction="10000"/>
          </a:bodyPr>
          <a:lstStyle/>
          <a:p>
            <a:r>
              <a:rPr lang="en-GB" sz="2400" dirty="0"/>
              <a:t>LVDT for short</a:t>
            </a:r>
          </a:p>
          <a:p>
            <a:r>
              <a:rPr lang="en-GB" sz="2400" dirty="0"/>
              <a:t>Widely used as primary sensors for monitoring displacements</a:t>
            </a:r>
          </a:p>
          <a:p>
            <a:r>
              <a:rPr lang="en-GB" sz="2400" dirty="0"/>
              <a:t>Consists of three coils symmetrically spaced along an insulated tube.</a:t>
            </a:r>
          </a:p>
          <a:p>
            <a:r>
              <a:rPr lang="en-GB" sz="2400" dirty="0"/>
              <a:t>The central coil is the primary coil and the other two are identical secondary coils which are connected such that their outputs oppose each other.</a:t>
            </a:r>
          </a:p>
          <a:p>
            <a:r>
              <a:rPr lang="en-GB" sz="2400" dirty="0"/>
              <a:t>Measurements made through the movement of a magnetic core which results from the displacement of the probe tip.</a:t>
            </a:r>
          </a:p>
        </p:txBody>
      </p:sp>
      <p:sp>
        <p:nvSpPr>
          <p:cNvPr id="4" name="Slide Number Placeholder 3">
            <a:extLst>
              <a:ext uri="{FF2B5EF4-FFF2-40B4-BE49-F238E27FC236}">
                <a16:creationId xmlns:a16="http://schemas.microsoft.com/office/drawing/2014/main" id="{E3D9C746-B689-F869-AE5D-6F7D23ACCC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5BC82037-EF5C-7367-AFE6-7D073C126FF4}"/>
              </a:ext>
            </a:extLst>
          </p:cNvPr>
          <p:cNvSpPr txBox="1"/>
          <p:nvPr/>
        </p:nvSpPr>
        <p:spPr>
          <a:xfrm>
            <a:off x="7053262" y="5176456"/>
            <a:ext cx="341947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https://singer-instruments.com/introduction-to-lvdt/</a:t>
            </a:r>
          </a:p>
        </p:txBody>
      </p:sp>
      <p:pic>
        <p:nvPicPr>
          <p:cNvPr id="10" name="Content Placeholder 5">
            <a:extLst>
              <a:ext uri="{FF2B5EF4-FFF2-40B4-BE49-F238E27FC236}">
                <a16:creationId xmlns:a16="http://schemas.microsoft.com/office/drawing/2014/main" id="{5F1BB7E2-CCC9-0A65-284E-AD55B84A6DF0}"/>
              </a:ext>
            </a:extLst>
          </p:cNvPr>
          <p:cNvPicPr>
            <a:picLocks noGrp="1" noChangeAspect="1"/>
          </p:cNvPicPr>
          <p:nvPr>
            <p:ph sz="half" idx="2"/>
          </p:nvPr>
        </p:nvPicPr>
        <p:blipFill>
          <a:blip r:embed="rId2"/>
          <a:stretch>
            <a:fillRect/>
          </a:stretch>
        </p:blipFill>
        <p:spPr>
          <a:xfrm>
            <a:off x="7053262" y="2858294"/>
            <a:ext cx="3419475" cy="2286000"/>
          </a:xfrm>
          <a:prstGeom prst="rect">
            <a:avLst/>
          </a:prstGeom>
        </p:spPr>
      </p:pic>
    </p:spTree>
    <p:extLst>
      <p:ext uri="{BB962C8B-B14F-4D97-AF65-F5344CB8AC3E}">
        <p14:creationId xmlns:p14="http://schemas.microsoft.com/office/powerpoint/2010/main" val="213208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000" b="1"/>
              <a:t>Linear Variable Differential Transformer</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a:xfrm>
            <a:off x="572493" y="2071316"/>
            <a:ext cx="6713552" cy="4119172"/>
          </a:xfrm>
        </p:spPr>
        <p:txBody>
          <a:bodyPr vert="horz" lIns="91440" tIns="45720" rIns="91440" bIns="45720" rtlCol="0" anchor="t">
            <a:normAutofit lnSpcReduction="10000"/>
          </a:bodyPr>
          <a:lstStyle/>
          <a:p>
            <a:r>
              <a:rPr lang="en-US" sz="1900" dirty="0"/>
              <a:t>When an alternating voltage input is applied to the primary coil, alternating emf′s are induced in the secondary coils</a:t>
            </a:r>
          </a:p>
          <a:p>
            <a:r>
              <a:rPr lang="en-US" sz="1900" dirty="0"/>
              <a:t>With the magnetic core central, the amount of magnetic material within each of the secondary coils is equal and the emf′s produced in each coil are the same with the net result being zero output</a:t>
            </a:r>
          </a:p>
          <a:p>
            <a:r>
              <a:rPr lang="en-US" sz="1900" dirty="0"/>
              <a:t>When the core is displaced from the central position, due to probe displacement, there is a greater amount of the core in one of the secondary coils than the other</a:t>
            </a:r>
          </a:p>
          <a:p>
            <a:r>
              <a:rPr lang="en-US" sz="1900" dirty="0"/>
              <a:t>This results in a greater emf being induced in one coil than the other which produces a non-zero output</a:t>
            </a:r>
          </a:p>
          <a:p>
            <a:r>
              <a:rPr lang="en-US" sz="1900" dirty="0"/>
              <a:t>The sensor output, the difference between the two emf’s increases with increased displacement</a:t>
            </a:r>
          </a:p>
          <a:p>
            <a:r>
              <a:rPr lang="en-US" sz="1900" dirty="0"/>
              <a:t>Or… https://www.youtube.com/watch?v=08yKYiZv-kg</a:t>
            </a:r>
          </a:p>
          <a:p>
            <a:endParaRPr lang="en-US" sz="1900" dirty="0"/>
          </a:p>
        </p:txBody>
      </p:sp>
      <p:pic>
        <p:nvPicPr>
          <p:cNvPr id="9" name="Content Placeholder 8">
            <a:extLst>
              <a:ext uri="{FF2B5EF4-FFF2-40B4-BE49-F238E27FC236}">
                <a16:creationId xmlns:a16="http://schemas.microsoft.com/office/drawing/2014/main" id="{0B15B7CC-0709-B808-3895-BCDBAD423FC2}"/>
              </a:ext>
            </a:extLst>
          </p:cNvPr>
          <p:cNvPicPr>
            <a:picLocks noGrp="1" noChangeAspect="1"/>
          </p:cNvPicPr>
          <p:nvPr>
            <p:ph sz="half" idx="2"/>
          </p:nvPr>
        </p:nvPicPr>
        <p:blipFill>
          <a:blip r:embed="rId2"/>
          <a:srcRect l="1668" r="37002" b="2"/>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286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The emf induced in a secondary coil by a changing current </a:t>
                </a:r>
                <a:r>
                  <a:rPr lang="en-GB" sz="2200" i="1" dirty="0" err="1"/>
                  <a:t>i</a:t>
                </a:r>
                <a:r>
                  <a:rPr lang="en-GB" sz="2200" dirty="0"/>
                  <a:t> in the primary coil is given by:</a:t>
                </a:r>
              </a:p>
              <a:p>
                <a:pPr marL="0" indent="0">
                  <a:buNone/>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𝑒𝑚𝑓</m:t>
                      </m:r>
                      <m:r>
                        <a:rPr lang="en-GB" sz="2200" b="0" i="1" smtClean="0">
                          <a:latin typeface="Cambria Math" panose="02040503050406030204" pitchFamily="18" charset="0"/>
                        </a:rPr>
                        <m:t>=</m:t>
                      </m:r>
                      <m:r>
                        <a:rPr lang="en-GB" sz="2200" b="0" i="1" smtClean="0">
                          <a:latin typeface="Cambria Math" panose="02040503050406030204" pitchFamily="18" charset="0"/>
                        </a:rPr>
                        <m:t>𝑀</m:t>
                      </m:r>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r>
                            <a:rPr lang="en-GB" sz="2200" b="0" i="1" smtClean="0">
                              <a:latin typeface="Cambria Math" panose="02040503050406030204" pitchFamily="18" charset="0"/>
                            </a:rPr>
                            <m:t>𝑑𝑖</m:t>
                          </m:r>
                        </m:num>
                        <m:den>
                          <m:r>
                            <a:rPr lang="en-GB" sz="2200" b="0" i="1" smtClean="0">
                              <a:latin typeface="Cambria Math" panose="02040503050406030204" pitchFamily="18" charset="0"/>
                            </a:rPr>
                            <m:t>𝑑𝑡</m:t>
                          </m:r>
                        </m:den>
                      </m:f>
                    </m:oMath>
                  </m:oMathPara>
                </a14:m>
                <a:endParaRPr lang="en-GB" sz="2200" dirty="0"/>
              </a:p>
              <a:p>
                <a:r>
                  <a:rPr lang="en-GB" sz="2200" dirty="0"/>
                  <a:t>M is the mutual inductance which is dependent on the number of turns on the coils and the composition of the core</a:t>
                </a:r>
              </a:p>
              <a:p>
                <a:r>
                  <a:rPr lang="en-GB" sz="2200" dirty="0"/>
                  <a:t>For a sinusoidal input current of </a:t>
                </a:r>
                <a:r>
                  <a:rPr lang="en-GB" sz="2200" i="1" dirty="0" err="1"/>
                  <a:t>i</a:t>
                </a:r>
                <a:r>
                  <a:rPr lang="en-GB" sz="2200" dirty="0"/>
                  <a:t> = </a:t>
                </a:r>
                <a:r>
                  <a:rPr lang="en-GB" sz="2200" i="1" dirty="0" err="1"/>
                  <a:t>i</a:t>
                </a:r>
                <a:r>
                  <a:rPr lang="en-GB" sz="2200" dirty="0" err="1"/>
                  <a:t>sin</a:t>
                </a:r>
                <a:r>
                  <a:rPr lang="en-GB" sz="2200" i="1" dirty="0" err="1"/>
                  <a:t>ωt</a:t>
                </a:r>
                <a:r>
                  <a:rPr lang="en-GB" sz="2200" dirty="0"/>
                  <a:t> to the primary coil, the emf’s induced in the two secondary coils are:</a:t>
                </a:r>
              </a:p>
              <a:p>
                <a:pPr marL="0" indent="0">
                  <a:buNone/>
                </a:pPr>
                <a:endParaRPr lang="en-GB" sz="2200" dirty="0"/>
              </a:p>
              <a:p>
                <a:pPr marL="0" indent="0">
                  <a:buNone/>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𝑉𝑎</m:t>
                      </m:r>
                      <m:r>
                        <a:rPr lang="en-GB" sz="2200" b="0" i="1" smtClean="0">
                          <a:latin typeface="Cambria Math" panose="02040503050406030204" pitchFamily="18" charset="0"/>
                        </a:rPr>
                        <m:t>=</m:t>
                      </m:r>
                      <m:r>
                        <a:rPr lang="en-GB" sz="2200" b="0" i="1" smtClean="0">
                          <a:latin typeface="Cambria Math" panose="02040503050406030204" pitchFamily="18" charset="0"/>
                        </a:rPr>
                        <m:t>𝐾𝑎</m:t>
                      </m:r>
                      <m:r>
                        <a:rPr lang="en-GB" sz="2200" b="0" i="1" smtClean="0">
                          <a:latin typeface="Cambria Math" panose="02040503050406030204" pitchFamily="18" charset="0"/>
                        </a:rPr>
                        <m:t>.</m:t>
                      </m:r>
                      <m:func>
                        <m:funcPr>
                          <m:ctrlPr>
                            <a:rPr lang="en-GB" sz="2200" b="0" i="1" smtClean="0">
                              <a:latin typeface="Cambria Math" panose="02040503050406030204" pitchFamily="18" charset="0"/>
                            </a:rPr>
                          </m:ctrlPr>
                        </m:funcPr>
                        <m:fName>
                          <m:r>
                            <m:rPr>
                              <m:sty m:val="p"/>
                            </m:rPr>
                            <a:rPr lang="en-GB" sz="2200" b="0" i="0" smtClean="0">
                              <a:latin typeface="Cambria Math" panose="02040503050406030204" pitchFamily="18" charset="0"/>
                            </a:rPr>
                            <m:t>sin</m:t>
                          </m:r>
                        </m:fName>
                        <m:e>
                          <m:d>
                            <m:dPr>
                              <m:ctrlPr>
                                <a:rPr lang="en-GB" sz="2200" b="0" i="1" smtClean="0">
                                  <a:latin typeface="Cambria Math" panose="02040503050406030204" pitchFamily="18" charset="0"/>
                                </a:rPr>
                              </m:ctrlPr>
                            </m:dPr>
                            <m:e>
                              <m:r>
                                <m:rPr>
                                  <m:sty m:val="p"/>
                                </m:rPr>
                                <a:rPr lang="el-GR" sz="2200" b="0" i="1" smtClean="0">
                                  <a:latin typeface="Cambria Math" panose="02040503050406030204" pitchFamily="18" charset="0"/>
                                </a:rPr>
                                <m:t>ω</m:t>
                              </m:r>
                              <m:r>
                                <a:rPr lang="en-GB" sz="2200" b="0" i="1" smtClean="0">
                                  <a:latin typeface="Cambria Math" panose="02040503050406030204" pitchFamily="18" charset="0"/>
                                </a:rPr>
                                <m:t>.</m:t>
                              </m:r>
                              <m:r>
                                <a:rPr lang="en-GB" sz="2200" b="0" i="1" smtClean="0">
                                  <a:latin typeface="Cambria Math" panose="02040503050406030204" pitchFamily="18" charset="0"/>
                                </a:rPr>
                                <m:t>𝑡</m:t>
                              </m:r>
                              <m:r>
                                <a:rPr lang="en-GB" sz="2200" b="0" i="1" smtClean="0">
                                  <a:latin typeface="Cambria Math" panose="02040503050406030204" pitchFamily="18" charset="0"/>
                                </a:rPr>
                                <m:t>−</m:t>
                              </m:r>
                              <m:r>
                                <m:rPr>
                                  <m:sty m:val="p"/>
                                </m:rPr>
                                <a:rPr lang="el-GR" sz="2200" b="0" i="1" smtClean="0">
                                  <a:latin typeface="Cambria Math" panose="02040503050406030204" pitchFamily="18" charset="0"/>
                                </a:rPr>
                                <m:t>ψ</m:t>
                              </m:r>
                            </m:e>
                          </m:d>
                        </m:e>
                      </m:func>
                      <m:r>
                        <a:rPr lang="en-GB" sz="2200" b="0" i="1" smtClean="0">
                          <a:latin typeface="Cambria Math" panose="02040503050406030204" pitchFamily="18" charset="0"/>
                        </a:rPr>
                        <m:t>                 </m:t>
                      </m:r>
                      <m:r>
                        <a:rPr lang="en-GB" sz="2200" i="1">
                          <a:latin typeface="Cambria Math" panose="02040503050406030204" pitchFamily="18" charset="0"/>
                        </a:rPr>
                        <m:t>𝑉</m:t>
                      </m:r>
                      <m:r>
                        <a:rPr lang="en-GB" sz="2200" b="0" i="1" smtClean="0">
                          <a:latin typeface="Cambria Math" panose="02040503050406030204" pitchFamily="18" charset="0"/>
                        </a:rPr>
                        <m:t>𝑏</m:t>
                      </m:r>
                      <m:r>
                        <a:rPr lang="en-GB" sz="2200" i="1">
                          <a:latin typeface="Cambria Math" panose="02040503050406030204" pitchFamily="18" charset="0"/>
                        </a:rPr>
                        <m:t>=</m:t>
                      </m:r>
                      <m:r>
                        <a:rPr lang="en-GB" sz="2200" i="1">
                          <a:latin typeface="Cambria Math" panose="02040503050406030204" pitchFamily="18" charset="0"/>
                        </a:rPr>
                        <m:t>𝐾𝑏</m:t>
                      </m:r>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a:latin typeface="Cambria Math" panose="02040503050406030204" pitchFamily="18" charset="0"/>
                                </a:rPr>
                                <m:t>ψ</m:t>
                              </m:r>
                            </m:e>
                          </m:d>
                        </m:e>
                      </m:func>
                    </m:oMath>
                  </m:oMathPara>
                </a14:m>
                <a:endParaRPr lang="en-GB" sz="2200" dirty="0"/>
              </a:p>
              <a:p>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324040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The values of kA, kB and φ depend on the degree of coupling between the primary and secondary coils for a particular core position</a:t>
                </a:r>
              </a:p>
              <a:p>
                <a:r>
                  <a:rPr lang="en-GB" sz="2200" dirty="0"/>
                  <a:t>φ is the phase difference between the primary alternating voltage and that of the secondary coils</a:t>
                </a:r>
              </a:p>
              <a:p>
                <a:r>
                  <a:rPr lang="en-GB" sz="2200" dirty="0"/>
                  <a:t>The LVDT is the difference between the two secondary coils given by:</a:t>
                </a:r>
              </a:p>
              <a:p>
                <a:pPr marL="0" indent="0">
                  <a:buNone/>
                </a:pPr>
                <a:endParaRPr lang="en-GB" sz="2200" dirty="0"/>
              </a:p>
              <a:p>
                <a:pPr marL="0" indent="0">
                  <a:buNone/>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𝑉𝑜𝑢𝑡</m:t>
                      </m:r>
                      <m:r>
                        <a:rPr lang="en-GB" sz="2200" b="0" i="1" smtClean="0">
                          <a:latin typeface="Cambria Math" panose="02040503050406030204" pitchFamily="18" charset="0"/>
                        </a:rPr>
                        <m:t>=</m:t>
                      </m:r>
                      <m:r>
                        <a:rPr lang="en-GB" sz="2200" b="0" i="1" smtClean="0">
                          <a:latin typeface="Cambria Math" panose="02040503050406030204" pitchFamily="18" charset="0"/>
                        </a:rPr>
                        <m:t>𝑉𝑎</m:t>
                      </m:r>
                      <m:r>
                        <a:rPr lang="en-GB" sz="2200" b="0" i="1" smtClean="0">
                          <a:latin typeface="Cambria Math" panose="02040503050406030204" pitchFamily="18" charset="0"/>
                        </a:rPr>
                        <m:t>−</m:t>
                      </m:r>
                      <m:r>
                        <a:rPr lang="en-GB" sz="2200" b="0" i="1" smtClean="0">
                          <a:latin typeface="Cambria Math" panose="02040503050406030204" pitchFamily="18" charset="0"/>
                        </a:rPr>
                        <m:t>𝑉𝑏</m:t>
                      </m:r>
                      <m:r>
                        <a:rPr lang="en-GB" sz="2200" b="0" i="1" smtClean="0">
                          <a:latin typeface="Cambria Math" panose="02040503050406030204" pitchFamily="18" charset="0"/>
                        </a:rPr>
                        <m:t>=</m:t>
                      </m:r>
                      <m:d>
                        <m:dPr>
                          <m:ctrlPr>
                            <a:rPr lang="en-GB" sz="2200" b="0" i="1" smtClean="0">
                              <a:latin typeface="Cambria Math" panose="02040503050406030204" pitchFamily="18" charset="0"/>
                            </a:rPr>
                          </m:ctrlPr>
                        </m:dPr>
                        <m:e>
                          <m:r>
                            <a:rPr lang="en-GB" sz="2200" b="0" i="1" smtClean="0">
                              <a:latin typeface="Cambria Math" panose="02040503050406030204" pitchFamily="18" charset="0"/>
                            </a:rPr>
                            <m:t>𝑘𝑎</m:t>
                          </m:r>
                          <m:r>
                            <a:rPr lang="en-GB" sz="2200" b="0" i="1" smtClean="0">
                              <a:latin typeface="Cambria Math" panose="02040503050406030204" pitchFamily="18" charset="0"/>
                            </a:rPr>
                            <m:t>−</m:t>
                          </m:r>
                          <m:r>
                            <a:rPr lang="en-GB" sz="2200" b="0" i="1" smtClean="0">
                              <a:latin typeface="Cambria Math" panose="02040503050406030204" pitchFamily="18" charset="0"/>
                            </a:rPr>
                            <m:t>𝑘𝑏</m:t>
                          </m:r>
                        </m:e>
                      </m:d>
                      <m:r>
                        <a:rPr lang="en-GB" sz="2200" b="0" i="1" smtClean="0">
                          <a:latin typeface="Cambria Math" panose="02040503050406030204" pitchFamily="18" charset="0"/>
                        </a:rPr>
                        <m:t>.</m:t>
                      </m:r>
                      <m:func>
                        <m:funcPr>
                          <m:ctrlPr>
                            <a:rPr lang="en-GB" sz="2200" b="0" i="1" smtClean="0">
                              <a:latin typeface="Cambria Math" panose="02040503050406030204" pitchFamily="18" charset="0"/>
                            </a:rPr>
                          </m:ctrlPr>
                        </m:funcPr>
                        <m:fName>
                          <m:r>
                            <m:rPr>
                              <m:sty m:val="p"/>
                            </m:rPr>
                            <a:rPr lang="en-GB" sz="2200" b="0" i="0" smtClean="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a:latin typeface="Cambria Math" panose="02040503050406030204" pitchFamily="18" charset="0"/>
                                </a:rPr>
                                <m:t>ψ</m:t>
                              </m:r>
                            </m:e>
                          </m:d>
                        </m:e>
                      </m:func>
                    </m:oMath>
                  </m:oMathPara>
                </a14:m>
                <a:endParaRPr lang="en-GB" sz="2200" b="0" dirty="0"/>
              </a:p>
              <a:p>
                <a:pPr marL="0" indent="0">
                  <a:buNone/>
                </a:pPr>
                <a:endParaRPr lang="en-GB" sz="2200" dirty="0"/>
              </a:p>
              <a:p>
                <a:r>
                  <a:rPr lang="en-GB" sz="2200" dirty="0"/>
                  <a:t>When the core is equally in both coils ka = kb and the output voltage is zero</a:t>
                </a:r>
              </a:p>
              <a:p>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46580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When the core is more in secondary coil a than in b we have ka &gt; kb :</a:t>
                </a:r>
              </a:p>
              <a:p>
                <a:endParaRPr lang="en-GB" sz="2200" dirty="0"/>
              </a:p>
              <a:p>
                <a:pPr marL="0" indent="0">
                  <a:buNone/>
                </a:pPr>
                <a14:m>
                  <m:oMathPara xmlns:m="http://schemas.openxmlformats.org/officeDocument/2006/math">
                    <m:oMathParaPr>
                      <m:jc m:val="centerGroup"/>
                    </m:oMathParaPr>
                    <m:oMath xmlns:m="http://schemas.openxmlformats.org/officeDocument/2006/math">
                      <m:r>
                        <a:rPr lang="en-GB" sz="2200" i="1">
                          <a:latin typeface="Cambria Math" panose="02040503050406030204" pitchFamily="18" charset="0"/>
                        </a:rPr>
                        <m:t>𝑉𝑜𝑢𝑡</m:t>
                      </m:r>
                      <m:r>
                        <a:rPr lang="en-GB" sz="2200" i="1">
                          <a:latin typeface="Cambria Math" panose="02040503050406030204" pitchFamily="18" charset="0"/>
                        </a:rPr>
                        <m:t>=</m:t>
                      </m:r>
                      <m:d>
                        <m:dPr>
                          <m:ctrlPr>
                            <a:rPr lang="en-GB" sz="2200" i="1">
                              <a:latin typeface="Cambria Math" panose="02040503050406030204" pitchFamily="18" charset="0"/>
                            </a:rPr>
                          </m:ctrlPr>
                        </m:dPr>
                        <m:e>
                          <m:r>
                            <a:rPr lang="en-GB" sz="2200" i="1">
                              <a:latin typeface="Cambria Math" panose="02040503050406030204" pitchFamily="18" charset="0"/>
                            </a:rPr>
                            <m:t>𝑘𝑎</m:t>
                          </m:r>
                          <m:r>
                            <a:rPr lang="en-GB" sz="2200" i="1">
                              <a:latin typeface="Cambria Math" panose="02040503050406030204" pitchFamily="18" charset="0"/>
                            </a:rPr>
                            <m:t>−</m:t>
                          </m:r>
                          <m:r>
                            <a:rPr lang="en-GB" sz="2200" i="1">
                              <a:latin typeface="Cambria Math" panose="02040503050406030204" pitchFamily="18" charset="0"/>
                            </a:rPr>
                            <m:t>𝑘𝑏</m:t>
                          </m:r>
                        </m:e>
                      </m:d>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a:latin typeface="Cambria Math" panose="02040503050406030204" pitchFamily="18" charset="0"/>
                                </a:rPr>
                                <m:t>ψ</m:t>
                              </m:r>
                            </m:e>
                          </m:d>
                        </m:e>
                      </m:func>
                    </m:oMath>
                  </m:oMathPara>
                </a14:m>
                <a:endParaRPr lang="en-GB" sz="2200" dirty="0"/>
              </a:p>
              <a:p>
                <a:pPr marL="0" indent="0">
                  <a:buNone/>
                </a:pPr>
                <a:endParaRPr lang="en-GB" sz="2200" dirty="0"/>
              </a:p>
              <a:p>
                <a:r>
                  <a:rPr lang="en-GB" sz="2200" dirty="0"/>
                  <a:t>When the core is more in secondary coil b than in a we have ka &lt; kb and there is a phase change of 180:</a:t>
                </a:r>
              </a:p>
              <a:p>
                <a:pPr marL="0" indent="0">
                  <a:buNone/>
                </a:pPr>
                <a14:m>
                  <m:oMathPara xmlns:m="http://schemas.openxmlformats.org/officeDocument/2006/math">
                    <m:oMathParaPr>
                      <m:jc m:val="centerGroup"/>
                    </m:oMathParaPr>
                    <m:oMath xmlns:m="http://schemas.openxmlformats.org/officeDocument/2006/math">
                      <m:r>
                        <a:rPr lang="en-GB" sz="2200" i="1">
                          <a:latin typeface="Cambria Math" panose="02040503050406030204" pitchFamily="18" charset="0"/>
                        </a:rPr>
                        <m:t>𝑉𝑜𝑢𝑡</m:t>
                      </m:r>
                      <m:r>
                        <a:rPr lang="en-GB" sz="2200" i="1">
                          <a:latin typeface="Cambria Math" panose="02040503050406030204" pitchFamily="18" charset="0"/>
                        </a:rPr>
                        <m:t>=−</m:t>
                      </m:r>
                      <m:d>
                        <m:dPr>
                          <m:ctrlPr>
                            <a:rPr lang="en-GB" sz="2200" i="1">
                              <a:latin typeface="Cambria Math" panose="02040503050406030204" pitchFamily="18" charset="0"/>
                            </a:rPr>
                          </m:ctrlPr>
                        </m:dPr>
                        <m:e>
                          <m:r>
                            <a:rPr lang="en-GB" sz="2200" i="1">
                              <a:latin typeface="Cambria Math" panose="02040503050406030204" pitchFamily="18" charset="0"/>
                            </a:rPr>
                            <m:t>𝑘𝑎</m:t>
                          </m:r>
                          <m:r>
                            <a:rPr lang="en-GB" sz="2200" i="1">
                              <a:latin typeface="Cambria Math" panose="02040503050406030204" pitchFamily="18" charset="0"/>
                            </a:rPr>
                            <m:t>−</m:t>
                          </m:r>
                          <m:r>
                            <a:rPr lang="en-GB" sz="2200" i="1">
                              <a:latin typeface="Cambria Math" panose="02040503050406030204" pitchFamily="18" charset="0"/>
                            </a:rPr>
                            <m:t>𝑘𝑏</m:t>
                          </m:r>
                        </m:e>
                      </m:d>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smtClean="0">
                                  <a:latin typeface="Cambria Math" panose="02040503050406030204" pitchFamily="18" charset="0"/>
                                </a:rPr>
                                <m:t>φ</m:t>
                              </m:r>
                            </m:e>
                          </m:d>
                        </m:e>
                      </m:func>
                    </m:oMath>
                  </m:oMathPara>
                </a14:m>
                <a:endParaRPr lang="en-GB" sz="2200" dirty="0"/>
              </a:p>
              <a:p>
                <a:pPr marL="0" indent="0">
                  <a:buNone/>
                </a:pPr>
                <a:r>
                  <a:rPr lang="en-GB" sz="2200" dirty="0"/>
                  <a:t>or</a:t>
                </a:r>
              </a:p>
              <a:p>
                <a:pPr marL="0" indent="0">
                  <a:buNone/>
                </a:pPr>
                <a14:m>
                  <m:oMathPara xmlns:m="http://schemas.openxmlformats.org/officeDocument/2006/math">
                    <m:oMathParaPr>
                      <m:jc m:val="centerGroup"/>
                    </m:oMathParaPr>
                    <m:oMath xmlns:m="http://schemas.openxmlformats.org/officeDocument/2006/math">
                      <m:r>
                        <a:rPr lang="en-GB" sz="2200" i="1">
                          <a:latin typeface="Cambria Math" panose="02040503050406030204" pitchFamily="18" charset="0"/>
                        </a:rPr>
                        <m:t>𝑉𝑜𝑢𝑡</m:t>
                      </m:r>
                      <m:r>
                        <a:rPr lang="en-GB" sz="2200" i="1">
                          <a:latin typeface="Cambria Math" panose="02040503050406030204" pitchFamily="18" charset="0"/>
                        </a:rPr>
                        <m:t>=</m:t>
                      </m:r>
                      <m:d>
                        <m:dPr>
                          <m:ctrlPr>
                            <a:rPr lang="en-GB" sz="2200" i="1" smtClean="0">
                              <a:latin typeface="Cambria Math" panose="02040503050406030204" pitchFamily="18" charset="0"/>
                            </a:rPr>
                          </m:ctrlPr>
                        </m:dPr>
                        <m:e>
                          <m:r>
                            <a:rPr lang="en-GB" sz="2200" i="1">
                              <a:latin typeface="Cambria Math" panose="02040503050406030204" pitchFamily="18" charset="0"/>
                            </a:rPr>
                            <m:t>𝑘</m:t>
                          </m:r>
                          <m:r>
                            <a:rPr lang="en-GB" sz="2200" b="0" i="1" smtClean="0">
                              <a:latin typeface="Cambria Math" panose="02040503050406030204" pitchFamily="18" charset="0"/>
                            </a:rPr>
                            <m:t>𝑏</m:t>
                          </m:r>
                          <m:r>
                            <a:rPr lang="en-GB" sz="2200" i="1">
                              <a:latin typeface="Cambria Math" panose="02040503050406030204" pitchFamily="18" charset="0"/>
                            </a:rPr>
                            <m:t>−</m:t>
                          </m:r>
                          <m:r>
                            <a:rPr lang="en-GB" sz="2200" i="1">
                              <a:latin typeface="Cambria Math" panose="02040503050406030204" pitchFamily="18" charset="0"/>
                            </a:rPr>
                            <m:t>𝑘𝑎</m:t>
                          </m:r>
                        </m:e>
                      </m:d>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r>
                            <a:rPr lang="en-GB" sz="2200" b="0" i="1" smtClean="0">
                              <a:latin typeface="Cambria Math" panose="02040503050406030204" pitchFamily="18" charset="0"/>
                            </a:rPr>
                            <m:t>(</m:t>
                          </m:r>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b="0" i="1" smtClean="0">
                              <a:latin typeface="Cambria Math" panose="02040503050406030204" pitchFamily="18" charset="0"/>
                            </a:rPr>
                            <m:t>+(</m:t>
                          </m:r>
                          <m:r>
                            <m:rPr>
                              <m:sty m:val="p"/>
                            </m:rPr>
                            <a:rPr lang="el-GR" sz="2200" i="1" smtClean="0">
                              <a:latin typeface="Cambria Math" panose="02040503050406030204" pitchFamily="18" charset="0"/>
                            </a:rPr>
                            <m:t>ψ</m:t>
                          </m:r>
                          <m:r>
                            <a:rPr lang="en-GB" sz="2200" b="0" i="1" smtClean="0">
                              <a:latin typeface="Cambria Math" panose="02040503050406030204" pitchFamily="18" charset="0"/>
                            </a:rPr>
                            <m:t>−</m:t>
                          </m:r>
                          <m:r>
                            <m:rPr>
                              <m:sty m:val="p"/>
                            </m:rPr>
                            <a:rPr lang="el-GR" sz="2200" i="1">
                              <a:latin typeface="Cambria Math" panose="02040503050406030204" pitchFamily="18" charset="0"/>
                            </a:rPr>
                            <m:t>φ</m:t>
                          </m:r>
                          <m:r>
                            <m:rPr>
                              <m:nor/>
                            </m:rPr>
                            <a:rPr lang="en-GB" sz="2200" dirty="0"/>
                            <m:t>))</m:t>
                          </m:r>
                        </m:e>
                      </m:func>
                    </m:oMath>
                  </m:oMathPara>
                </a14:m>
                <a:endParaRPr lang="en-GB" sz="2200" dirty="0"/>
              </a:p>
              <a:p>
                <a:r>
                  <a:rPr lang="en-GB" sz="2200" dirty="0"/>
                  <a:t>The output voltage and phase for varying displacements are shown for the secondary coils in the following slide</a:t>
                </a:r>
              </a:p>
              <a:p>
                <a:endParaRPr lang="en-GB" sz="2200" dirty="0"/>
              </a:p>
              <a:p>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754"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86180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anchor="b">
            <a:normAutofit/>
          </a:bodyPr>
          <a:lstStyle/>
          <a:p>
            <a:r>
              <a:rPr lang="en-GB" sz="5000" b="1"/>
              <a:t>Linear Variable Differential Transformer</a:t>
            </a:r>
          </a:p>
        </p:txBody>
      </p:sp>
      <p:sp>
        <p:nvSpPr>
          <p:cNvPr id="4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pic>
        <p:nvPicPr>
          <p:cNvPr id="3" name="Picture 166_0">
            <a:extLst>
              <a:ext uri="{FF2B5EF4-FFF2-40B4-BE49-F238E27FC236}">
                <a16:creationId xmlns:a16="http://schemas.microsoft.com/office/drawing/2014/main" id="{0546AD18-6F5A-53BD-18B1-3C8B2973FA48}"/>
              </a:ext>
            </a:extLst>
          </p:cNvPr>
          <p:cNvPicPr>
            <a:picLocks noGrp="1"/>
          </p:cNvPicPr>
          <p:nvPr>
            <p:ph idx="1"/>
          </p:nvPr>
        </p:nvPicPr>
        <p:blipFill>
          <a:blip r:embed="rId2"/>
          <a:stretch/>
        </p:blipFill>
        <p:spPr>
          <a:xfrm>
            <a:off x="3260994" y="1731180"/>
            <a:ext cx="5673588" cy="5095472"/>
          </a:xfrm>
          <a:prstGeom prst="rect">
            <a:avLst/>
          </a:prstGeom>
          <a:ln w="0">
            <a:noFill/>
          </a:ln>
        </p:spPr>
      </p:pic>
    </p:spTree>
    <p:extLst>
      <p:ext uri="{BB962C8B-B14F-4D97-AF65-F5344CB8AC3E}">
        <p14:creationId xmlns:p14="http://schemas.microsoft.com/office/powerpoint/2010/main" val="451597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anchor="b">
            <a:normAutofit/>
          </a:bodyPr>
          <a:lstStyle/>
          <a:p>
            <a:r>
              <a:rPr lang="en-GB" sz="5000" b="1"/>
              <a:t>Linear Variable Differential Transformer</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Content Placeholder 5">
            <a:extLst>
              <a:ext uri="{FF2B5EF4-FFF2-40B4-BE49-F238E27FC236}">
                <a16:creationId xmlns:a16="http://schemas.microsoft.com/office/drawing/2014/main" id="{2CAE4BAB-2A08-E1F5-9F9C-D8289C4E300D}"/>
              </a:ext>
            </a:extLst>
          </p:cNvPr>
          <p:cNvSpPr>
            <a:spLocks noGrp="1"/>
          </p:cNvSpPr>
          <p:nvPr>
            <p:ph idx="1"/>
          </p:nvPr>
        </p:nvSpPr>
        <p:spPr>
          <a:xfrm>
            <a:off x="572493" y="2071316"/>
            <a:ext cx="10972800" cy="2711355"/>
          </a:xfrm>
        </p:spPr>
        <p:txBody>
          <a:bodyPr anchor="t">
            <a:normAutofit/>
          </a:bodyPr>
          <a:lstStyle/>
          <a:p>
            <a:r>
              <a:rPr lang="en-GB" sz="2200" dirty="0"/>
              <a:t>With this type of output the same output voltage amplitude is produced for two different displacements</a:t>
            </a:r>
          </a:p>
          <a:p>
            <a:r>
              <a:rPr lang="en-GB" sz="2200" dirty="0"/>
              <a:t>To distinguish between displacements, we need to distinguish them using the phase of their output voltage</a:t>
            </a:r>
          </a:p>
          <a:p>
            <a:r>
              <a:rPr lang="en-GB" sz="2200" dirty="0"/>
              <a:t>A phase sensitive demodulator, with a low pass filter, is used to convert the output into </a:t>
            </a:r>
            <a:r>
              <a:rPr lang="en-GB" sz="2200" dirty="0" err="1"/>
              <a:t>d.c.</a:t>
            </a:r>
            <a:r>
              <a:rPr lang="en-GB" sz="2200" dirty="0"/>
              <a:t> voltage which gives a unique value for each displacement</a:t>
            </a:r>
          </a:p>
          <a:p>
            <a:endParaRPr lang="en-GB" sz="2200" dirty="0"/>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pic>
        <p:nvPicPr>
          <p:cNvPr id="3" name="Picture 173_0">
            <a:extLst>
              <a:ext uri="{FF2B5EF4-FFF2-40B4-BE49-F238E27FC236}">
                <a16:creationId xmlns:a16="http://schemas.microsoft.com/office/drawing/2014/main" id="{FDF0809F-4681-723B-DEB2-8DA1BB9AB792}"/>
              </a:ext>
            </a:extLst>
          </p:cNvPr>
          <p:cNvPicPr/>
          <p:nvPr/>
        </p:nvPicPr>
        <p:blipFill>
          <a:blip r:embed="rId2"/>
          <a:stretch/>
        </p:blipFill>
        <p:spPr>
          <a:xfrm>
            <a:off x="1248873" y="4887964"/>
            <a:ext cx="9620040" cy="1524229"/>
          </a:xfrm>
          <a:prstGeom prst="rect">
            <a:avLst/>
          </a:prstGeom>
          <a:ln w="0">
            <a:noFill/>
          </a:ln>
        </p:spPr>
      </p:pic>
    </p:spTree>
    <p:extLst>
      <p:ext uri="{BB962C8B-B14F-4D97-AF65-F5344CB8AC3E}">
        <p14:creationId xmlns:p14="http://schemas.microsoft.com/office/powerpoint/2010/main" val="18994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a:t>LVDTs are rugged devices compared to potentiometers and can be used as secondary sensors for the measurement of Force, Weight or Pressure.</a:t>
            </a:r>
          </a:p>
          <a:p>
            <a:r>
              <a:rPr lang="en-GB" sz="2200"/>
              <a:t>They have operating ranges between ±2 to ±400mm with non-linearity errors of around ±0.25%</a:t>
            </a:r>
          </a:p>
          <a:p>
            <a:r>
              <a:rPr lang="en-GB" sz="2200"/>
              <a:t>They are also very accurate, with accuracies from 0.5% to 0.05% typically, but require external support circuitry</a:t>
            </a:r>
          </a:p>
          <a:p>
            <a:r>
              <a:rPr lang="en-GB" sz="2200"/>
              <a:t>Resolution limited by presence of the null voltage (exact cancellation of secondary voltages not possible due to different phase shifts in the two windings).</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10752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BF9413-A4D6-D837-05CF-A17DD0552FC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47B13E-ACB2-AF1B-AB80-257A57E50506}"/>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Resolver</a:t>
            </a:r>
          </a:p>
        </p:txBody>
      </p:sp>
      <p:sp>
        <p:nvSpPr>
          <p:cNvPr id="3" name="Subtitle 2">
            <a:extLst>
              <a:ext uri="{FF2B5EF4-FFF2-40B4-BE49-F238E27FC236}">
                <a16:creationId xmlns:a16="http://schemas.microsoft.com/office/drawing/2014/main" id="{75236399-0327-243F-80BE-987BA05348A8}"/>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dirty="0">
              <a:solidFill>
                <a:srgbClr val="FFFFFF"/>
              </a:solidFill>
              <a:latin typeface="+mn-lt"/>
              <a:ea typeface="+mn-ea"/>
              <a:cs typeface="+mn-cs"/>
            </a:endParaRPr>
          </a:p>
          <a:p>
            <a:pPr algn="ctr"/>
            <a:endParaRPr lang="en-US" sz="2000" kern="1200" dirty="0">
              <a:solidFill>
                <a:srgbClr val="FFFFFF"/>
              </a:solidFill>
              <a:latin typeface="+mn-lt"/>
              <a:ea typeface="+mn-ea"/>
              <a:cs typeface="+mn-cs"/>
            </a:endParaRPr>
          </a:p>
        </p:txBody>
      </p:sp>
      <p:sp>
        <p:nvSpPr>
          <p:cNvPr id="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4"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6"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cxnSp>
        <p:nvCxnSpPr>
          <p:cNvPr id="18" name="Straight Connector 17">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F027DBF-394D-8083-DE5C-E59B6D5E561A}"/>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1"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sz="1200" b="1"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43971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Resolvers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Resolvers are like LVDTs in principle but are used to measure angular motion</a:t>
            </a:r>
          </a:p>
          <a:p>
            <a:r>
              <a:rPr lang="en-GB" sz="2200" dirty="0"/>
              <a:t>A resolver is also a transformer where the primary coil is attached to the rotating shaft and carries an alternating current, either through slip rings or from a brush-less transformer within it</a:t>
            </a:r>
          </a:p>
          <a:p>
            <a:r>
              <a:rPr lang="en-GB" sz="2200" dirty="0"/>
              <a:t>There are two secondary coils positioned 90° apart from each other</a:t>
            </a:r>
          </a:p>
          <a:p>
            <a:r>
              <a:rPr lang="en-GB" sz="2200" dirty="0"/>
              <a:t>As the rotor rotates the flux it develops rotates with it</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21</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pic>
        <p:nvPicPr>
          <p:cNvPr id="5" name="Picture 4">
            <a:extLst>
              <a:ext uri="{FF2B5EF4-FFF2-40B4-BE49-F238E27FC236}">
                <a16:creationId xmlns:a16="http://schemas.microsoft.com/office/drawing/2014/main" id="{A375B538-F2AE-05A2-8CF8-D837717107E8}"/>
              </a:ext>
            </a:extLst>
          </p:cNvPr>
          <p:cNvPicPr>
            <a:picLocks noChangeAspect="1"/>
          </p:cNvPicPr>
          <p:nvPr/>
        </p:nvPicPr>
        <p:blipFill>
          <a:blip r:embed="rId2"/>
          <a:stretch>
            <a:fillRect/>
          </a:stretch>
        </p:blipFill>
        <p:spPr>
          <a:xfrm>
            <a:off x="2133600" y="4501600"/>
            <a:ext cx="3460376" cy="1977358"/>
          </a:xfrm>
          <a:prstGeom prst="rect">
            <a:avLst/>
          </a:prstGeom>
        </p:spPr>
      </p:pic>
      <p:pic>
        <p:nvPicPr>
          <p:cNvPr id="6" name="Picture 5">
            <a:extLst>
              <a:ext uri="{FF2B5EF4-FFF2-40B4-BE49-F238E27FC236}">
                <a16:creationId xmlns:a16="http://schemas.microsoft.com/office/drawing/2014/main" id="{87064CD0-84A2-A5F3-1FDF-C429F13C631F}"/>
              </a:ext>
            </a:extLst>
          </p:cNvPr>
          <p:cNvPicPr>
            <a:picLocks noChangeAspect="1"/>
          </p:cNvPicPr>
          <p:nvPr/>
        </p:nvPicPr>
        <p:blipFill>
          <a:blip r:embed="rId3"/>
          <a:stretch>
            <a:fillRect/>
          </a:stretch>
        </p:blipFill>
        <p:spPr>
          <a:xfrm>
            <a:off x="6598026" y="4501600"/>
            <a:ext cx="3460376" cy="1973479"/>
          </a:xfrm>
          <a:prstGeom prst="rect">
            <a:avLst/>
          </a:prstGeom>
        </p:spPr>
      </p:pic>
    </p:spTree>
    <p:extLst>
      <p:ext uri="{BB962C8B-B14F-4D97-AF65-F5344CB8AC3E}">
        <p14:creationId xmlns:p14="http://schemas.microsoft.com/office/powerpoint/2010/main" val="93298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630936" y="502920"/>
            <a:ext cx="3419856" cy="1463040"/>
          </a:xfrm>
        </p:spPr>
        <p:txBody>
          <a:bodyPr anchor="ctr">
            <a:normAutofit/>
          </a:bodyPr>
          <a:lstStyle/>
          <a:p>
            <a:r>
              <a:rPr lang="en-GB" sz="4800" b="1"/>
              <a:t>Resolvers</a:t>
            </a:r>
          </a:p>
        </p:txBody>
      </p:sp>
      <p:sp>
        <p:nvSpPr>
          <p:cNvPr id="18"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4654295" y="502920"/>
            <a:ext cx="6894576" cy="1463040"/>
          </a:xfrm>
        </p:spPr>
        <p:txBody>
          <a:bodyPr anchor="ctr">
            <a:normAutofit/>
          </a:bodyPr>
          <a:lstStyle/>
          <a:p>
            <a:r>
              <a:rPr lang="en-GB" sz="2200" dirty="0"/>
              <a:t>When the primary coil is parallel to either of the secondary coils the voltage induced in the coils is maximum</a:t>
            </a:r>
          </a:p>
        </p:txBody>
      </p:sp>
      <p:pic>
        <p:nvPicPr>
          <p:cNvPr id="11" name="Picture 10">
            <a:extLst>
              <a:ext uri="{FF2B5EF4-FFF2-40B4-BE49-F238E27FC236}">
                <a16:creationId xmlns:a16="http://schemas.microsoft.com/office/drawing/2014/main" id="{B4A2887A-DAE4-BA3C-C3F7-8C44A7621388}"/>
              </a:ext>
            </a:extLst>
          </p:cNvPr>
          <p:cNvPicPr>
            <a:picLocks noChangeAspect="1"/>
          </p:cNvPicPr>
          <p:nvPr/>
        </p:nvPicPr>
        <p:blipFill>
          <a:blip r:embed="rId2"/>
          <a:stretch>
            <a:fillRect/>
          </a:stretch>
        </p:blipFill>
        <p:spPr>
          <a:xfrm>
            <a:off x="630936" y="2542004"/>
            <a:ext cx="10917936" cy="3457216"/>
          </a:xfrm>
          <a:prstGeom prst="rect">
            <a:avLst/>
          </a:prstGeom>
        </p:spPr>
      </p:pic>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22</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07796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Resolvers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At this instant the primary coil is perpendicular to the other secondary coil and no voltage is developed within it</a:t>
            </a:r>
          </a:p>
          <a:p>
            <a:r>
              <a:rPr lang="en-GB" sz="2200" dirty="0"/>
              <a:t>As the primary coil rotates the voltage in the first secondary coil goes to zero whilst the voltage of the other secondary coil becomes maximum</a:t>
            </a:r>
          </a:p>
          <a:p>
            <a:r>
              <a:rPr lang="en-GB" sz="2200" dirty="0"/>
              <a:t>For all angles in between the two secondary coils develop a voltage proportional to the sine and cosine of the angle between the primary and secondary coils</a:t>
            </a:r>
          </a:p>
          <a:p>
            <a:r>
              <a:rPr lang="en-GB" sz="2200" dirty="0"/>
              <a:t>Resolvers are reliable, robust and accurate</a:t>
            </a:r>
          </a:p>
          <a:p>
            <a:pPr lvl="1"/>
            <a:r>
              <a:rPr lang="en-GB" sz="1800" dirty="0"/>
              <a:t>Accuracy more dependant on the sensing </a:t>
            </a:r>
            <a:r>
              <a:rPr lang="en-GB" sz="1800" dirty="0" err="1"/>
              <a:t>circuitary</a:t>
            </a:r>
            <a:endParaRPr lang="en-GB" sz="1800" dirty="0"/>
          </a:p>
          <a:p>
            <a:r>
              <a:rPr lang="en-GB" sz="2200" dirty="0"/>
              <a:t>However, resolvers are significantly more expensive than potentiometers</a:t>
            </a:r>
          </a:p>
          <a:p>
            <a:r>
              <a:rPr lang="en-GB" sz="2200" dirty="0"/>
              <a:t>High speeds up to 20000RPM</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GB" sz="1200" b="0" i="0" u="none" strike="noStrike" kern="1200" cap="none" spc="0" normalizeH="0" baseline="0" noProof="0" smtClean="0">
                <a:ln>
                  <a:noFill/>
                </a:ln>
                <a:solidFill>
                  <a:prstClr val="black">
                    <a:tint val="82000"/>
                  </a:prstClr>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GB" sz="1200" b="0" i="0" u="none" strike="noStrike" kern="1200" cap="none" spc="0" normalizeH="0" baseline="0" noProof="0">
              <a:ln>
                <a:noFill/>
              </a:ln>
              <a:solidFill>
                <a:prstClr val="black">
                  <a:tint val="82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14600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6F3DD5-E597-4A76-7EFE-CB29FF5930C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FD63088-DD01-B663-8D35-10047000B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D704528-22A8-CA6D-A158-E6C3EFCD58B6}"/>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Draw String</a:t>
            </a:r>
          </a:p>
        </p:txBody>
      </p:sp>
      <p:sp>
        <p:nvSpPr>
          <p:cNvPr id="3" name="Subtitle 2">
            <a:extLst>
              <a:ext uri="{FF2B5EF4-FFF2-40B4-BE49-F238E27FC236}">
                <a16:creationId xmlns:a16="http://schemas.microsoft.com/office/drawing/2014/main" id="{033E67F3-8C2B-F622-7CAA-37F7DE10C044}"/>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7" name="Graphic 22">
            <a:extLst>
              <a:ext uri="{FF2B5EF4-FFF2-40B4-BE49-F238E27FC236}">
                <a16:creationId xmlns:a16="http://schemas.microsoft.com/office/drawing/2014/main" id="{DCCAE817-0546-3D4F-5311-0451660188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8" name="Graphic 13">
            <a:extLst>
              <a:ext uri="{FF2B5EF4-FFF2-40B4-BE49-F238E27FC236}">
                <a16:creationId xmlns:a16="http://schemas.microsoft.com/office/drawing/2014/main" id="{7D43F534-C3E7-FD81-740F-F4FA0F48E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0" name="Graphic 15">
            <a:extLst>
              <a:ext uri="{FF2B5EF4-FFF2-40B4-BE49-F238E27FC236}">
                <a16:creationId xmlns:a16="http://schemas.microsoft.com/office/drawing/2014/main" id="{96B7B0EC-25B1-9678-5C86-29777B1D7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2" name="Graphic 21">
            <a:extLst>
              <a:ext uri="{FF2B5EF4-FFF2-40B4-BE49-F238E27FC236}">
                <a16:creationId xmlns:a16="http://schemas.microsoft.com/office/drawing/2014/main" id="{664AC28A-8F7D-1D11-DA85-41A15FC51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4" name="Graphic 12">
            <a:extLst>
              <a:ext uri="{FF2B5EF4-FFF2-40B4-BE49-F238E27FC236}">
                <a16:creationId xmlns:a16="http://schemas.microsoft.com/office/drawing/2014/main" id="{F3E62E91-15B5-5FB4-4003-939989C7D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6" name="Graphic 23">
            <a:extLst>
              <a:ext uri="{FF2B5EF4-FFF2-40B4-BE49-F238E27FC236}">
                <a16:creationId xmlns:a16="http://schemas.microsoft.com/office/drawing/2014/main" id="{D1B52A71-83E4-3271-2406-ABE2E8818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cxnSp>
        <p:nvCxnSpPr>
          <p:cNvPr id="18" name="Straight Connector 17">
            <a:extLst>
              <a:ext uri="{FF2B5EF4-FFF2-40B4-BE49-F238E27FC236}">
                <a16:creationId xmlns:a16="http://schemas.microsoft.com/office/drawing/2014/main" id="{1DEAEB62-9641-2BE2-8724-60A806441A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27E87DF9-2986-822F-F497-D646F63CA084}"/>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1"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24</a:t>
            </a:fld>
            <a:endParaRPr kumimoji="0" lang="en-US" sz="1200" b="1"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2103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8FBCE-05B8-9385-FB90-F03FDADDA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7A35B-A309-E17B-B997-5C6742E6CCFA}"/>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dirty="0"/>
              <a:t>Draw Strings (String Pots)</a:t>
            </a:r>
          </a:p>
        </p:txBody>
      </p:sp>
      <p:sp>
        <p:nvSpPr>
          <p:cNvPr id="3" name="Subtitle 2">
            <a:extLst>
              <a:ext uri="{FF2B5EF4-FFF2-40B4-BE49-F238E27FC236}">
                <a16:creationId xmlns:a16="http://schemas.microsoft.com/office/drawing/2014/main" id="{95C5E488-0DC9-3E8A-356C-97262BDF8BA6}"/>
              </a:ext>
            </a:extLst>
          </p:cNvPr>
          <p:cNvSpPr>
            <a:spLocks noGrp="1"/>
          </p:cNvSpPr>
          <p:nvPr>
            <p:ph sz="half" idx="1"/>
          </p:nvPr>
        </p:nvSpPr>
        <p:spPr>
          <a:xfrm>
            <a:off x="572493" y="2071316"/>
            <a:ext cx="6713552" cy="4119172"/>
          </a:xfrm>
        </p:spPr>
        <p:txBody>
          <a:bodyPr vert="horz" lIns="91440" tIns="45720" rIns="91440" bIns="45720" rtlCol="0" anchor="t">
            <a:normAutofit/>
          </a:bodyPr>
          <a:lstStyle/>
          <a:p>
            <a:r>
              <a:rPr lang="en-US" sz="2200" dirty="0"/>
              <a:t>Simple concept for measuring linear position</a:t>
            </a:r>
          </a:p>
          <a:p>
            <a:r>
              <a:rPr lang="en-US" sz="2200" dirty="0"/>
              <a:t>A thin cable is spooled out </a:t>
            </a:r>
          </a:p>
          <a:p>
            <a:r>
              <a:rPr lang="en-US" sz="2200" dirty="0"/>
              <a:t>This spooling rotates a potentiometer or encoder</a:t>
            </a:r>
          </a:p>
          <a:p>
            <a:r>
              <a:rPr lang="en-US" sz="2200" dirty="0"/>
              <a:t>Translates into a resistance or digital count</a:t>
            </a:r>
          </a:p>
          <a:p>
            <a:r>
              <a:rPr lang="en-US" sz="2200" dirty="0"/>
              <a:t>Easy to use</a:t>
            </a:r>
          </a:p>
          <a:p>
            <a:r>
              <a:rPr lang="en-US" sz="2200" dirty="0"/>
              <a:t>Easy to install</a:t>
            </a:r>
          </a:p>
          <a:p>
            <a:r>
              <a:rPr lang="en-US" sz="2200" dirty="0"/>
              <a:t>Easy to interface to</a:t>
            </a:r>
          </a:p>
          <a:p>
            <a:r>
              <a:rPr lang="en-US" sz="2200" dirty="0"/>
              <a:t>Various lengths available from 0.05 to &gt; 50m</a:t>
            </a:r>
          </a:p>
          <a:p>
            <a:r>
              <a:rPr lang="en-US" sz="2200" dirty="0"/>
              <a:t>Linearity, error, and resolution dependent on length</a:t>
            </a:r>
          </a:p>
        </p:txBody>
      </p:sp>
      <p:pic>
        <p:nvPicPr>
          <p:cNvPr id="9" name="Content Placeholder 8" descr="A blue machine with a black round cylinder&#10;&#10;Description automatically generated">
            <a:extLst>
              <a:ext uri="{FF2B5EF4-FFF2-40B4-BE49-F238E27FC236}">
                <a16:creationId xmlns:a16="http://schemas.microsoft.com/office/drawing/2014/main" id="{07BC6B92-950A-751F-3587-14DA35D6EDD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273934" y="2516188"/>
            <a:ext cx="2978132" cy="2970212"/>
          </a:xfrm>
        </p:spPr>
      </p:pic>
      <p:sp>
        <p:nvSpPr>
          <p:cNvPr id="4" name="Slide Number Placeholder 3">
            <a:extLst>
              <a:ext uri="{FF2B5EF4-FFF2-40B4-BE49-F238E27FC236}">
                <a16:creationId xmlns:a16="http://schemas.microsoft.com/office/drawing/2014/main" id="{C3D7D73A-8237-271B-A0C2-1BB69CB40C8D}"/>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306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41248" y="548640"/>
            <a:ext cx="3600860" cy="5431536"/>
          </a:xfrm>
        </p:spPr>
        <p:txBody>
          <a:bodyPr>
            <a:normAutofit/>
          </a:bodyPr>
          <a:lstStyle/>
          <a:p>
            <a:r>
              <a:rPr lang="en-GB" sz="5400" b="1"/>
              <a:t>Review</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5126418" y="552091"/>
            <a:ext cx="6224335" cy="5431536"/>
          </a:xfrm>
        </p:spPr>
        <p:txBody>
          <a:bodyPr anchor="ct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Overview</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Potentiometers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LVDT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Resolvers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dirty="0">
                <a:solidFill>
                  <a:prstClr val="black">
                    <a:alpha val="80000"/>
                  </a:prstClr>
                </a:solidFill>
                <a:latin typeface="Calibri" panose="020F0502020204030204"/>
              </a:rPr>
              <a:t>Draw Strings</a:t>
            </a:r>
            <a:endPar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26</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8556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References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pPr marL="0" indent="0">
              <a:buNone/>
            </a:pPr>
            <a:endParaRPr lang="en-GB" sz="2400" dirty="0"/>
          </a:p>
          <a:p>
            <a:r>
              <a:rPr lang="en-GB" sz="2400" dirty="0"/>
              <a:t>Bolton, W., Mechatronics, 5th Edition, Pearson, 2012</a:t>
            </a:r>
          </a:p>
          <a:p>
            <a:pPr lvl="1"/>
            <a:r>
              <a:rPr lang="en-GB" dirty="0"/>
              <a:t>Chapter 2 - Sections 2.1 and 2.2</a:t>
            </a:r>
          </a:p>
          <a:p>
            <a:pPr lvl="1"/>
            <a:endParaRPr lang="en-GB" dirty="0"/>
          </a:p>
          <a:p>
            <a:r>
              <a:rPr lang="en-GB" sz="2400" dirty="0" err="1"/>
              <a:t>Niku</a:t>
            </a:r>
            <a:r>
              <a:rPr lang="en-GB" sz="2400" dirty="0"/>
              <a:t>, S.B. , Introduction to Robotics, 2nd Edition, Wiley, New Jersey, 2011.</a:t>
            </a:r>
          </a:p>
          <a:p>
            <a:endParaRPr lang="en-GB" sz="2600" dirty="0"/>
          </a:p>
          <a:p>
            <a:endParaRPr lang="en-GB" sz="2600" dirty="0"/>
          </a:p>
          <a:p>
            <a:endParaRPr lang="en-GB" sz="2200" dirty="0"/>
          </a:p>
          <a:p>
            <a:endParaRPr lang="en-GB" sz="2200" dirty="0"/>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27</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40192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1407</Words>
  <Application>Microsoft Office PowerPoint</Application>
  <PresentationFormat>Widescreen</PresentationFormat>
  <Paragraphs>175</Paragraphs>
  <Slides>27</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27</vt:i4>
      </vt:variant>
    </vt:vector>
  </HeadingPairs>
  <TitlesOfParts>
    <vt:vector size="38" baseType="lpstr">
      <vt:lpstr>Aptos</vt:lpstr>
      <vt:lpstr>Aptos Display</vt:lpstr>
      <vt:lpstr>Arial</vt:lpstr>
      <vt:lpstr>Calibri</vt:lpstr>
      <vt:lpstr>Calibri Light</vt:lpstr>
      <vt:lpstr>Cambria Math</vt:lpstr>
      <vt:lpstr>Century Gothic</vt:lpstr>
      <vt:lpstr>Wingdings</vt:lpstr>
      <vt:lpstr>1_Office Theme</vt:lpstr>
      <vt:lpstr>2_Office Theme</vt:lpstr>
      <vt:lpstr>Custom Design</vt:lpstr>
      <vt:lpstr>ENG4118/5326 - Robotics 4/M Sensors, Actuators and Image capture, processing and analysis</vt:lpstr>
      <vt:lpstr>Overview</vt:lpstr>
      <vt:lpstr>Potentiometers</vt:lpstr>
      <vt:lpstr>Potentiometers</vt:lpstr>
      <vt:lpstr>Potentiometers</vt:lpstr>
      <vt:lpstr>Potentiometers</vt:lpstr>
      <vt:lpstr>Potentiometers</vt:lpstr>
      <vt:lpstr>Potentiometers</vt:lpstr>
      <vt:lpstr>Potentiometers - Error</vt:lpstr>
      <vt:lpstr>Potentiometers</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Resolver</vt:lpstr>
      <vt:lpstr>Resolvers</vt:lpstr>
      <vt:lpstr>Resolvers</vt:lpstr>
      <vt:lpstr>Resolvers</vt:lpstr>
      <vt:lpstr>Draw String</vt:lpstr>
      <vt:lpstr>Draw Strings (String Pots)</vt:lpstr>
      <vt:lpstr>Review</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Worrall</dc:creator>
  <cp:lastModifiedBy>Kevin Worrall</cp:lastModifiedBy>
  <cp:revision>1</cp:revision>
  <dcterms:created xsi:type="dcterms:W3CDTF">2026-01-24T17:28:28Z</dcterms:created>
  <dcterms:modified xsi:type="dcterms:W3CDTF">2026-01-24T17:33:10Z</dcterms:modified>
</cp:coreProperties>
</file>