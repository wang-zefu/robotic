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432" r:id="rId3"/>
    <p:sldId id="393" r:id="rId4"/>
    <p:sldId id="397" r:id="rId5"/>
    <p:sldId id="398" r:id="rId6"/>
    <p:sldId id="399" r:id="rId7"/>
    <p:sldId id="395" r:id="rId8"/>
    <p:sldId id="404" r:id="rId9"/>
    <p:sldId id="406" r:id="rId10"/>
    <p:sldId id="442" r:id="rId11"/>
    <p:sldId id="405" r:id="rId12"/>
    <p:sldId id="413" r:id="rId13"/>
    <p:sldId id="420" r:id="rId14"/>
    <p:sldId id="424" r:id="rId15"/>
    <p:sldId id="443" r:id="rId16"/>
    <p:sldId id="428" r:id="rId17"/>
    <p:sldId id="430" r:id="rId18"/>
    <p:sldId id="433" r:id="rId19"/>
    <p:sldId id="444" r:id="rId20"/>
    <p:sldId id="392" r:id="rId21"/>
    <p:sldId id="412" r:id="rId22"/>
    <p:sldId id="422" r:id="rId23"/>
    <p:sldId id="426" r:id="rId24"/>
    <p:sldId id="414" r:id="rId25"/>
    <p:sldId id="342" r:id="rId26"/>
    <p:sldId id="438" r:id="rId27"/>
    <p:sldId id="345" r:id="rId28"/>
    <p:sldId id="347" r:id="rId29"/>
    <p:sldId id="348" r:id="rId30"/>
    <p:sldId id="349" r:id="rId31"/>
    <p:sldId id="351" r:id="rId32"/>
    <p:sldId id="352" r:id="rId33"/>
    <p:sldId id="353" r:id="rId34"/>
    <p:sldId id="415" r:id="rId35"/>
    <p:sldId id="441" r:id="rId36"/>
    <p:sldId id="355" r:id="rId37"/>
    <p:sldId id="356" r:id="rId38"/>
    <p:sldId id="357" r:id="rId39"/>
    <p:sldId id="359" r:id="rId40"/>
    <p:sldId id="358" r:id="rId41"/>
    <p:sldId id="360" r:id="rId42"/>
    <p:sldId id="361" r:id="rId43"/>
    <p:sldId id="416" r:id="rId44"/>
    <p:sldId id="362" r:id="rId45"/>
    <p:sldId id="363" r:id="rId46"/>
    <p:sldId id="365" r:id="rId47"/>
    <p:sldId id="435" r:id="rId48"/>
    <p:sldId id="436" r:id="rId4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76848B7-F356-41F8-8CCD-1711B459EB30}" v="1" dt="2026-01-20T09:03:14.88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42" d="100"/>
          <a:sy n="42" d="100"/>
        </p:scale>
        <p:origin x="656"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presProps" Target="presProps.xml"/><Relationship Id="rId55" Type="http://schemas.microsoft.com/office/2015/10/relationships/revisionInfo" Target="revisionInfo.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tableStyles" Target="tableStyles.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8" Type="http://schemas.openxmlformats.org/officeDocument/2006/relationships/slide" Target="slides/slide6.xml"/><Relationship Id="rId51"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vin Worrall" userId="e21a6e1f-6189-4284-9649-bf7c66c7a38c" providerId="ADAL" clId="{B294D135-36AD-4905-82C7-C24D4CC5C725}"/>
    <pc:docChg chg="addSld modSld">
      <pc:chgData name="Kevin Worrall" userId="e21a6e1f-6189-4284-9649-bf7c66c7a38c" providerId="ADAL" clId="{B294D135-36AD-4905-82C7-C24D4CC5C725}" dt="2026-01-20T09:03:14.881" v="0"/>
      <pc:docMkLst>
        <pc:docMk/>
      </pc:docMkLst>
      <pc:sldChg chg="add">
        <pc:chgData name="Kevin Worrall" userId="e21a6e1f-6189-4284-9649-bf7c66c7a38c" providerId="ADAL" clId="{B294D135-36AD-4905-82C7-C24D4CC5C725}" dt="2026-01-20T09:03:14.881" v="0"/>
        <pc:sldMkLst>
          <pc:docMk/>
          <pc:sldMk cId="2122773097" sldId="393"/>
        </pc:sldMkLst>
      </pc:sldChg>
      <pc:sldChg chg="add">
        <pc:chgData name="Kevin Worrall" userId="e21a6e1f-6189-4284-9649-bf7c66c7a38c" providerId="ADAL" clId="{B294D135-36AD-4905-82C7-C24D4CC5C725}" dt="2026-01-20T09:03:14.881" v="0"/>
        <pc:sldMkLst>
          <pc:docMk/>
          <pc:sldMk cId="3057434425" sldId="395"/>
        </pc:sldMkLst>
      </pc:sldChg>
      <pc:sldChg chg="add">
        <pc:chgData name="Kevin Worrall" userId="e21a6e1f-6189-4284-9649-bf7c66c7a38c" providerId="ADAL" clId="{B294D135-36AD-4905-82C7-C24D4CC5C725}" dt="2026-01-20T09:03:14.881" v="0"/>
        <pc:sldMkLst>
          <pc:docMk/>
          <pc:sldMk cId="3142317133" sldId="397"/>
        </pc:sldMkLst>
      </pc:sldChg>
      <pc:sldChg chg="add">
        <pc:chgData name="Kevin Worrall" userId="e21a6e1f-6189-4284-9649-bf7c66c7a38c" providerId="ADAL" clId="{B294D135-36AD-4905-82C7-C24D4CC5C725}" dt="2026-01-20T09:03:14.881" v="0"/>
        <pc:sldMkLst>
          <pc:docMk/>
          <pc:sldMk cId="2857590728" sldId="398"/>
        </pc:sldMkLst>
      </pc:sldChg>
      <pc:sldChg chg="add">
        <pc:chgData name="Kevin Worrall" userId="e21a6e1f-6189-4284-9649-bf7c66c7a38c" providerId="ADAL" clId="{B294D135-36AD-4905-82C7-C24D4CC5C725}" dt="2026-01-20T09:03:14.881" v="0"/>
        <pc:sldMkLst>
          <pc:docMk/>
          <pc:sldMk cId="1058345796" sldId="399"/>
        </pc:sldMkLst>
      </pc:sldChg>
      <pc:sldChg chg="add">
        <pc:chgData name="Kevin Worrall" userId="e21a6e1f-6189-4284-9649-bf7c66c7a38c" providerId="ADAL" clId="{B294D135-36AD-4905-82C7-C24D4CC5C725}" dt="2026-01-20T09:03:14.881" v="0"/>
        <pc:sldMkLst>
          <pc:docMk/>
          <pc:sldMk cId="1238792374" sldId="404"/>
        </pc:sldMkLst>
      </pc:sldChg>
      <pc:sldChg chg="add">
        <pc:chgData name="Kevin Worrall" userId="e21a6e1f-6189-4284-9649-bf7c66c7a38c" providerId="ADAL" clId="{B294D135-36AD-4905-82C7-C24D4CC5C725}" dt="2026-01-20T09:03:14.881" v="0"/>
        <pc:sldMkLst>
          <pc:docMk/>
          <pc:sldMk cId="2351088417" sldId="405"/>
        </pc:sldMkLst>
      </pc:sldChg>
      <pc:sldChg chg="add">
        <pc:chgData name="Kevin Worrall" userId="e21a6e1f-6189-4284-9649-bf7c66c7a38c" providerId="ADAL" clId="{B294D135-36AD-4905-82C7-C24D4CC5C725}" dt="2026-01-20T09:03:14.881" v="0"/>
        <pc:sldMkLst>
          <pc:docMk/>
          <pc:sldMk cId="4006282353" sldId="406"/>
        </pc:sldMkLst>
      </pc:sldChg>
      <pc:sldChg chg="add">
        <pc:chgData name="Kevin Worrall" userId="e21a6e1f-6189-4284-9649-bf7c66c7a38c" providerId="ADAL" clId="{B294D135-36AD-4905-82C7-C24D4CC5C725}" dt="2026-01-20T09:03:14.881" v="0"/>
        <pc:sldMkLst>
          <pc:docMk/>
          <pc:sldMk cId="4253883003" sldId="413"/>
        </pc:sldMkLst>
      </pc:sldChg>
      <pc:sldChg chg="add">
        <pc:chgData name="Kevin Worrall" userId="e21a6e1f-6189-4284-9649-bf7c66c7a38c" providerId="ADAL" clId="{B294D135-36AD-4905-82C7-C24D4CC5C725}" dt="2026-01-20T09:03:14.881" v="0"/>
        <pc:sldMkLst>
          <pc:docMk/>
          <pc:sldMk cId="1164669360" sldId="420"/>
        </pc:sldMkLst>
      </pc:sldChg>
      <pc:sldChg chg="add">
        <pc:chgData name="Kevin Worrall" userId="e21a6e1f-6189-4284-9649-bf7c66c7a38c" providerId="ADAL" clId="{B294D135-36AD-4905-82C7-C24D4CC5C725}" dt="2026-01-20T09:03:14.881" v="0"/>
        <pc:sldMkLst>
          <pc:docMk/>
          <pc:sldMk cId="1792494897" sldId="424"/>
        </pc:sldMkLst>
      </pc:sldChg>
      <pc:sldChg chg="add">
        <pc:chgData name="Kevin Worrall" userId="e21a6e1f-6189-4284-9649-bf7c66c7a38c" providerId="ADAL" clId="{B294D135-36AD-4905-82C7-C24D4CC5C725}" dt="2026-01-20T09:03:14.881" v="0"/>
        <pc:sldMkLst>
          <pc:docMk/>
          <pc:sldMk cId="4268908242" sldId="428"/>
        </pc:sldMkLst>
      </pc:sldChg>
      <pc:sldChg chg="add">
        <pc:chgData name="Kevin Worrall" userId="e21a6e1f-6189-4284-9649-bf7c66c7a38c" providerId="ADAL" clId="{B294D135-36AD-4905-82C7-C24D4CC5C725}" dt="2026-01-20T09:03:14.881" v="0"/>
        <pc:sldMkLst>
          <pc:docMk/>
          <pc:sldMk cId="1969942542" sldId="430"/>
        </pc:sldMkLst>
      </pc:sldChg>
      <pc:sldChg chg="add">
        <pc:chgData name="Kevin Worrall" userId="e21a6e1f-6189-4284-9649-bf7c66c7a38c" providerId="ADAL" clId="{B294D135-36AD-4905-82C7-C24D4CC5C725}" dt="2026-01-20T09:03:14.881" v="0"/>
        <pc:sldMkLst>
          <pc:docMk/>
          <pc:sldMk cId="821706710" sldId="433"/>
        </pc:sldMkLst>
      </pc:sldChg>
      <pc:sldChg chg="add">
        <pc:chgData name="Kevin Worrall" userId="e21a6e1f-6189-4284-9649-bf7c66c7a38c" providerId="ADAL" clId="{B294D135-36AD-4905-82C7-C24D4CC5C725}" dt="2026-01-20T09:03:14.881" v="0"/>
        <pc:sldMkLst>
          <pc:docMk/>
          <pc:sldMk cId="1287745814" sldId="442"/>
        </pc:sldMkLst>
      </pc:sldChg>
      <pc:sldChg chg="add">
        <pc:chgData name="Kevin Worrall" userId="e21a6e1f-6189-4284-9649-bf7c66c7a38c" providerId="ADAL" clId="{B294D135-36AD-4905-82C7-C24D4CC5C725}" dt="2026-01-20T09:03:14.881" v="0"/>
        <pc:sldMkLst>
          <pc:docMk/>
          <pc:sldMk cId="2527435745" sldId="443"/>
        </pc:sldMkLst>
      </pc:sldChg>
      <pc:sldChg chg="add">
        <pc:chgData name="Kevin Worrall" userId="e21a6e1f-6189-4284-9649-bf7c66c7a38c" providerId="ADAL" clId="{B294D135-36AD-4905-82C7-C24D4CC5C725}" dt="2026-01-20T09:03:14.881" v="0"/>
        <pc:sldMkLst>
          <pc:docMk/>
          <pc:sldMk cId="3550437847" sldId="444"/>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gla-my.sharepoint.com/personal/kevin_worrall_glasgow_ac_uk/Documents/Documents/Teaching/ENG4118-Robotics/2025/support/SensorPlots2024.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gla-my.sharepoint.com/personal/kevin_worrall_glasgow_ac_uk/Documents/Documents/Teaching/ENG4118-Robotics/2025/support/SensorPlots2024.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gla-my.sharepoint.com/personal/kevin_worrall_glasgow_ac_uk/Documents/Documents/Teaching/ENG4118-Robotics/2025/support/SensorPlots2024.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https://gla-my.sharepoint.com/personal/kevin_worrall_glasgow_ac_uk/Documents/Documents/Teaching/ENG4118-Robotics/2025/support/SensorPlots2024.xlsx" TargetMode="External"/><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LMT86</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smoothMarker"/>
        <c:varyColors val="0"/>
        <c:ser>
          <c:idx val="0"/>
          <c:order val="0"/>
          <c:tx>
            <c:strRef>
              <c:f>'tmp86'!$B$1</c:f>
              <c:strCache>
                <c:ptCount val="1"/>
                <c:pt idx="0">
                  <c:v>Ideal Output</c:v>
                </c:pt>
              </c:strCache>
            </c:strRef>
          </c:tx>
          <c:spPr>
            <a:ln w="19050" cap="rnd">
              <a:solidFill>
                <a:schemeClr val="accent1"/>
              </a:solidFill>
              <a:round/>
            </a:ln>
            <a:effectLst/>
          </c:spPr>
          <c:marker>
            <c:symbol val="none"/>
          </c:marker>
          <c:xVal>
            <c:numRef>
              <c:f>'tmp86'!$A$2:$A$203</c:f>
              <c:numCache>
                <c:formatCode>General</c:formatCode>
                <c:ptCount val="202"/>
                <c:pt idx="0">
                  <c:v>-50</c:v>
                </c:pt>
                <c:pt idx="1">
                  <c:v>-49</c:v>
                </c:pt>
                <c:pt idx="2">
                  <c:v>-48</c:v>
                </c:pt>
                <c:pt idx="3">
                  <c:v>-47</c:v>
                </c:pt>
                <c:pt idx="4">
                  <c:v>-46</c:v>
                </c:pt>
                <c:pt idx="5">
                  <c:v>-45</c:v>
                </c:pt>
                <c:pt idx="6">
                  <c:v>-44</c:v>
                </c:pt>
                <c:pt idx="7">
                  <c:v>-43</c:v>
                </c:pt>
                <c:pt idx="8">
                  <c:v>-42</c:v>
                </c:pt>
                <c:pt idx="9">
                  <c:v>-41</c:v>
                </c:pt>
                <c:pt idx="10">
                  <c:v>-40</c:v>
                </c:pt>
                <c:pt idx="11">
                  <c:v>-39</c:v>
                </c:pt>
                <c:pt idx="12">
                  <c:v>-38</c:v>
                </c:pt>
                <c:pt idx="13">
                  <c:v>-37</c:v>
                </c:pt>
                <c:pt idx="14">
                  <c:v>-36</c:v>
                </c:pt>
                <c:pt idx="15">
                  <c:v>-35</c:v>
                </c:pt>
                <c:pt idx="16">
                  <c:v>-34</c:v>
                </c:pt>
                <c:pt idx="17">
                  <c:v>-33</c:v>
                </c:pt>
                <c:pt idx="18">
                  <c:v>-32</c:v>
                </c:pt>
                <c:pt idx="19">
                  <c:v>-31</c:v>
                </c:pt>
                <c:pt idx="20">
                  <c:v>-30</c:v>
                </c:pt>
                <c:pt idx="21">
                  <c:v>-29</c:v>
                </c:pt>
                <c:pt idx="22">
                  <c:v>-28</c:v>
                </c:pt>
                <c:pt idx="23">
                  <c:v>-27</c:v>
                </c:pt>
                <c:pt idx="24">
                  <c:v>-26</c:v>
                </c:pt>
                <c:pt idx="25">
                  <c:v>-25</c:v>
                </c:pt>
                <c:pt idx="26">
                  <c:v>-24</c:v>
                </c:pt>
                <c:pt idx="27">
                  <c:v>-23</c:v>
                </c:pt>
                <c:pt idx="28">
                  <c:v>-22</c:v>
                </c:pt>
                <c:pt idx="29">
                  <c:v>-21</c:v>
                </c:pt>
                <c:pt idx="30">
                  <c:v>-20</c:v>
                </c:pt>
                <c:pt idx="31">
                  <c:v>-19</c:v>
                </c:pt>
                <c:pt idx="32">
                  <c:v>-18</c:v>
                </c:pt>
                <c:pt idx="33">
                  <c:v>-17</c:v>
                </c:pt>
                <c:pt idx="34">
                  <c:v>-16</c:v>
                </c:pt>
                <c:pt idx="35">
                  <c:v>-15</c:v>
                </c:pt>
                <c:pt idx="36">
                  <c:v>-14</c:v>
                </c:pt>
                <c:pt idx="37">
                  <c:v>-13</c:v>
                </c:pt>
                <c:pt idx="38">
                  <c:v>-12</c:v>
                </c:pt>
                <c:pt idx="39">
                  <c:v>-11</c:v>
                </c:pt>
                <c:pt idx="40">
                  <c:v>-10</c:v>
                </c:pt>
                <c:pt idx="41">
                  <c:v>-9</c:v>
                </c:pt>
                <c:pt idx="42">
                  <c:v>-8</c:v>
                </c:pt>
                <c:pt idx="43">
                  <c:v>-7</c:v>
                </c:pt>
                <c:pt idx="44">
                  <c:v>-6</c:v>
                </c:pt>
                <c:pt idx="45">
                  <c:v>-5</c:v>
                </c:pt>
                <c:pt idx="46">
                  <c:v>-4</c:v>
                </c:pt>
                <c:pt idx="47">
                  <c:v>-3</c:v>
                </c:pt>
                <c:pt idx="48">
                  <c:v>-2</c:v>
                </c:pt>
                <c:pt idx="49">
                  <c:v>-1</c:v>
                </c:pt>
                <c:pt idx="50">
                  <c:v>0</c:v>
                </c:pt>
                <c:pt idx="51">
                  <c:v>1</c:v>
                </c:pt>
                <c:pt idx="52">
                  <c:v>2</c:v>
                </c:pt>
                <c:pt idx="53">
                  <c:v>3</c:v>
                </c:pt>
                <c:pt idx="54">
                  <c:v>4</c:v>
                </c:pt>
                <c:pt idx="55">
                  <c:v>5</c:v>
                </c:pt>
                <c:pt idx="56">
                  <c:v>6</c:v>
                </c:pt>
                <c:pt idx="57">
                  <c:v>7</c:v>
                </c:pt>
                <c:pt idx="58">
                  <c:v>8</c:v>
                </c:pt>
                <c:pt idx="59">
                  <c:v>9</c:v>
                </c:pt>
                <c:pt idx="60">
                  <c:v>10</c:v>
                </c:pt>
                <c:pt idx="61">
                  <c:v>11</c:v>
                </c:pt>
                <c:pt idx="62">
                  <c:v>12</c:v>
                </c:pt>
                <c:pt idx="63">
                  <c:v>13</c:v>
                </c:pt>
                <c:pt idx="64">
                  <c:v>14</c:v>
                </c:pt>
                <c:pt idx="65">
                  <c:v>15</c:v>
                </c:pt>
                <c:pt idx="66">
                  <c:v>16</c:v>
                </c:pt>
                <c:pt idx="67">
                  <c:v>17</c:v>
                </c:pt>
                <c:pt idx="68">
                  <c:v>18</c:v>
                </c:pt>
                <c:pt idx="69">
                  <c:v>19</c:v>
                </c:pt>
                <c:pt idx="70">
                  <c:v>20</c:v>
                </c:pt>
                <c:pt idx="71">
                  <c:v>21</c:v>
                </c:pt>
                <c:pt idx="72">
                  <c:v>22</c:v>
                </c:pt>
                <c:pt idx="73">
                  <c:v>23</c:v>
                </c:pt>
                <c:pt idx="74">
                  <c:v>24</c:v>
                </c:pt>
                <c:pt idx="75">
                  <c:v>25</c:v>
                </c:pt>
                <c:pt idx="76">
                  <c:v>26</c:v>
                </c:pt>
                <c:pt idx="77">
                  <c:v>27</c:v>
                </c:pt>
                <c:pt idx="78">
                  <c:v>28</c:v>
                </c:pt>
                <c:pt idx="79">
                  <c:v>29</c:v>
                </c:pt>
                <c:pt idx="80">
                  <c:v>30</c:v>
                </c:pt>
                <c:pt idx="81">
                  <c:v>31</c:v>
                </c:pt>
                <c:pt idx="82">
                  <c:v>32</c:v>
                </c:pt>
                <c:pt idx="83">
                  <c:v>33</c:v>
                </c:pt>
                <c:pt idx="84">
                  <c:v>34</c:v>
                </c:pt>
                <c:pt idx="85">
                  <c:v>35</c:v>
                </c:pt>
                <c:pt idx="86">
                  <c:v>36</c:v>
                </c:pt>
                <c:pt idx="87">
                  <c:v>37</c:v>
                </c:pt>
                <c:pt idx="88">
                  <c:v>38</c:v>
                </c:pt>
                <c:pt idx="89">
                  <c:v>39</c:v>
                </c:pt>
                <c:pt idx="90">
                  <c:v>40</c:v>
                </c:pt>
                <c:pt idx="91">
                  <c:v>41</c:v>
                </c:pt>
                <c:pt idx="92">
                  <c:v>42</c:v>
                </c:pt>
                <c:pt idx="93">
                  <c:v>43</c:v>
                </c:pt>
                <c:pt idx="94">
                  <c:v>44</c:v>
                </c:pt>
                <c:pt idx="95">
                  <c:v>45</c:v>
                </c:pt>
                <c:pt idx="96">
                  <c:v>46</c:v>
                </c:pt>
                <c:pt idx="97">
                  <c:v>47</c:v>
                </c:pt>
                <c:pt idx="98">
                  <c:v>48</c:v>
                </c:pt>
                <c:pt idx="99">
                  <c:v>49</c:v>
                </c:pt>
                <c:pt idx="100">
                  <c:v>50</c:v>
                </c:pt>
                <c:pt idx="101">
                  <c:v>51</c:v>
                </c:pt>
                <c:pt idx="102">
                  <c:v>52</c:v>
                </c:pt>
                <c:pt idx="103">
                  <c:v>53</c:v>
                </c:pt>
                <c:pt idx="104">
                  <c:v>54</c:v>
                </c:pt>
                <c:pt idx="105">
                  <c:v>55</c:v>
                </c:pt>
                <c:pt idx="106">
                  <c:v>56</c:v>
                </c:pt>
                <c:pt idx="107">
                  <c:v>57</c:v>
                </c:pt>
                <c:pt idx="108">
                  <c:v>58</c:v>
                </c:pt>
                <c:pt idx="109">
                  <c:v>59</c:v>
                </c:pt>
                <c:pt idx="110">
                  <c:v>60</c:v>
                </c:pt>
                <c:pt idx="111">
                  <c:v>61</c:v>
                </c:pt>
                <c:pt idx="112">
                  <c:v>62</c:v>
                </c:pt>
                <c:pt idx="113">
                  <c:v>63</c:v>
                </c:pt>
                <c:pt idx="114">
                  <c:v>64</c:v>
                </c:pt>
                <c:pt idx="115">
                  <c:v>65</c:v>
                </c:pt>
                <c:pt idx="116">
                  <c:v>66</c:v>
                </c:pt>
                <c:pt idx="117">
                  <c:v>67</c:v>
                </c:pt>
                <c:pt idx="118">
                  <c:v>68</c:v>
                </c:pt>
                <c:pt idx="119">
                  <c:v>69</c:v>
                </c:pt>
                <c:pt idx="120">
                  <c:v>70</c:v>
                </c:pt>
                <c:pt idx="121">
                  <c:v>71</c:v>
                </c:pt>
                <c:pt idx="122">
                  <c:v>72</c:v>
                </c:pt>
                <c:pt idx="123">
                  <c:v>73</c:v>
                </c:pt>
                <c:pt idx="124">
                  <c:v>74</c:v>
                </c:pt>
                <c:pt idx="125">
                  <c:v>75</c:v>
                </c:pt>
                <c:pt idx="126">
                  <c:v>76</c:v>
                </c:pt>
                <c:pt idx="127">
                  <c:v>77</c:v>
                </c:pt>
                <c:pt idx="128">
                  <c:v>78</c:v>
                </c:pt>
                <c:pt idx="129">
                  <c:v>79</c:v>
                </c:pt>
                <c:pt idx="130">
                  <c:v>80</c:v>
                </c:pt>
                <c:pt idx="131">
                  <c:v>81</c:v>
                </c:pt>
                <c:pt idx="132">
                  <c:v>82</c:v>
                </c:pt>
                <c:pt idx="133">
                  <c:v>83</c:v>
                </c:pt>
                <c:pt idx="134">
                  <c:v>84</c:v>
                </c:pt>
                <c:pt idx="135">
                  <c:v>85</c:v>
                </c:pt>
                <c:pt idx="136">
                  <c:v>86</c:v>
                </c:pt>
                <c:pt idx="137">
                  <c:v>87</c:v>
                </c:pt>
                <c:pt idx="138">
                  <c:v>88</c:v>
                </c:pt>
                <c:pt idx="139">
                  <c:v>89</c:v>
                </c:pt>
                <c:pt idx="140">
                  <c:v>90</c:v>
                </c:pt>
                <c:pt idx="141">
                  <c:v>91</c:v>
                </c:pt>
                <c:pt idx="142">
                  <c:v>92</c:v>
                </c:pt>
                <c:pt idx="143">
                  <c:v>93</c:v>
                </c:pt>
                <c:pt idx="144">
                  <c:v>94</c:v>
                </c:pt>
                <c:pt idx="145">
                  <c:v>95</c:v>
                </c:pt>
                <c:pt idx="146">
                  <c:v>96</c:v>
                </c:pt>
                <c:pt idx="147">
                  <c:v>97</c:v>
                </c:pt>
                <c:pt idx="148">
                  <c:v>98</c:v>
                </c:pt>
                <c:pt idx="149">
                  <c:v>99</c:v>
                </c:pt>
                <c:pt idx="150">
                  <c:v>100</c:v>
                </c:pt>
                <c:pt idx="151">
                  <c:v>101</c:v>
                </c:pt>
                <c:pt idx="152">
                  <c:v>102</c:v>
                </c:pt>
                <c:pt idx="153">
                  <c:v>103</c:v>
                </c:pt>
                <c:pt idx="154">
                  <c:v>104</c:v>
                </c:pt>
                <c:pt idx="155">
                  <c:v>105</c:v>
                </c:pt>
                <c:pt idx="156">
                  <c:v>106</c:v>
                </c:pt>
                <c:pt idx="157">
                  <c:v>107</c:v>
                </c:pt>
                <c:pt idx="158">
                  <c:v>108</c:v>
                </c:pt>
                <c:pt idx="159">
                  <c:v>109</c:v>
                </c:pt>
                <c:pt idx="160">
                  <c:v>110</c:v>
                </c:pt>
                <c:pt idx="161">
                  <c:v>111</c:v>
                </c:pt>
                <c:pt idx="162">
                  <c:v>112</c:v>
                </c:pt>
                <c:pt idx="163">
                  <c:v>113</c:v>
                </c:pt>
                <c:pt idx="164">
                  <c:v>114</c:v>
                </c:pt>
                <c:pt idx="165">
                  <c:v>115</c:v>
                </c:pt>
                <c:pt idx="166">
                  <c:v>116</c:v>
                </c:pt>
                <c:pt idx="167">
                  <c:v>117</c:v>
                </c:pt>
                <c:pt idx="168">
                  <c:v>118</c:v>
                </c:pt>
                <c:pt idx="169">
                  <c:v>119</c:v>
                </c:pt>
                <c:pt idx="170">
                  <c:v>120</c:v>
                </c:pt>
                <c:pt idx="171">
                  <c:v>121</c:v>
                </c:pt>
                <c:pt idx="172">
                  <c:v>122</c:v>
                </c:pt>
                <c:pt idx="173">
                  <c:v>123</c:v>
                </c:pt>
                <c:pt idx="174">
                  <c:v>124</c:v>
                </c:pt>
                <c:pt idx="175">
                  <c:v>125</c:v>
                </c:pt>
                <c:pt idx="176">
                  <c:v>126</c:v>
                </c:pt>
                <c:pt idx="177">
                  <c:v>127</c:v>
                </c:pt>
                <c:pt idx="178">
                  <c:v>128</c:v>
                </c:pt>
                <c:pt idx="179">
                  <c:v>129</c:v>
                </c:pt>
                <c:pt idx="180">
                  <c:v>130</c:v>
                </c:pt>
                <c:pt idx="181">
                  <c:v>131</c:v>
                </c:pt>
                <c:pt idx="182">
                  <c:v>132</c:v>
                </c:pt>
                <c:pt idx="183">
                  <c:v>133</c:v>
                </c:pt>
                <c:pt idx="184">
                  <c:v>134</c:v>
                </c:pt>
                <c:pt idx="185">
                  <c:v>135</c:v>
                </c:pt>
                <c:pt idx="186">
                  <c:v>136</c:v>
                </c:pt>
                <c:pt idx="187">
                  <c:v>137</c:v>
                </c:pt>
                <c:pt idx="188">
                  <c:v>138</c:v>
                </c:pt>
                <c:pt idx="189">
                  <c:v>139</c:v>
                </c:pt>
                <c:pt idx="190">
                  <c:v>140</c:v>
                </c:pt>
                <c:pt idx="191">
                  <c:v>141</c:v>
                </c:pt>
                <c:pt idx="192">
                  <c:v>142</c:v>
                </c:pt>
                <c:pt idx="193">
                  <c:v>143</c:v>
                </c:pt>
                <c:pt idx="194">
                  <c:v>144</c:v>
                </c:pt>
                <c:pt idx="195">
                  <c:v>145</c:v>
                </c:pt>
                <c:pt idx="196">
                  <c:v>146</c:v>
                </c:pt>
                <c:pt idx="197">
                  <c:v>147</c:v>
                </c:pt>
                <c:pt idx="198">
                  <c:v>148</c:v>
                </c:pt>
                <c:pt idx="199">
                  <c:v>149</c:v>
                </c:pt>
                <c:pt idx="200">
                  <c:v>150</c:v>
                </c:pt>
              </c:numCache>
            </c:numRef>
          </c:xVal>
          <c:yVal>
            <c:numRef>
              <c:f>'tmp86'!$B$2:$B$203</c:f>
              <c:numCache>
                <c:formatCode>General</c:formatCode>
                <c:ptCount val="202"/>
                <c:pt idx="0">
                  <c:v>-50</c:v>
                </c:pt>
                <c:pt idx="1">
                  <c:v>-49</c:v>
                </c:pt>
                <c:pt idx="2">
                  <c:v>-48</c:v>
                </c:pt>
                <c:pt idx="3">
                  <c:v>-47</c:v>
                </c:pt>
                <c:pt idx="4">
                  <c:v>-46</c:v>
                </c:pt>
                <c:pt idx="5">
                  <c:v>-45</c:v>
                </c:pt>
                <c:pt idx="6">
                  <c:v>-44</c:v>
                </c:pt>
                <c:pt idx="7">
                  <c:v>-43</c:v>
                </c:pt>
                <c:pt idx="8">
                  <c:v>-42</c:v>
                </c:pt>
                <c:pt idx="9">
                  <c:v>-41</c:v>
                </c:pt>
                <c:pt idx="10">
                  <c:v>-40</c:v>
                </c:pt>
                <c:pt idx="11">
                  <c:v>-39</c:v>
                </c:pt>
                <c:pt idx="12">
                  <c:v>-38</c:v>
                </c:pt>
                <c:pt idx="13">
                  <c:v>-37</c:v>
                </c:pt>
                <c:pt idx="14">
                  <c:v>-36</c:v>
                </c:pt>
                <c:pt idx="15">
                  <c:v>-35</c:v>
                </c:pt>
                <c:pt idx="16">
                  <c:v>-34</c:v>
                </c:pt>
                <c:pt idx="17">
                  <c:v>-33</c:v>
                </c:pt>
                <c:pt idx="18">
                  <c:v>-32</c:v>
                </c:pt>
                <c:pt idx="19">
                  <c:v>-31</c:v>
                </c:pt>
                <c:pt idx="20">
                  <c:v>-30</c:v>
                </c:pt>
                <c:pt idx="21">
                  <c:v>-29</c:v>
                </c:pt>
                <c:pt idx="22">
                  <c:v>-28</c:v>
                </c:pt>
                <c:pt idx="23">
                  <c:v>-27</c:v>
                </c:pt>
                <c:pt idx="24">
                  <c:v>-26</c:v>
                </c:pt>
                <c:pt idx="25">
                  <c:v>-25</c:v>
                </c:pt>
                <c:pt idx="26">
                  <c:v>-24</c:v>
                </c:pt>
                <c:pt idx="27">
                  <c:v>-23</c:v>
                </c:pt>
                <c:pt idx="28">
                  <c:v>-22</c:v>
                </c:pt>
                <c:pt idx="29">
                  <c:v>-21</c:v>
                </c:pt>
                <c:pt idx="30">
                  <c:v>-20</c:v>
                </c:pt>
                <c:pt idx="31">
                  <c:v>-19</c:v>
                </c:pt>
                <c:pt idx="32">
                  <c:v>-18</c:v>
                </c:pt>
                <c:pt idx="33">
                  <c:v>-17</c:v>
                </c:pt>
                <c:pt idx="34">
                  <c:v>-16</c:v>
                </c:pt>
                <c:pt idx="35">
                  <c:v>-15</c:v>
                </c:pt>
                <c:pt idx="36">
                  <c:v>-14</c:v>
                </c:pt>
                <c:pt idx="37">
                  <c:v>-13</c:v>
                </c:pt>
                <c:pt idx="38">
                  <c:v>-12</c:v>
                </c:pt>
                <c:pt idx="39">
                  <c:v>-11</c:v>
                </c:pt>
                <c:pt idx="40">
                  <c:v>-10</c:v>
                </c:pt>
                <c:pt idx="41">
                  <c:v>-9</c:v>
                </c:pt>
                <c:pt idx="42">
                  <c:v>-8</c:v>
                </c:pt>
                <c:pt idx="43">
                  <c:v>-7</c:v>
                </c:pt>
                <c:pt idx="44">
                  <c:v>-6</c:v>
                </c:pt>
                <c:pt idx="45">
                  <c:v>-5</c:v>
                </c:pt>
                <c:pt idx="46">
                  <c:v>-4</c:v>
                </c:pt>
                <c:pt idx="47">
                  <c:v>-3</c:v>
                </c:pt>
                <c:pt idx="48">
                  <c:v>-2</c:v>
                </c:pt>
                <c:pt idx="49">
                  <c:v>-1</c:v>
                </c:pt>
                <c:pt idx="50">
                  <c:v>0</c:v>
                </c:pt>
                <c:pt idx="51">
                  <c:v>1</c:v>
                </c:pt>
                <c:pt idx="52">
                  <c:v>2</c:v>
                </c:pt>
                <c:pt idx="53">
                  <c:v>3</c:v>
                </c:pt>
                <c:pt idx="54">
                  <c:v>4</c:v>
                </c:pt>
                <c:pt idx="55">
                  <c:v>5</c:v>
                </c:pt>
                <c:pt idx="56">
                  <c:v>6</c:v>
                </c:pt>
                <c:pt idx="57">
                  <c:v>7</c:v>
                </c:pt>
                <c:pt idx="58">
                  <c:v>8</c:v>
                </c:pt>
                <c:pt idx="59">
                  <c:v>9</c:v>
                </c:pt>
                <c:pt idx="60">
                  <c:v>10</c:v>
                </c:pt>
                <c:pt idx="61">
                  <c:v>11</c:v>
                </c:pt>
                <c:pt idx="62">
                  <c:v>12</c:v>
                </c:pt>
                <c:pt idx="63">
                  <c:v>13</c:v>
                </c:pt>
                <c:pt idx="64">
                  <c:v>14</c:v>
                </c:pt>
                <c:pt idx="65">
                  <c:v>15</c:v>
                </c:pt>
                <c:pt idx="66">
                  <c:v>16</c:v>
                </c:pt>
                <c:pt idx="67">
                  <c:v>17</c:v>
                </c:pt>
                <c:pt idx="68">
                  <c:v>18</c:v>
                </c:pt>
                <c:pt idx="69">
                  <c:v>19</c:v>
                </c:pt>
                <c:pt idx="70">
                  <c:v>20</c:v>
                </c:pt>
                <c:pt idx="71">
                  <c:v>21</c:v>
                </c:pt>
                <c:pt idx="72">
                  <c:v>22</c:v>
                </c:pt>
                <c:pt idx="73">
                  <c:v>23</c:v>
                </c:pt>
                <c:pt idx="74">
                  <c:v>24</c:v>
                </c:pt>
                <c:pt idx="75">
                  <c:v>25</c:v>
                </c:pt>
                <c:pt idx="76">
                  <c:v>26</c:v>
                </c:pt>
                <c:pt idx="77">
                  <c:v>27</c:v>
                </c:pt>
                <c:pt idx="78">
                  <c:v>28</c:v>
                </c:pt>
                <c:pt idx="79">
                  <c:v>29</c:v>
                </c:pt>
                <c:pt idx="80">
                  <c:v>30</c:v>
                </c:pt>
                <c:pt idx="81">
                  <c:v>31</c:v>
                </c:pt>
                <c:pt idx="82">
                  <c:v>32</c:v>
                </c:pt>
                <c:pt idx="83">
                  <c:v>33</c:v>
                </c:pt>
                <c:pt idx="84">
                  <c:v>34</c:v>
                </c:pt>
                <c:pt idx="85">
                  <c:v>35</c:v>
                </c:pt>
                <c:pt idx="86">
                  <c:v>36</c:v>
                </c:pt>
                <c:pt idx="87">
                  <c:v>37</c:v>
                </c:pt>
                <c:pt idx="88">
                  <c:v>38</c:v>
                </c:pt>
                <c:pt idx="89">
                  <c:v>39</c:v>
                </c:pt>
                <c:pt idx="90">
                  <c:v>40</c:v>
                </c:pt>
                <c:pt idx="91">
                  <c:v>41</c:v>
                </c:pt>
                <c:pt idx="92">
                  <c:v>42</c:v>
                </c:pt>
                <c:pt idx="93">
                  <c:v>43</c:v>
                </c:pt>
                <c:pt idx="94">
                  <c:v>44</c:v>
                </c:pt>
                <c:pt idx="95">
                  <c:v>45</c:v>
                </c:pt>
                <c:pt idx="96">
                  <c:v>46</c:v>
                </c:pt>
                <c:pt idx="97">
                  <c:v>47</c:v>
                </c:pt>
                <c:pt idx="98">
                  <c:v>48</c:v>
                </c:pt>
                <c:pt idx="99">
                  <c:v>49</c:v>
                </c:pt>
                <c:pt idx="100">
                  <c:v>50</c:v>
                </c:pt>
                <c:pt idx="101">
                  <c:v>51</c:v>
                </c:pt>
                <c:pt idx="102">
                  <c:v>52</c:v>
                </c:pt>
                <c:pt idx="103">
                  <c:v>53</c:v>
                </c:pt>
                <c:pt idx="104">
                  <c:v>54</c:v>
                </c:pt>
                <c:pt idx="105">
                  <c:v>55</c:v>
                </c:pt>
                <c:pt idx="106">
                  <c:v>56</c:v>
                </c:pt>
                <c:pt idx="107">
                  <c:v>57</c:v>
                </c:pt>
                <c:pt idx="108">
                  <c:v>58</c:v>
                </c:pt>
                <c:pt idx="109">
                  <c:v>59</c:v>
                </c:pt>
                <c:pt idx="110">
                  <c:v>60</c:v>
                </c:pt>
                <c:pt idx="111">
                  <c:v>61</c:v>
                </c:pt>
                <c:pt idx="112">
                  <c:v>62</c:v>
                </c:pt>
                <c:pt idx="113">
                  <c:v>63</c:v>
                </c:pt>
                <c:pt idx="114">
                  <c:v>64</c:v>
                </c:pt>
                <c:pt idx="115">
                  <c:v>65</c:v>
                </c:pt>
                <c:pt idx="116">
                  <c:v>66</c:v>
                </c:pt>
                <c:pt idx="117">
                  <c:v>67</c:v>
                </c:pt>
                <c:pt idx="118">
                  <c:v>68</c:v>
                </c:pt>
                <c:pt idx="119">
                  <c:v>69</c:v>
                </c:pt>
                <c:pt idx="120">
                  <c:v>70</c:v>
                </c:pt>
                <c:pt idx="121">
                  <c:v>71</c:v>
                </c:pt>
                <c:pt idx="122">
                  <c:v>72</c:v>
                </c:pt>
                <c:pt idx="123">
                  <c:v>73</c:v>
                </c:pt>
                <c:pt idx="124">
                  <c:v>74</c:v>
                </c:pt>
                <c:pt idx="125">
                  <c:v>75</c:v>
                </c:pt>
                <c:pt idx="126">
                  <c:v>76</c:v>
                </c:pt>
                <c:pt idx="127">
                  <c:v>77</c:v>
                </c:pt>
                <c:pt idx="128">
                  <c:v>78</c:v>
                </c:pt>
                <c:pt idx="129">
                  <c:v>79</c:v>
                </c:pt>
                <c:pt idx="130">
                  <c:v>80</c:v>
                </c:pt>
                <c:pt idx="131">
                  <c:v>81</c:v>
                </c:pt>
                <c:pt idx="132">
                  <c:v>82</c:v>
                </c:pt>
                <c:pt idx="133">
                  <c:v>83</c:v>
                </c:pt>
                <c:pt idx="134">
                  <c:v>84</c:v>
                </c:pt>
                <c:pt idx="135">
                  <c:v>85</c:v>
                </c:pt>
                <c:pt idx="136">
                  <c:v>86</c:v>
                </c:pt>
                <c:pt idx="137">
                  <c:v>87</c:v>
                </c:pt>
                <c:pt idx="138">
                  <c:v>88</c:v>
                </c:pt>
                <c:pt idx="139">
                  <c:v>89</c:v>
                </c:pt>
                <c:pt idx="140">
                  <c:v>90</c:v>
                </c:pt>
                <c:pt idx="141">
                  <c:v>91</c:v>
                </c:pt>
                <c:pt idx="142">
                  <c:v>92</c:v>
                </c:pt>
                <c:pt idx="143">
                  <c:v>93</c:v>
                </c:pt>
                <c:pt idx="144">
                  <c:v>94</c:v>
                </c:pt>
                <c:pt idx="145">
                  <c:v>95</c:v>
                </c:pt>
                <c:pt idx="146">
                  <c:v>96</c:v>
                </c:pt>
                <c:pt idx="147">
                  <c:v>97</c:v>
                </c:pt>
                <c:pt idx="148">
                  <c:v>98</c:v>
                </c:pt>
                <c:pt idx="149">
                  <c:v>99</c:v>
                </c:pt>
                <c:pt idx="150">
                  <c:v>100</c:v>
                </c:pt>
                <c:pt idx="151">
                  <c:v>101</c:v>
                </c:pt>
                <c:pt idx="152">
                  <c:v>102</c:v>
                </c:pt>
                <c:pt idx="153">
                  <c:v>103</c:v>
                </c:pt>
                <c:pt idx="154">
                  <c:v>104</c:v>
                </c:pt>
                <c:pt idx="155">
                  <c:v>105</c:v>
                </c:pt>
                <c:pt idx="156">
                  <c:v>106</c:v>
                </c:pt>
                <c:pt idx="157">
                  <c:v>107</c:v>
                </c:pt>
                <c:pt idx="158">
                  <c:v>108</c:v>
                </c:pt>
                <c:pt idx="159">
                  <c:v>109</c:v>
                </c:pt>
                <c:pt idx="160">
                  <c:v>110</c:v>
                </c:pt>
                <c:pt idx="161">
                  <c:v>111</c:v>
                </c:pt>
                <c:pt idx="162">
                  <c:v>112</c:v>
                </c:pt>
                <c:pt idx="163">
                  <c:v>113</c:v>
                </c:pt>
                <c:pt idx="164">
                  <c:v>114</c:v>
                </c:pt>
                <c:pt idx="165">
                  <c:v>115</c:v>
                </c:pt>
                <c:pt idx="166">
                  <c:v>116</c:v>
                </c:pt>
                <c:pt idx="167">
                  <c:v>117</c:v>
                </c:pt>
                <c:pt idx="168">
                  <c:v>118</c:v>
                </c:pt>
                <c:pt idx="169">
                  <c:v>119</c:v>
                </c:pt>
                <c:pt idx="170">
                  <c:v>120</c:v>
                </c:pt>
                <c:pt idx="171">
                  <c:v>121</c:v>
                </c:pt>
                <c:pt idx="172">
                  <c:v>122</c:v>
                </c:pt>
                <c:pt idx="173">
                  <c:v>123</c:v>
                </c:pt>
                <c:pt idx="174">
                  <c:v>124</c:v>
                </c:pt>
                <c:pt idx="175">
                  <c:v>125</c:v>
                </c:pt>
                <c:pt idx="176">
                  <c:v>126</c:v>
                </c:pt>
                <c:pt idx="177">
                  <c:v>127</c:v>
                </c:pt>
                <c:pt idx="178">
                  <c:v>128</c:v>
                </c:pt>
                <c:pt idx="179">
                  <c:v>129</c:v>
                </c:pt>
                <c:pt idx="180">
                  <c:v>130</c:v>
                </c:pt>
                <c:pt idx="181">
                  <c:v>131</c:v>
                </c:pt>
                <c:pt idx="182">
                  <c:v>132</c:v>
                </c:pt>
                <c:pt idx="183">
                  <c:v>133</c:v>
                </c:pt>
                <c:pt idx="184">
                  <c:v>134</c:v>
                </c:pt>
                <c:pt idx="185">
                  <c:v>135</c:v>
                </c:pt>
                <c:pt idx="186">
                  <c:v>136</c:v>
                </c:pt>
                <c:pt idx="187">
                  <c:v>137</c:v>
                </c:pt>
                <c:pt idx="188">
                  <c:v>138</c:v>
                </c:pt>
                <c:pt idx="189">
                  <c:v>139</c:v>
                </c:pt>
                <c:pt idx="190">
                  <c:v>140</c:v>
                </c:pt>
                <c:pt idx="191">
                  <c:v>141</c:v>
                </c:pt>
                <c:pt idx="192">
                  <c:v>142</c:v>
                </c:pt>
                <c:pt idx="193">
                  <c:v>143</c:v>
                </c:pt>
                <c:pt idx="194">
                  <c:v>144</c:v>
                </c:pt>
                <c:pt idx="195">
                  <c:v>145</c:v>
                </c:pt>
                <c:pt idx="196">
                  <c:v>146</c:v>
                </c:pt>
                <c:pt idx="197">
                  <c:v>147</c:v>
                </c:pt>
                <c:pt idx="198">
                  <c:v>148</c:v>
                </c:pt>
                <c:pt idx="199">
                  <c:v>149</c:v>
                </c:pt>
                <c:pt idx="200">
                  <c:v>150</c:v>
                </c:pt>
              </c:numCache>
            </c:numRef>
          </c:yVal>
          <c:smooth val="1"/>
          <c:extLst>
            <c:ext xmlns:c16="http://schemas.microsoft.com/office/drawing/2014/chart" uri="{C3380CC4-5D6E-409C-BE32-E72D297353CC}">
              <c16:uniqueId val="{00000000-7873-4B9D-8DAF-0F94F8A0BD4A}"/>
            </c:ext>
          </c:extLst>
        </c:ser>
        <c:dLbls>
          <c:showLegendKey val="0"/>
          <c:showVal val="0"/>
          <c:showCatName val="0"/>
          <c:showSerName val="0"/>
          <c:showPercent val="0"/>
          <c:showBubbleSize val="0"/>
        </c:dLbls>
        <c:axId val="952746016"/>
        <c:axId val="952746496"/>
      </c:scatterChart>
      <c:valAx>
        <c:axId val="952746016"/>
        <c:scaling>
          <c:orientation val="minMax"/>
          <c:max val="150"/>
          <c:min val="-50"/>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GB"/>
                  <a:t>Input</a:t>
                </a:r>
                <a:r>
                  <a:rPr lang="en-GB" baseline="0"/>
                  <a:t> Temperature, C</a:t>
                </a:r>
                <a:endParaRPr lang="en-GB"/>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GB"/>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52746496"/>
        <c:crosses val="autoZero"/>
        <c:crossBetween val="midCat"/>
      </c:valAx>
      <c:valAx>
        <c:axId val="952746496"/>
        <c:scaling>
          <c:orientation val="minMax"/>
          <c:max val="150"/>
          <c:min val="-5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GB"/>
                  <a:t>Output</a:t>
                </a:r>
                <a:r>
                  <a:rPr lang="en-GB" baseline="0"/>
                  <a:t> Temperature, C</a:t>
                </a:r>
                <a:endParaRPr lang="en-GB"/>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GB"/>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52746016"/>
        <c:crosses val="autoZero"/>
        <c:crossBetween val="midCat"/>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GB"/>
              <a:t>LMT86</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tx>
            <c:strRef>
              <c:f>'tmp86'!$B$1</c:f>
              <c:strCache>
                <c:ptCount val="1"/>
                <c:pt idx="0">
                  <c:v>Ideal Output</c:v>
                </c:pt>
              </c:strCache>
            </c:strRef>
          </c:tx>
          <c:spPr>
            <a:ln w="19050" cap="rnd">
              <a:solidFill>
                <a:schemeClr val="accent1"/>
              </a:solidFill>
              <a:round/>
            </a:ln>
            <a:effectLst/>
          </c:spPr>
          <c:marker>
            <c:symbol val="none"/>
          </c:marker>
          <c:xVal>
            <c:numRef>
              <c:f>'tmp86'!$A$2:$A$202</c:f>
              <c:numCache>
                <c:formatCode>General</c:formatCode>
                <c:ptCount val="201"/>
                <c:pt idx="0">
                  <c:v>-50</c:v>
                </c:pt>
                <c:pt idx="1">
                  <c:v>-49</c:v>
                </c:pt>
                <c:pt idx="2">
                  <c:v>-48</c:v>
                </c:pt>
                <c:pt idx="3">
                  <c:v>-47</c:v>
                </c:pt>
                <c:pt idx="4">
                  <c:v>-46</c:v>
                </c:pt>
                <c:pt idx="5">
                  <c:v>-45</c:v>
                </c:pt>
                <c:pt idx="6">
                  <c:v>-44</c:v>
                </c:pt>
                <c:pt idx="7">
                  <c:v>-43</c:v>
                </c:pt>
                <c:pt idx="8">
                  <c:v>-42</c:v>
                </c:pt>
                <c:pt idx="9">
                  <c:v>-41</c:v>
                </c:pt>
                <c:pt idx="10">
                  <c:v>-40</c:v>
                </c:pt>
                <c:pt idx="11">
                  <c:v>-39</c:v>
                </c:pt>
                <c:pt idx="12">
                  <c:v>-38</c:v>
                </c:pt>
                <c:pt idx="13">
                  <c:v>-37</c:v>
                </c:pt>
                <c:pt idx="14">
                  <c:v>-36</c:v>
                </c:pt>
                <c:pt idx="15">
                  <c:v>-35</c:v>
                </c:pt>
                <c:pt idx="16">
                  <c:v>-34</c:v>
                </c:pt>
                <c:pt idx="17">
                  <c:v>-33</c:v>
                </c:pt>
                <c:pt idx="18">
                  <c:v>-32</c:v>
                </c:pt>
                <c:pt idx="19">
                  <c:v>-31</c:v>
                </c:pt>
                <c:pt idx="20">
                  <c:v>-30</c:v>
                </c:pt>
                <c:pt idx="21">
                  <c:v>-29</c:v>
                </c:pt>
                <c:pt idx="22">
                  <c:v>-28</c:v>
                </c:pt>
                <c:pt idx="23">
                  <c:v>-27</c:v>
                </c:pt>
                <c:pt idx="24">
                  <c:v>-26</c:v>
                </c:pt>
                <c:pt idx="25">
                  <c:v>-25</c:v>
                </c:pt>
                <c:pt idx="26">
                  <c:v>-24</c:v>
                </c:pt>
                <c:pt idx="27">
                  <c:v>-23</c:v>
                </c:pt>
                <c:pt idx="28">
                  <c:v>-22</c:v>
                </c:pt>
                <c:pt idx="29">
                  <c:v>-21</c:v>
                </c:pt>
                <c:pt idx="30">
                  <c:v>-20</c:v>
                </c:pt>
                <c:pt idx="31">
                  <c:v>-19</c:v>
                </c:pt>
                <c:pt idx="32">
                  <c:v>-18</c:v>
                </c:pt>
                <c:pt idx="33">
                  <c:v>-17</c:v>
                </c:pt>
                <c:pt idx="34">
                  <c:v>-16</c:v>
                </c:pt>
                <c:pt idx="35">
                  <c:v>-15</c:v>
                </c:pt>
                <c:pt idx="36">
                  <c:v>-14</c:v>
                </c:pt>
                <c:pt idx="37">
                  <c:v>-13</c:v>
                </c:pt>
                <c:pt idx="38">
                  <c:v>-12</c:v>
                </c:pt>
                <c:pt idx="39">
                  <c:v>-11</c:v>
                </c:pt>
                <c:pt idx="40">
                  <c:v>-10</c:v>
                </c:pt>
                <c:pt idx="41">
                  <c:v>-9</c:v>
                </c:pt>
                <c:pt idx="42">
                  <c:v>-8</c:v>
                </c:pt>
                <c:pt idx="43">
                  <c:v>-7</c:v>
                </c:pt>
                <c:pt idx="44">
                  <c:v>-6</c:v>
                </c:pt>
                <c:pt idx="45">
                  <c:v>-5</c:v>
                </c:pt>
                <c:pt idx="46">
                  <c:v>-4</c:v>
                </c:pt>
                <c:pt idx="47">
                  <c:v>-3</c:v>
                </c:pt>
                <c:pt idx="48">
                  <c:v>-2</c:v>
                </c:pt>
                <c:pt idx="49">
                  <c:v>-1</c:v>
                </c:pt>
                <c:pt idx="50">
                  <c:v>0</c:v>
                </c:pt>
                <c:pt idx="51">
                  <c:v>1</c:v>
                </c:pt>
                <c:pt idx="52">
                  <c:v>2</c:v>
                </c:pt>
                <c:pt idx="53">
                  <c:v>3</c:v>
                </c:pt>
                <c:pt idx="54">
                  <c:v>4</c:v>
                </c:pt>
                <c:pt idx="55">
                  <c:v>5</c:v>
                </c:pt>
                <c:pt idx="56">
                  <c:v>6</c:v>
                </c:pt>
                <c:pt idx="57">
                  <c:v>7</c:v>
                </c:pt>
                <c:pt idx="58">
                  <c:v>8</c:v>
                </c:pt>
                <c:pt idx="59">
                  <c:v>9</c:v>
                </c:pt>
                <c:pt idx="60">
                  <c:v>10</c:v>
                </c:pt>
                <c:pt idx="61">
                  <c:v>11</c:v>
                </c:pt>
                <c:pt idx="62">
                  <c:v>12</c:v>
                </c:pt>
                <c:pt idx="63">
                  <c:v>13</c:v>
                </c:pt>
                <c:pt idx="64">
                  <c:v>14</c:v>
                </c:pt>
                <c:pt idx="65">
                  <c:v>15</c:v>
                </c:pt>
                <c:pt idx="66">
                  <c:v>16</c:v>
                </c:pt>
                <c:pt idx="67">
                  <c:v>17</c:v>
                </c:pt>
                <c:pt idx="68">
                  <c:v>18</c:v>
                </c:pt>
                <c:pt idx="69">
                  <c:v>19</c:v>
                </c:pt>
                <c:pt idx="70">
                  <c:v>20</c:v>
                </c:pt>
                <c:pt idx="71">
                  <c:v>21</c:v>
                </c:pt>
                <c:pt idx="72">
                  <c:v>22</c:v>
                </c:pt>
                <c:pt idx="73">
                  <c:v>23</c:v>
                </c:pt>
                <c:pt idx="74">
                  <c:v>24</c:v>
                </c:pt>
                <c:pt idx="75">
                  <c:v>25</c:v>
                </c:pt>
                <c:pt idx="76">
                  <c:v>26</c:v>
                </c:pt>
                <c:pt idx="77">
                  <c:v>27</c:v>
                </c:pt>
                <c:pt idx="78">
                  <c:v>28</c:v>
                </c:pt>
                <c:pt idx="79">
                  <c:v>29</c:v>
                </c:pt>
                <c:pt idx="80">
                  <c:v>30</c:v>
                </c:pt>
                <c:pt idx="81">
                  <c:v>31</c:v>
                </c:pt>
                <c:pt idx="82">
                  <c:v>32</c:v>
                </c:pt>
                <c:pt idx="83">
                  <c:v>33</c:v>
                </c:pt>
                <c:pt idx="84">
                  <c:v>34</c:v>
                </c:pt>
                <c:pt idx="85">
                  <c:v>35</c:v>
                </c:pt>
                <c:pt idx="86">
                  <c:v>36</c:v>
                </c:pt>
                <c:pt idx="87">
                  <c:v>37</c:v>
                </c:pt>
                <c:pt idx="88">
                  <c:v>38</c:v>
                </c:pt>
                <c:pt idx="89">
                  <c:v>39</c:v>
                </c:pt>
                <c:pt idx="90">
                  <c:v>40</c:v>
                </c:pt>
                <c:pt idx="91">
                  <c:v>41</c:v>
                </c:pt>
                <c:pt idx="92">
                  <c:v>42</c:v>
                </c:pt>
                <c:pt idx="93">
                  <c:v>43</c:v>
                </c:pt>
                <c:pt idx="94">
                  <c:v>44</c:v>
                </c:pt>
                <c:pt idx="95">
                  <c:v>45</c:v>
                </c:pt>
                <c:pt idx="96">
                  <c:v>46</c:v>
                </c:pt>
                <c:pt idx="97">
                  <c:v>47</c:v>
                </c:pt>
                <c:pt idx="98">
                  <c:v>48</c:v>
                </c:pt>
                <c:pt idx="99">
                  <c:v>49</c:v>
                </c:pt>
                <c:pt idx="100">
                  <c:v>50</c:v>
                </c:pt>
                <c:pt idx="101">
                  <c:v>51</c:v>
                </c:pt>
                <c:pt idx="102">
                  <c:v>52</c:v>
                </c:pt>
                <c:pt idx="103">
                  <c:v>53</c:v>
                </c:pt>
                <c:pt idx="104">
                  <c:v>54</c:v>
                </c:pt>
                <c:pt idx="105">
                  <c:v>55</c:v>
                </c:pt>
                <c:pt idx="106">
                  <c:v>56</c:v>
                </c:pt>
                <c:pt idx="107">
                  <c:v>57</c:v>
                </c:pt>
                <c:pt idx="108">
                  <c:v>58</c:v>
                </c:pt>
                <c:pt idx="109">
                  <c:v>59</c:v>
                </c:pt>
                <c:pt idx="110">
                  <c:v>60</c:v>
                </c:pt>
                <c:pt idx="111">
                  <c:v>61</c:v>
                </c:pt>
                <c:pt idx="112">
                  <c:v>62</c:v>
                </c:pt>
                <c:pt idx="113">
                  <c:v>63</c:v>
                </c:pt>
                <c:pt idx="114">
                  <c:v>64</c:v>
                </c:pt>
                <c:pt idx="115">
                  <c:v>65</c:v>
                </c:pt>
                <c:pt idx="116">
                  <c:v>66</c:v>
                </c:pt>
                <c:pt idx="117">
                  <c:v>67</c:v>
                </c:pt>
                <c:pt idx="118">
                  <c:v>68</c:v>
                </c:pt>
                <c:pt idx="119">
                  <c:v>69</c:v>
                </c:pt>
                <c:pt idx="120">
                  <c:v>70</c:v>
                </c:pt>
                <c:pt idx="121">
                  <c:v>71</c:v>
                </c:pt>
                <c:pt idx="122">
                  <c:v>72</c:v>
                </c:pt>
                <c:pt idx="123">
                  <c:v>73</c:v>
                </c:pt>
                <c:pt idx="124">
                  <c:v>74</c:v>
                </c:pt>
                <c:pt idx="125">
                  <c:v>75</c:v>
                </c:pt>
                <c:pt idx="126">
                  <c:v>76</c:v>
                </c:pt>
                <c:pt idx="127">
                  <c:v>77</c:v>
                </c:pt>
                <c:pt idx="128">
                  <c:v>78</c:v>
                </c:pt>
                <c:pt idx="129">
                  <c:v>79</c:v>
                </c:pt>
                <c:pt idx="130">
                  <c:v>80</c:v>
                </c:pt>
                <c:pt idx="131">
                  <c:v>81</c:v>
                </c:pt>
                <c:pt idx="132">
                  <c:v>82</c:v>
                </c:pt>
                <c:pt idx="133">
                  <c:v>83</c:v>
                </c:pt>
                <c:pt idx="134">
                  <c:v>84</c:v>
                </c:pt>
                <c:pt idx="135">
                  <c:v>85</c:v>
                </c:pt>
                <c:pt idx="136">
                  <c:v>86</c:v>
                </c:pt>
                <c:pt idx="137">
                  <c:v>87</c:v>
                </c:pt>
                <c:pt idx="138">
                  <c:v>88</c:v>
                </c:pt>
                <c:pt idx="139">
                  <c:v>89</c:v>
                </c:pt>
                <c:pt idx="140">
                  <c:v>90</c:v>
                </c:pt>
                <c:pt idx="141">
                  <c:v>91</c:v>
                </c:pt>
                <c:pt idx="142">
                  <c:v>92</c:v>
                </c:pt>
                <c:pt idx="143">
                  <c:v>93</c:v>
                </c:pt>
                <c:pt idx="144">
                  <c:v>94</c:v>
                </c:pt>
                <c:pt idx="145">
                  <c:v>95</c:v>
                </c:pt>
                <c:pt idx="146">
                  <c:v>96</c:v>
                </c:pt>
                <c:pt idx="147">
                  <c:v>97</c:v>
                </c:pt>
                <c:pt idx="148">
                  <c:v>98</c:v>
                </c:pt>
                <c:pt idx="149">
                  <c:v>99</c:v>
                </c:pt>
                <c:pt idx="150">
                  <c:v>100</c:v>
                </c:pt>
                <c:pt idx="151">
                  <c:v>101</c:v>
                </c:pt>
                <c:pt idx="152">
                  <c:v>102</c:v>
                </c:pt>
                <c:pt idx="153">
                  <c:v>103</c:v>
                </c:pt>
                <c:pt idx="154">
                  <c:v>104</c:v>
                </c:pt>
                <c:pt idx="155">
                  <c:v>105</c:v>
                </c:pt>
                <c:pt idx="156">
                  <c:v>106</c:v>
                </c:pt>
                <c:pt idx="157">
                  <c:v>107</c:v>
                </c:pt>
                <c:pt idx="158">
                  <c:v>108</c:v>
                </c:pt>
                <c:pt idx="159">
                  <c:v>109</c:v>
                </c:pt>
                <c:pt idx="160">
                  <c:v>110</c:v>
                </c:pt>
                <c:pt idx="161">
                  <c:v>111</c:v>
                </c:pt>
                <c:pt idx="162">
                  <c:v>112</c:v>
                </c:pt>
                <c:pt idx="163">
                  <c:v>113</c:v>
                </c:pt>
                <c:pt idx="164">
                  <c:v>114</c:v>
                </c:pt>
                <c:pt idx="165">
                  <c:v>115</c:v>
                </c:pt>
                <c:pt idx="166">
                  <c:v>116</c:v>
                </c:pt>
                <c:pt idx="167">
                  <c:v>117</c:v>
                </c:pt>
                <c:pt idx="168">
                  <c:v>118</c:v>
                </c:pt>
                <c:pt idx="169">
                  <c:v>119</c:v>
                </c:pt>
                <c:pt idx="170">
                  <c:v>120</c:v>
                </c:pt>
                <c:pt idx="171">
                  <c:v>121</c:v>
                </c:pt>
                <c:pt idx="172">
                  <c:v>122</c:v>
                </c:pt>
                <c:pt idx="173">
                  <c:v>123</c:v>
                </c:pt>
                <c:pt idx="174">
                  <c:v>124</c:v>
                </c:pt>
                <c:pt idx="175">
                  <c:v>125</c:v>
                </c:pt>
                <c:pt idx="176">
                  <c:v>126</c:v>
                </c:pt>
                <c:pt idx="177">
                  <c:v>127</c:v>
                </c:pt>
                <c:pt idx="178">
                  <c:v>128</c:v>
                </c:pt>
                <c:pt idx="179">
                  <c:v>129</c:v>
                </c:pt>
                <c:pt idx="180">
                  <c:v>130</c:v>
                </c:pt>
                <c:pt idx="181">
                  <c:v>131</c:v>
                </c:pt>
                <c:pt idx="182">
                  <c:v>132</c:v>
                </c:pt>
                <c:pt idx="183">
                  <c:v>133</c:v>
                </c:pt>
                <c:pt idx="184">
                  <c:v>134</c:v>
                </c:pt>
                <c:pt idx="185">
                  <c:v>135</c:v>
                </c:pt>
                <c:pt idx="186">
                  <c:v>136</c:v>
                </c:pt>
                <c:pt idx="187">
                  <c:v>137</c:v>
                </c:pt>
                <c:pt idx="188">
                  <c:v>138</c:v>
                </c:pt>
                <c:pt idx="189">
                  <c:v>139</c:v>
                </c:pt>
                <c:pt idx="190">
                  <c:v>140</c:v>
                </c:pt>
                <c:pt idx="191">
                  <c:v>141</c:v>
                </c:pt>
                <c:pt idx="192">
                  <c:v>142</c:v>
                </c:pt>
                <c:pt idx="193">
                  <c:v>143</c:v>
                </c:pt>
                <c:pt idx="194">
                  <c:v>144</c:v>
                </c:pt>
                <c:pt idx="195">
                  <c:v>145</c:v>
                </c:pt>
                <c:pt idx="196">
                  <c:v>146</c:v>
                </c:pt>
                <c:pt idx="197">
                  <c:v>147</c:v>
                </c:pt>
                <c:pt idx="198">
                  <c:v>148</c:v>
                </c:pt>
                <c:pt idx="199">
                  <c:v>149</c:v>
                </c:pt>
                <c:pt idx="200">
                  <c:v>150</c:v>
                </c:pt>
              </c:numCache>
            </c:numRef>
          </c:xVal>
          <c:yVal>
            <c:numRef>
              <c:f>'tmp86'!$B$2:$B$202</c:f>
              <c:numCache>
                <c:formatCode>General</c:formatCode>
                <c:ptCount val="201"/>
                <c:pt idx="0">
                  <c:v>-50</c:v>
                </c:pt>
                <c:pt idx="1">
                  <c:v>-49</c:v>
                </c:pt>
                <c:pt idx="2">
                  <c:v>-48</c:v>
                </c:pt>
                <c:pt idx="3">
                  <c:v>-47</c:v>
                </c:pt>
                <c:pt idx="4">
                  <c:v>-46</c:v>
                </c:pt>
                <c:pt idx="5">
                  <c:v>-45</c:v>
                </c:pt>
                <c:pt idx="6">
                  <c:v>-44</c:v>
                </c:pt>
                <c:pt idx="7">
                  <c:v>-43</c:v>
                </c:pt>
                <c:pt idx="8">
                  <c:v>-42</c:v>
                </c:pt>
                <c:pt idx="9">
                  <c:v>-41</c:v>
                </c:pt>
                <c:pt idx="10">
                  <c:v>-40</c:v>
                </c:pt>
                <c:pt idx="11">
                  <c:v>-39</c:v>
                </c:pt>
                <c:pt idx="12">
                  <c:v>-38</c:v>
                </c:pt>
                <c:pt idx="13">
                  <c:v>-37</c:v>
                </c:pt>
                <c:pt idx="14">
                  <c:v>-36</c:v>
                </c:pt>
                <c:pt idx="15">
                  <c:v>-35</c:v>
                </c:pt>
                <c:pt idx="16">
                  <c:v>-34</c:v>
                </c:pt>
                <c:pt idx="17">
                  <c:v>-33</c:v>
                </c:pt>
                <c:pt idx="18">
                  <c:v>-32</c:v>
                </c:pt>
                <c:pt idx="19">
                  <c:v>-31</c:v>
                </c:pt>
                <c:pt idx="20">
                  <c:v>-30</c:v>
                </c:pt>
                <c:pt idx="21">
                  <c:v>-29</c:v>
                </c:pt>
                <c:pt idx="22">
                  <c:v>-28</c:v>
                </c:pt>
                <c:pt idx="23">
                  <c:v>-27</c:v>
                </c:pt>
                <c:pt idx="24">
                  <c:v>-26</c:v>
                </c:pt>
                <c:pt idx="25">
                  <c:v>-25</c:v>
                </c:pt>
                <c:pt idx="26">
                  <c:v>-24</c:v>
                </c:pt>
                <c:pt idx="27">
                  <c:v>-23</c:v>
                </c:pt>
                <c:pt idx="28">
                  <c:v>-22</c:v>
                </c:pt>
                <c:pt idx="29">
                  <c:v>-21</c:v>
                </c:pt>
                <c:pt idx="30">
                  <c:v>-20</c:v>
                </c:pt>
                <c:pt idx="31">
                  <c:v>-19</c:v>
                </c:pt>
                <c:pt idx="32">
                  <c:v>-18</c:v>
                </c:pt>
                <c:pt idx="33">
                  <c:v>-17</c:v>
                </c:pt>
                <c:pt idx="34">
                  <c:v>-16</c:v>
                </c:pt>
                <c:pt idx="35">
                  <c:v>-15</c:v>
                </c:pt>
                <c:pt idx="36">
                  <c:v>-14</c:v>
                </c:pt>
                <c:pt idx="37">
                  <c:v>-13</c:v>
                </c:pt>
                <c:pt idx="38">
                  <c:v>-12</c:v>
                </c:pt>
                <c:pt idx="39">
                  <c:v>-11</c:v>
                </c:pt>
                <c:pt idx="40">
                  <c:v>-10</c:v>
                </c:pt>
                <c:pt idx="41">
                  <c:v>-9</c:v>
                </c:pt>
                <c:pt idx="42">
                  <c:v>-8</c:v>
                </c:pt>
                <c:pt idx="43">
                  <c:v>-7</c:v>
                </c:pt>
                <c:pt idx="44">
                  <c:v>-6</c:v>
                </c:pt>
                <c:pt idx="45">
                  <c:v>-5</c:v>
                </c:pt>
                <c:pt idx="46">
                  <c:v>-4</c:v>
                </c:pt>
                <c:pt idx="47">
                  <c:v>-3</c:v>
                </c:pt>
                <c:pt idx="48">
                  <c:v>-2</c:v>
                </c:pt>
                <c:pt idx="49">
                  <c:v>-1</c:v>
                </c:pt>
                <c:pt idx="50">
                  <c:v>0</c:v>
                </c:pt>
                <c:pt idx="51">
                  <c:v>1</c:v>
                </c:pt>
                <c:pt idx="52">
                  <c:v>2</c:v>
                </c:pt>
                <c:pt idx="53">
                  <c:v>3</c:v>
                </c:pt>
                <c:pt idx="54">
                  <c:v>4</c:v>
                </c:pt>
                <c:pt idx="55">
                  <c:v>5</c:v>
                </c:pt>
                <c:pt idx="56">
                  <c:v>6</c:v>
                </c:pt>
                <c:pt idx="57">
                  <c:v>7</c:v>
                </c:pt>
                <c:pt idx="58">
                  <c:v>8</c:v>
                </c:pt>
                <c:pt idx="59">
                  <c:v>9</c:v>
                </c:pt>
                <c:pt idx="60">
                  <c:v>10</c:v>
                </c:pt>
                <c:pt idx="61">
                  <c:v>11</c:v>
                </c:pt>
                <c:pt idx="62">
                  <c:v>12</c:v>
                </c:pt>
                <c:pt idx="63">
                  <c:v>13</c:v>
                </c:pt>
                <c:pt idx="64">
                  <c:v>14</c:v>
                </c:pt>
                <c:pt idx="65">
                  <c:v>15</c:v>
                </c:pt>
                <c:pt idx="66">
                  <c:v>16</c:v>
                </c:pt>
                <c:pt idx="67">
                  <c:v>17</c:v>
                </c:pt>
                <c:pt idx="68">
                  <c:v>18</c:v>
                </c:pt>
                <c:pt idx="69">
                  <c:v>19</c:v>
                </c:pt>
                <c:pt idx="70">
                  <c:v>20</c:v>
                </c:pt>
                <c:pt idx="71">
                  <c:v>21</c:v>
                </c:pt>
                <c:pt idx="72">
                  <c:v>22</c:v>
                </c:pt>
                <c:pt idx="73">
                  <c:v>23</c:v>
                </c:pt>
                <c:pt idx="74">
                  <c:v>24</c:v>
                </c:pt>
                <c:pt idx="75">
                  <c:v>25</c:v>
                </c:pt>
                <c:pt idx="76">
                  <c:v>26</c:v>
                </c:pt>
                <c:pt idx="77">
                  <c:v>27</c:v>
                </c:pt>
                <c:pt idx="78">
                  <c:v>28</c:v>
                </c:pt>
                <c:pt idx="79">
                  <c:v>29</c:v>
                </c:pt>
                <c:pt idx="80">
                  <c:v>30</c:v>
                </c:pt>
                <c:pt idx="81">
                  <c:v>31</c:v>
                </c:pt>
                <c:pt idx="82">
                  <c:v>32</c:v>
                </c:pt>
                <c:pt idx="83">
                  <c:v>33</c:v>
                </c:pt>
                <c:pt idx="84">
                  <c:v>34</c:v>
                </c:pt>
                <c:pt idx="85">
                  <c:v>35</c:v>
                </c:pt>
                <c:pt idx="86">
                  <c:v>36</c:v>
                </c:pt>
                <c:pt idx="87">
                  <c:v>37</c:v>
                </c:pt>
                <c:pt idx="88">
                  <c:v>38</c:v>
                </c:pt>
                <c:pt idx="89">
                  <c:v>39</c:v>
                </c:pt>
                <c:pt idx="90">
                  <c:v>40</c:v>
                </c:pt>
                <c:pt idx="91">
                  <c:v>41</c:v>
                </c:pt>
                <c:pt idx="92">
                  <c:v>42</c:v>
                </c:pt>
                <c:pt idx="93">
                  <c:v>43</c:v>
                </c:pt>
                <c:pt idx="94">
                  <c:v>44</c:v>
                </c:pt>
                <c:pt idx="95">
                  <c:v>45</c:v>
                </c:pt>
                <c:pt idx="96">
                  <c:v>46</c:v>
                </c:pt>
                <c:pt idx="97">
                  <c:v>47</c:v>
                </c:pt>
                <c:pt idx="98">
                  <c:v>48</c:v>
                </c:pt>
                <c:pt idx="99">
                  <c:v>49</c:v>
                </c:pt>
                <c:pt idx="100">
                  <c:v>50</c:v>
                </c:pt>
                <c:pt idx="101">
                  <c:v>51</c:v>
                </c:pt>
                <c:pt idx="102">
                  <c:v>52</c:v>
                </c:pt>
                <c:pt idx="103">
                  <c:v>53</c:v>
                </c:pt>
                <c:pt idx="104">
                  <c:v>54</c:v>
                </c:pt>
                <c:pt idx="105">
                  <c:v>55</c:v>
                </c:pt>
                <c:pt idx="106">
                  <c:v>56</c:v>
                </c:pt>
                <c:pt idx="107">
                  <c:v>57</c:v>
                </c:pt>
                <c:pt idx="108">
                  <c:v>58</c:v>
                </c:pt>
                <c:pt idx="109">
                  <c:v>59</c:v>
                </c:pt>
                <c:pt idx="110">
                  <c:v>60</c:v>
                </c:pt>
                <c:pt idx="111">
                  <c:v>61</c:v>
                </c:pt>
                <c:pt idx="112">
                  <c:v>62</c:v>
                </c:pt>
                <c:pt idx="113">
                  <c:v>63</c:v>
                </c:pt>
                <c:pt idx="114">
                  <c:v>64</c:v>
                </c:pt>
                <c:pt idx="115">
                  <c:v>65</c:v>
                </c:pt>
                <c:pt idx="116">
                  <c:v>66</c:v>
                </c:pt>
                <c:pt idx="117">
                  <c:v>67</c:v>
                </c:pt>
                <c:pt idx="118">
                  <c:v>68</c:v>
                </c:pt>
                <c:pt idx="119">
                  <c:v>69</c:v>
                </c:pt>
                <c:pt idx="120">
                  <c:v>70</c:v>
                </c:pt>
                <c:pt idx="121">
                  <c:v>71</c:v>
                </c:pt>
                <c:pt idx="122">
                  <c:v>72</c:v>
                </c:pt>
                <c:pt idx="123">
                  <c:v>73</c:v>
                </c:pt>
                <c:pt idx="124">
                  <c:v>74</c:v>
                </c:pt>
                <c:pt idx="125">
                  <c:v>75</c:v>
                </c:pt>
                <c:pt idx="126">
                  <c:v>76</c:v>
                </c:pt>
                <c:pt idx="127">
                  <c:v>77</c:v>
                </c:pt>
                <c:pt idx="128">
                  <c:v>78</c:v>
                </c:pt>
                <c:pt idx="129">
                  <c:v>79</c:v>
                </c:pt>
                <c:pt idx="130">
                  <c:v>80</c:v>
                </c:pt>
                <c:pt idx="131">
                  <c:v>81</c:v>
                </c:pt>
                <c:pt idx="132">
                  <c:v>82</c:v>
                </c:pt>
                <c:pt idx="133">
                  <c:v>83</c:v>
                </c:pt>
                <c:pt idx="134">
                  <c:v>84</c:v>
                </c:pt>
                <c:pt idx="135">
                  <c:v>85</c:v>
                </c:pt>
                <c:pt idx="136">
                  <c:v>86</c:v>
                </c:pt>
                <c:pt idx="137">
                  <c:v>87</c:v>
                </c:pt>
                <c:pt idx="138">
                  <c:v>88</c:v>
                </c:pt>
                <c:pt idx="139">
                  <c:v>89</c:v>
                </c:pt>
                <c:pt idx="140">
                  <c:v>90</c:v>
                </c:pt>
                <c:pt idx="141">
                  <c:v>91</c:v>
                </c:pt>
                <c:pt idx="142">
                  <c:v>92</c:v>
                </c:pt>
                <c:pt idx="143">
                  <c:v>93</c:v>
                </c:pt>
                <c:pt idx="144">
                  <c:v>94</c:v>
                </c:pt>
                <c:pt idx="145">
                  <c:v>95</c:v>
                </c:pt>
                <c:pt idx="146">
                  <c:v>96</c:v>
                </c:pt>
                <c:pt idx="147">
                  <c:v>97</c:v>
                </c:pt>
                <c:pt idx="148">
                  <c:v>98</c:v>
                </c:pt>
                <c:pt idx="149">
                  <c:v>99</c:v>
                </c:pt>
                <c:pt idx="150">
                  <c:v>100</c:v>
                </c:pt>
                <c:pt idx="151">
                  <c:v>101</c:v>
                </c:pt>
                <c:pt idx="152">
                  <c:v>102</c:v>
                </c:pt>
                <c:pt idx="153">
                  <c:v>103</c:v>
                </c:pt>
                <c:pt idx="154">
                  <c:v>104</c:v>
                </c:pt>
                <c:pt idx="155">
                  <c:v>105</c:v>
                </c:pt>
                <c:pt idx="156">
                  <c:v>106</c:v>
                </c:pt>
                <c:pt idx="157">
                  <c:v>107</c:v>
                </c:pt>
                <c:pt idx="158">
                  <c:v>108</c:v>
                </c:pt>
                <c:pt idx="159">
                  <c:v>109</c:v>
                </c:pt>
                <c:pt idx="160">
                  <c:v>110</c:v>
                </c:pt>
                <c:pt idx="161">
                  <c:v>111</c:v>
                </c:pt>
                <c:pt idx="162">
                  <c:v>112</c:v>
                </c:pt>
                <c:pt idx="163">
                  <c:v>113</c:v>
                </c:pt>
                <c:pt idx="164">
                  <c:v>114</c:v>
                </c:pt>
                <c:pt idx="165">
                  <c:v>115</c:v>
                </c:pt>
                <c:pt idx="166">
                  <c:v>116</c:v>
                </c:pt>
                <c:pt idx="167">
                  <c:v>117</c:v>
                </c:pt>
                <c:pt idx="168">
                  <c:v>118</c:v>
                </c:pt>
                <c:pt idx="169">
                  <c:v>119</c:v>
                </c:pt>
                <c:pt idx="170">
                  <c:v>120</c:v>
                </c:pt>
                <c:pt idx="171">
                  <c:v>121</c:v>
                </c:pt>
                <c:pt idx="172">
                  <c:v>122</c:v>
                </c:pt>
                <c:pt idx="173">
                  <c:v>123</c:v>
                </c:pt>
                <c:pt idx="174">
                  <c:v>124</c:v>
                </c:pt>
                <c:pt idx="175">
                  <c:v>125</c:v>
                </c:pt>
                <c:pt idx="176">
                  <c:v>126</c:v>
                </c:pt>
                <c:pt idx="177">
                  <c:v>127</c:v>
                </c:pt>
                <c:pt idx="178">
                  <c:v>128</c:v>
                </c:pt>
                <c:pt idx="179">
                  <c:v>129</c:v>
                </c:pt>
                <c:pt idx="180">
                  <c:v>130</c:v>
                </c:pt>
                <c:pt idx="181">
                  <c:v>131</c:v>
                </c:pt>
                <c:pt idx="182">
                  <c:v>132</c:v>
                </c:pt>
                <c:pt idx="183">
                  <c:v>133</c:v>
                </c:pt>
                <c:pt idx="184">
                  <c:v>134</c:v>
                </c:pt>
                <c:pt idx="185">
                  <c:v>135</c:v>
                </c:pt>
                <c:pt idx="186">
                  <c:v>136</c:v>
                </c:pt>
                <c:pt idx="187">
                  <c:v>137</c:v>
                </c:pt>
                <c:pt idx="188">
                  <c:v>138</c:v>
                </c:pt>
                <c:pt idx="189">
                  <c:v>139</c:v>
                </c:pt>
                <c:pt idx="190">
                  <c:v>140</c:v>
                </c:pt>
                <c:pt idx="191">
                  <c:v>141</c:v>
                </c:pt>
                <c:pt idx="192">
                  <c:v>142</c:v>
                </c:pt>
                <c:pt idx="193">
                  <c:v>143</c:v>
                </c:pt>
                <c:pt idx="194">
                  <c:v>144</c:v>
                </c:pt>
                <c:pt idx="195">
                  <c:v>145</c:v>
                </c:pt>
                <c:pt idx="196">
                  <c:v>146</c:v>
                </c:pt>
                <c:pt idx="197">
                  <c:v>147</c:v>
                </c:pt>
                <c:pt idx="198">
                  <c:v>148</c:v>
                </c:pt>
                <c:pt idx="199">
                  <c:v>149</c:v>
                </c:pt>
                <c:pt idx="200">
                  <c:v>150</c:v>
                </c:pt>
              </c:numCache>
            </c:numRef>
          </c:yVal>
          <c:smooth val="0"/>
          <c:extLst>
            <c:ext xmlns:c16="http://schemas.microsoft.com/office/drawing/2014/chart" uri="{C3380CC4-5D6E-409C-BE32-E72D297353CC}">
              <c16:uniqueId val="{00000000-0573-42D5-AC30-136473A35ECC}"/>
            </c:ext>
          </c:extLst>
        </c:ser>
        <c:ser>
          <c:idx val="1"/>
          <c:order val="1"/>
          <c:tx>
            <c:strRef>
              <c:f>'tmp86'!$C$1</c:f>
              <c:strCache>
                <c:ptCount val="1"/>
                <c:pt idx="0">
                  <c:v>Limits, lower</c:v>
                </c:pt>
              </c:strCache>
            </c:strRef>
          </c:tx>
          <c:spPr>
            <a:ln w="19050" cap="rnd">
              <a:solidFill>
                <a:schemeClr val="accent2"/>
              </a:solidFill>
              <a:round/>
            </a:ln>
            <a:effectLst/>
          </c:spPr>
          <c:marker>
            <c:symbol val="none"/>
          </c:marker>
          <c:xVal>
            <c:numRef>
              <c:f>'tmp86'!$A$2:$A$202</c:f>
              <c:numCache>
                <c:formatCode>General</c:formatCode>
                <c:ptCount val="201"/>
                <c:pt idx="0">
                  <c:v>-50</c:v>
                </c:pt>
                <c:pt idx="1">
                  <c:v>-49</c:v>
                </c:pt>
                <c:pt idx="2">
                  <c:v>-48</c:v>
                </c:pt>
                <c:pt idx="3">
                  <c:v>-47</c:v>
                </c:pt>
                <c:pt idx="4">
                  <c:v>-46</c:v>
                </c:pt>
                <c:pt idx="5">
                  <c:v>-45</c:v>
                </c:pt>
                <c:pt idx="6">
                  <c:v>-44</c:v>
                </c:pt>
                <c:pt idx="7">
                  <c:v>-43</c:v>
                </c:pt>
                <c:pt idx="8">
                  <c:v>-42</c:v>
                </c:pt>
                <c:pt idx="9">
                  <c:v>-41</c:v>
                </c:pt>
                <c:pt idx="10">
                  <c:v>-40</c:v>
                </c:pt>
                <c:pt idx="11">
                  <c:v>-39</c:v>
                </c:pt>
                <c:pt idx="12">
                  <c:v>-38</c:v>
                </c:pt>
                <c:pt idx="13">
                  <c:v>-37</c:v>
                </c:pt>
                <c:pt idx="14">
                  <c:v>-36</c:v>
                </c:pt>
                <c:pt idx="15">
                  <c:v>-35</c:v>
                </c:pt>
                <c:pt idx="16">
                  <c:v>-34</c:v>
                </c:pt>
                <c:pt idx="17">
                  <c:v>-33</c:v>
                </c:pt>
                <c:pt idx="18">
                  <c:v>-32</c:v>
                </c:pt>
                <c:pt idx="19">
                  <c:v>-31</c:v>
                </c:pt>
                <c:pt idx="20">
                  <c:v>-30</c:v>
                </c:pt>
                <c:pt idx="21">
                  <c:v>-29</c:v>
                </c:pt>
                <c:pt idx="22">
                  <c:v>-28</c:v>
                </c:pt>
                <c:pt idx="23">
                  <c:v>-27</c:v>
                </c:pt>
                <c:pt idx="24">
                  <c:v>-26</c:v>
                </c:pt>
                <c:pt idx="25">
                  <c:v>-25</c:v>
                </c:pt>
                <c:pt idx="26">
                  <c:v>-24</c:v>
                </c:pt>
                <c:pt idx="27">
                  <c:v>-23</c:v>
                </c:pt>
                <c:pt idx="28">
                  <c:v>-22</c:v>
                </c:pt>
                <c:pt idx="29">
                  <c:v>-21</c:v>
                </c:pt>
                <c:pt idx="30">
                  <c:v>-20</c:v>
                </c:pt>
                <c:pt idx="31">
                  <c:v>-19</c:v>
                </c:pt>
                <c:pt idx="32">
                  <c:v>-18</c:v>
                </c:pt>
                <c:pt idx="33">
                  <c:v>-17</c:v>
                </c:pt>
                <c:pt idx="34">
                  <c:v>-16</c:v>
                </c:pt>
                <c:pt idx="35">
                  <c:v>-15</c:v>
                </c:pt>
                <c:pt idx="36">
                  <c:v>-14</c:v>
                </c:pt>
                <c:pt idx="37">
                  <c:v>-13</c:v>
                </c:pt>
                <c:pt idx="38">
                  <c:v>-12</c:v>
                </c:pt>
                <c:pt idx="39">
                  <c:v>-11</c:v>
                </c:pt>
                <c:pt idx="40">
                  <c:v>-10</c:v>
                </c:pt>
                <c:pt idx="41">
                  <c:v>-9</c:v>
                </c:pt>
                <c:pt idx="42">
                  <c:v>-8</c:v>
                </c:pt>
                <c:pt idx="43">
                  <c:v>-7</c:v>
                </c:pt>
                <c:pt idx="44">
                  <c:v>-6</c:v>
                </c:pt>
                <c:pt idx="45">
                  <c:v>-5</c:v>
                </c:pt>
                <c:pt idx="46">
                  <c:v>-4</c:v>
                </c:pt>
                <c:pt idx="47">
                  <c:v>-3</c:v>
                </c:pt>
                <c:pt idx="48">
                  <c:v>-2</c:v>
                </c:pt>
                <c:pt idx="49">
                  <c:v>-1</c:v>
                </c:pt>
                <c:pt idx="50">
                  <c:v>0</c:v>
                </c:pt>
                <c:pt idx="51">
                  <c:v>1</c:v>
                </c:pt>
                <c:pt idx="52">
                  <c:v>2</c:v>
                </c:pt>
                <c:pt idx="53">
                  <c:v>3</c:v>
                </c:pt>
                <c:pt idx="54">
                  <c:v>4</c:v>
                </c:pt>
                <c:pt idx="55">
                  <c:v>5</c:v>
                </c:pt>
                <c:pt idx="56">
                  <c:v>6</c:v>
                </c:pt>
                <c:pt idx="57">
                  <c:v>7</c:v>
                </c:pt>
                <c:pt idx="58">
                  <c:v>8</c:v>
                </c:pt>
                <c:pt idx="59">
                  <c:v>9</c:v>
                </c:pt>
                <c:pt idx="60">
                  <c:v>10</c:v>
                </c:pt>
                <c:pt idx="61">
                  <c:v>11</c:v>
                </c:pt>
                <c:pt idx="62">
                  <c:v>12</c:v>
                </c:pt>
                <c:pt idx="63">
                  <c:v>13</c:v>
                </c:pt>
                <c:pt idx="64">
                  <c:v>14</c:v>
                </c:pt>
                <c:pt idx="65">
                  <c:v>15</c:v>
                </c:pt>
                <c:pt idx="66">
                  <c:v>16</c:v>
                </c:pt>
                <c:pt idx="67">
                  <c:v>17</c:v>
                </c:pt>
                <c:pt idx="68">
                  <c:v>18</c:v>
                </c:pt>
                <c:pt idx="69">
                  <c:v>19</c:v>
                </c:pt>
                <c:pt idx="70">
                  <c:v>20</c:v>
                </c:pt>
                <c:pt idx="71">
                  <c:v>21</c:v>
                </c:pt>
                <c:pt idx="72">
                  <c:v>22</c:v>
                </c:pt>
                <c:pt idx="73">
                  <c:v>23</c:v>
                </c:pt>
                <c:pt idx="74">
                  <c:v>24</c:v>
                </c:pt>
                <c:pt idx="75">
                  <c:v>25</c:v>
                </c:pt>
                <c:pt idx="76">
                  <c:v>26</c:v>
                </c:pt>
                <c:pt idx="77">
                  <c:v>27</c:v>
                </c:pt>
                <c:pt idx="78">
                  <c:v>28</c:v>
                </c:pt>
                <c:pt idx="79">
                  <c:v>29</c:v>
                </c:pt>
                <c:pt idx="80">
                  <c:v>30</c:v>
                </c:pt>
                <c:pt idx="81">
                  <c:v>31</c:v>
                </c:pt>
                <c:pt idx="82">
                  <c:v>32</c:v>
                </c:pt>
                <c:pt idx="83">
                  <c:v>33</c:v>
                </c:pt>
                <c:pt idx="84">
                  <c:v>34</c:v>
                </c:pt>
                <c:pt idx="85">
                  <c:v>35</c:v>
                </c:pt>
                <c:pt idx="86">
                  <c:v>36</c:v>
                </c:pt>
                <c:pt idx="87">
                  <c:v>37</c:v>
                </c:pt>
                <c:pt idx="88">
                  <c:v>38</c:v>
                </c:pt>
                <c:pt idx="89">
                  <c:v>39</c:v>
                </c:pt>
                <c:pt idx="90">
                  <c:v>40</c:v>
                </c:pt>
                <c:pt idx="91">
                  <c:v>41</c:v>
                </c:pt>
                <c:pt idx="92">
                  <c:v>42</c:v>
                </c:pt>
                <c:pt idx="93">
                  <c:v>43</c:v>
                </c:pt>
                <c:pt idx="94">
                  <c:v>44</c:v>
                </c:pt>
                <c:pt idx="95">
                  <c:v>45</c:v>
                </c:pt>
                <c:pt idx="96">
                  <c:v>46</c:v>
                </c:pt>
                <c:pt idx="97">
                  <c:v>47</c:v>
                </c:pt>
                <c:pt idx="98">
                  <c:v>48</c:v>
                </c:pt>
                <c:pt idx="99">
                  <c:v>49</c:v>
                </c:pt>
                <c:pt idx="100">
                  <c:v>50</c:v>
                </c:pt>
                <c:pt idx="101">
                  <c:v>51</c:v>
                </c:pt>
                <c:pt idx="102">
                  <c:v>52</c:v>
                </c:pt>
                <c:pt idx="103">
                  <c:v>53</c:v>
                </c:pt>
                <c:pt idx="104">
                  <c:v>54</c:v>
                </c:pt>
                <c:pt idx="105">
                  <c:v>55</c:v>
                </c:pt>
                <c:pt idx="106">
                  <c:v>56</c:v>
                </c:pt>
                <c:pt idx="107">
                  <c:v>57</c:v>
                </c:pt>
                <c:pt idx="108">
                  <c:v>58</c:v>
                </c:pt>
                <c:pt idx="109">
                  <c:v>59</c:v>
                </c:pt>
                <c:pt idx="110">
                  <c:v>60</c:v>
                </c:pt>
                <c:pt idx="111">
                  <c:v>61</c:v>
                </c:pt>
                <c:pt idx="112">
                  <c:v>62</c:v>
                </c:pt>
                <c:pt idx="113">
                  <c:v>63</c:v>
                </c:pt>
                <c:pt idx="114">
                  <c:v>64</c:v>
                </c:pt>
                <c:pt idx="115">
                  <c:v>65</c:v>
                </c:pt>
                <c:pt idx="116">
                  <c:v>66</c:v>
                </c:pt>
                <c:pt idx="117">
                  <c:v>67</c:v>
                </c:pt>
                <c:pt idx="118">
                  <c:v>68</c:v>
                </c:pt>
                <c:pt idx="119">
                  <c:v>69</c:v>
                </c:pt>
                <c:pt idx="120">
                  <c:v>70</c:v>
                </c:pt>
                <c:pt idx="121">
                  <c:v>71</c:v>
                </c:pt>
                <c:pt idx="122">
                  <c:v>72</c:v>
                </c:pt>
                <c:pt idx="123">
                  <c:v>73</c:v>
                </c:pt>
                <c:pt idx="124">
                  <c:v>74</c:v>
                </c:pt>
                <c:pt idx="125">
                  <c:v>75</c:v>
                </c:pt>
                <c:pt idx="126">
                  <c:v>76</c:v>
                </c:pt>
                <c:pt idx="127">
                  <c:v>77</c:v>
                </c:pt>
                <c:pt idx="128">
                  <c:v>78</c:v>
                </c:pt>
                <c:pt idx="129">
                  <c:v>79</c:v>
                </c:pt>
                <c:pt idx="130">
                  <c:v>80</c:v>
                </c:pt>
                <c:pt idx="131">
                  <c:v>81</c:v>
                </c:pt>
                <c:pt idx="132">
                  <c:v>82</c:v>
                </c:pt>
                <c:pt idx="133">
                  <c:v>83</c:v>
                </c:pt>
                <c:pt idx="134">
                  <c:v>84</c:v>
                </c:pt>
                <c:pt idx="135">
                  <c:v>85</c:v>
                </c:pt>
                <c:pt idx="136">
                  <c:v>86</c:v>
                </c:pt>
                <c:pt idx="137">
                  <c:v>87</c:v>
                </c:pt>
                <c:pt idx="138">
                  <c:v>88</c:v>
                </c:pt>
                <c:pt idx="139">
                  <c:v>89</c:v>
                </c:pt>
                <c:pt idx="140">
                  <c:v>90</c:v>
                </c:pt>
                <c:pt idx="141">
                  <c:v>91</c:v>
                </c:pt>
                <c:pt idx="142">
                  <c:v>92</c:v>
                </c:pt>
                <c:pt idx="143">
                  <c:v>93</c:v>
                </c:pt>
                <c:pt idx="144">
                  <c:v>94</c:v>
                </c:pt>
                <c:pt idx="145">
                  <c:v>95</c:v>
                </c:pt>
                <c:pt idx="146">
                  <c:v>96</c:v>
                </c:pt>
                <c:pt idx="147">
                  <c:v>97</c:v>
                </c:pt>
                <c:pt idx="148">
                  <c:v>98</c:v>
                </c:pt>
                <c:pt idx="149">
                  <c:v>99</c:v>
                </c:pt>
                <c:pt idx="150">
                  <c:v>100</c:v>
                </c:pt>
                <c:pt idx="151">
                  <c:v>101</c:v>
                </c:pt>
                <c:pt idx="152">
                  <c:v>102</c:v>
                </c:pt>
                <c:pt idx="153">
                  <c:v>103</c:v>
                </c:pt>
                <c:pt idx="154">
                  <c:v>104</c:v>
                </c:pt>
                <c:pt idx="155">
                  <c:v>105</c:v>
                </c:pt>
                <c:pt idx="156">
                  <c:v>106</c:v>
                </c:pt>
                <c:pt idx="157">
                  <c:v>107</c:v>
                </c:pt>
                <c:pt idx="158">
                  <c:v>108</c:v>
                </c:pt>
                <c:pt idx="159">
                  <c:v>109</c:v>
                </c:pt>
                <c:pt idx="160">
                  <c:v>110</c:v>
                </c:pt>
                <c:pt idx="161">
                  <c:v>111</c:v>
                </c:pt>
                <c:pt idx="162">
                  <c:v>112</c:v>
                </c:pt>
                <c:pt idx="163">
                  <c:v>113</c:v>
                </c:pt>
                <c:pt idx="164">
                  <c:v>114</c:v>
                </c:pt>
                <c:pt idx="165">
                  <c:v>115</c:v>
                </c:pt>
                <c:pt idx="166">
                  <c:v>116</c:v>
                </c:pt>
                <c:pt idx="167">
                  <c:v>117</c:v>
                </c:pt>
                <c:pt idx="168">
                  <c:v>118</c:v>
                </c:pt>
                <c:pt idx="169">
                  <c:v>119</c:v>
                </c:pt>
                <c:pt idx="170">
                  <c:v>120</c:v>
                </c:pt>
                <c:pt idx="171">
                  <c:v>121</c:v>
                </c:pt>
                <c:pt idx="172">
                  <c:v>122</c:v>
                </c:pt>
                <c:pt idx="173">
                  <c:v>123</c:v>
                </c:pt>
                <c:pt idx="174">
                  <c:v>124</c:v>
                </c:pt>
                <c:pt idx="175">
                  <c:v>125</c:v>
                </c:pt>
                <c:pt idx="176">
                  <c:v>126</c:v>
                </c:pt>
                <c:pt idx="177">
                  <c:v>127</c:v>
                </c:pt>
                <c:pt idx="178">
                  <c:v>128</c:v>
                </c:pt>
                <c:pt idx="179">
                  <c:v>129</c:v>
                </c:pt>
                <c:pt idx="180">
                  <c:v>130</c:v>
                </c:pt>
                <c:pt idx="181">
                  <c:v>131</c:v>
                </c:pt>
                <c:pt idx="182">
                  <c:v>132</c:v>
                </c:pt>
                <c:pt idx="183">
                  <c:v>133</c:v>
                </c:pt>
                <c:pt idx="184">
                  <c:v>134</c:v>
                </c:pt>
                <c:pt idx="185">
                  <c:v>135</c:v>
                </c:pt>
                <c:pt idx="186">
                  <c:v>136</c:v>
                </c:pt>
                <c:pt idx="187">
                  <c:v>137</c:v>
                </c:pt>
                <c:pt idx="188">
                  <c:v>138</c:v>
                </c:pt>
                <c:pt idx="189">
                  <c:v>139</c:v>
                </c:pt>
                <c:pt idx="190">
                  <c:v>140</c:v>
                </c:pt>
                <c:pt idx="191">
                  <c:v>141</c:v>
                </c:pt>
                <c:pt idx="192">
                  <c:v>142</c:v>
                </c:pt>
                <c:pt idx="193">
                  <c:v>143</c:v>
                </c:pt>
                <c:pt idx="194">
                  <c:v>144</c:v>
                </c:pt>
                <c:pt idx="195">
                  <c:v>145</c:v>
                </c:pt>
                <c:pt idx="196">
                  <c:v>146</c:v>
                </c:pt>
                <c:pt idx="197">
                  <c:v>147</c:v>
                </c:pt>
                <c:pt idx="198">
                  <c:v>148</c:v>
                </c:pt>
                <c:pt idx="199">
                  <c:v>149</c:v>
                </c:pt>
                <c:pt idx="200">
                  <c:v>150</c:v>
                </c:pt>
              </c:numCache>
            </c:numRef>
          </c:xVal>
          <c:yVal>
            <c:numRef>
              <c:f>'tmp86'!$C$2:$C$202</c:f>
              <c:numCache>
                <c:formatCode>General</c:formatCode>
                <c:ptCount val="201"/>
                <c:pt idx="0">
                  <c:v>-50.7</c:v>
                </c:pt>
                <c:pt idx="1">
                  <c:v>-49.7</c:v>
                </c:pt>
                <c:pt idx="2">
                  <c:v>-48.7</c:v>
                </c:pt>
                <c:pt idx="3">
                  <c:v>-47.7</c:v>
                </c:pt>
                <c:pt idx="4">
                  <c:v>-46.7</c:v>
                </c:pt>
                <c:pt idx="5">
                  <c:v>-45.7</c:v>
                </c:pt>
                <c:pt idx="6">
                  <c:v>-44.7</c:v>
                </c:pt>
                <c:pt idx="7">
                  <c:v>-43.7</c:v>
                </c:pt>
                <c:pt idx="8">
                  <c:v>-42.7</c:v>
                </c:pt>
                <c:pt idx="9">
                  <c:v>-41.7</c:v>
                </c:pt>
                <c:pt idx="10">
                  <c:v>-40.700000000000003</c:v>
                </c:pt>
                <c:pt idx="11">
                  <c:v>-39.700000000000003</c:v>
                </c:pt>
                <c:pt idx="12">
                  <c:v>-38.700000000000003</c:v>
                </c:pt>
                <c:pt idx="13">
                  <c:v>-37.700000000000003</c:v>
                </c:pt>
                <c:pt idx="14">
                  <c:v>-36.700000000000003</c:v>
                </c:pt>
                <c:pt idx="15">
                  <c:v>-35.700000000000003</c:v>
                </c:pt>
                <c:pt idx="16">
                  <c:v>-34.700000000000003</c:v>
                </c:pt>
                <c:pt idx="17">
                  <c:v>-33.700000000000003</c:v>
                </c:pt>
                <c:pt idx="18">
                  <c:v>-32.700000000000003</c:v>
                </c:pt>
                <c:pt idx="19">
                  <c:v>-31.7</c:v>
                </c:pt>
                <c:pt idx="20">
                  <c:v>-30.7</c:v>
                </c:pt>
                <c:pt idx="21">
                  <c:v>-29.7</c:v>
                </c:pt>
                <c:pt idx="22">
                  <c:v>-28.7</c:v>
                </c:pt>
                <c:pt idx="23">
                  <c:v>-27.7</c:v>
                </c:pt>
                <c:pt idx="24">
                  <c:v>-26.7</c:v>
                </c:pt>
                <c:pt idx="25">
                  <c:v>-25.7</c:v>
                </c:pt>
                <c:pt idx="26">
                  <c:v>-24.7</c:v>
                </c:pt>
                <c:pt idx="27">
                  <c:v>-23.7</c:v>
                </c:pt>
                <c:pt idx="28">
                  <c:v>-22.7</c:v>
                </c:pt>
                <c:pt idx="29">
                  <c:v>-21.7</c:v>
                </c:pt>
                <c:pt idx="30">
                  <c:v>-20.7</c:v>
                </c:pt>
                <c:pt idx="31">
                  <c:v>-19.7</c:v>
                </c:pt>
                <c:pt idx="32">
                  <c:v>-18.7</c:v>
                </c:pt>
                <c:pt idx="33">
                  <c:v>-17.7</c:v>
                </c:pt>
                <c:pt idx="34">
                  <c:v>-16.7</c:v>
                </c:pt>
                <c:pt idx="35">
                  <c:v>-15.7</c:v>
                </c:pt>
                <c:pt idx="36">
                  <c:v>-14.7</c:v>
                </c:pt>
                <c:pt idx="37">
                  <c:v>-13.7</c:v>
                </c:pt>
                <c:pt idx="38">
                  <c:v>-12.7</c:v>
                </c:pt>
                <c:pt idx="39">
                  <c:v>-11.7</c:v>
                </c:pt>
                <c:pt idx="40">
                  <c:v>-10.7</c:v>
                </c:pt>
                <c:pt idx="41">
                  <c:v>-9.6999999999999993</c:v>
                </c:pt>
                <c:pt idx="42">
                  <c:v>-8.6999999999999993</c:v>
                </c:pt>
                <c:pt idx="43">
                  <c:v>-7.7</c:v>
                </c:pt>
                <c:pt idx="44">
                  <c:v>-6.7</c:v>
                </c:pt>
                <c:pt idx="45">
                  <c:v>-5.7</c:v>
                </c:pt>
                <c:pt idx="46">
                  <c:v>-4.7</c:v>
                </c:pt>
                <c:pt idx="47">
                  <c:v>-3.7</c:v>
                </c:pt>
                <c:pt idx="48">
                  <c:v>-2.7</c:v>
                </c:pt>
                <c:pt idx="49">
                  <c:v>-1.7</c:v>
                </c:pt>
                <c:pt idx="50">
                  <c:v>-0.7</c:v>
                </c:pt>
                <c:pt idx="51">
                  <c:v>0.30000000000000004</c:v>
                </c:pt>
                <c:pt idx="52">
                  <c:v>1.3</c:v>
                </c:pt>
                <c:pt idx="53">
                  <c:v>2.2999999999999998</c:v>
                </c:pt>
                <c:pt idx="54">
                  <c:v>3.3</c:v>
                </c:pt>
                <c:pt idx="55">
                  <c:v>4.3</c:v>
                </c:pt>
                <c:pt idx="56">
                  <c:v>5.3</c:v>
                </c:pt>
                <c:pt idx="57">
                  <c:v>6.3</c:v>
                </c:pt>
                <c:pt idx="58">
                  <c:v>7.3</c:v>
                </c:pt>
                <c:pt idx="59">
                  <c:v>8.3000000000000007</c:v>
                </c:pt>
                <c:pt idx="60">
                  <c:v>9.3000000000000007</c:v>
                </c:pt>
                <c:pt idx="61">
                  <c:v>10.3</c:v>
                </c:pt>
                <c:pt idx="62">
                  <c:v>11.3</c:v>
                </c:pt>
                <c:pt idx="63">
                  <c:v>12.3</c:v>
                </c:pt>
                <c:pt idx="64">
                  <c:v>13.3</c:v>
                </c:pt>
                <c:pt idx="65">
                  <c:v>14.3</c:v>
                </c:pt>
                <c:pt idx="66">
                  <c:v>15.3</c:v>
                </c:pt>
                <c:pt idx="67">
                  <c:v>16.3</c:v>
                </c:pt>
                <c:pt idx="68">
                  <c:v>17.3</c:v>
                </c:pt>
                <c:pt idx="69">
                  <c:v>18.3</c:v>
                </c:pt>
                <c:pt idx="70">
                  <c:v>19.3</c:v>
                </c:pt>
                <c:pt idx="71">
                  <c:v>20.3</c:v>
                </c:pt>
                <c:pt idx="72">
                  <c:v>21.3</c:v>
                </c:pt>
                <c:pt idx="73">
                  <c:v>22.3</c:v>
                </c:pt>
                <c:pt idx="74">
                  <c:v>23.3</c:v>
                </c:pt>
                <c:pt idx="75">
                  <c:v>24.3</c:v>
                </c:pt>
                <c:pt idx="76">
                  <c:v>25.3</c:v>
                </c:pt>
                <c:pt idx="77">
                  <c:v>26.3</c:v>
                </c:pt>
                <c:pt idx="78">
                  <c:v>27.3</c:v>
                </c:pt>
                <c:pt idx="79">
                  <c:v>28.3</c:v>
                </c:pt>
                <c:pt idx="80">
                  <c:v>29.3</c:v>
                </c:pt>
                <c:pt idx="81">
                  <c:v>30.3</c:v>
                </c:pt>
                <c:pt idx="82">
                  <c:v>31.3</c:v>
                </c:pt>
                <c:pt idx="83">
                  <c:v>32.299999999999997</c:v>
                </c:pt>
                <c:pt idx="84">
                  <c:v>33.299999999999997</c:v>
                </c:pt>
                <c:pt idx="85">
                  <c:v>34.299999999999997</c:v>
                </c:pt>
                <c:pt idx="86">
                  <c:v>35.299999999999997</c:v>
                </c:pt>
                <c:pt idx="87">
                  <c:v>36.299999999999997</c:v>
                </c:pt>
                <c:pt idx="88">
                  <c:v>37.299999999999997</c:v>
                </c:pt>
                <c:pt idx="89">
                  <c:v>38.299999999999997</c:v>
                </c:pt>
                <c:pt idx="90">
                  <c:v>39.6</c:v>
                </c:pt>
                <c:pt idx="91">
                  <c:v>40.6</c:v>
                </c:pt>
                <c:pt idx="92">
                  <c:v>41.6</c:v>
                </c:pt>
                <c:pt idx="93">
                  <c:v>42.6</c:v>
                </c:pt>
                <c:pt idx="94">
                  <c:v>43.6</c:v>
                </c:pt>
                <c:pt idx="95">
                  <c:v>44.6</c:v>
                </c:pt>
                <c:pt idx="96">
                  <c:v>45.6</c:v>
                </c:pt>
                <c:pt idx="97">
                  <c:v>46.6</c:v>
                </c:pt>
                <c:pt idx="98">
                  <c:v>47.6</c:v>
                </c:pt>
                <c:pt idx="99">
                  <c:v>48.6</c:v>
                </c:pt>
                <c:pt idx="100">
                  <c:v>49.6</c:v>
                </c:pt>
                <c:pt idx="101">
                  <c:v>50.6</c:v>
                </c:pt>
                <c:pt idx="102">
                  <c:v>51.6</c:v>
                </c:pt>
                <c:pt idx="103">
                  <c:v>52.6</c:v>
                </c:pt>
                <c:pt idx="104">
                  <c:v>53.6</c:v>
                </c:pt>
                <c:pt idx="105">
                  <c:v>54.6</c:v>
                </c:pt>
                <c:pt idx="106">
                  <c:v>55.6</c:v>
                </c:pt>
                <c:pt idx="107">
                  <c:v>56.6</c:v>
                </c:pt>
                <c:pt idx="108">
                  <c:v>57.6</c:v>
                </c:pt>
                <c:pt idx="109">
                  <c:v>58.6</c:v>
                </c:pt>
                <c:pt idx="110">
                  <c:v>59.6</c:v>
                </c:pt>
                <c:pt idx="111">
                  <c:v>60.6</c:v>
                </c:pt>
                <c:pt idx="112">
                  <c:v>61.6</c:v>
                </c:pt>
                <c:pt idx="113">
                  <c:v>62.6</c:v>
                </c:pt>
                <c:pt idx="114">
                  <c:v>63.6</c:v>
                </c:pt>
                <c:pt idx="115">
                  <c:v>64.599999999999994</c:v>
                </c:pt>
                <c:pt idx="116">
                  <c:v>65.599999999999994</c:v>
                </c:pt>
                <c:pt idx="117">
                  <c:v>66.599999999999994</c:v>
                </c:pt>
                <c:pt idx="118">
                  <c:v>67.599999999999994</c:v>
                </c:pt>
                <c:pt idx="119">
                  <c:v>68.599999999999994</c:v>
                </c:pt>
                <c:pt idx="120">
                  <c:v>69.599999999999994</c:v>
                </c:pt>
                <c:pt idx="121">
                  <c:v>70.599999999999994</c:v>
                </c:pt>
                <c:pt idx="122">
                  <c:v>71.599999999999994</c:v>
                </c:pt>
                <c:pt idx="123">
                  <c:v>72.599999999999994</c:v>
                </c:pt>
                <c:pt idx="124">
                  <c:v>73.599999999999994</c:v>
                </c:pt>
                <c:pt idx="125">
                  <c:v>74.599999999999994</c:v>
                </c:pt>
                <c:pt idx="126">
                  <c:v>75.599999999999994</c:v>
                </c:pt>
                <c:pt idx="127">
                  <c:v>76.599999999999994</c:v>
                </c:pt>
                <c:pt idx="128">
                  <c:v>77.599999999999994</c:v>
                </c:pt>
                <c:pt idx="129">
                  <c:v>78.599999999999994</c:v>
                </c:pt>
                <c:pt idx="130">
                  <c:v>79.599999999999994</c:v>
                </c:pt>
                <c:pt idx="131">
                  <c:v>80.599999999999994</c:v>
                </c:pt>
                <c:pt idx="132">
                  <c:v>81.599999999999994</c:v>
                </c:pt>
                <c:pt idx="133">
                  <c:v>82.6</c:v>
                </c:pt>
                <c:pt idx="134">
                  <c:v>83.6</c:v>
                </c:pt>
                <c:pt idx="135">
                  <c:v>84.6</c:v>
                </c:pt>
                <c:pt idx="136">
                  <c:v>85.6</c:v>
                </c:pt>
                <c:pt idx="137">
                  <c:v>86.6</c:v>
                </c:pt>
                <c:pt idx="138">
                  <c:v>87.6</c:v>
                </c:pt>
                <c:pt idx="139">
                  <c:v>88.6</c:v>
                </c:pt>
                <c:pt idx="140">
                  <c:v>89.6</c:v>
                </c:pt>
                <c:pt idx="141">
                  <c:v>90.6</c:v>
                </c:pt>
                <c:pt idx="142">
                  <c:v>91.6</c:v>
                </c:pt>
                <c:pt idx="143">
                  <c:v>92.6</c:v>
                </c:pt>
                <c:pt idx="144">
                  <c:v>93.6</c:v>
                </c:pt>
                <c:pt idx="145">
                  <c:v>94.6</c:v>
                </c:pt>
                <c:pt idx="146">
                  <c:v>95.6</c:v>
                </c:pt>
                <c:pt idx="147">
                  <c:v>96.6</c:v>
                </c:pt>
                <c:pt idx="148">
                  <c:v>97.6</c:v>
                </c:pt>
                <c:pt idx="149">
                  <c:v>98.6</c:v>
                </c:pt>
                <c:pt idx="150">
                  <c:v>99.6</c:v>
                </c:pt>
                <c:pt idx="151">
                  <c:v>100.6</c:v>
                </c:pt>
                <c:pt idx="152">
                  <c:v>101.6</c:v>
                </c:pt>
                <c:pt idx="153">
                  <c:v>102.6</c:v>
                </c:pt>
                <c:pt idx="154">
                  <c:v>103.6</c:v>
                </c:pt>
                <c:pt idx="155">
                  <c:v>104.6</c:v>
                </c:pt>
                <c:pt idx="156">
                  <c:v>105.6</c:v>
                </c:pt>
                <c:pt idx="157">
                  <c:v>106.6</c:v>
                </c:pt>
                <c:pt idx="158">
                  <c:v>107.6</c:v>
                </c:pt>
                <c:pt idx="159">
                  <c:v>108.6</c:v>
                </c:pt>
                <c:pt idx="160">
                  <c:v>109.6</c:v>
                </c:pt>
                <c:pt idx="161">
                  <c:v>110.6</c:v>
                </c:pt>
                <c:pt idx="162">
                  <c:v>111.6</c:v>
                </c:pt>
                <c:pt idx="163">
                  <c:v>112.6</c:v>
                </c:pt>
                <c:pt idx="164">
                  <c:v>113.6</c:v>
                </c:pt>
                <c:pt idx="165">
                  <c:v>114.6</c:v>
                </c:pt>
                <c:pt idx="166">
                  <c:v>115.6</c:v>
                </c:pt>
                <c:pt idx="167">
                  <c:v>116.6</c:v>
                </c:pt>
                <c:pt idx="168">
                  <c:v>117.6</c:v>
                </c:pt>
                <c:pt idx="169">
                  <c:v>118.6</c:v>
                </c:pt>
                <c:pt idx="170">
                  <c:v>119.6</c:v>
                </c:pt>
                <c:pt idx="171">
                  <c:v>120.6</c:v>
                </c:pt>
                <c:pt idx="172">
                  <c:v>121.6</c:v>
                </c:pt>
                <c:pt idx="173">
                  <c:v>122.6</c:v>
                </c:pt>
                <c:pt idx="174">
                  <c:v>123.6</c:v>
                </c:pt>
                <c:pt idx="175">
                  <c:v>124.6</c:v>
                </c:pt>
                <c:pt idx="176">
                  <c:v>125.6</c:v>
                </c:pt>
                <c:pt idx="177">
                  <c:v>126.6</c:v>
                </c:pt>
                <c:pt idx="178">
                  <c:v>127.6</c:v>
                </c:pt>
                <c:pt idx="179">
                  <c:v>128.6</c:v>
                </c:pt>
                <c:pt idx="180">
                  <c:v>129.6</c:v>
                </c:pt>
                <c:pt idx="181">
                  <c:v>130.6</c:v>
                </c:pt>
                <c:pt idx="182">
                  <c:v>131.6</c:v>
                </c:pt>
                <c:pt idx="183">
                  <c:v>132.6</c:v>
                </c:pt>
                <c:pt idx="184">
                  <c:v>133.6</c:v>
                </c:pt>
                <c:pt idx="185">
                  <c:v>134.6</c:v>
                </c:pt>
                <c:pt idx="186">
                  <c:v>135.6</c:v>
                </c:pt>
                <c:pt idx="187">
                  <c:v>136.6</c:v>
                </c:pt>
                <c:pt idx="188">
                  <c:v>137.6</c:v>
                </c:pt>
                <c:pt idx="189">
                  <c:v>138.6</c:v>
                </c:pt>
                <c:pt idx="190">
                  <c:v>139.6</c:v>
                </c:pt>
                <c:pt idx="191">
                  <c:v>140.6</c:v>
                </c:pt>
                <c:pt idx="192">
                  <c:v>141.6</c:v>
                </c:pt>
                <c:pt idx="193">
                  <c:v>142.6</c:v>
                </c:pt>
                <c:pt idx="194">
                  <c:v>143.6</c:v>
                </c:pt>
                <c:pt idx="195">
                  <c:v>144.6</c:v>
                </c:pt>
                <c:pt idx="196">
                  <c:v>145.6</c:v>
                </c:pt>
                <c:pt idx="197">
                  <c:v>146.6</c:v>
                </c:pt>
                <c:pt idx="198">
                  <c:v>147.6</c:v>
                </c:pt>
                <c:pt idx="199">
                  <c:v>148.6</c:v>
                </c:pt>
                <c:pt idx="200">
                  <c:v>149.6</c:v>
                </c:pt>
              </c:numCache>
            </c:numRef>
          </c:yVal>
          <c:smooth val="0"/>
          <c:extLst>
            <c:ext xmlns:c16="http://schemas.microsoft.com/office/drawing/2014/chart" uri="{C3380CC4-5D6E-409C-BE32-E72D297353CC}">
              <c16:uniqueId val="{00000001-0573-42D5-AC30-136473A35ECC}"/>
            </c:ext>
          </c:extLst>
        </c:ser>
        <c:ser>
          <c:idx val="2"/>
          <c:order val="2"/>
          <c:tx>
            <c:strRef>
              <c:f>'tmp86'!$D$1</c:f>
              <c:strCache>
                <c:ptCount val="1"/>
                <c:pt idx="0">
                  <c:v>Limits Upper</c:v>
                </c:pt>
              </c:strCache>
            </c:strRef>
          </c:tx>
          <c:spPr>
            <a:ln w="19050" cap="rnd">
              <a:solidFill>
                <a:schemeClr val="accent3"/>
              </a:solidFill>
              <a:round/>
            </a:ln>
            <a:effectLst/>
          </c:spPr>
          <c:marker>
            <c:symbol val="none"/>
          </c:marker>
          <c:xVal>
            <c:numRef>
              <c:f>'tmp86'!$A$2:$A$202</c:f>
              <c:numCache>
                <c:formatCode>General</c:formatCode>
                <c:ptCount val="201"/>
                <c:pt idx="0">
                  <c:v>-50</c:v>
                </c:pt>
                <c:pt idx="1">
                  <c:v>-49</c:v>
                </c:pt>
                <c:pt idx="2">
                  <c:v>-48</c:v>
                </c:pt>
                <c:pt idx="3">
                  <c:v>-47</c:v>
                </c:pt>
                <c:pt idx="4">
                  <c:v>-46</c:v>
                </c:pt>
                <c:pt idx="5">
                  <c:v>-45</c:v>
                </c:pt>
                <c:pt idx="6">
                  <c:v>-44</c:v>
                </c:pt>
                <c:pt idx="7">
                  <c:v>-43</c:v>
                </c:pt>
                <c:pt idx="8">
                  <c:v>-42</c:v>
                </c:pt>
                <c:pt idx="9">
                  <c:v>-41</c:v>
                </c:pt>
                <c:pt idx="10">
                  <c:v>-40</c:v>
                </c:pt>
                <c:pt idx="11">
                  <c:v>-39</c:v>
                </c:pt>
                <c:pt idx="12">
                  <c:v>-38</c:v>
                </c:pt>
                <c:pt idx="13">
                  <c:v>-37</c:v>
                </c:pt>
                <c:pt idx="14">
                  <c:v>-36</c:v>
                </c:pt>
                <c:pt idx="15">
                  <c:v>-35</c:v>
                </c:pt>
                <c:pt idx="16">
                  <c:v>-34</c:v>
                </c:pt>
                <c:pt idx="17">
                  <c:v>-33</c:v>
                </c:pt>
                <c:pt idx="18">
                  <c:v>-32</c:v>
                </c:pt>
                <c:pt idx="19">
                  <c:v>-31</c:v>
                </c:pt>
                <c:pt idx="20">
                  <c:v>-30</c:v>
                </c:pt>
                <c:pt idx="21">
                  <c:v>-29</c:v>
                </c:pt>
                <c:pt idx="22">
                  <c:v>-28</c:v>
                </c:pt>
                <c:pt idx="23">
                  <c:v>-27</c:v>
                </c:pt>
                <c:pt idx="24">
                  <c:v>-26</c:v>
                </c:pt>
                <c:pt idx="25">
                  <c:v>-25</c:v>
                </c:pt>
                <c:pt idx="26">
                  <c:v>-24</c:v>
                </c:pt>
                <c:pt idx="27">
                  <c:v>-23</c:v>
                </c:pt>
                <c:pt idx="28">
                  <c:v>-22</c:v>
                </c:pt>
                <c:pt idx="29">
                  <c:v>-21</c:v>
                </c:pt>
                <c:pt idx="30">
                  <c:v>-20</c:v>
                </c:pt>
                <c:pt idx="31">
                  <c:v>-19</c:v>
                </c:pt>
                <c:pt idx="32">
                  <c:v>-18</c:v>
                </c:pt>
                <c:pt idx="33">
                  <c:v>-17</c:v>
                </c:pt>
                <c:pt idx="34">
                  <c:v>-16</c:v>
                </c:pt>
                <c:pt idx="35">
                  <c:v>-15</c:v>
                </c:pt>
                <c:pt idx="36">
                  <c:v>-14</c:v>
                </c:pt>
                <c:pt idx="37">
                  <c:v>-13</c:v>
                </c:pt>
                <c:pt idx="38">
                  <c:v>-12</c:v>
                </c:pt>
                <c:pt idx="39">
                  <c:v>-11</c:v>
                </c:pt>
                <c:pt idx="40">
                  <c:v>-10</c:v>
                </c:pt>
                <c:pt idx="41">
                  <c:v>-9</c:v>
                </c:pt>
                <c:pt idx="42">
                  <c:v>-8</c:v>
                </c:pt>
                <c:pt idx="43">
                  <c:v>-7</c:v>
                </c:pt>
                <c:pt idx="44">
                  <c:v>-6</c:v>
                </c:pt>
                <c:pt idx="45">
                  <c:v>-5</c:v>
                </c:pt>
                <c:pt idx="46">
                  <c:v>-4</c:v>
                </c:pt>
                <c:pt idx="47">
                  <c:v>-3</c:v>
                </c:pt>
                <c:pt idx="48">
                  <c:v>-2</c:v>
                </c:pt>
                <c:pt idx="49">
                  <c:v>-1</c:v>
                </c:pt>
                <c:pt idx="50">
                  <c:v>0</c:v>
                </c:pt>
                <c:pt idx="51">
                  <c:v>1</c:v>
                </c:pt>
                <c:pt idx="52">
                  <c:v>2</c:v>
                </c:pt>
                <c:pt idx="53">
                  <c:v>3</c:v>
                </c:pt>
                <c:pt idx="54">
                  <c:v>4</c:v>
                </c:pt>
                <c:pt idx="55">
                  <c:v>5</c:v>
                </c:pt>
                <c:pt idx="56">
                  <c:v>6</c:v>
                </c:pt>
                <c:pt idx="57">
                  <c:v>7</c:v>
                </c:pt>
                <c:pt idx="58">
                  <c:v>8</c:v>
                </c:pt>
                <c:pt idx="59">
                  <c:v>9</c:v>
                </c:pt>
                <c:pt idx="60">
                  <c:v>10</c:v>
                </c:pt>
                <c:pt idx="61">
                  <c:v>11</c:v>
                </c:pt>
                <c:pt idx="62">
                  <c:v>12</c:v>
                </c:pt>
                <c:pt idx="63">
                  <c:v>13</c:v>
                </c:pt>
                <c:pt idx="64">
                  <c:v>14</c:v>
                </c:pt>
                <c:pt idx="65">
                  <c:v>15</c:v>
                </c:pt>
                <c:pt idx="66">
                  <c:v>16</c:v>
                </c:pt>
                <c:pt idx="67">
                  <c:v>17</c:v>
                </c:pt>
                <c:pt idx="68">
                  <c:v>18</c:v>
                </c:pt>
                <c:pt idx="69">
                  <c:v>19</c:v>
                </c:pt>
                <c:pt idx="70">
                  <c:v>20</c:v>
                </c:pt>
                <c:pt idx="71">
                  <c:v>21</c:v>
                </c:pt>
                <c:pt idx="72">
                  <c:v>22</c:v>
                </c:pt>
                <c:pt idx="73">
                  <c:v>23</c:v>
                </c:pt>
                <c:pt idx="74">
                  <c:v>24</c:v>
                </c:pt>
                <c:pt idx="75">
                  <c:v>25</c:v>
                </c:pt>
                <c:pt idx="76">
                  <c:v>26</c:v>
                </c:pt>
                <c:pt idx="77">
                  <c:v>27</c:v>
                </c:pt>
                <c:pt idx="78">
                  <c:v>28</c:v>
                </c:pt>
                <c:pt idx="79">
                  <c:v>29</c:v>
                </c:pt>
                <c:pt idx="80">
                  <c:v>30</c:v>
                </c:pt>
                <c:pt idx="81">
                  <c:v>31</c:v>
                </c:pt>
                <c:pt idx="82">
                  <c:v>32</c:v>
                </c:pt>
                <c:pt idx="83">
                  <c:v>33</c:v>
                </c:pt>
                <c:pt idx="84">
                  <c:v>34</c:v>
                </c:pt>
                <c:pt idx="85">
                  <c:v>35</c:v>
                </c:pt>
                <c:pt idx="86">
                  <c:v>36</c:v>
                </c:pt>
                <c:pt idx="87">
                  <c:v>37</c:v>
                </c:pt>
                <c:pt idx="88">
                  <c:v>38</c:v>
                </c:pt>
                <c:pt idx="89">
                  <c:v>39</c:v>
                </c:pt>
                <c:pt idx="90">
                  <c:v>40</c:v>
                </c:pt>
                <c:pt idx="91">
                  <c:v>41</c:v>
                </c:pt>
                <c:pt idx="92">
                  <c:v>42</c:v>
                </c:pt>
                <c:pt idx="93">
                  <c:v>43</c:v>
                </c:pt>
                <c:pt idx="94">
                  <c:v>44</c:v>
                </c:pt>
                <c:pt idx="95">
                  <c:v>45</c:v>
                </c:pt>
                <c:pt idx="96">
                  <c:v>46</c:v>
                </c:pt>
                <c:pt idx="97">
                  <c:v>47</c:v>
                </c:pt>
                <c:pt idx="98">
                  <c:v>48</c:v>
                </c:pt>
                <c:pt idx="99">
                  <c:v>49</c:v>
                </c:pt>
                <c:pt idx="100">
                  <c:v>50</c:v>
                </c:pt>
                <c:pt idx="101">
                  <c:v>51</c:v>
                </c:pt>
                <c:pt idx="102">
                  <c:v>52</c:v>
                </c:pt>
                <c:pt idx="103">
                  <c:v>53</c:v>
                </c:pt>
                <c:pt idx="104">
                  <c:v>54</c:v>
                </c:pt>
                <c:pt idx="105">
                  <c:v>55</c:v>
                </c:pt>
                <c:pt idx="106">
                  <c:v>56</c:v>
                </c:pt>
                <c:pt idx="107">
                  <c:v>57</c:v>
                </c:pt>
                <c:pt idx="108">
                  <c:v>58</c:v>
                </c:pt>
                <c:pt idx="109">
                  <c:v>59</c:v>
                </c:pt>
                <c:pt idx="110">
                  <c:v>60</c:v>
                </c:pt>
                <c:pt idx="111">
                  <c:v>61</c:v>
                </c:pt>
                <c:pt idx="112">
                  <c:v>62</c:v>
                </c:pt>
                <c:pt idx="113">
                  <c:v>63</c:v>
                </c:pt>
                <c:pt idx="114">
                  <c:v>64</c:v>
                </c:pt>
                <c:pt idx="115">
                  <c:v>65</c:v>
                </c:pt>
                <c:pt idx="116">
                  <c:v>66</c:v>
                </c:pt>
                <c:pt idx="117">
                  <c:v>67</c:v>
                </c:pt>
                <c:pt idx="118">
                  <c:v>68</c:v>
                </c:pt>
                <c:pt idx="119">
                  <c:v>69</c:v>
                </c:pt>
                <c:pt idx="120">
                  <c:v>70</c:v>
                </c:pt>
                <c:pt idx="121">
                  <c:v>71</c:v>
                </c:pt>
                <c:pt idx="122">
                  <c:v>72</c:v>
                </c:pt>
                <c:pt idx="123">
                  <c:v>73</c:v>
                </c:pt>
                <c:pt idx="124">
                  <c:v>74</c:v>
                </c:pt>
                <c:pt idx="125">
                  <c:v>75</c:v>
                </c:pt>
                <c:pt idx="126">
                  <c:v>76</c:v>
                </c:pt>
                <c:pt idx="127">
                  <c:v>77</c:v>
                </c:pt>
                <c:pt idx="128">
                  <c:v>78</c:v>
                </c:pt>
                <c:pt idx="129">
                  <c:v>79</c:v>
                </c:pt>
                <c:pt idx="130">
                  <c:v>80</c:v>
                </c:pt>
                <c:pt idx="131">
                  <c:v>81</c:v>
                </c:pt>
                <c:pt idx="132">
                  <c:v>82</c:v>
                </c:pt>
                <c:pt idx="133">
                  <c:v>83</c:v>
                </c:pt>
                <c:pt idx="134">
                  <c:v>84</c:v>
                </c:pt>
                <c:pt idx="135">
                  <c:v>85</c:v>
                </c:pt>
                <c:pt idx="136">
                  <c:v>86</c:v>
                </c:pt>
                <c:pt idx="137">
                  <c:v>87</c:v>
                </c:pt>
                <c:pt idx="138">
                  <c:v>88</c:v>
                </c:pt>
                <c:pt idx="139">
                  <c:v>89</c:v>
                </c:pt>
                <c:pt idx="140">
                  <c:v>90</c:v>
                </c:pt>
                <c:pt idx="141">
                  <c:v>91</c:v>
                </c:pt>
                <c:pt idx="142">
                  <c:v>92</c:v>
                </c:pt>
                <c:pt idx="143">
                  <c:v>93</c:v>
                </c:pt>
                <c:pt idx="144">
                  <c:v>94</c:v>
                </c:pt>
                <c:pt idx="145">
                  <c:v>95</c:v>
                </c:pt>
                <c:pt idx="146">
                  <c:v>96</c:v>
                </c:pt>
                <c:pt idx="147">
                  <c:v>97</c:v>
                </c:pt>
                <c:pt idx="148">
                  <c:v>98</c:v>
                </c:pt>
                <c:pt idx="149">
                  <c:v>99</c:v>
                </c:pt>
                <c:pt idx="150">
                  <c:v>100</c:v>
                </c:pt>
                <c:pt idx="151">
                  <c:v>101</c:v>
                </c:pt>
                <c:pt idx="152">
                  <c:v>102</c:v>
                </c:pt>
                <c:pt idx="153">
                  <c:v>103</c:v>
                </c:pt>
                <c:pt idx="154">
                  <c:v>104</c:v>
                </c:pt>
                <c:pt idx="155">
                  <c:v>105</c:v>
                </c:pt>
                <c:pt idx="156">
                  <c:v>106</c:v>
                </c:pt>
                <c:pt idx="157">
                  <c:v>107</c:v>
                </c:pt>
                <c:pt idx="158">
                  <c:v>108</c:v>
                </c:pt>
                <c:pt idx="159">
                  <c:v>109</c:v>
                </c:pt>
                <c:pt idx="160">
                  <c:v>110</c:v>
                </c:pt>
                <c:pt idx="161">
                  <c:v>111</c:v>
                </c:pt>
                <c:pt idx="162">
                  <c:v>112</c:v>
                </c:pt>
                <c:pt idx="163">
                  <c:v>113</c:v>
                </c:pt>
                <c:pt idx="164">
                  <c:v>114</c:v>
                </c:pt>
                <c:pt idx="165">
                  <c:v>115</c:v>
                </c:pt>
                <c:pt idx="166">
                  <c:v>116</c:v>
                </c:pt>
                <c:pt idx="167">
                  <c:v>117</c:v>
                </c:pt>
                <c:pt idx="168">
                  <c:v>118</c:v>
                </c:pt>
                <c:pt idx="169">
                  <c:v>119</c:v>
                </c:pt>
                <c:pt idx="170">
                  <c:v>120</c:v>
                </c:pt>
                <c:pt idx="171">
                  <c:v>121</c:v>
                </c:pt>
                <c:pt idx="172">
                  <c:v>122</c:v>
                </c:pt>
                <c:pt idx="173">
                  <c:v>123</c:v>
                </c:pt>
                <c:pt idx="174">
                  <c:v>124</c:v>
                </c:pt>
                <c:pt idx="175">
                  <c:v>125</c:v>
                </c:pt>
                <c:pt idx="176">
                  <c:v>126</c:v>
                </c:pt>
                <c:pt idx="177">
                  <c:v>127</c:v>
                </c:pt>
                <c:pt idx="178">
                  <c:v>128</c:v>
                </c:pt>
                <c:pt idx="179">
                  <c:v>129</c:v>
                </c:pt>
                <c:pt idx="180">
                  <c:v>130</c:v>
                </c:pt>
                <c:pt idx="181">
                  <c:v>131</c:v>
                </c:pt>
                <c:pt idx="182">
                  <c:v>132</c:v>
                </c:pt>
                <c:pt idx="183">
                  <c:v>133</c:v>
                </c:pt>
                <c:pt idx="184">
                  <c:v>134</c:v>
                </c:pt>
                <c:pt idx="185">
                  <c:v>135</c:v>
                </c:pt>
                <c:pt idx="186">
                  <c:v>136</c:v>
                </c:pt>
                <c:pt idx="187">
                  <c:v>137</c:v>
                </c:pt>
                <c:pt idx="188">
                  <c:v>138</c:v>
                </c:pt>
                <c:pt idx="189">
                  <c:v>139</c:v>
                </c:pt>
                <c:pt idx="190">
                  <c:v>140</c:v>
                </c:pt>
                <c:pt idx="191">
                  <c:v>141</c:v>
                </c:pt>
                <c:pt idx="192">
                  <c:v>142</c:v>
                </c:pt>
                <c:pt idx="193">
                  <c:v>143</c:v>
                </c:pt>
                <c:pt idx="194">
                  <c:v>144</c:v>
                </c:pt>
                <c:pt idx="195">
                  <c:v>145</c:v>
                </c:pt>
                <c:pt idx="196">
                  <c:v>146</c:v>
                </c:pt>
                <c:pt idx="197">
                  <c:v>147</c:v>
                </c:pt>
                <c:pt idx="198">
                  <c:v>148</c:v>
                </c:pt>
                <c:pt idx="199">
                  <c:v>149</c:v>
                </c:pt>
                <c:pt idx="200">
                  <c:v>150</c:v>
                </c:pt>
              </c:numCache>
            </c:numRef>
          </c:xVal>
          <c:yVal>
            <c:numRef>
              <c:f>'tmp86'!$D$2:$D$202</c:f>
              <c:numCache>
                <c:formatCode>General</c:formatCode>
                <c:ptCount val="201"/>
                <c:pt idx="0">
                  <c:v>-49.3</c:v>
                </c:pt>
                <c:pt idx="1">
                  <c:v>-48.3</c:v>
                </c:pt>
                <c:pt idx="2">
                  <c:v>-47.3</c:v>
                </c:pt>
                <c:pt idx="3">
                  <c:v>-46.3</c:v>
                </c:pt>
                <c:pt idx="4">
                  <c:v>-45.3</c:v>
                </c:pt>
                <c:pt idx="5">
                  <c:v>-44.3</c:v>
                </c:pt>
                <c:pt idx="6">
                  <c:v>-43.3</c:v>
                </c:pt>
                <c:pt idx="7">
                  <c:v>-42.3</c:v>
                </c:pt>
                <c:pt idx="8">
                  <c:v>-41.3</c:v>
                </c:pt>
                <c:pt idx="9">
                  <c:v>-40.299999999999997</c:v>
                </c:pt>
                <c:pt idx="10">
                  <c:v>-39.299999999999997</c:v>
                </c:pt>
                <c:pt idx="11">
                  <c:v>-38.299999999999997</c:v>
                </c:pt>
                <c:pt idx="12">
                  <c:v>-37.299999999999997</c:v>
                </c:pt>
                <c:pt idx="13">
                  <c:v>-36.299999999999997</c:v>
                </c:pt>
                <c:pt idx="14">
                  <c:v>-35.299999999999997</c:v>
                </c:pt>
                <c:pt idx="15">
                  <c:v>-34.299999999999997</c:v>
                </c:pt>
                <c:pt idx="16">
                  <c:v>-33.299999999999997</c:v>
                </c:pt>
                <c:pt idx="17">
                  <c:v>-32.299999999999997</c:v>
                </c:pt>
                <c:pt idx="18">
                  <c:v>-31.3</c:v>
                </c:pt>
                <c:pt idx="19">
                  <c:v>-30.3</c:v>
                </c:pt>
                <c:pt idx="20">
                  <c:v>-29.3</c:v>
                </c:pt>
                <c:pt idx="21">
                  <c:v>-28.3</c:v>
                </c:pt>
                <c:pt idx="22">
                  <c:v>-27.3</c:v>
                </c:pt>
                <c:pt idx="23">
                  <c:v>-26.3</c:v>
                </c:pt>
                <c:pt idx="24">
                  <c:v>-25.3</c:v>
                </c:pt>
                <c:pt idx="25">
                  <c:v>-24.3</c:v>
                </c:pt>
                <c:pt idx="26">
                  <c:v>-23.3</c:v>
                </c:pt>
                <c:pt idx="27">
                  <c:v>-22.3</c:v>
                </c:pt>
                <c:pt idx="28">
                  <c:v>-21.3</c:v>
                </c:pt>
                <c:pt idx="29">
                  <c:v>-20.3</c:v>
                </c:pt>
                <c:pt idx="30">
                  <c:v>-19.3</c:v>
                </c:pt>
                <c:pt idx="31">
                  <c:v>-18.3</c:v>
                </c:pt>
                <c:pt idx="32">
                  <c:v>-17.3</c:v>
                </c:pt>
                <c:pt idx="33">
                  <c:v>-16.3</c:v>
                </c:pt>
                <c:pt idx="34">
                  <c:v>-15.3</c:v>
                </c:pt>
                <c:pt idx="35">
                  <c:v>-14.3</c:v>
                </c:pt>
                <c:pt idx="36">
                  <c:v>-13.3</c:v>
                </c:pt>
                <c:pt idx="37">
                  <c:v>-12.3</c:v>
                </c:pt>
                <c:pt idx="38">
                  <c:v>-11.3</c:v>
                </c:pt>
                <c:pt idx="39">
                  <c:v>-10.3</c:v>
                </c:pt>
                <c:pt idx="40">
                  <c:v>-9.3000000000000007</c:v>
                </c:pt>
                <c:pt idx="41">
                  <c:v>-8.3000000000000007</c:v>
                </c:pt>
                <c:pt idx="42">
                  <c:v>-7.3</c:v>
                </c:pt>
                <c:pt idx="43">
                  <c:v>-6.3</c:v>
                </c:pt>
                <c:pt idx="44">
                  <c:v>-5.3</c:v>
                </c:pt>
                <c:pt idx="45">
                  <c:v>-4.3</c:v>
                </c:pt>
                <c:pt idx="46">
                  <c:v>-3.3</c:v>
                </c:pt>
                <c:pt idx="47">
                  <c:v>-2.2999999999999998</c:v>
                </c:pt>
                <c:pt idx="48">
                  <c:v>-1.3</c:v>
                </c:pt>
                <c:pt idx="49">
                  <c:v>-0.30000000000000004</c:v>
                </c:pt>
                <c:pt idx="50">
                  <c:v>0.7</c:v>
                </c:pt>
                <c:pt idx="51">
                  <c:v>1.7</c:v>
                </c:pt>
                <c:pt idx="52">
                  <c:v>2.7</c:v>
                </c:pt>
                <c:pt idx="53">
                  <c:v>3.7</c:v>
                </c:pt>
                <c:pt idx="54">
                  <c:v>4.7</c:v>
                </c:pt>
                <c:pt idx="55">
                  <c:v>5.7</c:v>
                </c:pt>
                <c:pt idx="56">
                  <c:v>6.7</c:v>
                </c:pt>
                <c:pt idx="57">
                  <c:v>7.7</c:v>
                </c:pt>
                <c:pt idx="58">
                  <c:v>8.6999999999999993</c:v>
                </c:pt>
                <c:pt idx="59">
                  <c:v>9.6999999999999993</c:v>
                </c:pt>
                <c:pt idx="60">
                  <c:v>10.7</c:v>
                </c:pt>
                <c:pt idx="61">
                  <c:v>11.7</c:v>
                </c:pt>
                <c:pt idx="62">
                  <c:v>12.7</c:v>
                </c:pt>
                <c:pt idx="63">
                  <c:v>13.7</c:v>
                </c:pt>
                <c:pt idx="64">
                  <c:v>14.7</c:v>
                </c:pt>
                <c:pt idx="65">
                  <c:v>15.7</c:v>
                </c:pt>
                <c:pt idx="66">
                  <c:v>16.7</c:v>
                </c:pt>
                <c:pt idx="67">
                  <c:v>17.7</c:v>
                </c:pt>
                <c:pt idx="68">
                  <c:v>18.7</c:v>
                </c:pt>
                <c:pt idx="69">
                  <c:v>19.7</c:v>
                </c:pt>
                <c:pt idx="70">
                  <c:v>20.7</c:v>
                </c:pt>
                <c:pt idx="71">
                  <c:v>21.7</c:v>
                </c:pt>
                <c:pt idx="72">
                  <c:v>22.7</c:v>
                </c:pt>
                <c:pt idx="73">
                  <c:v>23.7</c:v>
                </c:pt>
                <c:pt idx="74">
                  <c:v>24.7</c:v>
                </c:pt>
                <c:pt idx="75">
                  <c:v>25.7</c:v>
                </c:pt>
                <c:pt idx="76">
                  <c:v>26.7</c:v>
                </c:pt>
                <c:pt idx="77">
                  <c:v>27.7</c:v>
                </c:pt>
                <c:pt idx="78">
                  <c:v>28.7</c:v>
                </c:pt>
                <c:pt idx="79">
                  <c:v>29.7</c:v>
                </c:pt>
                <c:pt idx="80">
                  <c:v>30.7</c:v>
                </c:pt>
                <c:pt idx="81">
                  <c:v>31.7</c:v>
                </c:pt>
                <c:pt idx="82">
                  <c:v>32.700000000000003</c:v>
                </c:pt>
                <c:pt idx="83">
                  <c:v>33.700000000000003</c:v>
                </c:pt>
                <c:pt idx="84">
                  <c:v>34.700000000000003</c:v>
                </c:pt>
                <c:pt idx="85">
                  <c:v>35.700000000000003</c:v>
                </c:pt>
                <c:pt idx="86">
                  <c:v>36.700000000000003</c:v>
                </c:pt>
                <c:pt idx="87">
                  <c:v>37.700000000000003</c:v>
                </c:pt>
                <c:pt idx="88">
                  <c:v>38.700000000000003</c:v>
                </c:pt>
                <c:pt idx="89">
                  <c:v>39.700000000000003</c:v>
                </c:pt>
                <c:pt idx="90">
                  <c:v>40.4</c:v>
                </c:pt>
                <c:pt idx="91">
                  <c:v>41.4</c:v>
                </c:pt>
                <c:pt idx="92">
                  <c:v>42.4</c:v>
                </c:pt>
                <c:pt idx="93">
                  <c:v>43.4</c:v>
                </c:pt>
                <c:pt idx="94">
                  <c:v>44.4</c:v>
                </c:pt>
                <c:pt idx="95">
                  <c:v>45.4</c:v>
                </c:pt>
                <c:pt idx="96">
                  <c:v>46.4</c:v>
                </c:pt>
                <c:pt idx="97">
                  <c:v>47.4</c:v>
                </c:pt>
                <c:pt idx="98">
                  <c:v>48.4</c:v>
                </c:pt>
                <c:pt idx="99">
                  <c:v>49.4</c:v>
                </c:pt>
                <c:pt idx="100">
                  <c:v>50.4</c:v>
                </c:pt>
                <c:pt idx="101">
                  <c:v>51.4</c:v>
                </c:pt>
                <c:pt idx="102">
                  <c:v>52.4</c:v>
                </c:pt>
                <c:pt idx="103">
                  <c:v>53.4</c:v>
                </c:pt>
                <c:pt idx="104">
                  <c:v>54.4</c:v>
                </c:pt>
                <c:pt idx="105">
                  <c:v>55.4</c:v>
                </c:pt>
                <c:pt idx="106">
                  <c:v>56.4</c:v>
                </c:pt>
                <c:pt idx="107">
                  <c:v>57.4</c:v>
                </c:pt>
                <c:pt idx="108">
                  <c:v>58.4</c:v>
                </c:pt>
                <c:pt idx="109">
                  <c:v>59.4</c:v>
                </c:pt>
                <c:pt idx="110">
                  <c:v>60.4</c:v>
                </c:pt>
                <c:pt idx="111">
                  <c:v>61.4</c:v>
                </c:pt>
                <c:pt idx="112">
                  <c:v>62.4</c:v>
                </c:pt>
                <c:pt idx="113">
                  <c:v>63.4</c:v>
                </c:pt>
                <c:pt idx="114">
                  <c:v>64.400000000000006</c:v>
                </c:pt>
                <c:pt idx="115">
                  <c:v>65.400000000000006</c:v>
                </c:pt>
                <c:pt idx="116">
                  <c:v>66.400000000000006</c:v>
                </c:pt>
                <c:pt idx="117">
                  <c:v>67.400000000000006</c:v>
                </c:pt>
                <c:pt idx="118">
                  <c:v>68.400000000000006</c:v>
                </c:pt>
                <c:pt idx="119">
                  <c:v>69.400000000000006</c:v>
                </c:pt>
                <c:pt idx="120">
                  <c:v>70.400000000000006</c:v>
                </c:pt>
                <c:pt idx="121">
                  <c:v>71.400000000000006</c:v>
                </c:pt>
                <c:pt idx="122">
                  <c:v>72.400000000000006</c:v>
                </c:pt>
                <c:pt idx="123">
                  <c:v>73.400000000000006</c:v>
                </c:pt>
                <c:pt idx="124">
                  <c:v>74.400000000000006</c:v>
                </c:pt>
                <c:pt idx="125">
                  <c:v>75.400000000000006</c:v>
                </c:pt>
                <c:pt idx="126">
                  <c:v>76.400000000000006</c:v>
                </c:pt>
                <c:pt idx="127">
                  <c:v>77.400000000000006</c:v>
                </c:pt>
                <c:pt idx="128">
                  <c:v>78.400000000000006</c:v>
                </c:pt>
                <c:pt idx="129">
                  <c:v>79.400000000000006</c:v>
                </c:pt>
                <c:pt idx="130">
                  <c:v>80.400000000000006</c:v>
                </c:pt>
                <c:pt idx="131">
                  <c:v>81.400000000000006</c:v>
                </c:pt>
                <c:pt idx="132">
                  <c:v>82.4</c:v>
                </c:pt>
                <c:pt idx="133">
                  <c:v>83.4</c:v>
                </c:pt>
                <c:pt idx="134">
                  <c:v>84.4</c:v>
                </c:pt>
                <c:pt idx="135">
                  <c:v>85.4</c:v>
                </c:pt>
                <c:pt idx="136">
                  <c:v>86.4</c:v>
                </c:pt>
                <c:pt idx="137">
                  <c:v>87.4</c:v>
                </c:pt>
                <c:pt idx="138">
                  <c:v>88.4</c:v>
                </c:pt>
                <c:pt idx="139">
                  <c:v>89.4</c:v>
                </c:pt>
                <c:pt idx="140">
                  <c:v>90.4</c:v>
                </c:pt>
                <c:pt idx="141">
                  <c:v>91.4</c:v>
                </c:pt>
                <c:pt idx="142">
                  <c:v>92.4</c:v>
                </c:pt>
                <c:pt idx="143">
                  <c:v>93.4</c:v>
                </c:pt>
                <c:pt idx="144">
                  <c:v>94.4</c:v>
                </c:pt>
                <c:pt idx="145">
                  <c:v>95.4</c:v>
                </c:pt>
                <c:pt idx="146">
                  <c:v>96.4</c:v>
                </c:pt>
                <c:pt idx="147">
                  <c:v>97.4</c:v>
                </c:pt>
                <c:pt idx="148">
                  <c:v>98.4</c:v>
                </c:pt>
                <c:pt idx="149">
                  <c:v>99.4</c:v>
                </c:pt>
                <c:pt idx="150">
                  <c:v>100.4</c:v>
                </c:pt>
                <c:pt idx="151">
                  <c:v>101.4</c:v>
                </c:pt>
                <c:pt idx="152">
                  <c:v>102.4</c:v>
                </c:pt>
                <c:pt idx="153">
                  <c:v>103.4</c:v>
                </c:pt>
                <c:pt idx="154">
                  <c:v>104.4</c:v>
                </c:pt>
                <c:pt idx="155">
                  <c:v>105.4</c:v>
                </c:pt>
                <c:pt idx="156">
                  <c:v>106.4</c:v>
                </c:pt>
                <c:pt idx="157">
                  <c:v>107.4</c:v>
                </c:pt>
                <c:pt idx="158">
                  <c:v>108.4</c:v>
                </c:pt>
                <c:pt idx="159">
                  <c:v>109.4</c:v>
                </c:pt>
                <c:pt idx="160">
                  <c:v>110.4</c:v>
                </c:pt>
                <c:pt idx="161">
                  <c:v>111.4</c:v>
                </c:pt>
                <c:pt idx="162">
                  <c:v>112.4</c:v>
                </c:pt>
                <c:pt idx="163">
                  <c:v>113.4</c:v>
                </c:pt>
                <c:pt idx="164">
                  <c:v>114.4</c:v>
                </c:pt>
                <c:pt idx="165">
                  <c:v>115.4</c:v>
                </c:pt>
                <c:pt idx="166">
                  <c:v>116.4</c:v>
                </c:pt>
                <c:pt idx="167">
                  <c:v>117.4</c:v>
                </c:pt>
                <c:pt idx="168">
                  <c:v>118.4</c:v>
                </c:pt>
                <c:pt idx="169">
                  <c:v>119.4</c:v>
                </c:pt>
                <c:pt idx="170">
                  <c:v>120.4</c:v>
                </c:pt>
                <c:pt idx="171">
                  <c:v>121.4</c:v>
                </c:pt>
                <c:pt idx="172">
                  <c:v>122.4</c:v>
                </c:pt>
                <c:pt idx="173">
                  <c:v>123.4</c:v>
                </c:pt>
                <c:pt idx="174">
                  <c:v>124.4</c:v>
                </c:pt>
                <c:pt idx="175">
                  <c:v>125.4</c:v>
                </c:pt>
                <c:pt idx="176">
                  <c:v>126.4</c:v>
                </c:pt>
                <c:pt idx="177">
                  <c:v>127.4</c:v>
                </c:pt>
                <c:pt idx="178">
                  <c:v>128.4</c:v>
                </c:pt>
                <c:pt idx="179">
                  <c:v>129.4</c:v>
                </c:pt>
                <c:pt idx="180">
                  <c:v>130.4</c:v>
                </c:pt>
                <c:pt idx="181">
                  <c:v>131.4</c:v>
                </c:pt>
                <c:pt idx="182">
                  <c:v>132.4</c:v>
                </c:pt>
                <c:pt idx="183">
                  <c:v>133.4</c:v>
                </c:pt>
                <c:pt idx="184">
                  <c:v>134.4</c:v>
                </c:pt>
                <c:pt idx="185">
                  <c:v>135.4</c:v>
                </c:pt>
                <c:pt idx="186">
                  <c:v>136.4</c:v>
                </c:pt>
                <c:pt idx="187">
                  <c:v>137.4</c:v>
                </c:pt>
                <c:pt idx="188">
                  <c:v>138.4</c:v>
                </c:pt>
                <c:pt idx="189">
                  <c:v>139.4</c:v>
                </c:pt>
                <c:pt idx="190">
                  <c:v>140.4</c:v>
                </c:pt>
                <c:pt idx="191">
                  <c:v>141.4</c:v>
                </c:pt>
                <c:pt idx="192">
                  <c:v>142.4</c:v>
                </c:pt>
                <c:pt idx="193">
                  <c:v>143.4</c:v>
                </c:pt>
                <c:pt idx="194">
                  <c:v>144.4</c:v>
                </c:pt>
                <c:pt idx="195">
                  <c:v>145.4</c:v>
                </c:pt>
                <c:pt idx="196">
                  <c:v>146.4</c:v>
                </c:pt>
                <c:pt idx="197">
                  <c:v>147.4</c:v>
                </c:pt>
                <c:pt idx="198">
                  <c:v>148.4</c:v>
                </c:pt>
                <c:pt idx="199">
                  <c:v>149.4</c:v>
                </c:pt>
                <c:pt idx="200">
                  <c:v>150.4</c:v>
                </c:pt>
              </c:numCache>
            </c:numRef>
          </c:yVal>
          <c:smooth val="0"/>
          <c:extLst>
            <c:ext xmlns:c16="http://schemas.microsoft.com/office/drawing/2014/chart" uri="{C3380CC4-5D6E-409C-BE32-E72D297353CC}">
              <c16:uniqueId val="{00000002-0573-42D5-AC30-136473A35ECC}"/>
            </c:ext>
          </c:extLst>
        </c:ser>
        <c:ser>
          <c:idx val="3"/>
          <c:order val="3"/>
          <c:tx>
            <c:strRef>
              <c:f>'tmp86'!$E$1</c:f>
              <c:strCache>
                <c:ptCount val="1"/>
                <c:pt idx="0">
                  <c:v>Max lower</c:v>
                </c:pt>
              </c:strCache>
            </c:strRef>
          </c:tx>
          <c:spPr>
            <a:ln w="19050" cap="rnd">
              <a:solidFill>
                <a:schemeClr val="accent4"/>
              </a:solidFill>
              <a:round/>
            </a:ln>
            <a:effectLst/>
          </c:spPr>
          <c:marker>
            <c:symbol val="none"/>
          </c:marker>
          <c:xVal>
            <c:numRef>
              <c:f>'tmp86'!$A$2:$A$202</c:f>
              <c:numCache>
                <c:formatCode>General</c:formatCode>
                <c:ptCount val="201"/>
                <c:pt idx="0">
                  <c:v>-50</c:v>
                </c:pt>
                <c:pt idx="1">
                  <c:v>-49</c:v>
                </c:pt>
                <c:pt idx="2">
                  <c:v>-48</c:v>
                </c:pt>
                <c:pt idx="3">
                  <c:v>-47</c:v>
                </c:pt>
                <c:pt idx="4">
                  <c:v>-46</c:v>
                </c:pt>
                <c:pt idx="5">
                  <c:v>-45</c:v>
                </c:pt>
                <c:pt idx="6">
                  <c:v>-44</c:v>
                </c:pt>
                <c:pt idx="7">
                  <c:v>-43</c:v>
                </c:pt>
                <c:pt idx="8">
                  <c:v>-42</c:v>
                </c:pt>
                <c:pt idx="9">
                  <c:v>-41</c:v>
                </c:pt>
                <c:pt idx="10">
                  <c:v>-40</c:v>
                </c:pt>
                <c:pt idx="11">
                  <c:v>-39</c:v>
                </c:pt>
                <c:pt idx="12">
                  <c:v>-38</c:v>
                </c:pt>
                <c:pt idx="13">
                  <c:v>-37</c:v>
                </c:pt>
                <c:pt idx="14">
                  <c:v>-36</c:v>
                </c:pt>
                <c:pt idx="15">
                  <c:v>-35</c:v>
                </c:pt>
                <c:pt idx="16">
                  <c:v>-34</c:v>
                </c:pt>
                <c:pt idx="17">
                  <c:v>-33</c:v>
                </c:pt>
                <c:pt idx="18">
                  <c:v>-32</c:v>
                </c:pt>
                <c:pt idx="19">
                  <c:v>-31</c:v>
                </c:pt>
                <c:pt idx="20">
                  <c:v>-30</c:v>
                </c:pt>
                <c:pt idx="21">
                  <c:v>-29</c:v>
                </c:pt>
                <c:pt idx="22">
                  <c:v>-28</c:v>
                </c:pt>
                <c:pt idx="23">
                  <c:v>-27</c:v>
                </c:pt>
                <c:pt idx="24">
                  <c:v>-26</c:v>
                </c:pt>
                <c:pt idx="25">
                  <c:v>-25</c:v>
                </c:pt>
                <c:pt idx="26">
                  <c:v>-24</c:v>
                </c:pt>
                <c:pt idx="27">
                  <c:v>-23</c:v>
                </c:pt>
                <c:pt idx="28">
                  <c:v>-22</c:v>
                </c:pt>
                <c:pt idx="29">
                  <c:v>-21</c:v>
                </c:pt>
                <c:pt idx="30">
                  <c:v>-20</c:v>
                </c:pt>
                <c:pt idx="31">
                  <c:v>-19</c:v>
                </c:pt>
                <c:pt idx="32">
                  <c:v>-18</c:v>
                </c:pt>
                <c:pt idx="33">
                  <c:v>-17</c:v>
                </c:pt>
                <c:pt idx="34">
                  <c:v>-16</c:v>
                </c:pt>
                <c:pt idx="35">
                  <c:v>-15</c:v>
                </c:pt>
                <c:pt idx="36">
                  <c:v>-14</c:v>
                </c:pt>
                <c:pt idx="37">
                  <c:v>-13</c:v>
                </c:pt>
                <c:pt idx="38">
                  <c:v>-12</c:v>
                </c:pt>
                <c:pt idx="39">
                  <c:v>-11</c:v>
                </c:pt>
                <c:pt idx="40">
                  <c:v>-10</c:v>
                </c:pt>
                <c:pt idx="41">
                  <c:v>-9</c:v>
                </c:pt>
                <c:pt idx="42">
                  <c:v>-8</c:v>
                </c:pt>
                <c:pt idx="43">
                  <c:v>-7</c:v>
                </c:pt>
                <c:pt idx="44">
                  <c:v>-6</c:v>
                </c:pt>
                <c:pt idx="45">
                  <c:v>-5</c:v>
                </c:pt>
                <c:pt idx="46">
                  <c:v>-4</c:v>
                </c:pt>
                <c:pt idx="47">
                  <c:v>-3</c:v>
                </c:pt>
                <c:pt idx="48">
                  <c:v>-2</c:v>
                </c:pt>
                <c:pt idx="49">
                  <c:v>-1</c:v>
                </c:pt>
                <c:pt idx="50">
                  <c:v>0</c:v>
                </c:pt>
                <c:pt idx="51">
                  <c:v>1</c:v>
                </c:pt>
                <c:pt idx="52">
                  <c:v>2</c:v>
                </c:pt>
                <c:pt idx="53">
                  <c:v>3</c:v>
                </c:pt>
                <c:pt idx="54">
                  <c:v>4</c:v>
                </c:pt>
                <c:pt idx="55">
                  <c:v>5</c:v>
                </c:pt>
                <c:pt idx="56">
                  <c:v>6</c:v>
                </c:pt>
                <c:pt idx="57">
                  <c:v>7</c:v>
                </c:pt>
                <c:pt idx="58">
                  <c:v>8</c:v>
                </c:pt>
                <c:pt idx="59">
                  <c:v>9</c:v>
                </c:pt>
                <c:pt idx="60">
                  <c:v>10</c:v>
                </c:pt>
                <c:pt idx="61">
                  <c:v>11</c:v>
                </c:pt>
                <c:pt idx="62">
                  <c:v>12</c:v>
                </c:pt>
                <c:pt idx="63">
                  <c:v>13</c:v>
                </c:pt>
                <c:pt idx="64">
                  <c:v>14</c:v>
                </c:pt>
                <c:pt idx="65">
                  <c:v>15</c:v>
                </c:pt>
                <c:pt idx="66">
                  <c:v>16</c:v>
                </c:pt>
                <c:pt idx="67">
                  <c:v>17</c:v>
                </c:pt>
                <c:pt idx="68">
                  <c:v>18</c:v>
                </c:pt>
                <c:pt idx="69">
                  <c:v>19</c:v>
                </c:pt>
                <c:pt idx="70">
                  <c:v>20</c:v>
                </c:pt>
                <c:pt idx="71">
                  <c:v>21</c:v>
                </c:pt>
                <c:pt idx="72">
                  <c:v>22</c:v>
                </c:pt>
                <c:pt idx="73">
                  <c:v>23</c:v>
                </c:pt>
                <c:pt idx="74">
                  <c:v>24</c:v>
                </c:pt>
                <c:pt idx="75">
                  <c:v>25</c:v>
                </c:pt>
                <c:pt idx="76">
                  <c:v>26</c:v>
                </c:pt>
                <c:pt idx="77">
                  <c:v>27</c:v>
                </c:pt>
                <c:pt idx="78">
                  <c:v>28</c:v>
                </c:pt>
                <c:pt idx="79">
                  <c:v>29</c:v>
                </c:pt>
                <c:pt idx="80">
                  <c:v>30</c:v>
                </c:pt>
                <c:pt idx="81">
                  <c:v>31</c:v>
                </c:pt>
                <c:pt idx="82">
                  <c:v>32</c:v>
                </c:pt>
                <c:pt idx="83">
                  <c:v>33</c:v>
                </c:pt>
                <c:pt idx="84">
                  <c:v>34</c:v>
                </c:pt>
                <c:pt idx="85">
                  <c:v>35</c:v>
                </c:pt>
                <c:pt idx="86">
                  <c:v>36</c:v>
                </c:pt>
                <c:pt idx="87">
                  <c:v>37</c:v>
                </c:pt>
                <c:pt idx="88">
                  <c:v>38</c:v>
                </c:pt>
                <c:pt idx="89">
                  <c:v>39</c:v>
                </c:pt>
                <c:pt idx="90">
                  <c:v>40</c:v>
                </c:pt>
                <c:pt idx="91">
                  <c:v>41</c:v>
                </c:pt>
                <c:pt idx="92">
                  <c:v>42</c:v>
                </c:pt>
                <c:pt idx="93">
                  <c:v>43</c:v>
                </c:pt>
                <c:pt idx="94">
                  <c:v>44</c:v>
                </c:pt>
                <c:pt idx="95">
                  <c:v>45</c:v>
                </c:pt>
                <c:pt idx="96">
                  <c:v>46</c:v>
                </c:pt>
                <c:pt idx="97">
                  <c:v>47</c:v>
                </c:pt>
                <c:pt idx="98">
                  <c:v>48</c:v>
                </c:pt>
                <c:pt idx="99">
                  <c:v>49</c:v>
                </c:pt>
                <c:pt idx="100">
                  <c:v>50</c:v>
                </c:pt>
                <c:pt idx="101">
                  <c:v>51</c:v>
                </c:pt>
                <c:pt idx="102">
                  <c:v>52</c:v>
                </c:pt>
                <c:pt idx="103">
                  <c:v>53</c:v>
                </c:pt>
                <c:pt idx="104">
                  <c:v>54</c:v>
                </c:pt>
                <c:pt idx="105">
                  <c:v>55</c:v>
                </c:pt>
                <c:pt idx="106">
                  <c:v>56</c:v>
                </c:pt>
                <c:pt idx="107">
                  <c:v>57</c:v>
                </c:pt>
                <c:pt idx="108">
                  <c:v>58</c:v>
                </c:pt>
                <c:pt idx="109">
                  <c:v>59</c:v>
                </c:pt>
                <c:pt idx="110">
                  <c:v>60</c:v>
                </c:pt>
                <c:pt idx="111">
                  <c:v>61</c:v>
                </c:pt>
                <c:pt idx="112">
                  <c:v>62</c:v>
                </c:pt>
                <c:pt idx="113">
                  <c:v>63</c:v>
                </c:pt>
                <c:pt idx="114">
                  <c:v>64</c:v>
                </c:pt>
                <c:pt idx="115">
                  <c:v>65</c:v>
                </c:pt>
                <c:pt idx="116">
                  <c:v>66</c:v>
                </c:pt>
                <c:pt idx="117">
                  <c:v>67</c:v>
                </c:pt>
                <c:pt idx="118">
                  <c:v>68</c:v>
                </c:pt>
                <c:pt idx="119">
                  <c:v>69</c:v>
                </c:pt>
                <c:pt idx="120">
                  <c:v>70</c:v>
                </c:pt>
                <c:pt idx="121">
                  <c:v>71</c:v>
                </c:pt>
                <c:pt idx="122">
                  <c:v>72</c:v>
                </c:pt>
                <c:pt idx="123">
                  <c:v>73</c:v>
                </c:pt>
                <c:pt idx="124">
                  <c:v>74</c:v>
                </c:pt>
                <c:pt idx="125">
                  <c:v>75</c:v>
                </c:pt>
                <c:pt idx="126">
                  <c:v>76</c:v>
                </c:pt>
                <c:pt idx="127">
                  <c:v>77</c:v>
                </c:pt>
                <c:pt idx="128">
                  <c:v>78</c:v>
                </c:pt>
                <c:pt idx="129">
                  <c:v>79</c:v>
                </c:pt>
                <c:pt idx="130">
                  <c:v>80</c:v>
                </c:pt>
                <c:pt idx="131">
                  <c:v>81</c:v>
                </c:pt>
                <c:pt idx="132">
                  <c:v>82</c:v>
                </c:pt>
                <c:pt idx="133">
                  <c:v>83</c:v>
                </c:pt>
                <c:pt idx="134">
                  <c:v>84</c:v>
                </c:pt>
                <c:pt idx="135">
                  <c:v>85</c:v>
                </c:pt>
                <c:pt idx="136">
                  <c:v>86</c:v>
                </c:pt>
                <c:pt idx="137">
                  <c:v>87</c:v>
                </c:pt>
                <c:pt idx="138">
                  <c:v>88</c:v>
                </c:pt>
                <c:pt idx="139">
                  <c:v>89</c:v>
                </c:pt>
                <c:pt idx="140">
                  <c:v>90</c:v>
                </c:pt>
                <c:pt idx="141">
                  <c:v>91</c:v>
                </c:pt>
                <c:pt idx="142">
                  <c:v>92</c:v>
                </c:pt>
                <c:pt idx="143">
                  <c:v>93</c:v>
                </c:pt>
                <c:pt idx="144">
                  <c:v>94</c:v>
                </c:pt>
                <c:pt idx="145">
                  <c:v>95</c:v>
                </c:pt>
                <c:pt idx="146">
                  <c:v>96</c:v>
                </c:pt>
                <c:pt idx="147">
                  <c:v>97</c:v>
                </c:pt>
                <c:pt idx="148">
                  <c:v>98</c:v>
                </c:pt>
                <c:pt idx="149">
                  <c:v>99</c:v>
                </c:pt>
                <c:pt idx="150">
                  <c:v>100</c:v>
                </c:pt>
                <c:pt idx="151">
                  <c:v>101</c:v>
                </c:pt>
                <c:pt idx="152">
                  <c:v>102</c:v>
                </c:pt>
                <c:pt idx="153">
                  <c:v>103</c:v>
                </c:pt>
                <c:pt idx="154">
                  <c:v>104</c:v>
                </c:pt>
                <c:pt idx="155">
                  <c:v>105</c:v>
                </c:pt>
                <c:pt idx="156">
                  <c:v>106</c:v>
                </c:pt>
                <c:pt idx="157">
                  <c:v>107</c:v>
                </c:pt>
                <c:pt idx="158">
                  <c:v>108</c:v>
                </c:pt>
                <c:pt idx="159">
                  <c:v>109</c:v>
                </c:pt>
                <c:pt idx="160">
                  <c:v>110</c:v>
                </c:pt>
                <c:pt idx="161">
                  <c:v>111</c:v>
                </c:pt>
                <c:pt idx="162">
                  <c:v>112</c:v>
                </c:pt>
                <c:pt idx="163">
                  <c:v>113</c:v>
                </c:pt>
                <c:pt idx="164">
                  <c:v>114</c:v>
                </c:pt>
                <c:pt idx="165">
                  <c:v>115</c:v>
                </c:pt>
                <c:pt idx="166">
                  <c:v>116</c:v>
                </c:pt>
                <c:pt idx="167">
                  <c:v>117</c:v>
                </c:pt>
                <c:pt idx="168">
                  <c:v>118</c:v>
                </c:pt>
                <c:pt idx="169">
                  <c:v>119</c:v>
                </c:pt>
                <c:pt idx="170">
                  <c:v>120</c:v>
                </c:pt>
                <c:pt idx="171">
                  <c:v>121</c:v>
                </c:pt>
                <c:pt idx="172">
                  <c:v>122</c:v>
                </c:pt>
                <c:pt idx="173">
                  <c:v>123</c:v>
                </c:pt>
                <c:pt idx="174">
                  <c:v>124</c:v>
                </c:pt>
                <c:pt idx="175">
                  <c:v>125</c:v>
                </c:pt>
                <c:pt idx="176">
                  <c:v>126</c:v>
                </c:pt>
                <c:pt idx="177">
                  <c:v>127</c:v>
                </c:pt>
                <c:pt idx="178">
                  <c:v>128</c:v>
                </c:pt>
                <c:pt idx="179">
                  <c:v>129</c:v>
                </c:pt>
                <c:pt idx="180">
                  <c:v>130</c:v>
                </c:pt>
                <c:pt idx="181">
                  <c:v>131</c:v>
                </c:pt>
                <c:pt idx="182">
                  <c:v>132</c:v>
                </c:pt>
                <c:pt idx="183">
                  <c:v>133</c:v>
                </c:pt>
                <c:pt idx="184">
                  <c:v>134</c:v>
                </c:pt>
                <c:pt idx="185">
                  <c:v>135</c:v>
                </c:pt>
                <c:pt idx="186">
                  <c:v>136</c:v>
                </c:pt>
                <c:pt idx="187">
                  <c:v>137</c:v>
                </c:pt>
                <c:pt idx="188">
                  <c:v>138</c:v>
                </c:pt>
                <c:pt idx="189">
                  <c:v>139</c:v>
                </c:pt>
                <c:pt idx="190">
                  <c:v>140</c:v>
                </c:pt>
                <c:pt idx="191">
                  <c:v>141</c:v>
                </c:pt>
                <c:pt idx="192">
                  <c:v>142</c:v>
                </c:pt>
                <c:pt idx="193">
                  <c:v>143</c:v>
                </c:pt>
                <c:pt idx="194">
                  <c:v>144</c:v>
                </c:pt>
                <c:pt idx="195">
                  <c:v>145</c:v>
                </c:pt>
                <c:pt idx="196">
                  <c:v>146</c:v>
                </c:pt>
                <c:pt idx="197">
                  <c:v>147</c:v>
                </c:pt>
                <c:pt idx="198">
                  <c:v>148</c:v>
                </c:pt>
                <c:pt idx="199">
                  <c:v>149</c:v>
                </c:pt>
                <c:pt idx="200">
                  <c:v>150</c:v>
                </c:pt>
              </c:numCache>
            </c:numRef>
          </c:xVal>
          <c:yVal>
            <c:numRef>
              <c:f>'tmp86'!$E$2:$E$202</c:f>
              <c:numCache>
                <c:formatCode>General</c:formatCode>
                <c:ptCount val="201"/>
                <c:pt idx="0">
                  <c:v>-52.7</c:v>
                </c:pt>
                <c:pt idx="1">
                  <c:v>-51.7</c:v>
                </c:pt>
                <c:pt idx="2">
                  <c:v>-50.7</c:v>
                </c:pt>
                <c:pt idx="3">
                  <c:v>-49.7</c:v>
                </c:pt>
                <c:pt idx="4">
                  <c:v>-48.7</c:v>
                </c:pt>
                <c:pt idx="5">
                  <c:v>-47.7</c:v>
                </c:pt>
                <c:pt idx="6">
                  <c:v>-46.7</c:v>
                </c:pt>
                <c:pt idx="7">
                  <c:v>-45.7</c:v>
                </c:pt>
                <c:pt idx="8">
                  <c:v>-44.7</c:v>
                </c:pt>
                <c:pt idx="9">
                  <c:v>-43.7</c:v>
                </c:pt>
                <c:pt idx="10">
                  <c:v>-42.7</c:v>
                </c:pt>
                <c:pt idx="11">
                  <c:v>-41.7</c:v>
                </c:pt>
                <c:pt idx="12">
                  <c:v>-40.700000000000003</c:v>
                </c:pt>
                <c:pt idx="13">
                  <c:v>-39.700000000000003</c:v>
                </c:pt>
                <c:pt idx="14">
                  <c:v>-38.700000000000003</c:v>
                </c:pt>
                <c:pt idx="15">
                  <c:v>-37.700000000000003</c:v>
                </c:pt>
                <c:pt idx="16">
                  <c:v>-36.700000000000003</c:v>
                </c:pt>
                <c:pt idx="17">
                  <c:v>-35.700000000000003</c:v>
                </c:pt>
                <c:pt idx="18">
                  <c:v>-34.700000000000003</c:v>
                </c:pt>
                <c:pt idx="19">
                  <c:v>-33.700000000000003</c:v>
                </c:pt>
                <c:pt idx="20">
                  <c:v>-32.700000000000003</c:v>
                </c:pt>
                <c:pt idx="21">
                  <c:v>-31.7</c:v>
                </c:pt>
                <c:pt idx="22">
                  <c:v>-30.7</c:v>
                </c:pt>
                <c:pt idx="23">
                  <c:v>-29.7</c:v>
                </c:pt>
                <c:pt idx="24">
                  <c:v>-28.7</c:v>
                </c:pt>
                <c:pt idx="25">
                  <c:v>-27.7</c:v>
                </c:pt>
                <c:pt idx="26">
                  <c:v>-26.7</c:v>
                </c:pt>
                <c:pt idx="27">
                  <c:v>-25.7</c:v>
                </c:pt>
                <c:pt idx="28">
                  <c:v>-24.7</c:v>
                </c:pt>
                <c:pt idx="29">
                  <c:v>-23.7</c:v>
                </c:pt>
                <c:pt idx="30">
                  <c:v>-22.7</c:v>
                </c:pt>
                <c:pt idx="31">
                  <c:v>-21.7</c:v>
                </c:pt>
                <c:pt idx="32">
                  <c:v>-20.7</c:v>
                </c:pt>
                <c:pt idx="33">
                  <c:v>-19.7</c:v>
                </c:pt>
                <c:pt idx="34">
                  <c:v>-18.7</c:v>
                </c:pt>
                <c:pt idx="35">
                  <c:v>-17.7</c:v>
                </c:pt>
                <c:pt idx="36">
                  <c:v>-16.7</c:v>
                </c:pt>
                <c:pt idx="37">
                  <c:v>-15.7</c:v>
                </c:pt>
                <c:pt idx="38">
                  <c:v>-14.7</c:v>
                </c:pt>
                <c:pt idx="39">
                  <c:v>-13.7</c:v>
                </c:pt>
                <c:pt idx="40">
                  <c:v>-12.7</c:v>
                </c:pt>
                <c:pt idx="41">
                  <c:v>-11.7</c:v>
                </c:pt>
                <c:pt idx="42">
                  <c:v>-10.7</c:v>
                </c:pt>
                <c:pt idx="43">
                  <c:v>-9.6999999999999993</c:v>
                </c:pt>
                <c:pt idx="44">
                  <c:v>-8.6999999999999993</c:v>
                </c:pt>
                <c:pt idx="45">
                  <c:v>-7.7</c:v>
                </c:pt>
                <c:pt idx="46">
                  <c:v>-6.7</c:v>
                </c:pt>
                <c:pt idx="47">
                  <c:v>-5.7</c:v>
                </c:pt>
                <c:pt idx="48">
                  <c:v>-4.7</c:v>
                </c:pt>
                <c:pt idx="49">
                  <c:v>-3.7</c:v>
                </c:pt>
                <c:pt idx="50">
                  <c:v>-2.7</c:v>
                </c:pt>
                <c:pt idx="51">
                  <c:v>-1.7000000000000002</c:v>
                </c:pt>
                <c:pt idx="52">
                  <c:v>-0.70000000000000018</c:v>
                </c:pt>
                <c:pt idx="53">
                  <c:v>0.29999999999999982</c:v>
                </c:pt>
                <c:pt idx="54">
                  <c:v>1.2999999999999998</c:v>
                </c:pt>
                <c:pt idx="55">
                  <c:v>2.2999999999999998</c:v>
                </c:pt>
                <c:pt idx="56">
                  <c:v>3.3</c:v>
                </c:pt>
                <c:pt idx="57">
                  <c:v>4.3</c:v>
                </c:pt>
                <c:pt idx="58">
                  <c:v>5.3</c:v>
                </c:pt>
                <c:pt idx="59">
                  <c:v>6.3</c:v>
                </c:pt>
                <c:pt idx="60">
                  <c:v>7.3</c:v>
                </c:pt>
                <c:pt idx="61">
                  <c:v>8.3000000000000007</c:v>
                </c:pt>
                <c:pt idx="62">
                  <c:v>9.3000000000000007</c:v>
                </c:pt>
                <c:pt idx="63">
                  <c:v>10.3</c:v>
                </c:pt>
                <c:pt idx="64">
                  <c:v>11.3</c:v>
                </c:pt>
                <c:pt idx="65">
                  <c:v>12.3</c:v>
                </c:pt>
                <c:pt idx="66">
                  <c:v>13.3</c:v>
                </c:pt>
                <c:pt idx="67">
                  <c:v>14.3</c:v>
                </c:pt>
                <c:pt idx="68">
                  <c:v>15.3</c:v>
                </c:pt>
                <c:pt idx="69">
                  <c:v>16.3</c:v>
                </c:pt>
                <c:pt idx="70">
                  <c:v>17.3</c:v>
                </c:pt>
                <c:pt idx="71">
                  <c:v>18.3</c:v>
                </c:pt>
                <c:pt idx="72">
                  <c:v>19.3</c:v>
                </c:pt>
                <c:pt idx="73">
                  <c:v>20.3</c:v>
                </c:pt>
                <c:pt idx="74">
                  <c:v>21.3</c:v>
                </c:pt>
                <c:pt idx="75">
                  <c:v>22.3</c:v>
                </c:pt>
                <c:pt idx="76">
                  <c:v>23.3</c:v>
                </c:pt>
                <c:pt idx="77">
                  <c:v>24.3</c:v>
                </c:pt>
                <c:pt idx="78">
                  <c:v>25.3</c:v>
                </c:pt>
                <c:pt idx="79">
                  <c:v>26.3</c:v>
                </c:pt>
                <c:pt idx="80">
                  <c:v>27.3</c:v>
                </c:pt>
                <c:pt idx="81">
                  <c:v>28.3</c:v>
                </c:pt>
                <c:pt idx="82">
                  <c:v>29.3</c:v>
                </c:pt>
                <c:pt idx="83">
                  <c:v>30.3</c:v>
                </c:pt>
                <c:pt idx="84">
                  <c:v>31.3</c:v>
                </c:pt>
                <c:pt idx="85">
                  <c:v>32.299999999999997</c:v>
                </c:pt>
                <c:pt idx="86">
                  <c:v>33.299999999999997</c:v>
                </c:pt>
                <c:pt idx="87">
                  <c:v>34.299999999999997</c:v>
                </c:pt>
                <c:pt idx="88">
                  <c:v>35.299999999999997</c:v>
                </c:pt>
                <c:pt idx="89">
                  <c:v>36.299999999999997</c:v>
                </c:pt>
                <c:pt idx="90">
                  <c:v>37.299999999999997</c:v>
                </c:pt>
                <c:pt idx="91">
                  <c:v>38.299999999999997</c:v>
                </c:pt>
                <c:pt idx="92">
                  <c:v>39.299999999999997</c:v>
                </c:pt>
                <c:pt idx="93">
                  <c:v>40.299999999999997</c:v>
                </c:pt>
                <c:pt idx="94">
                  <c:v>41.3</c:v>
                </c:pt>
                <c:pt idx="95">
                  <c:v>42.3</c:v>
                </c:pt>
                <c:pt idx="96">
                  <c:v>43.3</c:v>
                </c:pt>
                <c:pt idx="97">
                  <c:v>44.3</c:v>
                </c:pt>
                <c:pt idx="98">
                  <c:v>45.3</c:v>
                </c:pt>
                <c:pt idx="99">
                  <c:v>46.3</c:v>
                </c:pt>
                <c:pt idx="100">
                  <c:v>47.3</c:v>
                </c:pt>
                <c:pt idx="101">
                  <c:v>48.3</c:v>
                </c:pt>
                <c:pt idx="102">
                  <c:v>49.3</c:v>
                </c:pt>
                <c:pt idx="103">
                  <c:v>50.3</c:v>
                </c:pt>
                <c:pt idx="104">
                  <c:v>51.3</c:v>
                </c:pt>
                <c:pt idx="105">
                  <c:v>52.3</c:v>
                </c:pt>
                <c:pt idx="106">
                  <c:v>53.3</c:v>
                </c:pt>
                <c:pt idx="107">
                  <c:v>54.3</c:v>
                </c:pt>
                <c:pt idx="108">
                  <c:v>55.3</c:v>
                </c:pt>
                <c:pt idx="109">
                  <c:v>56.3</c:v>
                </c:pt>
                <c:pt idx="110">
                  <c:v>57.3</c:v>
                </c:pt>
                <c:pt idx="111">
                  <c:v>58.3</c:v>
                </c:pt>
                <c:pt idx="112">
                  <c:v>59.3</c:v>
                </c:pt>
                <c:pt idx="113">
                  <c:v>60.3</c:v>
                </c:pt>
                <c:pt idx="114">
                  <c:v>61.3</c:v>
                </c:pt>
                <c:pt idx="115">
                  <c:v>62.3</c:v>
                </c:pt>
                <c:pt idx="116">
                  <c:v>63.3</c:v>
                </c:pt>
                <c:pt idx="117">
                  <c:v>64.3</c:v>
                </c:pt>
                <c:pt idx="118">
                  <c:v>65.3</c:v>
                </c:pt>
                <c:pt idx="119">
                  <c:v>66.3</c:v>
                </c:pt>
                <c:pt idx="120">
                  <c:v>67.3</c:v>
                </c:pt>
                <c:pt idx="121">
                  <c:v>68.3</c:v>
                </c:pt>
                <c:pt idx="122">
                  <c:v>69.3</c:v>
                </c:pt>
                <c:pt idx="123">
                  <c:v>70.3</c:v>
                </c:pt>
                <c:pt idx="124">
                  <c:v>71.3</c:v>
                </c:pt>
                <c:pt idx="125">
                  <c:v>72.3</c:v>
                </c:pt>
                <c:pt idx="126">
                  <c:v>73.3</c:v>
                </c:pt>
                <c:pt idx="127">
                  <c:v>74.3</c:v>
                </c:pt>
                <c:pt idx="128">
                  <c:v>75.3</c:v>
                </c:pt>
                <c:pt idx="129">
                  <c:v>76.3</c:v>
                </c:pt>
                <c:pt idx="130">
                  <c:v>77.3</c:v>
                </c:pt>
                <c:pt idx="131">
                  <c:v>78.3</c:v>
                </c:pt>
                <c:pt idx="132">
                  <c:v>79.3</c:v>
                </c:pt>
                <c:pt idx="133">
                  <c:v>80.3</c:v>
                </c:pt>
                <c:pt idx="134">
                  <c:v>81.3</c:v>
                </c:pt>
                <c:pt idx="135">
                  <c:v>82.3</c:v>
                </c:pt>
                <c:pt idx="136">
                  <c:v>83.3</c:v>
                </c:pt>
                <c:pt idx="137">
                  <c:v>84.3</c:v>
                </c:pt>
                <c:pt idx="138">
                  <c:v>85.3</c:v>
                </c:pt>
                <c:pt idx="139">
                  <c:v>86.3</c:v>
                </c:pt>
                <c:pt idx="140">
                  <c:v>87.3</c:v>
                </c:pt>
                <c:pt idx="141">
                  <c:v>88.3</c:v>
                </c:pt>
                <c:pt idx="142">
                  <c:v>89.3</c:v>
                </c:pt>
                <c:pt idx="143">
                  <c:v>90.3</c:v>
                </c:pt>
                <c:pt idx="144">
                  <c:v>91.3</c:v>
                </c:pt>
                <c:pt idx="145">
                  <c:v>92.3</c:v>
                </c:pt>
                <c:pt idx="146">
                  <c:v>93.3</c:v>
                </c:pt>
                <c:pt idx="147">
                  <c:v>94.3</c:v>
                </c:pt>
                <c:pt idx="148">
                  <c:v>95.3</c:v>
                </c:pt>
                <c:pt idx="149">
                  <c:v>96.3</c:v>
                </c:pt>
                <c:pt idx="150">
                  <c:v>97.3</c:v>
                </c:pt>
                <c:pt idx="151">
                  <c:v>98.3</c:v>
                </c:pt>
                <c:pt idx="152">
                  <c:v>99.3</c:v>
                </c:pt>
                <c:pt idx="153">
                  <c:v>100.3</c:v>
                </c:pt>
                <c:pt idx="154">
                  <c:v>101.3</c:v>
                </c:pt>
                <c:pt idx="155">
                  <c:v>102.3</c:v>
                </c:pt>
                <c:pt idx="156">
                  <c:v>103.3</c:v>
                </c:pt>
                <c:pt idx="157">
                  <c:v>104.3</c:v>
                </c:pt>
                <c:pt idx="158">
                  <c:v>105.3</c:v>
                </c:pt>
                <c:pt idx="159">
                  <c:v>106.3</c:v>
                </c:pt>
                <c:pt idx="160">
                  <c:v>107.3</c:v>
                </c:pt>
                <c:pt idx="161">
                  <c:v>108.3</c:v>
                </c:pt>
                <c:pt idx="162">
                  <c:v>109.3</c:v>
                </c:pt>
                <c:pt idx="163">
                  <c:v>110.3</c:v>
                </c:pt>
                <c:pt idx="164">
                  <c:v>111.3</c:v>
                </c:pt>
                <c:pt idx="165">
                  <c:v>112.3</c:v>
                </c:pt>
                <c:pt idx="166">
                  <c:v>113.3</c:v>
                </c:pt>
                <c:pt idx="167">
                  <c:v>114.3</c:v>
                </c:pt>
                <c:pt idx="168">
                  <c:v>115.3</c:v>
                </c:pt>
                <c:pt idx="169">
                  <c:v>116.3</c:v>
                </c:pt>
                <c:pt idx="170">
                  <c:v>117.3</c:v>
                </c:pt>
                <c:pt idx="171">
                  <c:v>118.3</c:v>
                </c:pt>
                <c:pt idx="172">
                  <c:v>119.3</c:v>
                </c:pt>
                <c:pt idx="173">
                  <c:v>120.3</c:v>
                </c:pt>
                <c:pt idx="174">
                  <c:v>121.3</c:v>
                </c:pt>
                <c:pt idx="175">
                  <c:v>122.3</c:v>
                </c:pt>
                <c:pt idx="176">
                  <c:v>123.3</c:v>
                </c:pt>
                <c:pt idx="177">
                  <c:v>124.3</c:v>
                </c:pt>
                <c:pt idx="178">
                  <c:v>125.3</c:v>
                </c:pt>
                <c:pt idx="179">
                  <c:v>126.3</c:v>
                </c:pt>
                <c:pt idx="180">
                  <c:v>127.3</c:v>
                </c:pt>
                <c:pt idx="181">
                  <c:v>128.30000000000001</c:v>
                </c:pt>
                <c:pt idx="182">
                  <c:v>129.30000000000001</c:v>
                </c:pt>
                <c:pt idx="183">
                  <c:v>130.30000000000001</c:v>
                </c:pt>
                <c:pt idx="184">
                  <c:v>131.30000000000001</c:v>
                </c:pt>
                <c:pt idx="185">
                  <c:v>132.30000000000001</c:v>
                </c:pt>
                <c:pt idx="186">
                  <c:v>133.30000000000001</c:v>
                </c:pt>
                <c:pt idx="187">
                  <c:v>134.30000000000001</c:v>
                </c:pt>
                <c:pt idx="188">
                  <c:v>135.30000000000001</c:v>
                </c:pt>
                <c:pt idx="189">
                  <c:v>136.30000000000001</c:v>
                </c:pt>
                <c:pt idx="190">
                  <c:v>137.30000000000001</c:v>
                </c:pt>
                <c:pt idx="191">
                  <c:v>138.30000000000001</c:v>
                </c:pt>
                <c:pt idx="192">
                  <c:v>139.30000000000001</c:v>
                </c:pt>
                <c:pt idx="193">
                  <c:v>140.30000000000001</c:v>
                </c:pt>
                <c:pt idx="194">
                  <c:v>141.30000000000001</c:v>
                </c:pt>
                <c:pt idx="195">
                  <c:v>142.30000000000001</c:v>
                </c:pt>
                <c:pt idx="196">
                  <c:v>143.30000000000001</c:v>
                </c:pt>
                <c:pt idx="197">
                  <c:v>144.30000000000001</c:v>
                </c:pt>
                <c:pt idx="198">
                  <c:v>145.30000000000001</c:v>
                </c:pt>
                <c:pt idx="199">
                  <c:v>146.30000000000001</c:v>
                </c:pt>
                <c:pt idx="200">
                  <c:v>147.30000000000001</c:v>
                </c:pt>
              </c:numCache>
            </c:numRef>
          </c:yVal>
          <c:smooth val="0"/>
          <c:extLst>
            <c:ext xmlns:c16="http://schemas.microsoft.com/office/drawing/2014/chart" uri="{C3380CC4-5D6E-409C-BE32-E72D297353CC}">
              <c16:uniqueId val="{00000003-0573-42D5-AC30-136473A35ECC}"/>
            </c:ext>
          </c:extLst>
        </c:ser>
        <c:ser>
          <c:idx val="4"/>
          <c:order val="4"/>
          <c:tx>
            <c:strRef>
              <c:f>'tmp86'!$F$1</c:f>
              <c:strCache>
                <c:ptCount val="1"/>
                <c:pt idx="0">
                  <c:v>Max Upper</c:v>
                </c:pt>
              </c:strCache>
            </c:strRef>
          </c:tx>
          <c:spPr>
            <a:ln w="19050" cap="rnd">
              <a:solidFill>
                <a:schemeClr val="accent5"/>
              </a:solidFill>
              <a:round/>
            </a:ln>
            <a:effectLst/>
          </c:spPr>
          <c:marker>
            <c:symbol val="none"/>
          </c:marker>
          <c:xVal>
            <c:numRef>
              <c:f>'tmp86'!$A$2:$A$202</c:f>
              <c:numCache>
                <c:formatCode>General</c:formatCode>
                <c:ptCount val="201"/>
                <c:pt idx="0">
                  <c:v>-50</c:v>
                </c:pt>
                <c:pt idx="1">
                  <c:v>-49</c:v>
                </c:pt>
                <c:pt idx="2">
                  <c:v>-48</c:v>
                </c:pt>
                <c:pt idx="3">
                  <c:v>-47</c:v>
                </c:pt>
                <c:pt idx="4">
                  <c:v>-46</c:v>
                </c:pt>
                <c:pt idx="5">
                  <c:v>-45</c:v>
                </c:pt>
                <c:pt idx="6">
                  <c:v>-44</c:v>
                </c:pt>
                <c:pt idx="7">
                  <c:v>-43</c:v>
                </c:pt>
                <c:pt idx="8">
                  <c:v>-42</c:v>
                </c:pt>
                <c:pt idx="9">
                  <c:v>-41</c:v>
                </c:pt>
                <c:pt idx="10">
                  <c:v>-40</c:v>
                </c:pt>
                <c:pt idx="11">
                  <c:v>-39</c:v>
                </c:pt>
                <c:pt idx="12">
                  <c:v>-38</c:v>
                </c:pt>
                <c:pt idx="13">
                  <c:v>-37</c:v>
                </c:pt>
                <c:pt idx="14">
                  <c:v>-36</c:v>
                </c:pt>
                <c:pt idx="15">
                  <c:v>-35</c:v>
                </c:pt>
                <c:pt idx="16">
                  <c:v>-34</c:v>
                </c:pt>
                <c:pt idx="17">
                  <c:v>-33</c:v>
                </c:pt>
                <c:pt idx="18">
                  <c:v>-32</c:v>
                </c:pt>
                <c:pt idx="19">
                  <c:v>-31</c:v>
                </c:pt>
                <c:pt idx="20">
                  <c:v>-30</c:v>
                </c:pt>
                <c:pt idx="21">
                  <c:v>-29</c:v>
                </c:pt>
                <c:pt idx="22">
                  <c:v>-28</c:v>
                </c:pt>
                <c:pt idx="23">
                  <c:v>-27</c:v>
                </c:pt>
                <c:pt idx="24">
                  <c:v>-26</c:v>
                </c:pt>
                <c:pt idx="25">
                  <c:v>-25</c:v>
                </c:pt>
                <c:pt idx="26">
                  <c:v>-24</c:v>
                </c:pt>
                <c:pt idx="27">
                  <c:v>-23</c:v>
                </c:pt>
                <c:pt idx="28">
                  <c:v>-22</c:v>
                </c:pt>
                <c:pt idx="29">
                  <c:v>-21</c:v>
                </c:pt>
                <c:pt idx="30">
                  <c:v>-20</c:v>
                </c:pt>
                <c:pt idx="31">
                  <c:v>-19</c:v>
                </c:pt>
                <c:pt idx="32">
                  <c:v>-18</c:v>
                </c:pt>
                <c:pt idx="33">
                  <c:v>-17</c:v>
                </c:pt>
                <c:pt idx="34">
                  <c:v>-16</c:v>
                </c:pt>
                <c:pt idx="35">
                  <c:v>-15</c:v>
                </c:pt>
                <c:pt idx="36">
                  <c:v>-14</c:v>
                </c:pt>
                <c:pt idx="37">
                  <c:v>-13</c:v>
                </c:pt>
                <c:pt idx="38">
                  <c:v>-12</c:v>
                </c:pt>
                <c:pt idx="39">
                  <c:v>-11</c:v>
                </c:pt>
                <c:pt idx="40">
                  <c:v>-10</c:v>
                </c:pt>
                <c:pt idx="41">
                  <c:v>-9</c:v>
                </c:pt>
                <c:pt idx="42">
                  <c:v>-8</c:v>
                </c:pt>
                <c:pt idx="43">
                  <c:v>-7</c:v>
                </c:pt>
                <c:pt idx="44">
                  <c:v>-6</c:v>
                </c:pt>
                <c:pt idx="45">
                  <c:v>-5</c:v>
                </c:pt>
                <c:pt idx="46">
                  <c:v>-4</c:v>
                </c:pt>
                <c:pt idx="47">
                  <c:v>-3</c:v>
                </c:pt>
                <c:pt idx="48">
                  <c:v>-2</c:v>
                </c:pt>
                <c:pt idx="49">
                  <c:v>-1</c:v>
                </c:pt>
                <c:pt idx="50">
                  <c:v>0</c:v>
                </c:pt>
                <c:pt idx="51">
                  <c:v>1</c:v>
                </c:pt>
                <c:pt idx="52">
                  <c:v>2</c:v>
                </c:pt>
                <c:pt idx="53">
                  <c:v>3</c:v>
                </c:pt>
                <c:pt idx="54">
                  <c:v>4</c:v>
                </c:pt>
                <c:pt idx="55">
                  <c:v>5</c:v>
                </c:pt>
                <c:pt idx="56">
                  <c:v>6</c:v>
                </c:pt>
                <c:pt idx="57">
                  <c:v>7</c:v>
                </c:pt>
                <c:pt idx="58">
                  <c:v>8</c:v>
                </c:pt>
                <c:pt idx="59">
                  <c:v>9</c:v>
                </c:pt>
                <c:pt idx="60">
                  <c:v>10</c:v>
                </c:pt>
                <c:pt idx="61">
                  <c:v>11</c:v>
                </c:pt>
                <c:pt idx="62">
                  <c:v>12</c:v>
                </c:pt>
                <c:pt idx="63">
                  <c:v>13</c:v>
                </c:pt>
                <c:pt idx="64">
                  <c:v>14</c:v>
                </c:pt>
                <c:pt idx="65">
                  <c:v>15</c:v>
                </c:pt>
                <c:pt idx="66">
                  <c:v>16</c:v>
                </c:pt>
                <c:pt idx="67">
                  <c:v>17</c:v>
                </c:pt>
                <c:pt idx="68">
                  <c:v>18</c:v>
                </c:pt>
                <c:pt idx="69">
                  <c:v>19</c:v>
                </c:pt>
                <c:pt idx="70">
                  <c:v>20</c:v>
                </c:pt>
                <c:pt idx="71">
                  <c:v>21</c:v>
                </c:pt>
                <c:pt idx="72">
                  <c:v>22</c:v>
                </c:pt>
                <c:pt idx="73">
                  <c:v>23</c:v>
                </c:pt>
                <c:pt idx="74">
                  <c:v>24</c:v>
                </c:pt>
                <c:pt idx="75">
                  <c:v>25</c:v>
                </c:pt>
                <c:pt idx="76">
                  <c:v>26</c:v>
                </c:pt>
                <c:pt idx="77">
                  <c:v>27</c:v>
                </c:pt>
                <c:pt idx="78">
                  <c:v>28</c:v>
                </c:pt>
                <c:pt idx="79">
                  <c:v>29</c:v>
                </c:pt>
                <c:pt idx="80">
                  <c:v>30</c:v>
                </c:pt>
                <c:pt idx="81">
                  <c:v>31</c:v>
                </c:pt>
                <c:pt idx="82">
                  <c:v>32</c:v>
                </c:pt>
                <c:pt idx="83">
                  <c:v>33</c:v>
                </c:pt>
                <c:pt idx="84">
                  <c:v>34</c:v>
                </c:pt>
                <c:pt idx="85">
                  <c:v>35</c:v>
                </c:pt>
                <c:pt idx="86">
                  <c:v>36</c:v>
                </c:pt>
                <c:pt idx="87">
                  <c:v>37</c:v>
                </c:pt>
                <c:pt idx="88">
                  <c:v>38</c:v>
                </c:pt>
                <c:pt idx="89">
                  <c:v>39</c:v>
                </c:pt>
                <c:pt idx="90">
                  <c:v>40</c:v>
                </c:pt>
                <c:pt idx="91">
                  <c:v>41</c:v>
                </c:pt>
                <c:pt idx="92">
                  <c:v>42</c:v>
                </c:pt>
                <c:pt idx="93">
                  <c:v>43</c:v>
                </c:pt>
                <c:pt idx="94">
                  <c:v>44</c:v>
                </c:pt>
                <c:pt idx="95">
                  <c:v>45</c:v>
                </c:pt>
                <c:pt idx="96">
                  <c:v>46</c:v>
                </c:pt>
                <c:pt idx="97">
                  <c:v>47</c:v>
                </c:pt>
                <c:pt idx="98">
                  <c:v>48</c:v>
                </c:pt>
                <c:pt idx="99">
                  <c:v>49</c:v>
                </c:pt>
                <c:pt idx="100">
                  <c:v>50</c:v>
                </c:pt>
                <c:pt idx="101">
                  <c:v>51</c:v>
                </c:pt>
                <c:pt idx="102">
                  <c:v>52</c:v>
                </c:pt>
                <c:pt idx="103">
                  <c:v>53</c:v>
                </c:pt>
                <c:pt idx="104">
                  <c:v>54</c:v>
                </c:pt>
                <c:pt idx="105">
                  <c:v>55</c:v>
                </c:pt>
                <c:pt idx="106">
                  <c:v>56</c:v>
                </c:pt>
                <c:pt idx="107">
                  <c:v>57</c:v>
                </c:pt>
                <c:pt idx="108">
                  <c:v>58</c:v>
                </c:pt>
                <c:pt idx="109">
                  <c:v>59</c:v>
                </c:pt>
                <c:pt idx="110">
                  <c:v>60</c:v>
                </c:pt>
                <c:pt idx="111">
                  <c:v>61</c:v>
                </c:pt>
                <c:pt idx="112">
                  <c:v>62</c:v>
                </c:pt>
                <c:pt idx="113">
                  <c:v>63</c:v>
                </c:pt>
                <c:pt idx="114">
                  <c:v>64</c:v>
                </c:pt>
                <c:pt idx="115">
                  <c:v>65</c:v>
                </c:pt>
                <c:pt idx="116">
                  <c:v>66</c:v>
                </c:pt>
                <c:pt idx="117">
                  <c:v>67</c:v>
                </c:pt>
                <c:pt idx="118">
                  <c:v>68</c:v>
                </c:pt>
                <c:pt idx="119">
                  <c:v>69</c:v>
                </c:pt>
                <c:pt idx="120">
                  <c:v>70</c:v>
                </c:pt>
                <c:pt idx="121">
                  <c:v>71</c:v>
                </c:pt>
                <c:pt idx="122">
                  <c:v>72</c:v>
                </c:pt>
                <c:pt idx="123">
                  <c:v>73</c:v>
                </c:pt>
                <c:pt idx="124">
                  <c:v>74</c:v>
                </c:pt>
                <c:pt idx="125">
                  <c:v>75</c:v>
                </c:pt>
                <c:pt idx="126">
                  <c:v>76</c:v>
                </c:pt>
                <c:pt idx="127">
                  <c:v>77</c:v>
                </c:pt>
                <c:pt idx="128">
                  <c:v>78</c:v>
                </c:pt>
                <c:pt idx="129">
                  <c:v>79</c:v>
                </c:pt>
                <c:pt idx="130">
                  <c:v>80</c:v>
                </c:pt>
                <c:pt idx="131">
                  <c:v>81</c:v>
                </c:pt>
                <c:pt idx="132">
                  <c:v>82</c:v>
                </c:pt>
                <c:pt idx="133">
                  <c:v>83</c:v>
                </c:pt>
                <c:pt idx="134">
                  <c:v>84</c:v>
                </c:pt>
                <c:pt idx="135">
                  <c:v>85</c:v>
                </c:pt>
                <c:pt idx="136">
                  <c:v>86</c:v>
                </c:pt>
                <c:pt idx="137">
                  <c:v>87</c:v>
                </c:pt>
                <c:pt idx="138">
                  <c:v>88</c:v>
                </c:pt>
                <c:pt idx="139">
                  <c:v>89</c:v>
                </c:pt>
                <c:pt idx="140">
                  <c:v>90</c:v>
                </c:pt>
                <c:pt idx="141">
                  <c:v>91</c:v>
                </c:pt>
                <c:pt idx="142">
                  <c:v>92</c:v>
                </c:pt>
                <c:pt idx="143">
                  <c:v>93</c:v>
                </c:pt>
                <c:pt idx="144">
                  <c:v>94</c:v>
                </c:pt>
                <c:pt idx="145">
                  <c:v>95</c:v>
                </c:pt>
                <c:pt idx="146">
                  <c:v>96</c:v>
                </c:pt>
                <c:pt idx="147">
                  <c:v>97</c:v>
                </c:pt>
                <c:pt idx="148">
                  <c:v>98</c:v>
                </c:pt>
                <c:pt idx="149">
                  <c:v>99</c:v>
                </c:pt>
                <c:pt idx="150">
                  <c:v>100</c:v>
                </c:pt>
                <c:pt idx="151">
                  <c:v>101</c:v>
                </c:pt>
                <c:pt idx="152">
                  <c:v>102</c:v>
                </c:pt>
                <c:pt idx="153">
                  <c:v>103</c:v>
                </c:pt>
                <c:pt idx="154">
                  <c:v>104</c:v>
                </c:pt>
                <c:pt idx="155">
                  <c:v>105</c:v>
                </c:pt>
                <c:pt idx="156">
                  <c:v>106</c:v>
                </c:pt>
                <c:pt idx="157">
                  <c:v>107</c:v>
                </c:pt>
                <c:pt idx="158">
                  <c:v>108</c:v>
                </c:pt>
                <c:pt idx="159">
                  <c:v>109</c:v>
                </c:pt>
                <c:pt idx="160">
                  <c:v>110</c:v>
                </c:pt>
                <c:pt idx="161">
                  <c:v>111</c:v>
                </c:pt>
                <c:pt idx="162">
                  <c:v>112</c:v>
                </c:pt>
                <c:pt idx="163">
                  <c:v>113</c:v>
                </c:pt>
                <c:pt idx="164">
                  <c:v>114</c:v>
                </c:pt>
                <c:pt idx="165">
                  <c:v>115</c:v>
                </c:pt>
                <c:pt idx="166">
                  <c:v>116</c:v>
                </c:pt>
                <c:pt idx="167">
                  <c:v>117</c:v>
                </c:pt>
                <c:pt idx="168">
                  <c:v>118</c:v>
                </c:pt>
                <c:pt idx="169">
                  <c:v>119</c:v>
                </c:pt>
                <c:pt idx="170">
                  <c:v>120</c:v>
                </c:pt>
                <c:pt idx="171">
                  <c:v>121</c:v>
                </c:pt>
                <c:pt idx="172">
                  <c:v>122</c:v>
                </c:pt>
                <c:pt idx="173">
                  <c:v>123</c:v>
                </c:pt>
                <c:pt idx="174">
                  <c:v>124</c:v>
                </c:pt>
                <c:pt idx="175">
                  <c:v>125</c:v>
                </c:pt>
                <c:pt idx="176">
                  <c:v>126</c:v>
                </c:pt>
                <c:pt idx="177">
                  <c:v>127</c:v>
                </c:pt>
                <c:pt idx="178">
                  <c:v>128</c:v>
                </c:pt>
                <c:pt idx="179">
                  <c:v>129</c:v>
                </c:pt>
                <c:pt idx="180">
                  <c:v>130</c:v>
                </c:pt>
                <c:pt idx="181">
                  <c:v>131</c:v>
                </c:pt>
                <c:pt idx="182">
                  <c:v>132</c:v>
                </c:pt>
                <c:pt idx="183">
                  <c:v>133</c:v>
                </c:pt>
                <c:pt idx="184">
                  <c:v>134</c:v>
                </c:pt>
                <c:pt idx="185">
                  <c:v>135</c:v>
                </c:pt>
                <c:pt idx="186">
                  <c:v>136</c:v>
                </c:pt>
                <c:pt idx="187">
                  <c:v>137</c:v>
                </c:pt>
                <c:pt idx="188">
                  <c:v>138</c:v>
                </c:pt>
                <c:pt idx="189">
                  <c:v>139</c:v>
                </c:pt>
                <c:pt idx="190">
                  <c:v>140</c:v>
                </c:pt>
                <c:pt idx="191">
                  <c:v>141</c:v>
                </c:pt>
                <c:pt idx="192">
                  <c:v>142</c:v>
                </c:pt>
                <c:pt idx="193">
                  <c:v>143</c:v>
                </c:pt>
                <c:pt idx="194">
                  <c:v>144</c:v>
                </c:pt>
                <c:pt idx="195">
                  <c:v>145</c:v>
                </c:pt>
                <c:pt idx="196">
                  <c:v>146</c:v>
                </c:pt>
                <c:pt idx="197">
                  <c:v>147</c:v>
                </c:pt>
                <c:pt idx="198">
                  <c:v>148</c:v>
                </c:pt>
                <c:pt idx="199">
                  <c:v>149</c:v>
                </c:pt>
                <c:pt idx="200">
                  <c:v>150</c:v>
                </c:pt>
              </c:numCache>
            </c:numRef>
          </c:xVal>
          <c:yVal>
            <c:numRef>
              <c:f>'tmp86'!$F$2:$F$202</c:f>
              <c:numCache>
                <c:formatCode>General</c:formatCode>
                <c:ptCount val="201"/>
                <c:pt idx="0">
                  <c:v>-47.3</c:v>
                </c:pt>
                <c:pt idx="1">
                  <c:v>-46.3</c:v>
                </c:pt>
                <c:pt idx="2">
                  <c:v>-45.3</c:v>
                </c:pt>
                <c:pt idx="3">
                  <c:v>-44.3</c:v>
                </c:pt>
                <c:pt idx="4">
                  <c:v>-43.3</c:v>
                </c:pt>
                <c:pt idx="5">
                  <c:v>-42.3</c:v>
                </c:pt>
                <c:pt idx="6">
                  <c:v>-41.3</c:v>
                </c:pt>
                <c:pt idx="7">
                  <c:v>-40.299999999999997</c:v>
                </c:pt>
                <c:pt idx="8">
                  <c:v>-39.299999999999997</c:v>
                </c:pt>
                <c:pt idx="9">
                  <c:v>-38.299999999999997</c:v>
                </c:pt>
                <c:pt idx="10">
                  <c:v>-37.299999999999997</c:v>
                </c:pt>
                <c:pt idx="11">
                  <c:v>-36.299999999999997</c:v>
                </c:pt>
                <c:pt idx="12">
                  <c:v>-35.299999999999997</c:v>
                </c:pt>
                <c:pt idx="13">
                  <c:v>-34.299999999999997</c:v>
                </c:pt>
                <c:pt idx="14">
                  <c:v>-33.299999999999997</c:v>
                </c:pt>
                <c:pt idx="15">
                  <c:v>-32.299999999999997</c:v>
                </c:pt>
                <c:pt idx="16">
                  <c:v>-31.3</c:v>
                </c:pt>
                <c:pt idx="17">
                  <c:v>-30.3</c:v>
                </c:pt>
                <c:pt idx="18">
                  <c:v>-29.3</c:v>
                </c:pt>
                <c:pt idx="19">
                  <c:v>-28.3</c:v>
                </c:pt>
                <c:pt idx="20">
                  <c:v>-27.3</c:v>
                </c:pt>
                <c:pt idx="21">
                  <c:v>-26.3</c:v>
                </c:pt>
                <c:pt idx="22">
                  <c:v>-25.3</c:v>
                </c:pt>
                <c:pt idx="23">
                  <c:v>-24.3</c:v>
                </c:pt>
                <c:pt idx="24">
                  <c:v>-23.3</c:v>
                </c:pt>
                <c:pt idx="25">
                  <c:v>-22.3</c:v>
                </c:pt>
                <c:pt idx="26">
                  <c:v>-21.3</c:v>
                </c:pt>
                <c:pt idx="27">
                  <c:v>-20.3</c:v>
                </c:pt>
                <c:pt idx="28">
                  <c:v>-19.3</c:v>
                </c:pt>
                <c:pt idx="29">
                  <c:v>-18.3</c:v>
                </c:pt>
                <c:pt idx="30">
                  <c:v>-17.3</c:v>
                </c:pt>
                <c:pt idx="31">
                  <c:v>-16.3</c:v>
                </c:pt>
                <c:pt idx="32">
                  <c:v>-15.3</c:v>
                </c:pt>
                <c:pt idx="33">
                  <c:v>-14.3</c:v>
                </c:pt>
                <c:pt idx="34">
                  <c:v>-13.3</c:v>
                </c:pt>
                <c:pt idx="35">
                  <c:v>-12.3</c:v>
                </c:pt>
                <c:pt idx="36">
                  <c:v>-11.3</c:v>
                </c:pt>
                <c:pt idx="37">
                  <c:v>-10.3</c:v>
                </c:pt>
                <c:pt idx="38">
                  <c:v>-9.3000000000000007</c:v>
                </c:pt>
                <c:pt idx="39">
                  <c:v>-8.3000000000000007</c:v>
                </c:pt>
                <c:pt idx="40">
                  <c:v>-7.3</c:v>
                </c:pt>
                <c:pt idx="41">
                  <c:v>-6.3</c:v>
                </c:pt>
                <c:pt idx="42">
                  <c:v>-5.3</c:v>
                </c:pt>
                <c:pt idx="43">
                  <c:v>-4.3</c:v>
                </c:pt>
                <c:pt idx="44">
                  <c:v>-3.3</c:v>
                </c:pt>
                <c:pt idx="45">
                  <c:v>-2.2999999999999998</c:v>
                </c:pt>
                <c:pt idx="46">
                  <c:v>-1.2999999999999998</c:v>
                </c:pt>
                <c:pt idx="47">
                  <c:v>-0.29999999999999982</c:v>
                </c:pt>
                <c:pt idx="48">
                  <c:v>0.70000000000000018</c:v>
                </c:pt>
                <c:pt idx="49">
                  <c:v>1.7000000000000002</c:v>
                </c:pt>
                <c:pt idx="50">
                  <c:v>2.7</c:v>
                </c:pt>
                <c:pt idx="51">
                  <c:v>3.7</c:v>
                </c:pt>
                <c:pt idx="52">
                  <c:v>4.7</c:v>
                </c:pt>
                <c:pt idx="53">
                  <c:v>5.7</c:v>
                </c:pt>
                <c:pt idx="54">
                  <c:v>6.7</c:v>
                </c:pt>
                <c:pt idx="55">
                  <c:v>7.7</c:v>
                </c:pt>
                <c:pt idx="56">
                  <c:v>8.6999999999999993</c:v>
                </c:pt>
                <c:pt idx="57">
                  <c:v>9.6999999999999993</c:v>
                </c:pt>
                <c:pt idx="58">
                  <c:v>10.7</c:v>
                </c:pt>
                <c:pt idx="59">
                  <c:v>11.7</c:v>
                </c:pt>
                <c:pt idx="60">
                  <c:v>12.7</c:v>
                </c:pt>
                <c:pt idx="61">
                  <c:v>13.7</c:v>
                </c:pt>
                <c:pt idx="62">
                  <c:v>14.7</c:v>
                </c:pt>
                <c:pt idx="63">
                  <c:v>15.7</c:v>
                </c:pt>
                <c:pt idx="64">
                  <c:v>16.7</c:v>
                </c:pt>
                <c:pt idx="65">
                  <c:v>17.7</c:v>
                </c:pt>
                <c:pt idx="66">
                  <c:v>18.7</c:v>
                </c:pt>
                <c:pt idx="67">
                  <c:v>19.7</c:v>
                </c:pt>
                <c:pt idx="68">
                  <c:v>20.7</c:v>
                </c:pt>
                <c:pt idx="69">
                  <c:v>21.7</c:v>
                </c:pt>
                <c:pt idx="70">
                  <c:v>22.7</c:v>
                </c:pt>
                <c:pt idx="71">
                  <c:v>23.7</c:v>
                </c:pt>
                <c:pt idx="72">
                  <c:v>24.7</c:v>
                </c:pt>
                <c:pt idx="73">
                  <c:v>25.7</c:v>
                </c:pt>
                <c:pt idx="74">
                  <c:v>26.7</c:v>
                </c:pt>
                <c:pt idx="75">
                  <c:v>27.7</c:v>
                </c:pt>
                <c:pt idx="76">
                  <c:v>28.7</c:v>
                </c:pt>
                <c:pt idx="77">
                  <c:v>29.7</c:v>
                </c:pt>
                <c:pt idx="78">
                  <c:v>30.7</c:v>
                </c:pt>
                <c:pt idx="79">
                  <c:v>31.7</c:v>
                </c:pt>
                <c:pt idx="80">
                  <c:v>32.700000000000003</c:v>
                </c:pt>
                <c:pt idx="81">
                  <c:v>33.700000000000003</c:v>
                </c:pt>
                <c:pt idx="82">
                  <c:v>34.700000000000003</c:v>
                </c:pt>
                <c:pt idx="83">
                  <c:v>35.700000000000003</c:v>
                </c:pt>
                <c:pt idx="84">
                  <c:v>36.700000000000003</c:v>
                </c:pt>
                <c:pt idx="85">
                  <c:v>37.700000000000003</c:v>
                </c:pt>
                <c:pt idx="86">
                  <c:v>38.700000000000003</c:v>
                </c:pt>
                <c:pt idx="87">
                  <c:v>39.700000000000003</c:v>
                </c:pt>
                <c:pt idx="88">
                  <c:v>40.700000000000003</c:v>
                </c:pt>
                <c:pt idx="89">
                  <c:v>41.7</c:v>
                </c:pt>
                <c:pt idx="90">
                  <c:v>42.7</c:v>
                </c:pt>
                <c:pt idx="91">
                  <c:v>43.7</c:v>
                </c:pt>
                <c:pt idx="92">
                  <c:v>44.7</c:v>
                </c:pt>
                <c:pt idx="93">
                  <c:v>45.7</c:v>
                </c:pt>
                <c:pt idx="94">
                  <c:v>46.7</c:v>
                </c:pt>
                <c:pt idx="95">
                  <c:v>47.7</c:v>
                </c:pt>
                <c:pt idx="96">
                  <c:v>48.7</c:v>
                </c:pt>
                <c:pt idx="97">
                  <c:v>49.7</c:v>
                </c:pt>
                <c:pt idx="98">
                  <c:v>50.7</c:v>
                </c:pt>
                <c:pt idx="99">
                  <c:v>51.7</c:v>
                </c:pt>
                <c:pt idx="100">
                  <c:v>52.7</c:v>
                </c:pt>
                <c:pt idx="101">
                  <c:v>53.7</c:v>
                </c:pt>
                <c:pt idx="102">
                  <c:v>54.7</c:v>
                </c:pt>
                <c:pt idx="103">
                  <c:v>55.7</c:v>
                </c:pt>
                <c:pt idx="104">
                  <c:v>56.7</c:v>
                </c:pt>
                <c:pt idx="105">
                  <c:v>57.7</c:v>
                </c:pt>
                <c:pt idx="106">
                  <c:v>58.7</c:v>
                </c:pt>
                <c:pt idx="107">
                  <c:v>59.7</c:v>
                </c:pt>
                <c:pt idx="108">
                  <c:v>60.7</c:v>
                </c:pt>
                <c:pt idx="109">
                  <c:v>61.7</c:v>
                </c:pt>
                <c:pt idx="110">
                  <c:v>62.7</c:v>
                </c:pt>
                <c:pt idx="111">
                  <c:v>63.7</c:v>
                </c:pt>
                <c:pt idx="112">
                  <c:v>64.7</c:v>
                </c:pt>
                <c:pt idx="113">
                  <c:v>65.7</c:v>
                </c:pt>
                <c:pt idx="114">
                  <c:v>66.7</c:v>
                </c:pt>
                <c:pt idx="115">
                  <c:v>67.7</c:v>
                </c:pt>
                <c:pt idx="116">
                  <c:v>68.7</c:v>
                </c:pt>
                <c:pt idx="117">
                  <c:v>69.7</c:v>
                </c:pt>
                <c:pt idx="118">
                  <c:v>70.7</c:v>
                </c:pt>
                <c:pt idx="119">
                  <c:v>71.7</c:v>
                </c:pt>
                <c:pt idx="120">
                  <c:v>72.7</c:v>
                </c:pt>
                <c:pt idx="121">
                  <c:v>73.7</c:v>
                </c:pt>
                <c:pt idx="122">
                  <c:v>74.7</c:v>
                </c:pt>
                <c:pt idx="123">
                  <c:v>75.7</c:v>
                </c:pt>
                <c:pt idx="124">
                  <c:v>76.7</c:v>
                </c:pt>
                <c:pt idx="125">
                  <c:v>77.7</c:v>
                </c:pt>
                <c:pt idx="126">
                  <c:v>78.7</c:v>
                </c:pt>
                <c:pt idx="127">
                  <c:v>79.7</c:v>
                </c:pt>
                <c:pt idx="128">
                  <c:v>80.7</c:v>
                </c:pt>
                <c:pt idx="129">
                  <c:v>81.7</c:v>
                </c:pt>
                <c:pt idx="130">
                  <c:v>82.7</c:v>
                </c:pt>
                <c:pt idx="131">
                  <c:v>83.7</c:v>
                </c:pt>
                <c:pt idx="132">
                  <c:v>84.7</c:v>
                </c:pt>
                <c:pt idx="133">
                  <c:v>85.7</c:v>
                </c:pt>
                <c:pt idx="134">
                  <c:v>86.7</c:v>
                </c:pt>
                <c:pt idx="135">
                  <c:v>87.7</c:v>
                </c:pt>
                <c:pt idx="136">
                  <c:v>88.7</c:v>
                </c:pt>
                <c:pt idx="137">
                  <c:v>89.7</c:v>
                </c:pt>
                <c:pt idx="138">
                  <c:v>90.7</c:v>
                </c:pt>
                <c:pt idx="139">
                  <c:v>91.7</c:v>
                </c:pt>
                <c:pt idx="140">
                  <c:v>92.7</c:v>
                </c:pt>
                <c:pt idx="141">
                  <c:v>93.7</c:v>
                </c:pt>
                <c:pt idx="142">
                  <c:v>94.7</c:v>
                </c:pt>
                <c:pt idx="143">
                  <c:v>95.7</c:v>
                </c:pt>
                <c:pt idx="144">
                  <c:v>96.7</c:v>
                </c:pt>
                <c:pt idx="145">
                  <c:v>97.7</c:v>
                </c:pt>
                <c:pt idx="146">
                  <c:v>98.7</c:v>
                </c:pt>
                <c:pt idx="147">
                  <c:v>99.7</c:v>
                </c:pt>
                <c:pt idx="148">
                  <c:v>100.7</c:v>
                </c:pt>
                <c:pt idx="149">
                  <c:v>101.7</c:v>
                </c:pt>
                <c:pt idx="150">
                  <c:v>102.7</c:v>
                </c:pt>
                <c:pt idx="151">
                  <c:v>103.7</c:v>
                </c:pt>
                <c:pt idx="152">
                  <c:v>104.7</c:v>
                </c:pt>
                <c:pt idx="153">
                  <c:v>105.7</c:v>
                </c:pt>
                <c:pt idx="154">
                  <c:v>106.7</c:v>
                </c:pt>
                <c:pt idx="155">
                  <c:v>107.7</c:v>
                </c:pt>
                <c:pt idx="156">
                  <c:v>108.7</c:v>
                </c:pt>
                <c:pt idx="157">
                  <c:v>109.7</c:v>
                </c:pt>
                <c:pt idx="158">
                  <c:v>110.7</c:v>
                </c:pt>
                <c:pt idx="159">
                  <c:v>111.7</c:v>
                </c:pt>
                <c:pt idx="160">
                  <c:v>112.7</c:v>
                </c:pt>
                <c:pt idx="161">
                  <c:v>113.7</c:v>
                </c:pt>
                <c:pt idx="162">
                  <c:v>114.7</c:v>
                </c:pt>
                <c:pt idx="163">
                  <c:v>115.7</c:v>
                </c:pt>
                <c:pt idx="164">
                  <c:v>116.7</c:v>
                </c:pt>
                <c:pt idx="165">
                  <c:v>117.7</c:v>
                </c:pt>
                <c:pt idx="166">
                  <c:v>118.7</c:v>
                </c:pt>
                <c:pt idx="167">
                  <c:v>119.7</c:v>
                </c:pt>
                <c:pt idx="168">
                  <c:v>120.7</c:v>
                </c:pt>
                <c:pt idx="169">
                  <c:v>121.7</c:v>
                </c:pt>
                <c:pt idx="170">
                  <c:v>122.7</c:v>
                </c:pt>
                <c:pt idx="171">
                  <c:v>123.7</c:v>
                </c:pt>
                <c:pt idx="172">
                  <c:v>124.7</c:v>
                </c:pt>
                <c:pt idx="173">
                  <c:v>125.7</c:v>
                </c:pt>
                <c:pt idx="174">
                  <c:v>126.7</c:v>
                </c:pt>
                <c:pt idx="175">
                  <c:v>127.7</c:v>
                </c:pt>
                <c:pt idx="176">
                  <c:v>128.69999999999999</c:v>
                </c:pt>
                <c:pt idx="177">
                  <c:v>129.69999999999999</c:v>
                </c:pt>
                <c:pt idx="178">
                  <c:v>130.69999999999999</c:v>
                </c:pt>
                <c:pt idx="179">
                  <c:v>131.69999999999999</c:v>
                </c:pt>
                <c:pt idx="180">
                  <c:v>132.69999999999999</c:v>
                </c:pt>
                <c:pt idx="181">
                  <c:v>133.69999999999999</c:v>
                </c:pt>
                <c:pt idx="182">
                  <c:v>134.69999999999999</c:v>
                </c:pt>
                <c:pt idx="183">
                  <c:v>135.69999999999999</c:v>
                </c:pt>
                <c:pt idx="184">
                  <c:v>136.69999999999999</c:v>
                </c:pt>
                <c:pt idx="185">
                  <c:v>137.69999999999999</c:v>
                </c:pt>
                <c:pt idx="186">
                  <c:v>138.69999999999999</c:v>
                </c:pt>
                <c:pt idx="187">
                  <c:v>139.69999999999999</c:v>
                </c:pt>
                <c:pt idx="188">
                  <c:v>140.69999999999999</c:v>
                </c:pt>
                <c:pt idx="189">
                  <c:v>141.69999999999999</c:v>
                </c:pt>
                <c:pt idx="190">
                  <c:v>142.69999999999999</c:v>
                </c:pt>
                <c:pt idx="191">
                  <c:v>143.69999999999999</c:v>
                </c:pt>
                <c:pt idx="192">
                  <c:v>144.69999999999999</c:v>
                </c:pt>
                <c:pt idx="193">
                  <c:v>145.69999999999999</c:v>
                </c:pt>
                <c:pt idx="194">
                  <c:v>146.69999999999999</c:v>
                </c:pt>
                <c:pt idx="195">
                  <c:v>147.69999999999999</c:v>
                </c:pt>
                <c:pt idx="196">
                  <c:v>148.69999999999999</c:v>
                </c:pt>
                <c:pt idx="197">
                  <c:v>149.69999999999999</c:v>
                </c:pt>
                <c:pt idx="198">
                  <c:v>150.69999999999999</c:v>
                </c:pt>
                <c:pt idx="199">
                  <c:v>151.69999999999999</c:v>
                </c:pt>
                <c:pt idx="200">
                  <c:v>152.69999999999999</c:v>
                </c:pt>
              </c:numCache>
            </c:numRef>
          </c:yVal>
          <c:smooth val="0"/>
          <c:extLst>
            <c:ext xmlns:c16="http://schemas.microsoft.com/office/drawing/2014/chart" uri="{C3380CC4-5D6E-409C-BE32-E72D297353CC}">
              <c16:uniqueId val="{00000004-0573-42D5-AC30-136473A35ECC}"/>
            </c:ext>
          </c:extLst>
        </c:ser>
        <c:dLbls>
          <c:showLegendKey val="0"/>
          <c:showVal val="0"/>
          <c:showCatName val="0"/>
          <c:showSerName val="0"/>
          <c:showPercent val="0"/>
          <c:showBubbleSize val="0"/>
        </c:dLbls>
        <c:axId val="952020560"/>
        <c:axId val="952018640"/>
      </c:scatterChart>
      <c:valAx>
        <c:axId val="952020560"/>
        <c:scaling>
          <c:orientation val="minMax"/>
          <c:max val="150"/>
          <c:min val="-5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GB"/>
                  <a:t>Input</a:t>
                </a:r>
                <a:r>
                  <a:rPr lang="en-GB" baseline="0"/>
                  <a:t> Temperature, C</a:t>
                </a:r>
                <a:endParaRPr lang="en-GB"/>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GB"/>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52018640"/>
        <c:crosses val="autoZero"/>
        <c:crossBetween val="midCat"/>
      </c:valAx>
      <c:valAx>
        <c:axId val="952018640"/>
        <c:scaling>
          <c:orientation val="minMax"/>
          <c:max val="150"/>
          <c:min val="-5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GB"/>
                  <a:t>OUtput Temperature, C</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52020560"/>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v>Simple Conversion</c:v>
          </c:tx>
          <c:spPr>
            <a:ln w="19050" cap="rnd">
              <a:solidFill>
                <a:schemeClr val="accent1"/>
              </a:solidFill>
              <a:round/>
            </a:ln>
            <a:effectLst/>
          </c:spPr>
          <c:marker>
            <c:symbol val="none"/>
          </c:marker>
          <c:xVal>
            <c:numRef>
              <c:f>Sheet3!$A$1:$A$201</c:f>
              <c:numCache>
                <c:formatCode>General</c:formatCode>
                <c:ptCount val="201"/>
                <c:pt idx="0">
                  <c:v>-50</c:v>
                </c:pt>
                <c:pt idx="1">
                  <c:v>-49</c:v>
                </c:pt>
                <c:pt idx="2">
                  <c:v>-48</c:v>
                </c:pt>
                <c:pt idx="3">
                  <c:v>-47</c:v>
                </c:pt>
                <c:pt idx="4">
                  <c:v>-46</c:v>
                </c:pt>
                <c:pt idx="5">
                  <c:v>-45</c:v>
                </c:pt>
                <c:pt idx="6">
                  <c:v>-44</c:v>
                </c:pt>
                <c:pt idx="7">
                  <c:v>-43</c:v>
                </c:pt>
                <c:pt idx="8">
                  <c:v>-42</c:v>
                </c:pt>
                <c:pt idx="9">
                  <c:v>-41</c:v>
                </c:pt>
                <c:pt idx="10">
                  <c:v>-40</c:v>
                </c:pt>
                <c:pt idx="11">
                  <c:v>-39</c:v>
                </c:pt>
                <c:pt idx="12">
                  <c:v>-38</c:v>
                </c:pt>
                <c:pt idx="13">
                  <c:v>-37</c:v>
                </c:pt>
                <c:pt idx="14">
                  <c:v>-36</c:v>
                </c:pt>
                <c:pt idx="15">
                  <c:v>-35</c:v>
                </c:pt>
                <c:pt idx="16">
                  <c:v>-34</c:v>
                </c:pt>
                <c:pt idx="17">
                  <c:v>-33</c:v>
                </c:pt>
                <c:pt idx="18">
                  <c:v>-32</c:v>
                </c:pt>
                <c:pt idx="19">
                  <c:v>-31</c:v>
                </c:pt>
                <c:pt idx="20">
                  <c:v>-30</c:v>
                </c:pt>
                <c:pt idx="21">
                  <c:v>-29</c:v>
                </c:pt>
                <c:pt idx="22">
                  <c:v>-28</c:v>
                </c:pt>
                <c:pt idx="23">
                  <c:v>-27</c:v>
                </c:pt>
                <c:pt idx="24">
                  <c:v>-26</c:v>
                </c:pt>
                <c:pt idx="25">
                  <c:v>-25</c:v>
                </c:pt>
                <c:pt idx="26">
                  <c:v>-24</c:v>
                </c:pt>
                <c:pt idx="27">
                  <c:v>-23</c:v>
                </c:pt>
                <c:pt idx="28">
                  <c:v>-22</c:v>
                </c:pt>
                <c:pt idx="29">
                  <c:v>-21</c:v>
                </c:pt>
                <c:pt idx="30">
                  <c:v>-20</c:v>
                </c:pt>
                <c:pt idx="31">
                  <c:v>-19</c:v>
                </c:pt>
                <c:pt idx="32">
                  <c:v>-18</c:v>
                </c:pt>
                <c:pt idx="33">
                  <c:v>-17</c:v>
                </c:pt>
                <c:pt idx="34">
                  <c:v>-16</c:v>
                </c:pt>
                <c:pt idx="35">
                  <c:v>-15</c:v>
                </c:pt>
                <c:pt idx="36">
                  <c:v>-14</c:v>
                </c:pt>
                <c:pt idx="37">
                  <c:v>-13</c:v>
                </c:pt>
                <c:pt idx="38">
                  <c:v>-12</c:v>
                </c:pt>
                <c:pt idx="39">
                  <c:v>-11</c:v>
                </c:pt>
                <c:pt idx="40">
                  <c:v>-10</c:v>
                </c:pt>
                <c:pt idx="41">
                  <c:v>-9</c:v>
                </c:pt>
                <c:pt idx="42">
                  <c:v>-8</c:v>
                </c:pt>
                <c:pt idx="43">
                  <c:v>-7</c:v>
                </c:pt>
                <c:pt idx="44">
                  <c:v>-6</c:v>
                </c:pt>
                <c:pt idx="45">
                  <c:v>-5</c:v>
                </c:pt>
                <c:pt idx="46">
                  <c:v>-4</c:v>
                </c:pt>
                <c:pt idx="47">
                  <c:v>-3</c:v>
                </c:pt>
                <c:pt idx="48">
                  <c:v>-2</c:v>
                </c:pt>
                <c:pt idx="49">
                  <c:v>-1</c:v>
                </c:pt>
                <c:pt idx="50">
                  <c:v>0</c:v>
                </c:pt>
                <c:pt idx="51">
                  <c:v>1</c:v>
                </c:pt>
                <c:pt idx="52">
                  <c:v>2</c:v>
                </c:pt>
                <c:pt idx="53">
                  <c:v>3</c:v>
                </c:pt>
                <c:pt idx="54">
                  <c:v>4</c:v>
                </c:pt>
                <c:pt idx="55">
                  <c:v>5</c:v>
                </c:pt>
                <c:pt idx="56">
                  <c:v>6</c:v>
                </c:pt>
                <c:pt idx="57">
                  <c:v>7</c:v>
                </c:pt>
                <c:pt idx="58">
                  <c:v>8</c:v>
                </c:pt>
                <c:pt idx="59">
                  <c:v>9</c:v>
                </c:pt>
                <c:pt idx="60">
                  <c:v>10</c:v>
                </c:pt>
                <c:pt idx="61">
                  <c:v>11</c:v>
                </c:pt>
                <c:pt idx="62">
                  <c:v>12</c:v>
                </c:pt>
                <c:pt idx="63">
                  <c:v>13</c:v>
                </c:pt>
                <c:pt idx="64">
                  <c:v>14</c:v>
                </c:pt>
                <c:pt idx="65">
                  <c:v>15</c:v>
                </c:pt>
                <c:pt idx="66">
                  <c:v>16</c:v>
                </c:pt>
                <c:pt idx="67">
                  <c:v>17</c:v>
                </c:pt>
                <c:pt idx="68">
                  <c:v>18</c:v>
                </c:pt>
                <c:pt idx="69">
                  <c:v>19</c:v>
                </c:pt>
                <c:pt idx="70">
                  <c:v>20</c:v>
                </c:pt>
                <c:pt idx="71">
                  <c:v>21</c:v>
                </c:pt>
                <c:pt idx="72">
                  <c:v>22</c:v>
                </c:pt>
                <c:pt idx="73">
                  <c:v>23</c:v>
                </c:pt>
                <c:pt idx="74">
                  <c:v>24</c:v>
                </c:pt>
                <c:pt idx="75">
                  <c:v>25</c:v>
                </c:pt>
                <c:pt idx="76">
                  <c:v>26</c:v>
                </c:pt>
                <c:pt idx="77">
                  <c:v>27</c:v>
                </c:pt>
                <c:pt idx="78">
                  <c:v>28</c:v>
                </c:pt>
                <c:pt idx="79">
                  <c:v>29</c:v>
                </c:pt>
                <c:pt idx="80">
                  <c:v>30</c:v>
                </c:pt>
                <c:pt idx="81">
                  <c:v>31</c:v>
                </c:pt>
                <c:pt idx="82">
                  <c:v>32</c:v>
                </c:pt>
                <c:pt idx="83">
                  <c:v>33</c:v>
                </c:pt>
                <c:pt idx="84">
                  <c:v>34</c:v>
                </c:pt>
                <c:pt idx="85">
                  <c:v>35</c:v>
                </c:pt>
                <c:pt idx="86">
                  <c:v>36</c:v>
                </c:pt>
                <c:pt idx="87">
                  <c:v>37</c:v>
                </c:pt>
                <c:pt idx="88">
                  <c:v>38</c:v>
                </c:pt>
                <c:pt idx="89">
                  <c:v>39</c:v>
                </c:pt>
                <c:pt idx="90">
                  <c:v>40</c:v>
                </c:pt>
                <c:pt idx="91">
                  <c:v>41</c:v>
                </c:pt>
                <c:pt idx="92">
                  <c:v>42</c:v>
                </c:pt>
                <c:pt idx="93">
                  <c:v>43</c:v>
                </c:pt>
                <c:pt idx="94">
                  <c:v>44</c:v>
                </c:pt>
                <c:pt idx="95">
                  <c:v>45</c:v>
                </c:pt>
                <c:pt idx="96">
                  <c:v>46</c:v>
                </c:pt>
                <c:pt idx="97">
                  <c:v>47</c:v>
                </c:pt>
                <c:pt idx="98">
                  <c:v>48</c:v>
                </c:pt>
                <c:pt idx="99">
                  <c:v>49</c:v>
                </c:pt>
                <c:pt idx="100">
                  <c:v>50</c:v>
                </c:pt>
                <c:pt idx="101">
                  <c:v>51</c:v>
                </c:pt>
                <c:pt idx="102">
                  <c:v>52</c:v>
                </c:pt>
                <c:pt idx="103">
                  <c:v>53</c:v>
                </c:pt>
                <c:pt idx="104">
                  <c:v>54</c:v>
                </c:pt>
                <c:pt idx="105">
                  <c:v>55</c:v>
                </c:pt>
                <c:pt idx="106">
                  <c:v>56</c:v>
                </c:pt>
                <c:pt idx="107">
                  <c:v>57</c:v>
                </c:pt>
                <c:pt idx="108">
                  <c:v>58</c:v>
                </c:pt>
                <c:pt idx="109">
                  <c:v>59</c:v>
                </c:pt>
                <c:pt idx="110">
                  <c:v>60</c:v>
                </c:pt>
                <c:pt idx="111">
                  <c:v>61</c:v>
                </c:pt>
                <c:pt idx="112">
                  <c:v>62</c:v>
                </c:pt>
                <c:pt idx="113">
                  <c:v>63</c:v>
                </c:pt>
                <c:pt idx="114">
                  <c:v>64</c:v>
                </c:pt>
                <c:pt idx="115">
                  <c:v>65</c:v>
                </c:pt>
                <c:pt idx="116">
                  <c:v>66</c:v>
                </c:pt>
                <c:pt idx="117">
                  <c:v>67</c:v>
                </c:pt>
                <c:pt idx="118">
                  <c:v>68</c:v>
                </c:pt>
                <c:pt idx="119">
                  <c:v>69</c:v>
                </c:pt>
                <c:pt idx="120">
                  <c:v>70</c:v>
                </c:pt>
                <c:pt idx="121">
                  <c:v>71</c:v>
                </c:pt>
                <c:pt idx="122">
                  <c:v>72</c:v>
                </c:pt>
                <c:pt idx="123">
                  <c:v>73</c:v>
                </c:pt>
                <c:pt idx="124">
                  <c:v>74</c:v>
                </c:pt>
                <c:pt idx="125">
                  <c:v>75</c:v>
                </c:pt>
                <c:pt idx="126">
                  <c:v>76</c:v>
                </c:pt>
                <c:pt idx="127">
                  <c:v>77</c:v>
                </c:pt>
                <c:pt idx="128">
                  <c:v>78</c:v>
                </c:pt>
                <c:pt idx="129">
                  <c:v>79</c:v>
                </c:pt>
                <c:pt idx="130">
                  <c:v>80</c:v>
                </c:pt>
                <c:pt idx="131">
                  <c:v>81</c:v>
                </c:pt>
                <c:pt idx="132">
                  <c:v>82</c:v>
                </c:pt>
                <c:pt idx="133">
                  <c:v>83</c:v>
                </c:pt>
                <c:pt idx="134">
                  <c:v>84</c:v>
                </c:pt>
                <c:pt idx="135">
                  <c:v>85</c:v>
                </c:pt>
                <c:pt idx="136">
                  <c:v>86</c:v>
                </c:pt>
                <c:pt idx="137">
                  <c:v>87</c:v>
                </c:pt>
                <c:pt idx="138">
                  <c:v>88</c:v>
                </c:pt>
                <c:pt idx="139">
                  <c:v>89</c:v>
                </c:pt>
                <c:pt idx="140">
                  <c:v>90</c:v>
                </c:pt>
                <c:pt idx="141">
                  <c:v>91</c:v>
                </c:pt>
                <c:pt idx="142">
                  <c:v>92</c:v>
                </c:pt>
                <c:pt idx="143">
                  <c:v>93</c:v>
                </c:pt>
                <c:pt idx="144">
                  <c:v>94</c:v>
                </c:pt>
                <c:pt idx="145">
                  <c:v>95</c:v>
                </c:pt>
                <c:pt idx="146">
                  <c:v>96</c:v>
                </c:pt>
                <c:pt idx="147">
                  <c:v>97</c:v>
                </c:pt>
                <c:pt idx="148">
                  <c:v>98</c:v>
                </c:pt>
                <c:pt idx="149">
                  <c:v>99</c:v>
                </c:pt>
                <c:pt idx="150">
                  <c:v>100</c:v>
                </c:pt>
                <c:pt idx="151">
                  <c:v>101</c:v>
                </c:pt>
                <c:pt idx="152">
                  <c:v>102</c:v>
                </c:pt>
                <c:pt idx="153">
                  <c:v>103</c:v>
                </c:pt>
                <c:pt idx="154">
                  <c:v>104</c:v>
                </c:pt>
                <c:pt idx="155">
                  <c:v>105</c:v>
                </c:pt>
                <c:pt idx="156">
                  <c:v>106</c:v>
                </c:pt>
                <c:pt idx="157">
                  <c:v>107</c:v>
                </c:pt>
                <c:pt idx="158">
                  <c:v>108</c:v>
                </c:pt>
                <c:pt idx="159">
                  <c:v>109</c:v>
                </c:pt>
                <c:pt idx="160">
                  <c:v>110</c:v>
                </c:pt>
                <c:pt idx="161">
                  <c:v>111</c:v>
                </c:pt>
                <c:pt idx="162">
                  <c:v>112</c:v>
                </c:pt>
                <c:pt idx="163">
                  <c:v>113</c:v>
                </c:pt>
                <c:pt idx="164">
                  <c:v>114</c:v>
                </c:pt>
                <c:pt idx="165">
                  <c:v>115</c:v>
                </c:pt>
                <c:pt idx="166">
                  <c:v>116</c:v>
                </c:pt>
                <c:pt idx="167">
                  <c:v>117</c:v>
                </c:pt>
                <c:pt idx="168">
                  <c:v>118</c:v>
                </c:pt>
                <c:pt idx="169">
                  <c:v>119</c:v>
                </c:pt>
                <c:pt idx="170">
                  <c:v>120</c:v>
                </c:pt>
                <c:pt idx="171">
                  <c:v>121</c:v>
                </c:pt>
                <c:pt idx="172">
                  <c:v>122</c:v>
                </c:pt>
                <c:pt idx="173">
                  <c:v>123</c:v>
                </c:pt>
                <c:pt idx="174">
                  <c:v>124</c:v>
                </c:pt>
                <c:pt idx="175">
                  <c:v>125</c:v>
                </c:pt>
                <c:pt idx="176">
                  <c:v>126</c:v>
                </c:pt>
                <c:pt idx="177">
                  <c:v>127</c:v>
                </c:pt>
                <c:pt idx="178">
                  <c:v>128</c:v>
                </c:pt>
                <c:pt idx="179">
                  <c:v>129</c:v>
                </c:pt>
                <c:pt idx="180">
                  <c:v>130</c:v>
                </c:pt>
                <c:pt idx="181">
                  <c:v>131</c:v>
                </c:pt>
                <c:pt idx="182">
                  <c:v>132</c:v>
                </c:pt>
                <c:pt idx="183">
                  <c:v>133</c:v>
                </c:pt>
                <c:pt idx="184">
                  <c:v>134</c:v>
                </c:pt>
                <c:pt idx="185">
                  <c:v>135</c:v>
                </c:pt>
                <c:pt idx="186">
                  <c:v>136</c:v>
                </c:pt>
                <c:pt idx="187">
                  <c:v>137</c:v>
                </c:pt>
                <c:pt idx="188">
                  <c:v>138</c:v>
                </c:pt>
                <c:pt idx="189">
                  <c:v>139</c:v>
                </c:pt>
                <c:pt idx="190">
                  <c:v>140</c:v>
                </c:pt>
                <c:pt idx="191">
                  <c:v>141</c:v>
                </c:pt>
                <c:pt idx="192">
                  <c:v>142</c:v>
                </c:pt>
                <c:pt idx="193">
                  <c:v>143</c:v>
                </c:pt>
                <c:pt idx="194">
                  <c:v>144</c:v>
                </c:pt>
                <c:pt idx="195">
                  <c:v>145</c:v>
                </c:pt>
                <c:pt idx="196">
                  <c:v>146</c:v>
                </c:pt>
                <c:pt idx="197">
                  <c:v>147</c:v>
                </c:pt>
                <c:pt idx="198">
                  <c:v>148</c:v>
                </c:pt>
                <c:pt idx="199">
                  <c:v>149</c:v>
                </c:pt>
                <c:pt idx="200">
                  <c:v>150</c:v>
                </c:pt>
              </c:numCache>
            </c:numRef>
          </c:xVal>
          <c:yVal>
            <c:numRef>
              <c:f>Sheet3!$C$1:$C$201</c:f>
              <c:numCache>
                <c:formatCode>General</c:formatCode>
                <c:ptCount val="201"/>
                <c:pt idx="0">
                  <c:v>-50.823045267489711</c:v>
                </c:pt>
                <c:pt idx="1">
                  <c:v>-50</c:v>
                </c:pt>
                <c:pt idx="2">
                  <c:v>-49.176954732510289</c:v>
                </c:pt>
                <c:pt idx="3">
                  <c:v>-48.353909465020571</c:v>
                </c:pt>
                <c:pt idx="4">
                  <c:v>-47.53086419753086</c:v>
                </c:pt>
                <c:pt idx="5">
                  <c:v>-46.707818930041149</c:v>
                </c:pt>
                <c:pt idx="6">
                  <c:v>-45.884773662551439</c:v>
                </c:pt>
                <c:pt idx="7">
                  <c:v>-45.061728395061728</c:v>
                </c:pt>
                <c:pt idx="8">
                  <c:v>-44.147233653406488</c:v>
                </c:pt>
                <c:pt idx="9">
                  <c:v>-43.232738911751255</c:v>
                </c:pt>
                <c:pt idx="10">
                  <c:v>-42.226794695930494</c:v>
                </c:pt>
                <c:pt idx="11">
                  <c:v>-41.312299954275261</c:v>
                </c:pt>
                <c:pt idx="12">
                  <c:v>-40.306355738454499</c:v>
                </c:pt>
                <c:pt idx="13">
                  <c:v>-39.391860996799267</c:v>
                </c:pt>
                <c:pt idx="14">
                  <c:v>-38.477366255144034</c:v>
                </c:pt>
                <c:pt idx="15">
                  <c:v>-37.471422039323272</c:v>
                </c:pt>
                <c:pt idx="16">
                  <c:v>-36.55692729766804</c:v>
                </c:pt>
                <c:pt idx="17">
                  <c:v>-35.550983081847278</c:v>
                </c:pt>
                <c:pt idx="18">
                  <c:v>-34.636488340192045</c:v>
                </c:pt>
                <c:pt idx="19">
                  <c:v>-33.721993598536805</c:v>
                </c:pt>
                <c:pt idx="20">
                  <c:v>-32.716049382716051</c:v>
                </c:pt>
                <c:pt idx="21">
                  <c:v>-31.801554641060811</c:v>
                </c:pt>
                <c:pt idx="22">
                  <c:v>-30.795610425240053</c:v>
                </c:pt>
                <c:pt idx="23">
                  <c:v>-29.881115683584817</c:v>
                </c:pt>
                <c:pt idx="24">
                  <c:v>-28.875171467764059</c:v>
                </c:pt>
                <c:pt idx="25">
                  <c:v>-27.960676726108822</c:v>
                </c:pt>
                <c:pt idx="26">
                  <c:v>-26.954732510288064</c:v>
                </c:pt>
                <c:pt idx="27">
                  <c:v>-26.040237768632828</c:v>
                </c:pt>
                <c:pt idx="28">
                  <c:v>-25.03429355281207</c:v>
                </c:pt>
                <c:pt idx="29">
                  <c:v>-24.119798811156834</c:v>
                </c:pt>
                <c:pt idx="30">
                  <c:v>-23.113854595336075</c:v>
                </c:pt>
                <c:pt idx="31">
                  <c:v>-22.107910379515317</c:v>
                </c:pt>
                <c:pt idx="32">
                  <c:v>-21.193415637860081</c:v>
                </c:pt>
                <c:pt idx="33">
                  <c:v>-20.187471422039323</c:v>
                </c:pt>
                <c:pt idx="34">
                  <c:v>-19.272976680384087</c:v>
                </c:pt>
                <c:pt idx="35">
                  <c:v>-18.267032464563329</c:v>
                </c:pt>
                <c:pt idx="36">
                  <c:v>-17.352537722908092</c:v>
                </c:pt>
                <c:pt idx="37">
                  <c:v>-16.346593507087334</c:v>
                </c:pt>
                <c:pt idx="38">
                  <c:v>-15.340649291266574</c:v>
                </c:pt>
                <c:pt idx="39">
                  <c:v>-14.42615454961134</c:v>
                </c:pt>
                <c:pt idx="40">
                  <c:v>-13.42021033379058</c:v>
                </c:pt>
                <c:pt idx="41">
                  <c:v>-12.505715592135344</c:v>
                </c:pt>
                <c:pt idx="42">
                  <c:v>-11.499771376314586</c:v>
                </c:pt>
                <c:pt idx="43">
                  <c:v>-10.493827160493826</c:v>
                </c:pt>
                <c:pt idx="44">
                  <c:v>-9.4878829446730677</c:v>
                </c:pt>
                <c:pt idx="45">
                  <c:v>-8.5733882030178314</c:v>
                </c:pt>
                <c:pt idx="46">
                  <c:v>-7.5674439871970733</c:v>
                </c:pt>
                <c:pt idx="47">
                  <c:v>-6.5614997713763143</c:v>
                </c:pt>
                <c:pt idx="48">
                  <c:v>-5.647005029721079</c:v>
                </c:pt>
                <c:pt idx="49">
                  <c:v>-4.64106081390032</c:v>
                </c:pt>
                <c:pt idx="50">
                  <c:v>-3.635116598079561</c:v>
                </c:pt>
                <c:pt idx="51">
                  <c:v>-2.629172382258802</c:v>
                </c:pt>
                <c:pt idx="52">
                  <c:v>-1.7146776406035664</c:v>
                </c:pt>
                <c:pt idx="53">
                  <c:v>-0.70873342478280743</c:v>
                </c:pt>
                <c:pt idx="54">
                  <c:v>0.29721079103795151</c:v>
                </c:pt>
                <c:pt idx="55">
                  <c:v>1.2117055326931869</c:v>
                </c:pt>
                <c:pt idx="56">
                  <c:v>2.2176497485139461</c:v>
                </c:pt>
                <c:pt idx="57">
                  <c:v>3.2235939643347051</c:v>
                </c:pt>
                <c:pt idx="58">
                  <c:v>4.2295381801554637</c:v>
                </c:pt>
                <c:pt idx="59">
                  <c:v>5.144032921810699</c:v>
                </c:pt>
                <c:pt idx="60">
                  <c:v>6.149977137631458</c:v>
                </c:pt>
                <c:pt idx="61">
                  <c:v>7.155921353452217</c:v>
                </c:pt>
                <c:pt idx="62">
                  <c:v>8.161865569272976</c:v>
                </c:pt>
                <c:pt idx="63">
                  <c:v>9.0763603109282123</c:v>
                </c:pt>
                <c:pt idx="64">
                  <c:v>10.08230452674897</c:v>
                </c:pt>
                <c:pt idx="65">
                  <c:v>11.08824874256973</c:v>
                </c:pt>
                <c:pt idx="66">
                  <c:v>12.094192958390488</c:v>
                </c:pt>
                <c:pt idx="67">
                  <c:v>13.008687700045725</c:v>
                </c:pt>
                <c:pt idx="68">
                  <c:v>14.014631915866483</c:v>
                </c:pt>
                <c:pt idx="69">
                  <c:v>15.020576131687243</c:v>
                </c:pt>
                <c:pt idx="70">
                  <c:v>16.026520347508001</c:v>
                </c:pt>
                <c:pt idx="71">
                  <c:v>17.032464563328759</c:v>
                </c:pt>
                <c:pt idx="72">
                  <c:v>17.946959304983995</c:v>
                </c:pt>
                <c:pt idx="73">
                  <c:v>18.952903520804753</c:v>
                </c:pt>
                <c:pt idx="74">
                  <c:v>19.958847736625515</c:v>
                </c:pt>
                <c:pt idx="75">
                  <c:v>20.964791952446273</c:v>
                </c:pt>
                <c:pt idx="76">
                  <c:v>21.970736168267031</c:v>
                </c:pt>
                <c:pt idx="77">
                  <c:v>22.885230909922267</c:v>
                </c:pt>
                <c:pt idx="78">
                  <c:v>23.891175125743025</c:v>
                </c:pt>
                <c:pt idx="79">
                  <c:v>24.897119341563783</c:v>
                </c:pt>
                <c:pt idx="80">
                  <c:v>25.903063557384545</c:v>
                </c:pt>
                <c:pt idx="81">
                  <c:v>26.909007773205303</c:v>
                </c:pt>
                <c:pt idx="82">
                  <c:v>27.823502514860539</c:v>
                </c:pt>
                <c:pt idx="83">
                  <c:v>28.829446730681298</c:v>
                </c:pt>
                <c:pt idx="84">
                  <c:v>29.835390946502056</c:v>
                </c:pt>
                <c:pt idx="85">
                  <c:v>30.841335162322814</c:v>
                </c:pt>
                <c:pt idx="86">
                  <c:v>31.847279378143575</c:v>
                </c:pt>
                <c:pt idx="87">
                  <c:v>32.85322359396433</c:v>
                </c:pt>
                <c:pt idx="88">
                  <c:v>33.859167809785092</c:v>
                </c:pt>
                <c:pt idx="89">
                  <c:v>34.865112025605853</c:v>
                </c:pt>
                <c:pt idx="90">
                  <c:v>35.871056241426608</c:v>
                </c:pt>
                <c:pt idx="91">
                  <c:v>36.87700045724737</c:v>
                </c:pt>
                <c:pt idx="92">
                  <c:v>37.882944673068131</c:v>
                </c:pt>
                <c:pt idx="93">
                  <c:v>38.888888888888886</c:v>
                </c:pt>
                <c:pt idx="94">
                  <c:v>39.894833104709647</c:v>
                </c:pt>
                <c:pt idx="95">
                  <c:v>40.900777320530402</c:v>
                </c:pt>
                <c:pt idx="96">
                  <c:v>41.906721536351164</c:v>
                </c:pt>
                <c:pt idx="97">
                  <c:v>42.912665752171925</c:v>
                </c:pt>
                <c:pt idx="98">
                  <c:v>43.91860996799268</c:v>
                </c:pt>
                <c:pt idx="99">
                  <c:v>44.924554183813441</c:v>
                </c:pt>
                <c:pt idx="100">
                  <c:v>45.930498399634203</c:v>
                </c:pt>
                <c:pt idx="101">
                  <c:v>46.936442615454958</c:v>
                </c:pt>
                <c:pt idx="102">
                  <c:v>47.942386831275719</c:v>
                </c:pt>
                <c:pt idx="103">
                  <c:v>48.948331047096474</c:v>
                </c:pt>
                <c:pt idx="104">
                  <c:v>49.954275262917236</c:v>
                </c:pt>
                <c:pt idx="105">
                  <c:v>50.960219478737997</c:v>
                </c:pt>
                <c:pt idx="106">
                  <c:v>51.966163694558752</c:v>
                </c:pt>
                <c:pt idx="107">
                  <c:v>52.972107910379513</c:v>
                </c:pt>
                <c:pt idx="108">
                  <c:v>53.978052126200275</c:v>
                </c:pt>
                <c:pt idx="109">
                  <c:v>54.98399634202103</c:v>
                </c:pt>
                <c:pt idx="110">
                  <c:v>55.989940557841791</c:v>
                </c:pt>
                <c:pt idx="111">
                  <c:v>57.087334247828075</c:v>
                </c:pt>
                <c:pt idx="112">
                  <c:v>58.093278463648829</c:v>
                </c:pt>
                <c:pt idx="113">
                  <c:v>59.099222679469591</c:v>
                </c:pt>
                <c:pt idx="114">
                  <c:v>60.105166895290353</c:v>
                </c:pt>
                <c:pt idx="115">
                  <c:v>61.202560585276629</c:v>
                </c:pt>
                <c:pt idx="116">
                  <c:v>62.208504801097391</c:v>
                </c:pt>
                <c:pt idx="117">
                  <c:v>63.214449016918152</c:v>
                </c:pt>
                <c:pt idx="118">
                  <c:v>64.220393232738914</c:v>
                </c:pt>
                <c:pt idx="119">
                  <c:v>65.31778692272519</c:v>
                </c:pt>
                <c:pt idx="120">
                  <c:v>66.323731138545952</c:v>
                </c:pt>
                <c:pt idx="121">
                  <c:v>67.329675354366714</c:v>
                </c:pt>
                <c:pt idx="122">
                  <c:v>68.335619570187475</c:v>
                </c:pt>
                <c:pt idx="123">
                  <c:v>69.433013260173752</c:v>
                </c:pt>
                <c:pt idx="124">
                  <c:v>70.438957475994513</c:v>
                </c:pt>
                <c:pt idx="125">
                  <c:v>71.444901691815275</c:v>
                </c:pt>
                <c:pt idx="126">
                  <c:v>72.450845907636023</c:v>
                </c:pt>
                <c:pt idx="127">
                  <c:v>73.456790123456784</c:v>
                </c:pt>
                <c:pt idx="128">
                  <c:v>74.554183813443075</c:v>
                </c:pt>
                <c:pt idx="129">
                  <c:v>75.560128029263822</c:v>
                </c:pt>
                <c:pt idx="130">
                  <c:v>76.566072245084584</c:v>
                </c:pt>
                <c:pt idx="131">
                  <c:v>77.572016460905346</c:v>
                </c:pt>
                <c:pt idx="132">
                  <c:v>78.577960676726107</c:v>
                </c:pt>
                <c:pt idx="133">
                  <c:v>79.675354366712384</c:v>
                </c:pt>
                <c:pt idx="134">
                  <c:v>80.681298582533145</c:v>
                </c:pt>
                <c:pt idx="135">
                  <c:v>81.687242798353907</c:v>
                </c:pt>
                <c:pt idx="136">
                  <c:v>82.784636488340183</c:v>
                </c:pt>
                <c:pt idx="137">
                  <c:v>83.790580704160945</c:v>
                </c:pt>
                <c:pt idx="138">
                  <c:v>84.796524919981707</c:v>
                </c:pt>
                <c:pt idx="139">
                  <c:v>85.802469135802468</c:v>
                </c:pt>
                <c:pt idx="140">
                  <c:v>86.899862825788745</c:v>
                </c:pt>
                <c:pt idx="141">
                  <c:v>87.905807041609506</c:v>
                </c:pt>
                <c:pt idx="142">
                  <c:v>88.911751257430268</c:v>
                </c:pt>
                <c:pt idx="143">
                  <c:v>90.009144947416544</c:v>
                </c:pt>
                <c:pt idx="144">
                  <c:v>91.015089163237306</c:v>
                </c:pt>
                <c:pt idx="145">
                  <c:v>92.021033379058068</c:v>
                </c:pt>
                <c:pt idx="146">
                  <c:v>93.118427069044344</c:v>
                </c:pt>
                <c:pt idx="147">
                  <c:v>94.124371284865106</c:v>
                </c:pt>
                <c:pt idx="148">
                  <c:v>95.130315500685867</c:v>
                </c:pt>
                <c:pt idx="149">
                  <c:v>96.227709190672144</c:v>
                </c:pt>
                <c:pt idx="150">
                  <c:v>97.233653406492905</c:v>
                </c:pt>
                <c:pt idx="151">
                  <c:v>98.239597622313667</c:v>
                </c:pt>
                <c:pt idx="152">
                  <c:v>99.336991312299944</c:v>
                </c:pt>
                <c:pt idx="153">
                  <c:v>100.34293552812071</c:v>
                </c:pt>
                <c:pt idx="154">
                  <c:v>101.440329218107</c:v>
                </c:pt>
                <c:pt idx="155">
                  <c:v>102.44627343392774</c:v>
                </c:pt>
                <c:pt idx="156">
                  <c:v>103.4522176497485</c:v>
                </c:pt>
                <c:pt idx="157">
                  <c:v>104.5496113397348</c:v>
                </c:pt>
                <c:pt idx="158">
                  <c:v>105.55555555555556</c:v>
                </c:pt>
                <c:pt idx="159">
                  <c:v>106.5614997713763</c:v>
                </c:pt>
                <c:pt idx="160">
                  <c:v>107.6588934613626</c:v>
                </c:pt>
                <c:pt idx="161">
                  <c:v>108.66483767718336</c:v>
                </c:pt>
                <c:pt idx="162">
                  <c:v>109.76223136716963</c:v>
                </c:pt>
                <c:pt idx="163">
                  <c:v>110.76817558299039</c:v>
                </c:pt>
                <c:pt idx="164">
                  <c:v>111.86556927297667</c:v>
                </c:pt>
                <c:pt idx="165">
                  <c:v>112.87151348879743</c:v>
                </c:pt>
                <c:pt idx="166">
                  <c:v>113.96890717878372</c:v>
                </c:pt>
                <c:pt idx="167">
                  <c:v>114.97485139460447</c:v>
                </c:pt>
                <c:pt idx="168">
                  <c:v>116.07224508459076</c:v>
                </c:pt>
                <c:pt idx="169">
                  <c:v>117.07818930041152</c:v>
                </c:pt>
                <c:pt idx="170">
                  <c:v>118.08413351623227</c:v>
                </c:pt>
                <c:pt idx="171">
                  <c:v>119.18152720621856</c:v>
                </c:pt>
                <c:pt idx="172">
                  <c:v>120.27892089620484</c:v>
                </c:pt>
                <c:pt idx="173">
                  <c:v>121.2848651120256</c:v>
                </c:pt>
                <c:pt idx="174">
                  <c:v>122.38225880201188</c:v>
                </c:pt>
                <c:pt idx="175">
                  <c:v>123.38820301783264</c:v>
                </c:pt>
                <c:pt idx="176">
                  <c:v>124.48559670781893</c:v>
                </c:pt>
                <c:pt idx="177">
                  <c:v>125.49154092363969</c:v>
                </c:pt>
                <c:pt idx="178">
                  <c:v>126.58893461362597</c:v>
                </c:pt>
                <c:pt idx="179">
                  <c:v>127.59487882944673</c:v>
                </c:pt>
                <c:pt idx="180">
                  <c:v>128.692272519433</c:v>
                </c:pt>
                <c:pt idx="181">
                  <c:v>129.69821673525377</c:v>
                </c:pt>
                <c:pt idx="182">
                  <c:v>130.79561042524006</c:v>
                </c:pt>
                <c:pt idx="183">
                  <c:v>131.89300411522632</c:v>
                </c:pt>
                <c:pt idx="184">
                  <c:v>132.89894833104708</c:v>
                </c:pt>
                <c:pt idx="185">
                  <c:v>133.99634202103337</c:v>
                </c:pt>
                <c:pt idx="186">
                  <c:v>135.00228623685413</c:v>
                </c:pt>
                <c:pt idx="187">
                  <c:v>136.09967992684042</c:v>
                </c:pt>
                <c:pt idx="188">
                  <c:v>137.19707361682669</c:v>
                </c:pt>
                <c:pt idx="189">
                  <c:v>138.20301783264745</c:v>
                </c:pt>
                <c:pt idx="190">
                  <c:v>139.30041152263374</c:v>
                </c:pt>
                <c:pt idx="191">
                  <c:v>140.39780521262003</c:v>
                </c:pt>
                <c:pt idx="192">
                  <c:v>141.40374942844079</c:v>
                </c:pt>
                <c:pt idx="193">
                  <c:v>142.50114311842705</c:v>
                </c:pt>
                <c:pt idx="194">
                  <c:v>143.59853680841334</c:v>
                </c:pt>
                <c:pt idx="195">
                  <c:v>144.6044810242341</c:v>
                </c:pt>
                <c:pt idx="196">
                  <c:v>145.70187471422039</c:v>
                </c:pt>
                <c:pt idx="197">
                  <c:v>146.79926840420666</c:v>
                </c:pt>
                <c:pt idx="198">
                  <c:v>147.89666209419295</c:v>
                </c:pt>
                <c:pt idx="199">
                  <c:v>148.90260631001371</c:v>
                </c:pt>
                <c:pt idx="200">
                  <c:v>150</c:v>
                </c:pt>
              </c:numCache>
            </c:numRef>
          </c:yVal>
          <c:smooth val="0"/>
          <c:extLst>
            <c:ext xmlns:c16="http://schemas.microsoft.com/office/drawing/2014/chart" uri="{C3380CC4-5D6E-409C-BE32-E72D297353CC}">
              <c16:uniqueId val="{00000000-F6A4-466D-BE5B-FAF475C98622}"/>
            </c:ext>
          </c:extLst>
        </c:ser>
        <c:ser>
          <c:idx val="1"/>
          <c:order val="1"/>
          <c:tx>
            <c:v>Very Simple</c:v>
          </c:tx>
          <c:spPr>
            <a:ln w="19050" cap="rnd">
              <a:solidFill>
                <a:schemeClr val="accent2"/>
              </a:solidFill>
              <a:round/>
            </a:ln>
            <a:effectLst/>
          </c:spPr>
          <c:marker>
            <c:symbol val="none"/>
          </c:marker>
          <c:xVal>
            <c:numRef>
              <c:f>Sheet3!$A$1:$A$201</c:f>
              <c:numCache>
                <c:formatCode>General</c:formatCode>
                <c:ptCount val="201"/>
                <c:pt idx="0">
                  <c:v>-50</c:v>
                </c:pt>
                <c:pt idx="1">
                  <c:v>-49</c:v>
                </c:pt>
                <c:pt idx="2">
                  <c:v>-48</c:v>
                </c:pt>
                <c:pt idx="3">
                  <c:v>-47</c:v>
                </c:pt>
                <c:pt idx="4">
                  <c:v>-46</c:v>
                </c:pt>
                <c:pt idx="5">
                  <c:v>-45</c:v>
                </c:pt>
                <c:pt idx="6">
                  <c:v>-44</c:v>
                </c:pt>
                <c:pt idx="7">
                  <c:v>-43</c:v>
                </c:pt>
                <c:pt idx="8">
                  <c:v>-42</c:v>
                </c:pt>
                <c:pt idx="9">
                  <c:v>-41</c:v>
                </c:pt>
                <c:pt idx="10">
                  <c:v>-40</c:v>
                </c:pt>
                <c:pt idx="11">
                  <c:v>-39</c:v>
                </c:pt>
                <c:pt idx="12">
                  <c:v>-38</c:v>
                </c:pt>
                <c:pt idx="13">
                  <c:v>-37</c:v>
                </c:pt>
                <c:pt idx="14">
                  <c:v>-36</c:v>
                </c:pt>
                <c:pt idx="15">
                  <c:v>-35</c:v>
                </c:pt>
                <c:pt idx="16">
                  <c:v>-34</c:v>
                </c:pt>
                <c:pt idx="17">
                  <c:v>-33</c:v>
                </c:pt>
                <c:pt idx="18">
                  <c:v>-32</c:v>
                </c:pt>
                <c:pt idx="19">
                  <c:v>-31</c:v>
                </c:pt>
                <c:pt idx="20">
                  <c:v>-30</c:v>
                </c:pt>
                <c:pt idx="21">
                  <c:v>-29</c:v>
                </c:pt>
                <c:pt idx="22">
                  <c:v>-28</c:v>
                </c:pt>
                <c:pt idx="23">
                  <c:v>-27</c:v>
                </c:pt>
                <c:pt idx="24">
                  <c:v>-26</c:v>
                </c:pt>
                <c:pt idx="25">
                  <c:v>-25</c:v>
                </c:pt>
                <c:pt idx="26">
                  <c:v>-24</c:v>
                </c:pt>
                <c:pt idx="27">
                  <c:v>-23</c:v>
                </c:pt>
                <c:pt idx="28">
                  <c:v>-22</c:v>
                </c:pt>
                <c:pt idx="29">
                  <c:v>-21</c:v>
                </c:pt>
                <c:pt idx="30">
                  <c:v>-20</c:v>
                </c:pt>
                <c:pt idx="31">
                  <c:v>-19</c:v>
                </c:pt>
                <c:pt idx="32">
                  <c:v>-18</c:v>
                </c:pt>
                <c:pt idx="33">
                  <c:v>-17</c:v>
                </c:pt>
                <c:pt idx="34">
                  <c:v>-16</c:v>
                </c:pt>
                <c:pt idx="35">
                  <c:v>-15</c:v>
                </c:pt>
                <c:pt idx="36">
                  <c:v>-14</c:v>
                </c:pt>
                <c:pt idx="37">
                  <c:v>-13</c:v>
                </c:pt>
                <c:pt idx="38">
                  <c:v>-12</c:v>
                </c:pt>
                <c:pt idx="39">
                  <c:v>-11</c:v>
                </c:pt>
                <c:pt idx="40">
                  <c:v>-10</c:v>
                </c:pt>
                <c:pt idx="41">
                  <c:v>-9</c:v>
                </c:pt>
                <c:pt idx="42">
                  <c:v>-8</c:v>
                </c:pt>
                <c:pt idx="43">
                  <c:v>-7</c:v>
                </c:pt>
                <c:pt idx="44">
                  <c:v>-6</c:v>
                </c:pt>
                <c:pt idx="45">
                  <c:v>-5</c:v>
                </c:pt>
                <c:pt idx="46">
                  <c:v>-4</c:v>
                </c:pt>
                <c:pt idx="47">
                  <c:v>-3</c:v>
                </c:pt>
                <c:pt idx="48">
                  <c:v>-2</c:v>
                </c:pt>
                <c:pt idx="49">
                  <c:v>-1</c:v>
                </c:pt>
                <c:pt idx="50">
                  <c:v>0</c:v>
                </c:pt>
                <c:pt idx="51">
                  <c:v>1</c:v>
                </c:pt>
                <c:pt idx="52">
                  <c:v>2</c:v>
                </c:pt>
                <c:pt idx="53">
                  <c:v>3</c:v>
                </c:pt>
                <c:pt idx="54">
                  <c:v>4</c:v>
                </c:pt>
                <c:pt idx="55">
                  <c:v>5</c:v>
                </c:pt>
                <c:pt idx="56">
                  <c:v>6</c:v>
                </c:pt>
                <c:pt idx="57">
                  <c:v>7</c:v>
                </c:pt>
                <c:pt idx="58">
                  <c:v>8</c:v>
                </c:pt>
                <c:pt idx="59">
                  <c:v>9</c:v>
                </c:pt>
                <c:pt idx="60">
                  <c:v>10</c:v>
                </c:pt>
                <c:pt idx="61">
                  <c:v>11</c:v>
                </c:pt>
                <c:pt idx="62">
                  <c:v>12</c:v>
                </c:pt>
                <c:pt idx="63">
                  <c:v>13</c:v>
                </c:pt>
                <c:pt idx="64">
                  <c:v>14</c:v>
                </c:pt>
                <c:pt idx="65">
                  <c:v>15</c:v>
                </c:pt>
                <c:pt idx="66">
                  <c:v>16</c:v>
                </c:pt>
                <c:pt idx="67">
                  <c:v>17</c:v>
                </c:pt>
                <c:pt idx="68">
                  <c:v>18</c:v>
                </c:pt>
                <c:pt idx="69">
                  <c:v>19</c:v>
                </c:pt>
                <c:pt idx="70">
                  <c:v>20</c:v>
                </c:pt>
                <c:pt idx="71">
                  <c:v>21</c:v>
                </c:pt>
                <c:pt idx="72">
                  <c:v>22</c:v>
                </c:pt>
                <c:pt idx="73">
                  <c:v>23</c:v>
                </c:pt>
                <c:pt idx="74">
                  <c:v>24</c:v>
                </c:pt>
                <c:pt idx="75">
                  <c:v>25</c:v>
                </c:pt>
                <c:pt idx="76">
                  <c:v>26</c:v>
                </c:pt>
                <c:pt idx="77">
                  <c:v>27</c:v>
                </c:pt>
                <c:pt idx="78">
                  <c:v>28</c:v>
                </c:pt>
                <c:pt idx="79">
                  <c:v>29</c:v>
                </c:pt>
                <c:pt idx="80">
                  <c:v>30</c:v>
                </c:pt>
                <c:pt idx="81">
                  <c:v>31</c:v>
                </c:pt>
                <c:pt idx="82">
                  <c:v>32</c:v>
                </c:pt>
                <c:pt idx="83">
                  <c:v>33</c:v>
                </c:pt>
                <c:pt idx="84">
                  <c:v>34</c:v>
                </c:pt>
                <c:pt idx="85">
                  <c:v>35</c:v>
                </c:pt>
                <c:pt idx="86">
                  <c:v>36</c:v>
                </c:pt>
                <c:pt idx="87">
                  <c:v>37</c:v>
                </c:pt>
                <c:pt idx="88">
                  <c:v>38</c:v>
                </c:pt>
                <c:pt idx="89">
                  <c:v>39</c:v>
                </c:pt>
                <c:pt idx="90">
                  <c:v>40</c:v>
                </c:pt>
                <c:pt idx="91">
                  <c:v>41</c:v>
                </c:pt>
                <c:pt idx="92">
                  <c:v>42</c:v>
                </c:pt>
                <c:pt idx="93">
                  <c:v>43</c:v>
                </c:pt>
                <c:pt idx="94">
                  <c:v>44</c:v>
                </c:pt>
                <c:pt idx="95">
                  <c:v>45</c:v>
                </c:pt>
                <c:pt idx="96">
                  <c:v>46</c:v>
                </c:pt>
                <c:pt idx="97">
                  <c:v>47</c:v>
                </c:pt>
                <c:pt idx="98">
                  <c:v>48</c:v>
                </c:pt>
                <c:pt idx="99">
                  <c:v>49</c:v>
                </c:pt>
                <c:pt idx="100">
                  <c:v>50</c:v>
                </c:pt>
                <c:pt idx="101">
                  <c:v>51</c:v>
                </c:pt>
                <c:pt idx="102">
                  <c:v>52</c:v>
                </c:pt>
                <c:pt idx="103">
                  <c:v>53</c:v>
                </c:pt>
                <c:pt idx="104">
                  <c:v>54</c:v>
                </c:pt>
                <c:pt idx="105">
                  <c:v>55</c:v>
                </c:pt>
                <c:pt idx="106">
                  <c:v>56</c:v>
                </c:pt>
                <c:pt idx="107">
                  <c:v>57</c:v>
                </c:pt>
                <c:pt idx="108">
                  <c:v>58</c:v>
                </c:pt>
                <c:pt idx="109">
                  <c:v>59</c:v>
                </c:pt>
                <c:pt idx="110">
                  <c:v>60</c:v>
                </c:pt>
                <c:pt idx="111">
                  <c:v>61</c:v>
                </c:pt>
                <c:pt idx="112">
                  <c:v>62</c:v>
                </c:pt>
                <c:pt idx="113">
                  <c:v>63</c:v>
                </c:pt>
                <c:pt idx="114">
                  <c:v>64</c:v>
                </c:pt>
                <c:pt idx="115">
                  <c:v>65</c:v>
                </c:pt>
                <c:pt idx="116">
                  <c:v>66</c:v>
                </c:pt>
                <c:pt idx="117">
                  <c:v>67</c:v>
                </c:pt>
                <c:pt idx="118">
                  <c:v>68</c:v>
                </c:pt>
                <c:pt idx="119">
                  <c:v>69</c:v>
                </c:pt>
                <c:pt idx="120">
                  <c:v>70</c:v>
                </c:pt>
                <c:pt idx="121">
                  <c:v>71</c:v>
                </c:pt>
                <c:pt idx="122">
                  <c:v>72</c:v>
                </c:pt>
                <c:pt idx="123">
                  <c:v>73</c:v>
                </c:pt>
                <c:pt idx="124">
                  <c:v>74</c:v>
                </c:pt>
                <c:pt idx="125">
                  <c:v>75</c:v>
                </c:pt>
                <c:pt idx="126">
                  <c:v>76</c:v>
                </c:pt>
                <c:pt idx="127">
                  <c:v>77</c:v>
                </c:pt>
                <c:pt idx="128">
                  <c:v>78</c:v>
                </c:pt>
                <c:pt idx="129">
                  <c:v>79</c:v>
                </c:pt>
                <c:pt idx="130">
                  <c:v>80</c:v>
                </c:pt>
                <c:pt idx="131">
                  <c:v>81</c:v>
                </c:pt>
                <c:pt idx="132">
                  <c:v>82</c:v>
                </c:pt>
                <c:pt idx="133">
                  <c:v>83</c:v>
                </c:pt>
                <c:pt idx="134">
                  <c:v>84</c:v>
                </c:pt>
                <c:pt idx="135">
                  <c:v>85</c:v>
                </c:pt>
                <c:pt idx="136">
                  <c:v>86</c:v>
                </c:pt>
                <c:pt idx="137">
                  <c:v>87</c:v>
                </c:pt>
                <c:pt idx="138">
                  <c:v>88</c:v>
                </c:pt>
                <c:pt idx="139">
                  <c:v>89</c:v>
                </c:pt>
                <c:pt idx="140">
                  <c:v>90</c:v>
                </c:pt>
                <c:pt idx="141">
                  <c:v>91</c:v>
                </c:pt>
                <c:pt idx="142">
                  <c:v>92</c:v>
                </c:pt>
                <c:pt idx="143">
                  <c:v>93</c:v>
                </c:pt>
                <c:pt idx="144">
                  <c:v>94</c:v>
                </c:pt>
                <c:pt idx="145">
                  <c:v>95</c:v>
                </c:pt>
                <c:pt idx="146">
                  <c:v>96</c:v>
                </c:pt>
                <c:pt idx="147">
                  <c:v>97</c:v>
                </c:pt>
                <c:pt idx="148">
                  <c:v>98</c:v>
                </c:pt>
                <c:pt idx="149">
                  <c:v>99</c:v>
                </c:pt>
                <c:pt idx="150">
                  <c:v>100</c:v>
                </c:pt>
                <c:pt idx="151">
                  <c:v>101</c:v>
                </c:pt>
                <c:pt idx="152">
                  <c:v>102</c:v>
                </c:pt>
                <c:pt idx="153">
                  <c:v>103</c:v>
                </c:pt>
                <c:pt idx="154">
                  <c:v>104</c:v>
                </c:pt>
                <c:pt idx="155">
                  <c:v>105</c:v>
                </c:pt>
                <c:pt idx="156">
                  <c:v>106</c:v>
                </c:pt>
                <c:pt idx="157">
                  <c:v>107</c:v>
                </c:pt>
                <c:pt idx="158">
                  <c:v>108</c:v>
                </c:pt>
                <c:pt idx="159">
                  <c:v>109</c:v>
                </c:pt>
                <c:pt idx="160">
                  <c:v>110</c:v>
                </c:pt>
                <c:pt idx="161">
                  <c:v>111</c:v>
                </c:pt>
                <c:pt idx="162">
                  <c:v>112</c:v>
                </c:pt>
                <c:pt idx="163">
                  <c:v>113</c:v>
                </c:pt>
                <c:pt idx="164">
                  <c:v>114</c:v>
                </c:pt>
                <c:pt idx="165">
                  <c:v>115</c:v>
                </c:pt>
                <c:pt idx="166">
                  <c:v>116</c:v>
                </c:pt>
                <c:pt idx="167">
                  <c:v>117</c:v>
                </c:pt>
                <c:pt idx="168">
                  <c:v>118</c:v>
                </c:pt>
                <c:pt idx="169">
                  <c:v>119</c:v>
                </c:pt>
                <c:pt idx="170">
                  <c:v>120</c:v>
                </c:pt>
                <c:pt idx="171">
                  <c:v>121</c:v>
                </c:pt>
                <c:pt idx="172">
                  <c:v>122</c:v>
                </c:pt>
                <c:pt idx="173">
                  <c:v>123</c:v>
                </c:pt>
                <c:pt idx="174">
                  <c:v>124</c:v>
                </c:pt>
                <c:pt idx="175">
                  <c:v>125</c:v>
                </c:pt>
                <c:pt idx="176">
                  <c:v>126</c:v>
                </c:pt>
                <c:pt idx="177">
                  <c:v>127</c:v>
                </c:pt>
                <c:pt idx="178">
                  <c:v>128</c:v>
                </c:pt>
                <c:pt idx="179">
                  <c:v>129</c:v>
                </c:pt>
                <c:pt idx="180">
                  <c:v>130</c:v>
                </c:pt>
                <c:pt idx="181">
                  <c:v>131</c:v>
                </c:pt>
                <c:pt idx="182">
                  <c:v>132</c:v>
                </c:pt>
                <c:pt idx="183">
                  <c:v>133</c:v>
                </c:pt>
                <c:pt idx="184">
                  <c:v>134</c:v>
                </c:pt>
                <c:pt idx="185">
                  <c:v>135</c:v>
                </c:pt>
                <c:pt idx="186">
                  <c:v>136</c:v>
                </c:pt>
                <c:pt idx="187">
                  <c:v>137</c:v>
                </c:pt>
                <c:pt idx="188">
                  <c:v>138</c:v>
                </c:pt>
                <c:pt idx="189">
                  <c:v>139</c:v>
                </c:pt>
                <c:pt idx="190">
                  <c:v>140</c:v>
                </c:pt>
                <c:pt idx="191">
                  <c:v>141</c:v>
                </c:pt>
                <c:pt idx="192">
                  <c:v>142</c:v>
                </c:pt>
                <c:pt idx="193">
                  <c:v>143</c:v>
                </c:pt>
                <c:pt idx="194">
                  <c:v>144</c:v>
                </c:pt>
                <c:pt idx="195">
                  <c:v>145</c:v>
                </c:pt>
                <c:pt idx="196">
                  <c:v>146</c:v>
                </c:pt>
                <c:pt idx="197">
                  <c:v>147</c:v>
                </c:pt>
                <c:pt idx="198">
                  <c:v>148</c:v>
                </c:pt>
                <c:pt idx="199">
                  <c:v>149</c:v>
                </c:pt>
                <c:pt idx="200">
                  <c:v>150</c:v>
                </c:pt>
              </c:numCache>
            </c:numRef>
          </c:xVal>
          <c:yVal>
            <c:numRef>
              <c:f>Sheet3!$D$1:$D$201</c:f>
              <c:numCache>
                <c:formatCode>General</c:formatCode>
                <c:ptCount val="201"/>
                <c:pt idx="0">
                  <c:v>-51.009174311926607</c:v>
                </c:pt>
                <c:pt idx="1">
                  <c:v>-50.183486238532112</c:v>
                </c:pt>
                <c:pt idx="2">
                  <c:v>-49.357798165137616</c:v>
                </c:pt>
                <c:pt idx="3">
                  <c:v>-48.532110091743121</c:v>
                </c:pt>
                <c:pt idx="4">
                  <c:v>-47.706422018348626</c:v>
                </c:pt>
                <c:pt idx="5">
                  <c:v>-46.88073394495413</c:v>
                </c:pt>
                <c:pt idx="6">
                  <c:v>-46.055045871559635</c:v>
                </c:pt>
                <c:pt idx="7">
                  <c:v>-45.22935779816514</c:v>
                </c:pt>
                <c:pt idx="8">
                  <c:v>-44.311926605504588</c:v>
                </c:pt>
                <c:pt idx="9">
                  <c:v>-43.394495412844037</c:v>
                </c:pt>
                <c:pt idx="10">
                  <c:v>-42.38532110091743</c:v>
                </c:pt>
                <c:pt idx="11">
                  <c:v>-41.467889908256879</c:v>
                </c:pt>
                <c:pt idx="12">
                  <c:v>-40.458715596330272</c:v>
                </c:pt>
                <c:pt idx="13">
                  <c:v>-39.541284403669721</c:v>
                </c:pt>
                <c:pt idx="14">
                  <c:v>-38.62385321100917</c:v>
                </c:pt>
                <c:pt idx="15">
                  <c:v>-37.61467889908257</c:v>
                </c:pt>
                <c:pt idx="16">
                  <c:v>-36.697247706422019</c:v>
                </c:pt>
                <c:pt idx="17">
                  <c:v>-35.688073394495412</c:v>
                </c:pt>
                <c:pt idx="18">
                  <c:v>-34.77064220183486</c:v>
                </c:pt>
                <c:pt idx="19">
                  <c:v>-33.853211009174309</c:v>
                </c:pt>
                <c:pt idx="20">
                  <c:v>-32.844036697247702</c:v>
                </c:pt>
                <c:pt idx="21">
                  <c:v>-31.926605504587155</c:v>
                </c:pt>
                <c:pt idx="22">
                  <c:v>-30.917431192660551</c:v>
                </c:pt>
                <c:pt idx="23">
                  <c:v>-30</c:v>
                </c:pt>
                <c:pt idx="24">
                  <c:v>-28.990825688073393</c:v>
                </c:pt>
                <c:pt idx="25">
                  <c:v>-28.073394495412842</c:v>
                </c:pt>
                <c:pt idx="26">
                  <c:v>-27.064220183486238</c:v>
                </c:pt>
                <c:pt idx="27">
                  <c:v>-26.146788990825687</c:v>
                </c:pt>
                <c:pt idx="28">
                  <c:v>-25.13761467889908</c:v>
                </c:pt>
                <c:pt idx="29">
                  <c:v>-24.220183486238533</c:v>
                </c:pt>
                <c:pt idx="30">
                  <c:v>-23.211009174311926</c:v>
                </c:pt>
                <c:pt idx="31">
                  <c:v>-22.201834862385322</c:v>
                </c:pt>
                <c:pt idx="32">
                  <c:v>-21.284403669724771</c:v>
                </c:pt>
                <c:pt idx="33">
                  <c:v>-20.275229357798164</c:v>
                </c:pt>
                <c:pt idx="34">
                  <c:v>-19.357798165137613</c:v>
                </c:pt>
                <c:pt idx="35">
                  <c:v>-18.348623853211009</c:v>
                </c:pt>
                <c:pt idx="36">
                  <c:v>-17.431192660550458</c:v>
                </c:pt>
                <c:pt idx="37">
                  <c:v>-16.422018348623851</c:v>
                </c:pt>
                <c:pt idx="38">
                  <c:v>-15.412844036697248</c:v>
                </c:pt>
                <c:pt idx="39">
                  <c:v>-14.495412844036696</c:v>
                </c:pt>
                <c:pt idx="40">
                  <c:v>-13.486238532110091</c:v>
                </c:pt>
                <c:pt idx="41">
                  <c:v>-12.56880733944954</c:v>
                </c:pt>
                <c:pt idx="42">
                  <c:v>-11.559633027522935</c:v>
                </c:pt>
                <c:pt idx="43">
                  <c:v>-10.55045871559633</c:v>
                </c:pt>
                <c:pt idx="44">
                  <c:v>-9.5412844036697244</c:v>
                </c:pt>
                <c:pt idx="45">
                  <c:v>-8.6238532110091732</c:v>
                </c:pt>
                <c:pt idx="46">
                  <c:v>-7.6146788990825689</c:v>
                </c:pt>
                <c:pt idx="47">
                  <c:v>-6.6055045871559628</c:v>
                </c:pt>
                <c:pt idx="48">
                  <c:v>-5.6880733944954125</c:v>
                </c:pt>
                <c:pt idx="49">
                  <c:v>-4.6788990825688073</c:v>
                </c:pt>
                <c:pt idx="50">
                  <c:v>-3.6697247706422016</c:v>
                </c:pt>
                <c:pt idx="51">
                  <c:v>-2.6605504587155964</c:v>
                </c:pt>
                <c:pt idx="52">
                  <c:v>-1.7431192660550459</c:v>
                </c:pt>
                <c:pt idx="53">
                  <c:v>-0.7339449541284403</c:v>
                </c:pt>
                <c:pt idx="54">
                  <c:v>0.27522935779816515</c:v>
                </c:pt>
                <c:pt idx="55">
                  <c:v>1.1926605504587156</c:v>
                </c:pt>
                <c:pt idx="56">
                  <c:v>2.2018348623853212</c:v>
                </c:pt>
                <c:pt idx="57">
                  <c:v>3.2110091743119265</c:v>
                </c:pt>
                <c:pt idx="58">
                  <c:v>4.2201834862385317</c:v>
                </c:pt>
                <c:pt idx="59">
                  <c:v>5.137614678899082</c:v>
                </c:pt>
                <c:pt idx="60">
                  <c:v>6.1467889908256881</c:v>
                </c:pt>
                <c:pt idx="61">
                  <c:v>7.1559633027522933</c:v>
                </c:pt>
                <c:pt idx="62">
                  <c:v>8.1651376146788994</c:v>
                </c:pt>
                <c:pt idx="63">
                  <c:v>9.0825688073394488</c:v>
                </c:pt>
                <c:pt idx="64">
                  <c:v>10.091743119266054</c:v>
                </c:pt>
                <c:pt idx="65">
                  <c:v>11.100917431192661</c:v>
                </c:pt>
                <c:pt idx="66">
                  <c:v>12.110091743119266</c:v>
                </c:pt>
                <c:pt idx="67">
                  <c:v>13.027522935779816</c:v>
                </c:pt>
                <c:pt idx="68">
                  <c:v>14.036697247706421</c:v>
                </c:pt>
                <c:pt idx="69">
                  <c:v>15.045871559633028</c:v>
                </c:pt>
                <c:pt idx="70">
                  <c:v>16.055045871559631</c:v>
                </c:pt>
                <c:pt idx="71">
                  <c:v>17.064220183486238</c:v>
                </c:pt>
                <c:pt idx="72">
                  <c:v>17.98165137614679</c:v>
                </c:pt>
                <c:pt idx="73">
                  <c:v>18.990825688073393</c:v>
                </c:pt>
                <c:pt idx="74">
                  <c:v>20</c:v>
                </c:pt>
                <c:pt idx="75">
                  <c:v>21.009174311926603</c:v>
                </c:pt>
                <c:pt idx="76">
                  <c:v>22.01834862385321</c:v>
                </c:pt>
                <c:pt idx="77">
                  <c:v>22.935779816513762</c:v>
                </c:pt>
                <c:pt idx="78">
                  <c:v>23.944954128440365</c:v>
                </c:pt>
                <c:pt idx="79">
                  <c:v>24.954128440366972</c:v>
                </c:pt>
                <c:pt idx="80">
                  <c:v>25.963302752293576</c:v>
                </c:pt>
                <c:pt idx="81">
                  <c:v>26.972477064220183</c:v>
                </c:pt>
                <c:pt idx="82">
                  <c:v>27.889908256880734</c:v>
                </c:pt>
                <c:pt idx="83">
                  <c:v>28.899082568807337</c:v>
                </c:pt>
                <c:pt idx="84">
                  <c:v>29.908256880733944</c:v>
                </c:pt>
                <c:pt idx="85">
                  <c:v>30.917431192660551</c:v>
                </c:pt>
                <c:pt idx="86">
                  <c:v>31.926605504587155</c:v>
                </c:pt>
                <c:pt idx="87">
                  <c:v>32.935779816513758</c:v>
                </c:pt>
                <c:pt idx="88">
                  <c:v>33.944954128440365</c:v>
                </c:pt>
                <c:pt idx="89">
                  <c:v>34.954128440366972</c:v>
                </c:pt>
                <c:pt idx="90">
                  <c:v>35.963302752293579</c:v>
                </c:pt>
                <c:pt idx="91">
                  <c:v>36.972477064220179</c:v>
                </c:pt>
                <c:pt idx="92">
                  <c:v>37.981651376146786</c:v>
                </c:pt>
                <c:pt idx="93">
                  <c:v>38.990825688073393</c:v>
                </c:pt>
                <c:pt idx="94">
                  <c:v>40</c:v>
                </c:pt>
                <c:pt idx="95">
                  <c:v>41.009174311926607</c:v>
                </c:pt>
                <c:pt idx="96">
                  <c:v>42.018348623853207</c:v>
                </c:pt>
                <c:pt idx="97">
                  <c:v>43.027522935779814</c:v>
                </c:pt>
                <c:pt idx="98">
                  <c:v>44.036697247706421</c:v>
                </c:pt>
                <c:pt idx="99">
                  <c:v>45.045871559633028</c:v>
                </c:pt>
                <c:pt idx="100">
                  <c:v>46.055045871559635</c:v>
                </c:pt>
                <c:pt idx="101">
                  <c:v>47.064220183486235</c:v>
                </c:pt>
                <c:pt idx="102">
                  <c:v>48.073394495412842</c:v>
                </c:pt>
                <c:pt idx="103">
                  <c:v>49.082568807339449</c:v>
                </c:pt>
                <c:pt idx="104">
                  <c:v>50.091743119266056</c:v>
                </c:pt>
                <c:pt idx="105">
                  <c:v>51.100917431192656</c:v>
                </c:pt>
                <c:pt idx="106">
                  <c:v>52.110091743119263</c:v>
                </c:pt>
                <c:pt idx="107">
                  <c:v>53.11926605504587</c:v>
                </c:pt>
                <c:pt idx="108">
                  <c:v>54.128440366972477</c:v>
                </c:pt>
                <c:pt idx="109">
                  <c:v>55.137614678899084</c:v>
                </c:pt>
                <c:pt idx="110">
                  <c:v>56.146788990825684</c:v>
                </c:pt>
                <c:pt idx="111">
                  <c:v>57.247706422018346</c:v>
                </c:pt>
                <c:pt idx="112">
                  <c:v>58.256880733944953</c:v>
                </c:pt>
                <c:pt idx="113">
                  <c:v>59.26605504587156</c:v>
                </c:pt>
                <c:pt idx="114">
                  <c:v>60.27522935779816</c:v>
                </c:pt>
                <c:pt idx="115">
                  <c:v>61.376146788990823</c:v>
                </c:pt>
                <c:pt idx="116">
                  <c:v>62.38532110091743</c:v>
                </c:pt>
                <c:pt idx="117">
                  <c:v>63.394495412844037</c:v>
                </c:pt>
                <c:pt idx="118">
                  <c:v>64.403669724770637</c:v>
                </c:pt>
                <c:pt idx="119">
                  <c:v>65.504587155963307</c:v>
                </c:pt>
                <c:pt idx="120">
                  <c:v>66.513761467889907</c:v>
                </c:pt>
                <c:pt idx="121">
                  <c:v>67.522935779816507</c:v>
                </c:pt>
                <c:pt idx="122">
                  <c:v>68.532110091743121</c:v>
                </c:pt>
                <c:pt idx="123">
                  <c:v>69.633027522935777</c:v>
                </c:pt>
                <c:pt idx="124">
                  <c:v>70.642201834862377</c:v>
                </c:pt>
                <c:pt idx="125">
                  <c:v>71.651376146788991</c:v>
                </c:pt>
                <c:pt idx="126">
                  <c:v>72.660550458715591</c:v>
                </c:pt>
                <c:pt idx="127">
                  <c:v>73.669724770642205</c:v>
                </c:pt>
                <c:pt idx="128">
                  <c:v>74.77064220183486</c:v>
                </c:pt>
                <c:pt idx="129">
                  <c:v>75.77981651376146</c:v>
                </c:pt>
                <c:pt idx="130">
                  <c:v>76.788990825688074</c:v>
                </c:pt>
                <c:pt idx="131">
                  <c:v>77.798165137614674</c:v>
                </c:pt>
                <c:pt idx="132">
                  <c:v>78.807339449541288</c:v>
                </c:pt>
                <c:pt idx="133">
                  <c:v>79.908256880733944</c:v>
                </c:pt>
                <c:pt idx="134">
                  <c:v>80.917431192660544</c:v>
                </c:pt>
                <c:pt idx="135">
                  <c:v>81.926605504587158</c:v>
                </c:pt>
                <c:pt idx="136">
                  <c:v>83.027522935779814</c:v>
                </c:pt>
                <c:pt idx="137">
                  <c:v>84.036697247706414</c:v>
                </c:pt>
                <c:pt idx="138">
                  <c:v>85.045871559633028</c:v>
                </c:pt>
                <c:pt idx="139">
                  <c:v>86.055045871559628</c:v>
                </c:pt>
                <c:pt idx="140">
                  <c:v>87.155963302752298</c:v>
                </c:pt>
                <c:pt idx="141">
                  <c:v>88.165137614678898</c:v>
                </c:pt>
                <c:pt idx="142">
                  <c:v>89.174311926605498</c:v>
                </c:pt>
                <c:pt idx="143">
                  <c:v>90.275229357798167</c:v>
                </c:pt>
                <c:pt idx="144">
                  <c:v>91.284403669724767</c:v>
                </c:pt>
                <c:pt idx="145">
                  <c:v>92.293577981651367</c:v>
                </c:pt>
                <c:pt idx="146">
                  <c:v>93.394495412844037</c:v>
                </c:pt>
                <c:pt idx="147">
                  <c:v>94.403669724770637</c:v>
                </c:pt>
                <c:pt idx="148">
                  <c:v>95.412844036697251</c:v>
                </c:pt>
                <c:pt idx="149">
                  <c:v>96.513761467889907</c:v>
                </c:pt>
                <c:pt idx="150">
                  <c:v>97.522935779816507</c:v>
                </c:pt>
                <c:pt idx="151">
                  <c:v>98.532110091743121</c:v>
                </c:pt>
                <c:pt idx="152">
                  <c:v>99.633027522935777</c:v>
                </c:pt>
                <c:pt idx="153">
                  <c:v>100.64220183486238</c:v>
                </c:pt>
                <c:pt idx="154">
                  <c:v>101.74311926605505</c:v>
                </c:pt>
                <c:pt idx="155">
                  <c:v>102.75229357798165</c:v>
                </c:pt>
                <c:pt idx="156">
                  <c:v>103.76146788990826</c:v>
                </c:pt>
                <c:pt idx="157">
                  <c:v>104.86238532110092</c:v>
                </c:pt>
                <c:pt idx="158">
                  <c:v>105.87155963302752</c:v>
                </c:pt>
                <c:pt idx="159">
                  <c:v>106.88073394495413</c:v>
                </c:pt>
                <c:pt idx="160">
                  <c:v>107.98165137614679</c:v>
                </c:pt>
                <c:pt idx="161">
                  <c:v>108.99082568807339</c:v>
                </c:pt>
                <c:pt idx="162">
                  <c:v>110.09174311926606</c:v>
                </c:pt>
                <c:pt idx="163">
                  <c:v>111.10091743119266</c:v>
                </c:pt>
                <c:pt idx="164">
                  <c:v>112.20183486238531</c:v>
                </c:pt>
                <c:pt idx="165">
                  <c:v>113.21100917431193</c:v>
                </c:pt>
                <c:pt idx="166">
                  <c:v>114.31192660550458</c:v>
                </c:pt>
                <c:pt idx="167">
                  <c:v>115.3211009174312</c:v>
                </c:pt>
                <c:pt idx="168">
                  <c:v>116.42201834862385</c:v>
                </c:pt>
                <c:pt idx="169">
                  <c:v>117.43119266055045</c:v>
                </c:pt>
                <c:pt idx="170">
                  <c:v>118.44036697247707</c:v>
                </c:pt>
                <c:pt idx="171">
                  <c:v>119.54128440366972</c:v>
                </c:pt>
                <c:pt idx="172">
                  <c:v>120.64220183486238</c:v>
                </c:pt>
                <c:pt idx="173">
                  <c:v>121.65137614678899</c:v>
                </c:pt>
                <c:pt idx="174">
                  <c:v>122.75229357798165</c:v>
                </c:pt>
                <c:pt idx="175">
                  <c:v>123.76146788990825</c:v>
                </c:pt>
                <c:pt idx="176">
                  <c:v>124.86238532110092</c:v>
                </c:pt>
                <c:pt idx="177">
                  <c:v>125.87155963302752</c:v>
                </c:pt>
                <c:pt idx="178">
                  <c:v>126.97247706422019</c:v>
                </c:pt>
                <c:pt idx="179">
                  <c:v>127.98165137614679</c:v>
                </c:pt>
                <c:pt idx="180">
                  <c:v>129.08256880733944</c:v>
                </c:pt>
                <c:pt idx="181">
                  <c:v>130.09174311926606</c:v>
                </c:pt>
                <c:pt idx="182">
                  <c:v>131.1926605504587</c:v>
                </c:pt>
                <c:pt idx="183">
                  <c:v>132.29357798165137</c:v>
                </c:pt>
                <c:pt idx="184">
                  <c:v>133.30275229357798</c:v>
                </c:pt>
                <c:pt idx="185">
                  <c:v>134.40366972477065</c:v>
                </c:pt>
                <c:pt idx="186">
                  <c:v>135.41284403669724</c:v>
                </c:pt>
                <c:pt idx="187">
                  <c:v>136.51376146788991</c:v>
                </c:pt>
                <c:pt idx="188">
                  <c:v>137.61467889908258</c:v>
                </c:pt>
                <c:pt idx="189">
                  <c:v>138.62385321100916</c:v>
                </c:pt>
                <c:pt idx="190">
                  <c:v>139.72477064220183</c:v>
                </c:pt>
                <c:pt idx="191">
                  <c:v>140.8256880733945</c:v>
                </c:pt>
                <c:pt idx="192">
                  <c:v>141.83486238532109</c:v>
                </c:pt>
                <c:pt idx="193">
                  <c:v>142.93577981651376</c:v>
                </c:pt>
                <c:pt idx="194">
                  <c:v>144.03669724770643</c:v>
                </c:pt>
                <c:pt idx="195">
                  <c:v>145.04587155963301</c:v>
                </c:pt>
                <c:pt idx="196">
                  <c:v>146.14678899082568</c:v>
                </c:pt>
                <c:pt idx="197">
                  <c:v>147.24770642201835</c:v>
                </c:pt>
                <c:pt idx="198">
                  <c:v>148.348623853211</c:v>
                </c:pt>
                <c:pt idx="199">
                  <c:v>149.35779816513761</c:v>
                </c:pt>
                <c:pt idx="200">
                  <c:v>150.45871559633028</c:v>
                </c:pt>
              </c:numCache>
            </c:numRef>
          </c:yVal>
          <c:smooth val="0"/>
          <c:extLst>
            <c:ext xmlns:c16="http://schemas.microsoft.com/office/drawing/2014/chart" uri="{C3380CC4-5D6E-409C-BE32-E72D297353CC}">
              <c16:uniqueId val="{00000001-F6A4-466D-BE5B-FAF475C98622}"/>
            </c:ext>
          </c:extLst>
        </c:ser>
        <c:dLbls>
          <c:showLegendKey val="0"/>
          <c:showVal val="0"/>
          <c:showCatName val="0"/>
          <c:showSerName val="0"/>
          <c:showPercent val="0"/>
          <c:showBubbleSize val="0"/>
        </c:dLbls>
        <c:axId val="711369968"/>
        <c:axId val="928601360"/>
      </c:scatterChart>
      <c:valAx>
        <c:axId val="711369968"/>
        <c:scaling>
          <c:orientation val="minMax"/>
          <c:max val="150"/>
          <c:min val="-50"/>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28601360"/>
        <c:crosses val="autoZero"/>
        <c:crossBetween val="midCat"/>
      </c:valAx>
      <c:valAx>
        <c:axId val="928601360"/>
        <c:scaling>
          <c:orientation val="minMax"/>
          <c:max val="150"/>
          <c:min val="-5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11369968"/>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v>Simple Conversion</c:v>
          </c:tx>
          <c:spPr>
            <a:ln w="19050" cap="rnd">
              <a:solidFill>
                <a:schemeClr val="accent1"/>
              </a:solidFill>
              <a:round/>
            </a:ln>
            <a:effectLst/>
          </c:spPr>
          <c:marker>
            <c:symbol val="none"/>
          </c:marker>
          <c:xVal>
            <c:numRef>
              <c:f>Sheet3!$A$1:$A$201</c:f>
              <c:numCache>
                <c:formatCode>General</c:formatCode>
                <c:ptCount val="201"/>
                <c:pt idx="0">
                  <c:v>-50</c:v>
                </c:pt>
                <c:pt idx="1">
                  <c:v>-49</c:v>
                </c:pt>
                <c:pt idx="2">
                  <c:v>-48</c:v>
                </c:pt>
                <c:pt idx="3">
                  <c:v>-47</c:v>
                </c:pt>
                <c:pt idx="4">
                  <c:v>-46</c:v>
                </c:pt>
                <c:pt idx="5">
                  <c:v>-45</c:v>
                </c:pt>
                <c:pt idx="6">
                  <c:v>-44</c:v>
                </c:pt>
                <c:pt idx="7">
                  <c:v>-43</c:v>
                </c:pt>
                <c:pt idx="8">
                  <c:v>-42</c:v>
                </c:pt>
                <c:pt idx="9">
                  <c:v>-41</c:v>
                </c:pt>
                <c:pt idx="10">
                  <c:v>-40</c:v>
                </c:pt>
                <c:pt idx="11">
                  <c:v>-39</c:v>
                </c:pt>
                <c:pt idx="12">
                  <c:v>-38</c:v>
                </c:pt>
                <c:pt idx="13">
                  <c:v>-37</c:v>
                </c:pt>
                <c:pt idx="14">
                  <c:v>-36</c:v>
                </c:pt>
                <c:pt idx="15">
                  <c:v>-35</c:v>
                </c:pt>
                <c:pt idx="16">
                  <c:v>-34</c:v>
                </c:pt>
                <c:pt idx="17">
                  <c:v>-33</c:v>
                </c:pt>
                <c:pt idx="18">
                  <c:v>-32</c:v>
                </c:pt>
                <c:pt idx="19">
                  <c:v>-31</c:v>
                </c:pt>
                <c:pt idx="20">
                  <c:v>-30</c:v>
                </c:pt>
                <c:pt idx="21">
                  <c:v>-29</c:v>
                </c:pt>
                <c:pt idx="22">
                  <c:v>-28</c:v>
                </c:pt>
                <c:pt idx="23">
                  <c:v>-27</c:v>
                </c:pt>
                <c:pt idx="24">
                  <c:v>-26</c:v>
                </c:pt>
                <c:pt idx="25">
                  <c:v>-25</c:v>
                </c:pt>
                <c:pt idx="26">
                  <c:v>-24</c:v>
                </c:pt>
                <c:pt idx="27">
                  <c:v>-23</c:v>
                </c:pt>
                <c:pt idx="28">
                  <c:v>-22</c:v>
                </c:pt>
                <c:pt idx="29">
                  <c:v>-21</c:v>
                </c:pt>
                <c:pt idx="30">
                  <c:v>-20</c:v>
                </c:pt>
                <c:pt idx="31">
                  <c:v>-19</c:v>
                </c:pt>
                <c:pt idx="32">
                  <c:v>-18</c:v>
                </c:pt>
                <c:pt idx="33">
                  <c:v>-17</c:v>
                </c:pt>
                <c:pt idx="34">
                  <c:v>-16</c:v>
                </c:pt>
                <c:pt idx="35">
                  <c:v>-15</c:v>
                </c:pt>
                <c:pt idx="36">
                  <c:v>-14</c:v>
                </c:pt>
                <c:pt idx="37">
                  <c:v>-13</c:v>
                </c:pt>
                <c:pt idx="38">
                  <c:v>-12</c:v>
                </c:pt>
                <c:pt idx="39">
                  <c:v>-11</c:v>
                </c:pt>
                <c:pt idx="40">
                  <c:v>-10</c:v>
                </c:pt>
                <c:pt idx="41">
                  <c:v>-9</c:v>
                </c:pt>
                <c:pt idx="42">
                  <c:v>-8</c:v>
                </c:pt>
                <c:pt idx="43">
                  <c:v>-7</c:v>
                </c:pt>
                <c:pt idx="44">
                  <c:v>-6</c:v>
                </c:pt>
                <c:pt idx="45">
                  <c:v>-5</c:v>
                </c:pt>
                <c:pt idx="46">
                  <c:v>-4</c:v>
                </c:pt>
                <c:pt idx="47">
                  <c:v>-3</c:v>
                </c:pt>
                <c:pt idx="48">
                  <c:v>-2</c:v>
                </c:pt>
                <c:pt idx="49">
                  <c:v>-1</c:v>
                </c:pt>
                <c:pt idx="50">
                  <c:v>0</c:v>
                </c:pt>
                <c:pt idx="51">
                  <c:v>1</c:v>
                </c:pt>
                <c:pt idx="52">
                  <c:v>2</c:v>
                </c:pt>
                <c:pt idx="53">
                  <c:v>3</c:v>
                </c:pt>
                <c:pt idx="54">
                  <c:v>4</c:v>
                </c:pt>
                <c:pt idx="55">
                  <c:v>5</c:v>
                </c:pt>
                <c:pt idx="56">
                  <c:v>6</c:v>
                </c:pt>
                <c:pt idx="57">
                  <c:v>7</c:v>
                </c:pt>
                <c:pt idx="58">
                  <c:v>8</c:v>
                </c:pt>
                <c:pt idx="59">
                  <c:v>9</c:v>
                </c:pt>
                <c:pt idx="60">
                  <c:v>10</c:v>
                </c:pt>
                <c:pt idx="61">
                  <c:v>11</c:v>
                </c:pt>
                <c:pt idx="62">
                  <c:v>12</c:v>
                </c:pt>
                <c:pt idx="63">
                  <c:v>13</c:v>
                </c:pt>
                <c:pt idx="64">
                  <c:v>14</c:v>
                </c:pt>
                <c:pt idx="65">
                  <c:v>15</c:v>
                </c:pt>
                <c:pt idx="66">
                  <c:v>16</c:v>
                </c:pt>
                <c:pt idx="67">
                  <c:v>17</c:v>
                </c:pt>
                <c:pt idx="68">
                  <c:v>18</c:v>
                </c:pt>
                <c:pt idx="69">
                  <c:v>19</c:v>
                </c:pt>
                <c:pt idx="70">
                  <c:v>20</c:v>
                </c:pt>
                <c:pt idx="71">
                  <c:v>21</c:v>
                </c:pt>
                <c:pt idx="72">
                  <c:v>22</c:v>
                </c:pt>
                <c:pt idx="73">
                  <c:v>23</c:v>
                </c:pt>
                <c:pt idx="74">
                  <c:v>24</c:v>
                </c:pt>
                <c:pt idx="75">
                  <c:v>25</c:v>
                </c:pt>
                <c:pt idx="76">
                  <c:v>26</c:v>
                </c:pt>
                <c:pt idx="77">
                  <c:v>27</c:v>
                </c:pt>
                <c:pt idx="78">
                  <c:v>28</c:v>
                </c:pt>
                <c:pt idx="79">
                  <c:v>29</c:v>
                </c:pt>
                <c:pt idx="80">
                  <c:v>30</c:v>
                </c:pt>
                <c:pt idx="81">
                  <c:v>31</c:v>
                </c:pt>
                <c:pt idx="82">
                  <c:v>32</c:v>
                </c:pt>
                <c:pt idx="83">
                  <c:v>33</c:v>
                </c:pt>
                <c:pt idx="84">
                  <c:v>34</c:v>
                </c:pt>
                <c:pt idx="85">
                  <c:v>35</c:v>
                </c:pt>
                <c:pt idx="86">
                  <c:v>36</c:v>
                </c:pt>
                <c:pt idx="87">
                  <c:v>37</c:v>
                </c:pt>
                <c:pt idx="88">
                  <c:v>38</c:v>
                </c:pt>
                <c:pt idx="89">
                  <c:v>39</c:v>
                </c:pt>
                <c:pt idx="90">
                  <c:v>40</c:v>
                </c:pt>
                <c:pt idx="91">
                  <c:v>41</c:v>
                </c:pt>
                <c:pt idx="92">
                  <c:v>42</c:v>
                </c:pt>
                <c:pt idx="93">
                  <c:v>43</c:v>
                </c:pt>
                <c:pt idx="94">
                  <c:v>44</c:v>
                </c:pt>
                <c:pt idx="95">
                  <c:v>45</c:v>
                </c:pt>
                <c:pt idx="96">
                  <c:v>46</c:v>
                </c:pt>
                <c:pt idx="97">
                  <c:v>47</c:v>
                </c:pt>
                <c:pt idx="98">
                  <c:v>48</c:v>
                </c:pt>
                <c:pt idx="99">
                  <c:v>49</c:v>
                </c:pt>
                <c:pt idx="100">
                  <c:v>50</c:v>
                </c:pt>
                <c:pt idx="101">
                  <c:v>51</c:v>
                </c:pt>
                <c:pt idx="102">
                  <c:v>52</c:v>
                </c:pt>
                <c:pt idx="103">
                  <c:v>53</c:v>
                </c:pt>
                <c:pt idx="104">
                  <c:v>54</c:v>
                </c:pt>
                <c:pt idx="105">
                  <c:v>55</c:v>
                </c:pt>
                <c:pt idx="106">
                  <c:v>56</c:v>
                </c:pt>
                <c:pt idx="107">
                  <c:v>57</c:v>
                </c:pt>
                <c:pt idx="108">
                  <c:v>58</c:v>
                </c:pt>
                <c:pt idx="109">
                  <c:v>59</c:v>
                </c:pt>
                <c:pt idx="110">
                  <c:v>60</c:v>
                </c:pt>
                <c:pt idx="111">
                  <c:v>61</c:v>
                </c:pt>
                <c:pt idx="112">
                  <c:v>62</c:v>
                </c:pt>
                <c:pt idx="113">
                  <c:v>63</c:v>
                </c:pt>
                <c:pt idx="114">
                  <c:v>64</c:v>
                </c:pt>
                <c:pt idx="115">
                  <c:v>65</c:v>
                </c:pt>
                <c:pt idx="116">
                  <c:v>66</c:v>
                </c:pt>
                <c:pt idx="117">
                  <c:v>67</c:v>
                </c:pt>
                <c:pt idx="118">
                  <c:v>68</c:v>
                </c:pt>
                <c:pt idx="119">
                  <c:v>69</c:v>
                </c:pt>
                <c:pt idx="120">
                  <c:v>70</c:v>
                </c:pt>
                <c:pt idx="121">
                  <c:v>71</c:v>
                </c:pt>
                <c:pt idx="122">
                  <c:v>72</c:v>
                </c:pt>
                <c:pt idx="123">
                  <c:v>73</c:v>
                </c:pt>
                <c:pt idx="124">
                  <c:v>74</c:v>
                </c:pt>
                <c:pt idx="125">
                  <c:v>75</c:v>
                </c:pt>
                <c:pt idx="126">
                  <c:v>76</c:v>
                </c:pt>
                <c:pt idx="127">
                  <c:v>77</c:v>
                </c:pt>
                <c:pt idx="128">
                  <c:v>78</c:v>
                </c:pt>
                <c:pt idx="129">
                  <c:v>79</c:v>
                </c:pt>
                <c:pt idx="130">
                  <c:v>80</c:v>
                </c:pt>
                <c:pt idx="131">
                  <c:v>81</c:v>
                </c:pt>
                <c:pt idx="132">
                  <c:v>82</c:v>
                </c:pt>
                <c:pt idx="133">
                  <c:v>83</c:v>
                </c:pt>
                <c:pt idx="134">
                  <c:v>84</c:v>
                </c:pt>
                <c:pt idx="135">
                  <c:v>85</c:v>
                </c:pt>
                <c:pt idx="136">
                  <c:v>86</c:v>
                </c:pt>
                <c:pt idx="137">
                  <c:v>87</c:v>
                </c:pt>
                <c:pt idx="138">
                  <c:v>88</c:v>
                </c:pt>
                <c:pt idx="139">
                  <c:v>89</c:v>
                </c:pt>
                <c:pt idx="140">
                  <c:v>90</c:v>
                </c:pt>
                <c:pt idx="141">
                  <c:v>91</c:v>
                </c:pt>
                <c:pt idx="142">
                  <c:v>92</c:v>
                </c:pt>
                <c:pt idx="143">
                  <c:v>93</c:v>
                </c:pt>
                <c:pt idx="144">
                  <c:v>94</c:v>
                </c:pt>
                <c:pt idx="145">
                  <c:v>95</c:v>
                </c:pt>
                <c:pt idx="146">
                  <c:v>96</c:v>
                </c:pt>
                <c:pt idx="147">
                  <c:v>97</c:v>
                </c:pt>
                <c:pt idx="148">
                  <c:v>98</c:v>
                </c:pt>
                <c:pt idx="149">
                  <c:v>99</c:v>
                </c:pt>
                <c:pt idx="150">
                  <c:v>100</c:v>
                </c:pt>
                <c:pt idx="151">
                  <c:v>101</c:v>
                </c:pt>
                <c:pt idx="152">
                  <c:v>102</c:v>
                </c:pt>
                <c:pt idx="153">
                  <c:v>103</c:v>
                </c:pt>
                <c:pt idx="154">
                  <c:v>104</c:v>
                </c:pt>
                <c:pt idx="155">
                  <c:v>105</c:v>
                </c:pt>
                <c:pt idx="156">
                  <c:v>106</c:v>
                </c:pt>
                <c:pt idx="157">
                  <c:v>107</c:v>
                </c:pt>
                <c:pt idx="158">
                  <c:v>108</c:v>
                </c:pt>
                <c:pt idx="159">
                  <c:v>109</c:v>
                </c:pt>
                <c:pt idx="160">
                  <c:v>110</c:v>
                </c:pt>
                <c:pt idx="161">
                  <c:v>111</c:v>
                </c:pt>
                <c:pt idx="162">
                  <c:v>112</c:v>
                </c:pt>
                <c:pt idx="163">
                  <c:v>113</c:v>
                </c:pt>
                <c:pt idx="164">
                  <c:v>114</c:v>
                </c:pt>
                <c:pt idx="165">
                  <c:v>115</c:v>
                </c:pt>
                <c:pt idx="166">
                  <c:v>116</c:v>
                </c:pt>
                <c:pt idx="167">
                  <c:v>117</c:v>
                </c:pt>
                <c:pt idx="168">
                  <c:v>118</c:v>
                </c:pt>
                <c:pt idx="169">
                  <c:v>119</c:v>
                </c:pt>
                <c:pt idx="170">
                  <c:v>120</c:v>
                </c:pt>
                <c:pt idx="171">
                  <c:v>121</c:v>
                </c:pt>
                <c:pt idx="172">
                  <c:v>122</c:v>
                </c:pt>
                <c:pt idx="173">
                  <c:v>123</c:v>
                </c:pt>
                <c:pt idx="174">
                  <c:v>124</c:v>
                </c:pt>
                <c:pt idx="175">
                  <c:v>125</c:v>
                </c:pt>
                <c:pt idx="176">
                  <c:v>126</c:v>
                </c:pt>
                <c:pt idx="177">
                  <c:v>127</c:v>
                </c:pt>
                <c:pt idx="178">
                  <c:v>128</c:v>
                </c:pt>
                <c:pt idx="179">
                  <c:v>129</c:v>
                </c:pt>
                <c:pt idx="180">
                  <c:v>130</c:v>
                </c:pt>
                <c:pt idx="181">
                  <c:v>131</c:v>
                </c:pt>
                <c:pt idx="182">
                  <c:v>132</c:v>
                </c:pt>
                <c:pt idx="183">
                  <c:v>133</c:v>
                </c:pt>
                <c:pt idx="184">
                  <c:v>134</c:v>
                </c:pt>
                <c:pt idx="185">
                  <c:v>135</c:v>
                </c:pt>
                <c:pt idx="186">
                  <c:v>136</c:v>
                </c:pt>
                <c:pt idx="187">
                  <c:v>137</c:v>
                </c:pt>
                <c:pt idx="188">
                  <c:v>138</c:v>
                </c:pt>
                <c:pt idx="189">
                  <c:v>139</c:v>
                </c:pt>
                <c:pt idx="190">
                  <c:v>140</c:v>
                </c:pt>
                <c:pt idx="191">
                  <c:v>141</c:v>
                </c:pt>
                <c:pt idx="192">
                  <c:v>142</c:v>
                </c:pt>
                <c:pt idx="193">
                  <c:v>143</c:v>
                </c:pt>
                <c:pt idx="194">
                  <c:v>144</c:v>
                </c:pt>
                <c:pt idx="195">
                  <c:v>145</c:v>
                </c:pt>
                <c:pt idx="196">
                  <c:v>146</c:v>
                </c:pt>
                <c:pt idx="197">
                  <c:v>147</c:v>
                </c:pt>
                <c:pt idx="198">
                  <c:v>148</c:v>
                </c:pt>
                <c:pt idx="199">
                  <c:v>149</c:v>
                </c:pt>
                <c:pt idx="200">
                  <c:v>150</c:v>
                </c:pt>
              </c:numCache>
            </c:numRef>
          </c:xVal>
          <c:yVal>
            <c:numRef>
              <c:f>Sheet3!$E$1:$E$201</c:f>
              <c:numCache>
                <c:formatCode>General</c:formatCode>
                <c:ptCount val="201"/>
                <c:pt idx="0">
                  <c:v>0.82304526748971085</c:v>
                </c:pt>
                <c:pt idx="1">
                  <c:v>1</c:v>
                </c:pt>
                <c:pt idx="2">
                  <c:v>1.1769547325102891</c:v>
                </c:pt>
                <c:pt idx="3">
                  <c:v>1.3539094650205712</c:v>
                </c:pt>
                <c:pt idx="4">
                  <c:v>1.5308641975308603</c:v>
                </c:pt>
                <c:pt idx="5">
                  <c:v>1.7078189300411495</c:v>
                </c:pt>
                <c:pt idx="6">
                  <c:v>1.8847736625514386</c:v>
                </c:pt>
                <c:pt idx="7">
                  <c:v>2.0617283950617278</c:v>
                </c:pt>
                <c:pt idx="8">
                  <c:v>2.147233653406488</c:v>
                </c:pt>
                <c:pt idx="9">
                  <c:v>2.2327389117512553</c:v>
                </c:pt>
                <c:pt idx="10">
                  <c:v>2.2267946959304936</c:v>
                </c:pt>
                <c:pt idx="11">
                  <c:v>2.3122999542752609</c:v>
                </c:pt>
                <c:pt idx="12">
                  <c:v>2.3063557384544993</c:v>
                </c:pt>
                <c:pt idx="13">
                  <c:v>2.3918609967992666</c:v>
                </c:pt>
                <c:pt idx="14">
                  <c:v>2.4773662551440339</c:v>
                </c:pt>
                <c:pt idx="15">
                  <c:v>2.4714220393232722</c:v>
                </c:pt>
                <c:pt idx="16">
                  <c:v>2.5569272976680395</c:v>
                </c:pt>
                <c:pt idx="17">
                  <c:v>2.5509830818472778</c:v>
                </c:pt>
                <c:pt idx="18">
                  <c:v>2.6364883401920451</c:v>
                </c:pt>
                <c:pt idx="19">
                  <c:v>2.7219935985368053</c:v>
                </c:pt>
                <c:pt idx="20">
                  <c:v>2.7160493827160508</c:v>
                </c:pt>
                <c:pt idx="21">
                  <c:v>2.801554641060811</c:v>
                </c:pt>
                <c:pt idx="22">
                  <c:v>2.7956104252400529</c:v>
                </c:pt>
                <c:pt idx="23">
                  <c:v>2.8811156835848166</c:v>
                </c:pt>
                <c:pt idx="24">
                  <c:v>2.8751714677640585</c:v>
                </c:pt>
                <c:pt idx="25">
                  <c:v>2.9606767261088223</c:v>
                </c:pt>
                <c:pt idx="26">
                  <c:v>2.9547325102880642</c:v>
                </c:pt>
                <c:pt idx="27">
                  <c:v>3.0402377686328279</c:v>
                </c:pt>
                <c:pt idx="28">
                  <c:v>3.0342935528120698</c:v>
                </c:pt>
                <c:pt idx="29">
                  <c:v>3.1197988111568336</c:v>
                </c:pt>
                <c:pt idx="30">
                  <c:v>3.1138545953360754</c:v>
                </c:pt>
                <c:pt idx="31">
                  <c:v>3.1079103795153173</c:v>
                </c:pt>
                <c:pt idx="32">
                  <c:v>3.1934156378600811</c:v>
                </c:pt>
                <c:pt idx="33">
                  <c:v>3.187471422039323</c:v>
                </c:pt>
                <c:pt idx="34">
                  <c:v>3.2729766803840867</c:v>
                </c:pt>
                <c:pt idx="35">
                  <c:v>3.2670324645633286</c:v>
                </c:pt>
                <c:pt idx="36">
                  <c:v>3.3525377229080924</c:v>
                </c:pt>
                <c:pt idx="37">
                  <c:v>3.3465935070873343</c:v>
                </c:pt>
                <c:pt idx="38">
                  <c:v>3.3406492912665744</c:v>
                </c:pt>
                <c:pt idx="39">
                  <c:v>3.4261545496113399</c:v>
                </c:pt>
                <c:pt idx="40">
                  <c:v>3.42021033379058</c:v>
                </c:pt>
                <c:pt idx="41">
                  <c:v>3.5057155921353438</c:v>
                </c:pt>
                <c:pt idx="42">
                  <c:v>3.4997713763145857</c:v>
                </c:pt>
                <c:pt idx="43">
                  <c:v>3.4938271604938258</c:v>
                </c:pt>
                <c:pt idx="44">
                  <c:v>3.4878829446730677</c:v>
                </c:pt>
                <c:pt idx="45">
                  <c:v>3.5733882030178314</c:v>
                </c:pt>
                <c:pt idx="46">
                  <c:v>3.5674439871970733</c:v>
                </c:pt>
                <c:pt idx="47">
                  <c:v>3.5614997713763143</c:v>
                </c:pt>
                <c:pt idx="48">
                  <c:v>3.647005029721079</c:v>
                </c:pt>
                <c:pt idx="49">
                  <c:v>3.64106081390032</c:v>
                </c:pt>
                <c:pt idx="50">
                  <c:v>3.635116598079561</c:v>
                </c:pt>
                <c:pt idx="51">
                  <c:v>3.629172382258802</c:v>
                </c:pt>
                <c:pt idx="52">
                  <c:v>3.7146776406035666</c:v>
                </c:pt>
                <c:pt idx="53">
                  <c:v>3.7087334247828077</c:v>
                </c:pt>
                <c:pt idx="54">
                  <c:v>3.7027892089620487</c:v>
                </c:pt>
                <c:pt idx="55">
                  <c:v>3.7882944673068133</c:v>
                </c:pt>
                <c:pt idx="56">
                  <c:v>3.7823502514860539</c:v>
                </c:pt>
                <c:pt idx="57">
                  <c:v>3.7764060356652949</c:v>
                </c:pt>
                <c:pt idx="58">
                  <c:v>3.7704618198445363</c:v>
                </c:pt>
                <c:pt idx="59">
                  <c:v>3.855967078189301</c:v>
                </c:pt>
                <c:pt idx="60">
                  <c:v>3.850022862368542</c:v>
                </c:pt>
                <c:pt idx="61">
                  <c:v>3.844078646547783</c:v>
                </c:pt>
                <c:pt idx="62">
                  <c:v>3.838134430727024</c:v>
                </c:pt>
                <c:pt idx="63">
                  <c:v>3.9236396890717877</c:v>
                </c:pt>
                <c:pt idx="64">
                  <c:v>3.9176954732510296</c:v>
                </c:pt>
                <c:pt idx="65">
                  <c:v>3.9117512574302697</c:v>
                </c:pt>
                <c:pt idx="66">
                  <c:v>3.9058070416095116</c:v>
                </c:pt>
                <c:pt idx="67">
                  <c:v>3.9913122999542754</c:v>
                </c:pt>
                <c:pt idx="68">
                  <c:v>3.9853680841335173</c:v>
                </c:pt>
                <c:pt idx="69">
                  <c:v>3.9794238683127574</c:v>
                </c:pt>
                <c:pt idx="70">
                  <c:v>3.9734796524919993</c:v>
                </c:pt>
                <c:pt idx="71">
                  <c:v>3.9675354366712412</c:v>
                </c:pt>
                <c:pt idx="72">
                  <c:v>4.0530406950160049</c:v>
                </c:pt>
                <c:pt idx="73">
                  <c:v>4.0470964791952468</c:v>
                </c:pt>
                <c:pt idx="74">
                  <c:v>4.0411522633744852</c:v>
                </c:pt>
                <c:pt idx="75">
                  <c:v>4.0352080475537271</c:v>
                </c:pt>
                <c:pt idx="76">
                  <c:v>4.029263831732969</c:v>
                </c:pt>
                <c:pt idx="77">
                  <c:v>4.1147690900777327</c:v>
                </c:pt>
                <c:pt idx="78">
                  <c:v>4.1088248742569746</c:v>
                </c:pt>
                <c:pt idx="79">
                  <c:v>4.1028806584362165</c:v>
                </c:pt>
                <c:pt idx="80">
                  <c:v>4.0969364426154549</c:v>
                </c:pt>
                <c:pt idx="81">
                  <c:v>4.0909922267946968</c:v>
                </c:pt>
                <c:pt idx="82">
                  <c:v>4.1764974851394605</c:v>
                </c:pt>
                <c:pt idx="83">
                  <c:v>4.1705532693187024</c:v>
                </c:pt>
                <c:pt idx="84">
                  <c:v>4.1646090534979443</c:v>
                </c:pt>
                <c:pt idx="85">
                  <c:v>4.1586648376771862</c:v>
                </c:pt>
                <c:pt idx="86">
                  <c:v>4.1527206218564245</c:v>
                </c:pt>
                <c:pt idx="87">
                  <c:v>4.14677640603567</c:v>
                </c:pt>
                <c:pt idx="88">
                  <c:v>4.1408321902149083</c:v>
                </c:pt>
                <c:pt idx="89">
                  <c:v>4.1348879743941467</c:v>
                </c:pt>
                <c:pt idx="90">
                  <c:v>4.1289437585733921</c:v>
                </c:pt>
                <c:pt idx="91">
                  <c:v>4.1229995427526305</c:v>
                </c:pt>
                <c:pt idx="92">
                  <c:v>4.1170553269318688</c:v>
                </c:pt>
                <c:pt idx="93">
                  <c:v>4.1111111111111143</c:v>
                </c:pt>
                <c:pt idx="94">
                  <c:v>4.1051668952903526</c:v>
                </c:pt>
                <c:pt idx="95">
                  <c:v>4.0992226794695981</c:v>
                </c:pt>
                <c:pt idx="96">
                  <c:v>4.0932784636488364</c:v>
                </c:pt>
                <c:pt idx="97">
                  <c:v>4.0873342478280748</c:v>
                </c:pt>
                <c:pt idx="98">
                  <c:v>4.0813900320073202</c:v>
                </c:pt>
                <c:pt idx="99">
                  <c:v>4.0754458161865585</c:v>
                </c:pt>
                <c:pt idx="100">
                  <c:v>4.0695016003657969</c:v>
                </c:pt>
                <c:pt idx="101">
                  <c:v>4.0635573845450423</c:v>
                </c:pt>
                <c:pt idx="102">
                  <c:v>4.0576131687242807</c:v>
                </c:pt>
                <c:pt idx="103">
                  <c:v>4.0516689529035261</c:v>
                </c:pt>
                <c:pt idx="104">
                  <c:v>4.0457247370827645</c:v>
                </c:pt>
                <c:pt idx="105">
                  <c:v>4.0397805212620028</c:v>
                </c:pt>
                <c:pt idx="106">
                  <c:v>4.0338363054412483</c:v>
                </c:pt>
                <c:pt idx="107">
                  <c:v>4.0278920896204866</c:v>
                </c:pt>
                <c:pt idx="108">
                  <c:v>4.021947873799725</c:v>
                </c:pt>
                <c:pt idx="109">
                  <c:v>4.0160036579789704</c:v>
                </c:pt>
                <c:pt idx="110">
                  <c:v>4.0100594421582088</c:v>
                </c:pt>
                <c:pt idx="111">
                  <c:v>3.9126657521719252</c:v>
                </c:pt>
                <c:pt idx="112">
                  <c:v>3.9067215363511707</c:v>
                </c:pt>
                <c:pt idx="113">
                  <c:v>3.900777320530409</c:v>
                </c:pt>
                <c:pt idx="114">
                  <c:v>3.8948331047096474</c:v>
                </c:pt>
                <c:pt idx="115">
                  <c:v>3.797439414723371</c:v>
                </c:pt>
                <c:pt idx="116">
                  <c:v>3.7914951989026093</c:v>
                </c:pt>
                <c:pt idx="117">
                  <c:v>3.7855509830818477</c:v>
                </c:pt>
                <c:pt idx="118">
                  <c:v>3.779606767261086</c:v>
                </c:pt>
                <c:pt idx="119">
                  <c:v>3.6822130772748096</c:v>
                </c:pt>
                <c:pt idx="120">
                  <c:v>3.676268861454048</c:v>
                </c:pt>
                <c:pt idx="121">
                  <c:v>3.6703246456332863</c:v>
                </c:pt>
                <c:pt idx="122">
                  <c:v>3.6643804298125247</c:v>
                </c:pt>
                <c:pt idx="123">
                  <c:v>3.5669867398262483</c:v>
                </c:pt>
                <c:pt idx="124">
                  <c:v>3.5610425240054866</c:v>
                </c:pt>
                <c:pt idx="125">
                  <c:v>3.5550983081847249</c:v>
                </c:pt>
                <c:pt idx="126">
                  <c:v>3.5491540923639775</c:v>
                </c:pt>
                <c:pt idx="127">
                  <c:v>3.5432098765432158</c:v>
                </c:pt>
                <c:pt idx="128">
                  <c:v>3.4458161865569252</c:v>
                </c:pt>
                <c:pt idx="129">
                  <c:v>3.4398719707361778</c:v>
                </c:pt>
                <c:pt idx="130">
                  <c:v>3.4339277549154161</c:v>
                </c:pt>
                <c:pt idx="131">
                  <c:v>3.4279835390946545</c:v>
                </c:pt>
                <c:pt idx="132">
                  <c:v>3.4220393232738928</c:v>
                </c:pt>
                <c:pt idx="133">
                  <c:v>3.3246456332876164</c:v>
                </c:pt>
                <c:pt idx="134">
                  <c:v>3.3187014174668548</c:v>
                </c:pt>
                <c:pt idx="135">
                  <c:v>3.3127572016460931</c:v>
                </c:pt>
                <c:pt idx="136">
                  <c:v>3.2153635116598167</c:v>
                </c:pt>
                <c:pt idx="137">
                  <c:v>3.2094192958390551</c:v>
                </c:pt>
                <c:pt idx="138">
                  <c:v>3.2034750800182934</c:v>
                </c:pt>
                <c:pt idx="139">
                  <c:v>3.1975308641975317</c:v>
                </c:pt>
                <c:pt idx="140">
                  <c:v>3.1001371742112553</c:v>
                </c:pt>
                <c:pt idx="141">
                  <c:v>3.0941929583904937</c:v>
                </c:pt>
                <c:pt idx="142">
                  <c:v>3.088248742569732</c:v>
                </c:pt>
                <c:pt idx="143">
                  <c:v>2.9908550525834556</c:v>
                </c:pt>
                <c:pt idx="144">
                  <c:v>2.984910836762694</c:v>
                </c:pt>
                <c:pt idx="145">
                  <c:v>2.9789666209419323</c:v>
                </c:pt>
                <c:pt idx="146">
                  <c:v>2.8815729309556559</c:v>
                </c:pt>
                <c:pt idx="147">
                  <c:v>2.8756287151348943</c:v>
                </c:pt>
                <c:pt idx="148">
                  <c:v>2.8696844993141326</c:v>
                </c:pt>
                <c:pt idx="149">
                  <c:v>2.7722908093278562</c:v>
                </c:pt>
                <c:pt idx="150">
                  <c:v>2.7663465935070946</c:v>
                </c:pt>
                <c:pt idx="151">
                  <c:v>2.7604023776863329</c:v>
                </c:pt>
                <c:pt idx="152">
                  <c:v>2.6630086877000565</c:v>
                </c:pt>
                <c:pt idx="153">
                  <c:v>2.6570644718792948</c:v>
                </c:pt>
                <c:pt idx="154">
                  <c:v>2.5596707818930042</c:v>
                </c:pt>
                <c:pt idx="155">
                  <c:v>2.5537265660722568</c:v>
                </c:pt>
                <c:pt idx="156">
                  <c:v>2.5477823502514951</c:v>
                </c:pt>
                <c:pt idx="157">
                  <c:v>2.4503886602652045</c:v>
                </c:pt>
                <c:pt idx="158">
                  <c:v>2.4444444444444429</c:v>
                </c:pt>
                <c:pt idx="159">
                  <c:v>2.4385002286236954</c:v>
                </c:pt>
                <c:pt idx="160">
                  <c:v>2.3411065386374048</c:v>
                </c:pt>
                <c:pt idx="161">
                  <c:v>2.3351623228166432</c:v>
                </c:pt>
                <c:pt idx="162">
                  <c:v>2.2377686328303668</c:v>
                </c:pt>
                <c:pt idx="163">
                  <c:v>2.2318244170096051</c:v>
                </c:pt>
                <c:pt idx="164">
                  <c:v>2.1344307270233287</c:v>
                </c:pt>
                <c:pt idx="165">
                  <c:v>2.128486511202567</c:v>
                </c:pt>
                <c:pt idx="166">
                  <c:v>2.0310928212162764</c:v>
                </c:pt>
                <c:pt idx="167">
                  <c:v>2.025148605395529</c:v>
                </c:pt>
                <c:pt idx="168">
                  <c:v>1.9277549154092384</c:v>
                </c:pt>
                <c:pt idx="169">
                  <c:v>1.9218106995884767</c:v>
                </c:pt>
                <c:pt idx="170">
                  <c:v>1.9158664837677293</c:v>
                </c:pt>
                <c:pt idx="171">
                  <c:v>1.8184727937814387</c:v>
                </c:pt>
                <c:pt idx="172">
                  <c:v>1.7210791037951623</c:v>
                </c:pt>
                <c:pt idx="173">
                  <c:v>1.7151348879744006</c:v>
                </c:pt>
                <c:pt idx="174">
                  <c:v>1.6177411979881242</c:v>
                </c:pt>
                <c:pt idx="175">
                  <c:v>1.6117969821673626</c:v>
                </c:pt>
                <c:pt idx="176">
                  <c:v>1.5144032921810719</c:v>
                </c:pt>
                <c:pt idx="177">
                  <c:v>1.5084590763603103</c:v>
                </c:pt>
                <c:pt idx="178">
                  <c:v>1.4110653863740339</c:v>
                </c:pt>
                <c:pt idx="179">
                  <c:v>1.4051211705532722</c:v>
                </c:pt>
                <c:pt idx="180">
                  <c:v>1.3077274805669958</c:v>
                </c:pt>
                <c:pt idx="181">
                  <c:v>1.3017832647462342</c:v>
                </c:pt>
                <c:pt idx="182">
                  <c:v>1.2043895747599436</c:v>
                </c:pt>
                <c:pt idx="183">
                  <c:v>1.1069958847736814</c:v>
                </c:pt>
                <c:pt idx="184">
                  <c:v>1.1010516689529197</c:v>
                </c:pt>
                <c:pt idx="185">
                  <c:v>1.0036579789666291</c:v>
                </c:pt>
                <c:pt idx="186">
                  <c:v>0.99771376314586746</c:v>
                </c:pt>
                <c:pt idx="187">
                  <c:v>0.90032007315957685</c:v>
                </c:pt>
                <c:pt idx="188">
                  <c:v>0.80292638317331466</c:v>
                </c:pt>
                <c:pt idx="189">
                  <c:v>0.79698216735255301</c:v>
                </c:pt>
                <c:pt idx="190">
                  <c:v>0.6995884773662624</c:v>
                </c:pt>
                <c:pt idx="191">
                  <c:v>0.60219478737997179</c:v>
                </c:pt>
                <c:pt idx="192">
                  <c:v>0.59625057155921013</c:v>
                </c:pt>
                <c:pt idx="193">
                  <c:v>0.49885688157294794</c:v>
                </c:pt>
                <c:pt idx="194">
                  <c:v>0.40146319158665733</c:v>
                </c:pt>
                <c:pt idx="195">
                  <c:v>0.39551897576589568</c:v>
                </c:pt>
                <c:pt idx="196">
                  <c:v>0.29812528577960506</c:v>
                </c:pt>
                <c:pt idx="197">
                  <c:v>0.20073159579334288</c:v>
                </c:pt>
                <c:pt idx="198">
                  <c:v>0.10333790580705227</c:v>
                </c:pt>
                <c:pt idx="199">
                  <c:v>9.739368998629061E-2</c:v>
                </c:pt>
                <c:pt idx="200">
                  <c:v>0</c:v>
                </c:pt>
              </c:numCache>
            </c:numRef>
          </c:yVal>
          <c:smooth val="0"/>
          <c:extLst>
            <c:ext xmlns:c16="http://schemas.microsoft.com/office/drawing/2014/chart" uri="{C3380CC4-5D6E-409C-BE32-E72D297353CC}">
              <c16:uniqueId val="{00000000-78E8-415B-81F2-587839AE1F50}"/>
            </c:ext>
          </c:extLst>
        </c:ser>
        <c:ser>
          <c:idx val="1"/>
          <c:order val="1"/>
          <c:tx>
            <c:v>Very Simple</c:v>
          </c:tx>
          <c:spPr>
            <a:ln w="19050" cap="rnd">
              <a:solidFill>
                <a:schemeClr val="accent2"/>
              </a:solidFill>
              <a:round/>
            </a:ln>
            <a:effectLst/>
          </c:spPr>
          <c:marker>
            <c:symbol val="none"/>
          </c:marker>
          <c:xVal>
            <c:numRef>
              <c:f>Sheet3!$A$1:$A$201</c:f>
              <c:numCache>
                <c:formatCode>General</c:formatCode>
                <c:ptCount val="201"/>
                <c:pt idx="0">
                  <c:v>-50</c:v>
                </c:pt>
                <c:pt idx="1">
                  <c:v>-49</c:v>
                </c:pt>
                <c:pt idx="2">
                  <c:v>-48</c:v>
                </c:pt>
                <c:pt idx="3">
                  <c:v>-47</c:v>
                </c:pt>
                <c:pt idx="4">
                  <c:v>-46</c:v>
                </c:pt>
                <c:pt idx="5">
                  <c:v>-45</c:v>
                </c:pt>
                <c:pt idx="6">
                  <c:v>-44</c:v>
                </c:pt>
                <c:pt idx="7">
                  <c:v>-43</c:v>
                </c:pt>
                <c:pt idx="8">
                  <c:v>-42</c:v>
                </c:pt>
                <c:pt idx="9">
                  <c:v>-41</c:v>
                </c:pt>
                <c:pt idx="10">
                  <c:v>-40</c:v>
                </c:pt>
                <c:pt idx="11">
                  <c:v>-39</c:v>
                </c:pt>
                <c:pt idx="12">
                  <c:v>-38</c:v>
                </c:pt>
                <c:pt idx="13">
                  <c:v>-37</c:v>
                </c:pt>
                <c:pt idx="14">
                  <c:v>-36</c:v>
                </c:pt>
                <c:pt idx="15">
                  <c:v>-35</c:v>
                </c:pt>
                <c:pt idx="16">
                  <c:v>-34</c:v>
                </c:pt>
                <c:pt idx="17">
                  <c:v>-33</c:v>
                </c:pt>
                <c:pt idx="18">
                  <c:v>-32</c:v>
                </c:pt>
                <c:pt idx="19">
                  <c:v>-31</c:v>
                </c:pt>
                <c:pt idx="20">
                  <c:v>-30</c:v>
                </c:pt>
                <c:pt idx="21">
                  <c:v>-29</c:v>
                </c:pt>
                <c:pt idx="22">
                  <c:v>-28</c:v>
                </c:pt>
                <c:pt idx="23">
                  <c:v>-27</c:v>
                </c:pt>
                <c:pt idx="24">
                  <c:v>-26</c:v>
                </c:pt>
                <c:pt idx="25">
                  <c:v>-25</c:v>
                </c:pt>
                <c:pt idx="26">
                  <c:v>-24</c:v>
                </c:pt>
                <c:pt idx="27">
                  <c:v>-23</c:v>
                </c:pt>
                <c:pt idx="28">
                  <c:v>-22</c:v>
                </c:pt>
                <c:pt idx="29">
                  <c:v>-21</c:v>
                </c:pt>
                <c:pt idx="30">
                  <c:v>-20</c:v>
                </c:pt>
                <c:pt idx="31">
                  <c:v>-19</c:v>
                </c:pt>
                <c:pt idx="32">
                  <c:v>-18</c:v>
                </c:pt>
                <c:pt idx="33">
                  <c:v>-17</c:v>
                </c:pt>
                <c:pt idx="34">
                  <c:v>-16</c:v>
                </c:pt>
                <c:pt idx="35">
                  <c:v>-15</c:v>
                </c:pt>
                <c:pt idx="36">
                  <c:v>-14</c:v>
                </c:pt>
                <c:pt idx="37">
                  <c:v>-13</c:v>
                </c:pt>
                <c:pt idx="38">
                  <c:v>-12</c:v>
                </c:pt>
                <c:pt idx="39">
                  <c:v>-11</c:v>
                </c:pt>
                <c:pt idx="40">
                  <c:v>-10</c:v>
                </c:pt>
                <c:pt idx="41">
                  <c:v>-9</c:v>
                </c:pt>
                <c:pt idx="42">
                  <c:v>-8</c:v>
                </c:pt>
                <c:pt idx="43">
                  <c:v>-7</c:v>
                </c:pt>
                <c:pt idx="44">
                  <c:v>-6</c:v>
                </c:pt>
                <c:pt idx="45">
                  <c:v>-5</c:v>
                </c:pt>
                <c:pt idx="46">
                  <c:v>-4</c:v>
                </c:pt>
                <c:pt idx="47">
                  <c:v>-3</c:v>
                </c:pt>
                <c:pt idx="48">
                  <c:v>-2</c:v>
                </c:pt>
                <c:pt idx="49">
                  <c:v>-1</c:v>
                </c:pt>
                <c:pt idx="50">
                  <c:v>0</c:v>
                </c:pt>
                <c:pt idx="51">
                  <c:v>1</c:v>
                </c:pt>
                <c:pt idx="52">
                  <c:v>2</c:v>
                </c:pt>
                <c:pt idx="53">
                  <c:v>3</c:v>
                </c:pt>
                <c:pt idx="54">
                  <c:v>4</c:v>
                </c:pt>
                <c:pt idx="55">
                  <c:v>5</c:v>
                </c:pt>
                <c:pt idx="56">
                  <c:v>6</c:v>
                </c:pt>
                <c:pt idx="57">
                  <c:v>7</c:v>
                </c:pt>
                <c:pt idx="58">
                  <c:v>8</c:v>
                </c:pt>
                <c:pt idx="59">
                  <c:v>9</c:v>
                </c:pt>
                <c:pt idx="60">
                  <c:v>10</c:v>
                </c:pt>
                <c:pt idx="61">
                  <c:v>11</c:v>
                </c:pt>
                <c:pt idx="62">
                  <c:v>12</c:v>
                </c:pt>
                <c:pt idx="63">
                  <c:v>13</c:v>
                </c:pt>
                <c:pt idx="64">
                  <c:v>14</c:v>
                </c:pt>
                <c:pt idx="65">
                  <c:v>15</c:v>
                </c:pt>
                <c:pt idx="66">
                  <c:v>16</c:v>
                </c:pt>
                <c:pt idx="67">
                  <c:v>17</c:v>
                </c:pt>
                <c:pt idx="68">
                  <c:v>18</c:v>
                </c:pt>
                <c:pt idx="69">
                  <c:v>19</c:v>
                </c:pt>
                <c:pt idx="70">
                  <c:v>20</c:v>
                </c:pt>
                <c:pt idx="71">
                  <c:v>21</c:v>
                </c:pt>
                <c:pt idx="72">
                  <c:v>22</c:v>
                </c:pt>
                <c:pt idx="73">
                  <c:v>23</c:v>
                </c:pt>
                <c:pt idx="74">
                  <c:v>24</c:v>
                </c:pt>
                <c:pt idx="75">
                  <c:v>25</c:v>
                </c:pt>
                <c:pt idx="76">
                  <c:v>26</c:v>
                </c:pt>
                <c:pt idx="77">
                  <c:v>27</c:v>
                </c:pt>
                <c:pt idx="78">
                  <c:v>28</c:v>
                </c:pt>
                <c:pt idx="79">
                  <c:v>29</c:v>
                </c:pt>
                <c:pt idx="80">
                  <c:v>30</c:v>
                </c:pt>
                <c:pt idx="81">
                  <c:v>31</c:v>
                </c:pt>
                <c:pt idx="82">
                  <c:v>32</c:v>
                </c:pt>
                <c:pt idx="83">
                  <c:v>33</c:v>
                </c:pt>
                <c:pt idx="84">
                  <c:v>34</c:v>
                </c:pt>
                <c:pt idx="85">
                  <c:v>35</c:v>
                </c:pt>
                <c:pt idx="86">
                  <c:v>36</c:v>
                </c:pt>
                <c:pt idx="87">
                  <c:v>37</c:v>
                </c:pt>
                <c:pt idx="88">
                  <c:v>38</c:v>
                </c:pt>
                <c:pt idx="89">
                  <c:v>39</c:v>
                </c:pt>
                <c:pt idx="90">
                  <c:v>40</c:v>
                </c:pt>
                <c:pt idx="91">
                  <c:v>41</c:v>
                </c:pt>
                <c:pt idx="92">
                  <c:v>42</c:v>
                </c:pt>
                <c:pt idx="93">
                  <c:v>43</c:v>
                </c:pt>
                <c:pt idx="94">
                  <c:v>44</c:v>
                </c:pt>
                <c:pt idx="95">
                  <c:v>45</c:v>
                </c:pt>
                <c:pt idx="96">
                  <c:v>46</c:v>
                </c:pt>
                <c:pt idx="97">
                  <c:v>47</c:v>
                </c:pt>
                <c:pt idx="98">
                  <c:v>48</c:v>
                </c:pt>
                <c:pt idx="99">
                  <c:v>49</c:v>
                </c:pt>
                <c:pt idx="100">
                  <c:v>50</c:v>
                </c:pt>
                <c:pt idx="101">
                  <c:v>51</c:v>
                </c:pt>
                <c:pt idx="102">
                  <c:v>52</c:v>
                </c:pt>
                <c:pt idx="103">
                  <c:v>53</c:v>
                </c:pt>
                <c:pt idx="104">
                  <c:v>54</c:v>
                </c:pt>
                <c:pt idx="105">
                  <c:v>55</c:v>
                </c:pt>
                <c:pt idx="106">
                  <c:v>56</c:v>
                </c:pt>
                <c:pt idx="107">
                  <c:v>57</c:v>
                </c:pt>
                <c:pt idx="108">
                  <c:v>58</c:v>
                </c:pt>
                <c:pt idx="109">
                  <c:v>59</c:v>
                </c:pt>
                <c:pt idx="110">
                  <c:v>60</c:v>
                </c:pt>
                <c:pt idx="111">
                  <c:v>61</c:v>
                </c:pt>
                <c:pt idx="112">
                  <c:v>62</c:v>
                </c:pt>
                <c:pt idx="113">
                  <c:v>63</c:v>
                </c:pt>
                <c:pt idx="114">
                  <c:v>64</c:v>
                </c:pt>
                <c:pt idx="115">
                  <c:v>65</c:v>
                </c:pt>
                <c:pt idx="116">
                  <c:v>66</c:v>
                </c:pt>
                <c:pt idx="117">
                  <c:v>67</c:v>
                </c:pt>
                <c:pt idx="118">
                  <c:v>68</c:v>
                </c:pt>
                <c:pt idx="119">
                  <c:v>69</c:v>
                </c:pt>
                <c:pt idx="120">
                  <c:v>70</c:v>
                </c:pt>
                <c:pt idx="121">
                  <c:v>71</c:v>
                </c:pt>
                <c:pt idx="122">
                  <c:v>72</c:v>
                </c:pt>
                <c:pt idx="123">
                  <c:v>73</c:v>
                </c:pt>
                <c:pt idx="124">
                  <c:v>74</c:v>
                </c:pt>
                <c:pt idx="125">
                  <c:v>75</c:v>
                </c:pt>
                <c:pt idx="126">
                  <c:v>76</c:v>
                </c:pt>
                <c:pt idx="127">
                  <c:v>77</c:v>
                </c:pt>
                <c:pt idx="128">
                  <c:v>78</c:v>
                </c:pt>
                <c:pt idx="129">
                  <c:v>79</c:v>
                </c:pt>
                <c:pt idx="130">
                  <c:v>80</c:v>
                </c:pt>
                <c:pt idx="131">
                  <c:v>81</c:v>
                </c:pt>
                <c:pt idx="132">
                  <c:v>82</c:v>
                </c:pt>
                <c:pt idx="133">
                  <c:v>83</c:v>
                </c:pt>
                <c:pt idx="134">
                  <c:v>84</c:v>
                </c:pt>
                <c:pt idx="135">
                  <c:v>85</c:v>
                </c:pt>
                <c:pt idx="136">
                  <c:v>86</c:v>
                </c:pt>
                <c:pt idx="137">
                  <c:v>87</c:v>
                </c:pt>
                <c:pt idx="138">
                  <c:v>88</c:v>
                </c:pt>
                <c:pt idx="139">
                  <c:v>89</c:v>
                </c:pt>
                <c:pt idx="140">
                  <c:v>90</c:v>
                </c:pt>
                <c:pt idx="141">
                  <c:v>91</c:v>
                </c:pt>
                <c:pt idx="142">
                  <c:v>92</c:v>
                </c:pt>
                <c:pt idx="143">
                  <c:v>93</c:v>
                </c:pt>
                <c:pt idx="144">
                  <c:v>94</c:v>
                </c:pt>
                <c:pt idx="145">
                  <c:v>95</c:v>
                </c:pt>
                <c:pt idx="146">
                  <c:v>96</c:v>
                </c:pt>
                <c:pt idx="147">
                  <c:v>97</c:v>
                </c:pt>
                <c:pt idx="148">
                  <c:v>98</c:v>
                </c:pt>
                <c:pt idx="149">
                  <c:v>99</c:v>
                </c:pt>
                <c:pt idx="150">
                  <c:v>100</c:v>
                </c:pt>
                <c:pt idx="151">
                  <c:v>101</c:v>
                </c:pt>
                <c:pt idx="152">
                  <c:v>102</c:v>
                </c:pt>
                <c:pt idx="153">
                  <c:v>103</c:v>
                </c:pt>
                <c:pt idx="154">
                  <c:v>104</c:v>
                </c:pt>
                <c:pt idx="155">
                  <c:v>105</c:v>
                </c:pt>
                <c:pt idx="156">
                  <c:v>106</c:v>
                </c:pt>
                <c:pt idx="157">
                  <c:v>107</c:v>
                </c:pt>
                <c:pt idx="158">
                  <c:v>108</c:v>
                </c:pt>
                <c:pt idx="159">
                  <c:v>109</c:v>
                </c:pt>
                <c:pt idx="160">
                  <c:v>110</c:v>
                </c:pt>
                <c:pt idx="161">
                  <c:v>111</c:v>
                </c:pt>
                <c:pt idx="162">
                  <c:v>112</c:v>
                </c:pt>
                <c:pt idx="163">
                  <c:v>113</c:v>
                </c:pt>
                <c:pt idx="164">
                  <c:v>114</c:v>
                </c:pt>
                <c:pt idx="165">
                  <c:v>115</c:v>
                </c:pt>
                <c:pt idx="166">
                  <c:v>116</c:v>
                </c:pt>
                <c:pt idx="167">
                  <c:v>117</c:v>
                </c:pt>
                <c:pt idx="168">
                  <c:v>118</c:v>
                </c:pt>
                <c:pt idx="169">
                  <c:v>119</c:v>
                </c:pt>
                <c:pt idx="170">
                  <c:v>120</c:v>
                </c:pt>
                <c:pt idx="171">
                  <c:v>121</c:v>
                </c:pt>
                <c:pt idx="172">
                  <c:v>122</c:v>
                </c:pt>
                <c:pt idx="173">
                  <c:v>123</c:v>
                </c:pt>
                <c:pt idx="174">
                  <c:v>124</c:v>
                </c:pt>
                <c:pt idx="175">
                  <c:v>125</c:v>
                </c:pt>
                <c:pt idx="176">
                  <c:v>126</c:v>
                </c:pt>
                <c:pt idx="177">
                  <c:v>127</c:v>
                </c:pt>
                <c:pt idx="178">
                  <c:v>128</c:v>
                </c:pt>
                <c:pt idx="179">
                  <c:v>129</c:v>
                </c:pt>
                <c:pt idx="180">
                  <c:v>130</c:v>
                </c:pt>
                <c:pt idx="181">
                  <c:v>131</c:v>
                </c:pt>
                <c:pt idx="182">
                  <c:v>132</c:v>
                </c:pt>
                <c:pt idx="183">
                  <c:v>133</c:v>
                </c:pt>
                <c:pt idx="184">
                  <c:v>134</c:v>
                </c:pt>
                <c:pt idx="185">
                  <c:v>135</c:v>
                </c:pt>
                <c:pt idx="186">
                  <c:v>136</c:v>
                </c:pt>
                <c:pt idx="187">
                  <c:v>137</c:v>
                </c:pt>
                <c:pt idx="188">
                  <c:v>138</c:v>
                </c:pt>
                <c:pt idx="189">
                  <c:v>139</c:v>
                </c:pt>
                <c:pt idx="190">
                  <c:v>140</c:v>
                </c:pt>
                <c:pt idx="191">
                  <c:v>141</c:v>
                </c:pt>
                <c:pt idx="192">
                  <c:v>142</c:v>
                </c:pt>
                <c:pt idx="193">
                  <c:v>143</c:v>
                </c:pt>
                <c:pt idx="194">
                  <c:v>144</c:v>
                </c:pt>
                <c:pt idx="195">
                  <c:v>145</c:v>
                </c:pt>
                <c:pt idx="196">
                  <c:v>146</c:v>
                </c:pt>
                <c:pt idx="197">
                  <c:v>147</c:v>
                </c:pt>
                <c:pt idx="198">
                  <c:v>148</c:v>
                </c:pt>
                <c:pt idx="199">
                  <c:v>149</c:v>
                </c:pt>
                <c:pt idx="200">
                  <c:v>150</c:v>
                </c:pt>
              </c:numCache>
            </c:numRef>
          </c:xVal>
          <c:yVal>
            <c:numRef>
              <c:f>Sheet3!$F$1:$F$201</c:f>
              <c:numCache>
                <c:formatCode>General</c:formatCode>
                <c:ptCount val="201"/>
                <c:pt idx="0">
                  <c:v>1.009174311926607</c:v>
                </c:pt>
                <c:pt idx="1">
                  <c:v>1.1834862385321117</c:v>
                </c:pt>
                <c:pt idx="2">
                  <c:v>1.3577981651376163</c:v>
                </c:pt>
                <c:pt idx="3">
                  <c:v>1.532110091743121</c:v>
                </c:pt>
                <c:pt idx="4">
                  <c:v>1.7064220183486256</c:v>
                </c:pt>
                <c:pt idx="5">
                  <c:v>1.8807339449541303</c:v>
                </c:pt>
                <c:pt idx="6">
                  <c:v>2.0550458715596349</c:v>
                </c:pt>
                <c:pt idx="7">
                  <c:v>2.2293577981651396</c:v>
                </c:pt>
                <c:pt idx="8">
                  <c:v>2.3119266055045884</c:v>
                </c:pt>
                <c:pt idx="9">
                  <c:v>2.3944954128440372</c:v>
                </c:pt>
                <c:pt idx="10">
                  <c:v>2.3853211009174302</c:v>
                </c:pt>
                <c:pt idx="11">
                  <c:v>2.467889908256879</c:v>
                </c:pt>
                <c:pt idx="12">
                  <c:v>2.458715596330272</c:v>
                </c:pt>
                <c:pt idx="13">
                  <c:v>2.5412844036697209</c:v>
                </c:pt>
                <c:pt idx="14">
                  <c:v>2.6238532110091697</c:v>
                </c:pt>
                <c:pt idx="15">
                  <c:v>2.6146788990825698</c:v>
                </c:pt>
                <c:pt idx="16">
                  <c:v>2.6972477064220186</c:v>
                </c:pt>
                <c:pt idx="17">
                  <c:v>2.6880733944954116</c:v>
                </c:pt>
                <c:pt idx="18">
                  <c:v>2.7706422018348604</c:v>
                </c:pt>
                <c:pt idx="19">
                  <c:v>2.8532110091743093</c:v>
                </c:pt>
                <c:pt idx="20">
                  <c:v>2.8440366972477023</c:v>
                </c:pt>
                <c:pt idx="21">
                  <c:v>2.9266055045871546</c:v>
                </c:pt>
                <c:pt idx="22">
                  <c:v>2.9174311926605512</c:v>
                </c:pt>
                <c:pt idx="23">
                  <c:v>3</c:v>
                </c:pt>
                <c:pt idx="24">
                  <c:v>2.990825688073393</c:v>
                </c:pt>
                <c:pt idx="25">
                  <c:v>3.0733944954128418</c:v>
                </c:pt>
                <c:pt idx="26">
                  <c:v>3.0642201834862384</c:v>
                </c:pt>
                <c:pt idx="27">
                  <c:v>3.1467889908256872</c:v>
                </c:pt>
                <c:pt idx="28">
                  <c:v>3.1376146788990802</c:v>
                </c:pt>
                <c:pt idx="29">
                  <c:v>3.2201834862385326</c:v>
                </c:pt>
                <c:pt idx="30">
                  <c:v>3.2110091743119256</c:v>
                </c:pt>
                <c:pt idx="31">
                  <c:v>3.2018348623853221</c:v>
                </c:pt>
                <c:pt idx="32">
                  <c:v>3.2844036697247709</c:v>
                </c:pt>
                <c:pt idx="33">
                  <c:v>3.2752293577981639</c:v>
                </c:pt>
                <c:pt idx="34">
                  <c:v>3.3577981651376128</c:v>
                </c:pt>
                <c:pt idx="35">
                  <c:v>3.3486238532110093</c:v>
                </c:pt>
                <c:pt idx="36">
                  <c:v>3.4311926605504581</c:v>
                </c:pt>
                <c:pt idx="37">
                  <c:v>3.4220183486238511</c:v>
                </c:pt>
                <c:pt idx="38">
                  <c:v>3.4128440366972477</c:v>
                </c:pt>
                <c:pt idx="39">
                  <c:v>3.4954128440366965</c:v>
                </c:pt>
                <c:pt idx="40">
                  <c:v>3.4862385321100913</c:v>
                </c:pt>
                <c:pt idx="41">
                  <c:v>3.5688073394495401</c:v>
                </c:pt>
                <c:pt idx="42">
                  <c:v>3.5596330275229349</c:v>
                </c:pt>
                <c:pt idx="43">
                  <c:v>3.5504587155963296</c:v>
                </c:pt>
                <c:pt idx="44">
                  <c:v>3.5412844036697244</c:v>
                </c:pt>
                <c:pt idx="45">
                  <c:v>3.6238532110091732</c:v>
                </c:pt>
                <c:pt idx="46">
                  <c:v>3.6146788990825689</c:v>
                </c:pt>
                <c:pt idx="47">
                  <c:v>3.6055045871559628</c:v>
                </c:pt>
                <c:pt idx="48">
                  <c:v>3.6880733944954125</c:v>
                </c:pt>
                <c:pt idx="49">
                  <c:v>3.6788990825688073</c:v>
                </c:pt>
                <c:pt idx="50">
                  <c:v>3.6697247706422016</c:v>
                </c:pt>
                <c:pt idx="51">
                  <c:v>3.6605504587155964</c:v>
                </c:pt>
                <c:pt idx="52">
                  <c:v>3.7431192660550456</c:v>
                </c:pt>
                <c:pt idx="53">
                  <c:v>3.7339449541284404</c:v>
                </c:pt>
                <c:pt idx="54">
                  <c:v>3.7247706422018347</c:v>
                </c:pt>
                <c:pt idx="55">
                  <c:v>3.8073394495412844</c:v>
                </c:pt>
                <c:pt idx="56">
                  <c:v>3.7981651376146788</c:v>
                </c:pt>
                <c:pt idx="57">
                  <c:v>3.7889908256880735</c:v>
                </c:pt>
                <c:pt idx="58">
                  <c:v>3.7798165137614683</c:v>
                </c:pt>
                <c:pt idx="59">
                  <c:v>3.862385321100918</c:v>
                </c:pt>
                <c:pt idx="60">
                  <c:v>3.8532110091743119</c:v>
                </c:pt>
                <c:pt idx="61">
                  <c:v>3.8440366972477067</c:v>
                </c:pt>
                <c:pt idx="62">
                  <c:v>3.8348623853211006</c:v>
                </c:pt>
                <c:pt idx="63">
                  <c:v>3.9174311926605512</c:v>
                </c:pt>
                <c:pt idx="64">
                  <c:v>3.9082568807339459</c:v>
                </c:pt>
                <c:pt idx="65">
                  <c:v>3.8990825688073389</c:v>
                </c:pt>
                <c:pt idx="66">
                  <c:v>3.8899082568807337</c:v>
                </c:pt>
                <c:pt idx="67">
                  <c:v>3.9724770642201843</c:v>
                </c:pt>
                <c:pt idx="68">
                  <c:v>3.9633027522935791</c:v>
                </c:pt>
                <c:pt idx="69">
                  <c:v>3.9541284403669721</c:v>
                </c:pt>
                <c:pt idx="70">
                  <c:v>3.9449541284403686</c:v>
                </c:pt>
                <c:pt idx="71">
                  <c:v>3.9357798165137616</c:v>
                </c:pt>
                <c:pt idx="72">
                  <c:v>4.0183486238532105</c:v>
                </c:pt>
                <c:pt idx="73">
                  <c:v>4.009174311926607</c:v>
                </c:pt>
                <c:pt idx="74">
                  <c:v>4</c:v>
                </c:pt>
                <c:pt idx="75">
                  <c:v>3.9908256880733965</c:v>
                </c:pt>
                <c:pt idx="76">
                  <c:v>3.9816513761467895</c:v>
                </c:pt>
                <c:pt idx="77">
                  <c:v>4.0642201834862384</c:v>
                </c:pt>
                <c:pt idx="78">
                  <c:v>4.0550458715596349</c:v>
                </c:pt>
                <c:pt idx="79">
                  <c:v>4.0458715596330279</c:v>
                </c:pt>
                <c:pt idx="80">
                  <c:v>4.0366972477064245</c:v>
                </c:pt>
                <c:pt idx="81">
                  <c:v>4.0275229357798175</c:v>
                </c:pt>
                <c:pt idx="82">
                  <c:v>4.1100917431192663</c:v>
                </c:pt>
                <c:pt idx="83">
                  <c:v>4.1009174311926628</c:v>
                </c:pt>
                <c:pt idx="84">
                  <c:v>4.0917431192660558</c:v>
                </c:pt>
                <c:pt idx="85">
                  <c:v>4.0825688073394488</c:v>
                </c:pt>
                <c:pt idx="86">
                  <c:v>4.0733944954128454</c:v>
                </c:pt>
                <c:pt idx="87">
                  <c:v>4.0642201834862419</c:v>
                </c:pt>
                <c:pt idx="88">
                  <c:v>4.0550458715596349</c:v>
                </c:pt>
                <c:pt idx="89">
                  <c:v>4.0458715596330279</c:v>
                </c:pt>
                <c:pt idx="90">
                  <c:v>4.0366972477064209</c:v>
                </c:pt>
                <c:pt idx="91">
                  <c:v>4.027522935779821</c:v>
                </c:pt>
                <c:pt idx="92">
                  <c:v>4.018348623853214</c:v>
                </c:pt>
                <c:pt idx="93">
                  <c:v>4.009174311926607</c:v>
                </c:pt>
                <c:pt idx="94">
                  <c:v>4</c:v>
                </c:pt>
                <c:pt idx="95">
                  <c:v>3.990825688073393</c:v>
                </c:pt>
                <c:pt idx="96">
                  <c:v>3.9816513761467931</c:v>
                </c:pt>
                <c:pt idx="97">
                  <c:v>3.9724770642201861</c:v>
                </c:pt>
                <c:pt idx="98">
                  <c:v>3.9633027522935791</c:v>
                </c:pt>
                <c:pt idx="99">
                  <c:v>3.9541284403669721</c:v>
                </c:pt>
                <c:pt idx="100">
                  <c:v>3.9449541284403651</c:v>
                </c:pt>
                <c:pt idx="101">
                  <c:v>3.9357798165137652</c:v>
                </c:pt>
                <c:pt idx="102">
                  <c:v>3.9266055045871582</c:v>
                </c:pt>
                <c:pt idx="103">
                  <c:v>3.9174311926605512</c:v>
                </c:pt>
                <c:pt idx="104">
                  <c:v>3.9082568807339442</c:v>
                </c:pt>
                <c:pt idx="105">
                  <c:v>3.8990825688073443</c:v>
                </c:pt>
                <c:pt idx="106">
                  <c:v>3.8899082568807373</c:v>
                </c:pt>
                <c:pt idx="107">
                  <c:v>3.8807339449541303</c:v>
                </c:pt>
                <c:pt idx="108">
                  <c:v>3.8715596330275233</c:v>
                </c:pt>
                <c:pt idx="109">
                  <c:v>3.8623853211009163</c:v>
                </c:pt>
                <c:pt idx="110">
                  <c:v>3.8532110091743164</c:v>
                </c:pt>
                <c:pt idx="111">
                  <c:v>3.7522935779816535</c:v>
                </c:pt>
                <c:pt idx="112">
                  <c:v>3.7431192660550465</c:v>
                </c:pt>
                <c:pt idx="113">
                  <c:v>3.7339449541284395</c:v>
                </c:pt>
                <c:pt idx="114">
                  <c:v>3.7247706422018396</c:v>
                </c:pt>
                <c:pt idx="115">
                  <c:v>3.6238532110091768</c:v>
                </c:pt>
                <c:pt idx="116">
                  <c:v>3.6146788990825698</c:v>
                </c:pt>
                <c:pt idx="117">
                  <c:v>3.6055045871559628</c:v>
                </c:pt>
                <c:pt idx="118">
                  <c:v>3.5963302752293629</c:v>
                </c:pt>
                <c:pt idx="119">
                  <c:v>3.4954128440366929</c:v>
                </c:pt>
                <c:pt idx="120">
                  <c:v>3.486238532110093</c:v>
                </c:pt>
                <c:pt idx="121">
                  <c:v>3.4770642201834931</c:v>
                </c:pt>
                <c:pt idx="122">
                  <c:v>3.467889908256879</c:v>
                </c:pt>
                <c:pt idx="123">
                  <c:v>3.3669724770642233</c:v>
                </c:pt>
                <c:pt idx="124">
                  <c:v>3.3577981651376234</c:v>
                </c:pt>
                <c:pt idx="125">
                  <c:v>3.3486238532110093</c:v>
                </c:pt>
                <c:pt idx="126">
                  <c:v>3.3394495412844094</c:v>
                </c:pt>
                <c:pt idx="127">
                  <c:v>3.3302752293577953</c:v>
                </c:pt>
                <c:pt idx="128">
                  <c:v>3.2293577981651396</c:v>
                </c:pt>
                <c:pt idx="129">
                  <c:v>3.2201834862385397</c:v>
                </c:pt>
                <c:pt idx="130">
                  <c:v>3.2110091743119256</c:v>
                </c:pt>
                <c:pt idx="131">
                  <c:v>3.2018348623853257</c:v>
                </c:pt>
                <c:pt idx="132">
                  <c:v>3.1926605504587116</c:v>
                </c:pt>
                <c:pt idx="133">
                  <c:v>3.0917431192660558</c:v>
                </c:pt>
                <c:pt idx="134">
                  <c:v>3.0825688073394559</c:v>
                </c:pt>
                <c:pt idx="135">
                  <c:v>3.0733944954128418</c:v>
                </c:pt>
                <c:pt idx="136">
                  <c:v>2.9724770642201861</c:v>
                </c:pt>
                <c:pt idx="137">
                  <c:v>2.9633027522935862</c:v>
                </c:pt>
                <c:pt idx="138">
                  <c:v>2.9541284403669721</c:v>
                </c:pt>
                <c:pt idx="139">
                  <c:v>2.9449541284403722</c:v>
                </c:pt>
                <c:pt idx="140">
                  <c:v>2.8440366972477023</c:v>
                </c:pt>
                <c:pt idx="141">
                  <c:v>2.8348623853211024</c:v>
                </c:pt>
                <c:pt idx="142">
                  <c:v>2.8256880733945025</c:v>
                </c:pt>
                <c:pt idx="143">
                  <c:v>2.7247706422018325</c:v>
                </c:pt>
                <c:pt idx="144">
                  <c:v>2.7155963302752326</c:v>
                </c:pt>
                <c:pt idx="145">
                  <c:v>2.7064220183486327</c:v>
                </c:pt>
                <c:pt idx="146">
                  <c:v>2.6055045871559628</c:v>
                </c:pt>
                <c:pt idx="147">
                  <c:v>2.5963302752293629</c:v>
                </c:pt>
                <c:pt idx="148">
                  <c:v>2.5871559633027488</c:v>
                </c:pt>
                <c:pt idx="149">
                  <c:v>2.486238532110093</c:v>
                </c:pt>
                <c:pt idx="150">
                  <c:v>2.4770642201834931</c:v>
                </c:pt>
                <c:pt idx="151">
                  <c:v>2.467889908256879</c:v>
                </c:pt>
                <c:pt idx="152">
                  <c:v>2.3669724770642233</c:v>
                </c:pt>
                <c:pt idx="153">
                  <c:v>2.3577981651376234</c:v>
                </c:pt>
                <c:pt idx="154">
                  <c:v>2.2568807339449535</c:v>
                </c:pt>
                <c:pt idx="155">
                  <c:v>2.2477064220183536</c:v>
                </c:pt>
                <c:pt idx="156">
                  <c:v>2.2385321100917395</c:v>
                </c:pt>
                <c:pt idx="157">
                  <c:v>2.1376146788990837</c:v>
                </c:pt>
                <c:pt idx="158">
                  <c:v>2.1284403669724838</c:v>
                </c:pt>
                <c:pt idx="159">
                  <c:v>2.1192660550458697</c:v>
                </c:pt>
                <c:pt idx="160">
                  <c:v>2.018348623853214</c:v>
                </c:pt>
                <c:pt idx="161">
                  <c:v>2.0091743119266141</c:v>
                </c:pt>
                <c:pt idx="162">
                  <c:v>1.9082568807339442</c:v>
                </c:pt>
                <c:pt idx="163">
                  <c:v>1.8990825688073443</c:v>
                </c:pt>
                <c:pt idx="164">
                  <c:v>1.7981651376146885</c:v>
                </c:pt>
                <c:pt idx="165">
                  <c:v>1.7889908256880744</c:v>
                </c:pt>
                <c:pt idx="166">
                  <c:v>1.6880733944954187</c:v>
                </c:pt>
                <c:pt idx="167">
                  <c:v>1.6788990825688046</c:v>
                </c:pt>
                <c:pt idx="168">
                  <c:v>1.5779816513761489</c:v>
                </c:pt>
                <c:pt idx="169">
                  <c:v>1.568807339449549</c:v>
                </c:pt>
                <c:pt idx="170">
                  <c:v>1.5596330275229349</c:v>
                </c:pt>
                <c:pt idx="171">
                  <c:v>1.4587155963302791</c:v>
                </c:pt>
                <c:pt idx="172">
                  <c:v>1.3577981651376234</c:v>
                </c:pt>
                <c:pt idx="173">
                  <c:v>1.3486238532110093</c:v>
                </c:pt>
                <c:pt idx="174">
                  <c:v>1.2477064220183536</c:v>
                </c:pt>
                <c:pt idx="175">
                  <c:v>1.2385321100917537</c:v>
                </c:pt>
                <c:pt idx="176">
                  <c:v>1.1376146788990837</c:v>
                </c:pt>
                <c:pt idx="177">
                  <c:v>1.1284403669724838</c:v>
                </c:pt>
                <c:pt idx="178">
                  <c:v>1.0275229357798139</c:v>
                </c:pt>
                <c:pt idx="179">
                  <c:v>1.018348623853214</c:v>
                </c:pt>
                <c:pt idx="180">
                  <c:v>0.91743119266055828</c:v>
                </c:pt>
                <c:pt idx="181">
                  <c:v>0.90825688073394417</c:v>
                </c:pt>
                <c:pt idx="182">
                  <c:v>0.80733944954130266</c:v>
                </c:pt>
                <c:pt idx="183">
                  <c:v>0.70642201834863272</c:v>
                </c:pt>
                <c:pt idx="184">
                  <c:v>0.69724770642201861</c:v>
                </c:pt>
                <c:pt idx="185">
                  <c:v>0.59633027522934867</c:v>
                </c:pt>
                <c:pt idx="186">
                  <c:v>0.58715596330276298</c:v>
                </c:pt>
                <c:pt idx="187">
                  <c:v>0.48623853211009305</c:v>
                </c:pt>
                <c:pt idx="188">
                  <c:v>0.38532110091742311</c:v>
                </c:pt>
                <c:pt idx="189">
                  <c:v>0.37614678899083742</c:v>
                </c:pt>
                <c:pt idx="190">
                  <c:v>0.27522935779816748</c:v>
                </c:pt>
                <c:pt idx="191">
                  <c:v>0.17431192660549755</c:v>
                </c:pt>
                <c:pt idx="192">
                  <c:v>0.16513761467891186</c:v>
                </c:pt>
                <c:pt idx="193">
                  <c:v>6.4220183486241922E-2</c:v>
                </c:pt>
                <c:pt idx="194">
                  <c:v>-3.6697247706428016E-2</c:v>
                </c:pt>
                <c:pt idx="195">
                  <c:v>-4.5871559633013703E-2</c:v>
                </c:pt>
                <c:pt idx="196">
                  <c:v>-0.14678899082568364</c:v>
                </c:pt>
                <c:pt idx="197">
                  <c:v>-0.24770642201835358</c:v>
                </c:pt>
                <c:pt idx="198">
                  <c:v>-0.34862385321099509</c:v>
                </c:pt>
                <c:pt idx="199">
                  <c:v>-0.3577981651376092</c:v>
                </c:pt>
                <c:pt idx="200">
                  <c:v>-0.45871559633027914</c:v>
                </c:pt>
              </c:numCache>
            </c:numRef>
          </c:yVal>
          <c:smooth val="0"/>
          <c:extLst>
            <c:ext xmlns:c16="http://schemas.microsoft.com/office/drawing/2014/chart" uri="{C3380CC4-5D6E-409C-BE32-E72D297353CC}">
              <c16:uniqueId val="{00000001-78E8-415B-81F2-587839AE1F50}"/>
            </c:ext>
          </c:extLst>
        </c:ser>
        <c:dLbls>
          <c:showLegendKey val="0"/>
          <c:showVal val="0"/>
          <c:showCatName val="0"/>
          <c:showSerName val="0"/>
          <c:showPercent val="0"/>
          <c:showBubbleSize val="0"/>
        </c:dLbls>
        <c:axId val="1099559008"/>
        <c:axId val="1099564768"/>
      </c:scatterChart>
      <c:valAx>
        <c:axId val="1099559008"/>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99564768"/>
        <c:crosses val="autoZero"/>
        <c:crossBetween val="midCat"/>
      </c:valAx>
      <c:valAx>
        <c:axId val="109956476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99559008"/>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24E8B-37FD-9C94-2364-2F80AFA83A1C}"/>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0D68344D-C46E-8B56-7CC9-045FF5A356E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98973CD2-6AF9-2D57-2EEA-7D28811E2B8E}"/>
              </a:ext>
            </a:extLst>
          </p:cNvPr>
          <p:cNvSpPr>
            <a:spLocks noGrp="1"/>
          </p:cNvSpPr>
          <p:nvPr>
            <p:ph type="dt" sz="half" idx="10"/>
          </p:nvPr>
        </p:nvSpPr>
        <p:spPr/>
        <p:txBody>
          <a:bodyPr/>
          <a:lstStyle/>
          <a:p>
            <a:fld id="{26BD4A1C-62C1-4010-836C-8C594F99AAE1}" type="datetimeFigureOut">
              <a:rPr lang="en-GB" smtClean="0"/>
              <a:t>20/01/2026</a:t>
            </a:fld>
            <a:endParaRPr lang="en-GB"/>
          </a:p>
        </p:txBody>
      </p:sp>
      <p:sp>
        <p:nvSpPr>
          <p:cNvPr id="5" name="Footer Placeholder 4">
            <a:extLst>
              <a:ext uri="{FF2B5EF4-FFF2-40B4-BE49-F238E27FC236}">
                <a16:creationId xmlns:a16="http://schemas.microsoft.com/office/drawing/2014/main" id="{8216C50A-3123-CB97-E85F-66DB0E057AB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1476919-EBFB-985B-1C50-35ADCAA75FBB}"/>
              </a:ext>
            </a:extLst>
          </p:cNvPr>
          <p:cNvSpPr>
            <a:spLocks noGrp="1"/>
          </p:cNvSpPr>
          <p:nvPr>
            <p:ph type="sldNum" sz="quarter" idx="12"/>
          </p:nvPr>
        </p:nvSpPr>
        <p:spPr/>
        <p:txBody>
          <a:bodyPr/>
          <a:lstStyle/>
          <a:p>
            <a:fld id="{C189D6D7-0A44-4FA4-92D1-1D1E766E0D67}" type="slidenum">
              <a:rPr lang="en-GB" smtClean="0"/>
              <a:t>‹#›</a:t>
            </a:fld>
            <a:endParaRPr lang="en-GB"/>
          </a:p>
        </p:txBody>
      </p:sp>
    </p:spTree>
    <p:extLst>
      <p:ext uri="{BB962C8B-B14F-4D97-AF65-F5344CB8AC3E}">
        <p14:creationId xmlns:p14="http://schemas.microsoft.com/office/powerpoint/2010/main" val="5789121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D1B74E-DD69-3178-BAC1-F3CD932A94F2}"/>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A5ED8BE5-E142-4D6C-AC14-5BA0C6CEDE8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830839DF-8512-ADDE-07FE-85CD6E9C641E}"/>
              </a:ext>
            </a:extLst>
          </p:cNvPr>
          <p:cNvSpPr>
            <a:spLocks noGrp="1"/>
          </p:cNvSpPr>
          <p:nvPr>
            <p:ph type="dt" sz="half" idx="10"/>
          </p:nvPr>
        </p:nvSpPr>
        <p:spPr/>
        <p:txBody>
          <a:bodyPr/>
          <a:lstStyle/>
          <a:p>
            <a:fld id="{26BD4A1C-62C1-4010-836C-8C594F99AAE1}" type="datetimeFigureOut">
              <a:rPr lang="en-GB" smtClean="0"/>
              <a:t>20/01/2026</a:t>
            </a:fld>
            <a:endParaRPr lang="en-GB"/>
          </a:p>
        </p:txBody>
      </p:sp>
      <p:sp>
        <p:nvSpPr>
          <p:cNvPr id="5" name="Footer Placeholder 4">
            <a:extLst>
              <a:ext uri="{FF2B5EF4-FFF2-40B4-BE49-F238E27FC236}">
                <a16:creationId xmlns:a16="http://schemas.microsoft.com/office/drawing/2014/main" id="{565B027B-8D3B-C64A-3025-8A8EB279100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A0853BE-2DBD-0099-16AF-CC53B3A233D8}"/>
              </a:ext>
            </a:extLst>
          </p:cNvPr>
          <p:cNvSpPr>
            <a:spLocks noGrp="1"/>
          </p:cNvSpPr>
          <p:nvPr>
            <p:ph type="sldNum" sz="quarter" idx="12"/>
          </p:nvPr>
        </p:nvSpPr>
        <p:spPr/>
        <p:txBody>
          <a:bodyPr/>
          <a:lstStyle/>
          <a:p>
            <a:fld id="{C189D6D7-0A44-4FA4-92D1-1D1E766E0D67}" type="slidenum">
              <a:rPr lang="en-GB" smtClean="0"/>
              <a:t>‹#›</a:t>
            </a:fld>
            <a:endParaRPr lang="en-GB"/>
          </a:p>
        </p:txBody>
      </p:sp>
    </p:spTree>
    <p:extLst>
      <p:ext uri="{BB962C8B-B14F-4D97-AF65-F5344CB8AC3E}">
        <p14:creationId xmlns:p14="http://schemas.microsoft.com/office/powerpoint/2010/main" val="21585564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584818-5ED3-2C98-30FE-6B3EF7D60D7C}"/>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293C8BD0-25FF-25B1-0FD5-6725F977F22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3F22761D-B2E5-34BA-76D0-FC4E54ACB7F0}"/>
              </a:ext>
            </a:extLst>
          </p:cNvPr>
          <p:cNvSpPr>
            <a:spLocks noGrp="1"/>
          </p:cNvSpPr>
          <p:nvPr>
            <p:ph type="dt" sz="half" idx="10"/>
          </p:nvPr>
        </p:nvSpPr>
        <p:spPr/>
        <p:txBody>
          <a:bodyPr/>
          <a:lstStyle/>
          <a:p>
            <a:fld id="{26BD4A1C-62C1-4010-836C-8C594F99AAE1}" type="datetimeFigureOut">
              <a:rPr lang="en-GB" smtClean="0"/>
              <a:t>20/01/2026</a:t>
            </a:fld>
            <a:endParaRPr lang="en-GB"/>
          </a:p>
        </p:txBody>
      </p:sp>
      <p:sp>
        <p:nvSpPr>
          <p:cNvPr id="5" name="Footer Placeholder 4">
            <a:extLst>
              <a:ext uri="{FF2B5EF4-FFF2-40B4-BE49-F238E27FC236}">
                <a16:creationId xmlns:a16="http://schemas.microsoft.com/office/drawing/2014/main" id="{762FCAB1-F0EB-B5BE-7F58-F323BD66B5E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9419B5C-49BF-8986-B8BD-C6FE1E0DC948}"/>
              </a:ext>
            </a:extLst>
          </p:cNvPr>
          <p:cNvSpPr>
            <a:spLocks noGrp="1"/>
          </p:cNvSpPr>
          <p:nvPr>
            <p:ph type="sldNum" sz="quarter" idx="12"/>
          </p:nvPr>
        </p:nvSpPr>
        <p:spPr/>
        <p:txBody>
          <a:bodyPr/>
          <a:lstStyle/>
          <a:p>
            <a:fld id="{C189D6D7-0A44-4FA4-92D1-1D1E766E0D67}" type="slidenum">
              <a:rPr lang="en-GB" smtClean="0"/>
              <a:t>‹#›</a:t>
            </a:fld>
            <a:endParaRPr lang="en-GB"/>
          </a:p>
        </p:txBody>
      </p:sp>
    </p:spTree>
    <p:extLst>
      <p:ext uri="{BB962C8B-B14F-4D97-AF65-F5344CB8AC3E}">
        <p14:creationId xmlns:p14="http://schemas.microsoft.com/office/powerpoint/2010/main" val="9672957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CA9A3-681D-59B3-CC9F-D557B060A84D}"/>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009961ED-C2D4-967C-3EFE-2684D455214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B493AFD9-BCDE-2B9D-6951-5E27E57C3BDC}"/>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18026A7B-CC0D-6EFF-B9D9-44F16767CBDD}"/>
              </a:ext>
            </a:extLst>
          </p:cNvPr>
          <p:cNvSpPr>
            <a:spLocks noGrp="1"/>
          </p:cNvSpPr>
          <p:nvPr>
            <p:ph type="dt" sz="half" idx="10"/>
          </p:nvPr>
        </p:nvSpPr>
        <p:spPr/>
        <p:txBody>
          <a:bodyPr/>
          <a:lstStyle/>
          <a:p>
            <a:fld id="{26BD4A1C-62C1-4010-836C-8C594F99AAE1}" type="datetimeFigureOut">
              <a:rPr lang="en-GB" smtClean="0"/>
              <a:t>20/01/2026</a:t>
            </a:fld>
            <a:endParaRPr lang="en-GB"/>
          </a:p>
        </p:txBody>
      </p:sp>
      <p:sp>
        <p:nvSpPr>
          <p:cNvPr id="6" name="Footer Placeholder 5">
            <a:extLst>
              <a:ext uri="{FF2B5EF4-FFF2-40B4-BE49-F238E27FC236}">
                <a16:creationId xmlns:a16="http://schemas.microsoft.com/office/drawing/2014/main" id="{23BCA6E8-5A9B-05DA-73D7-A96BF460E4D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237C921-2691-6FD5-CF10-A6B1DF97F22D}"/>
              </a:ext>
            </a:extLst>
          </p:cNvPr>
          <p:cNvSpPr>
            <a:spLocks noGrp="1"/>
          </p:cNvSpPr>
          <p:nvPr>
            <p:ph type="sldNum" sz="quarter" idx="12"/>
          </p:nvPr>
        </p:nvSpPr>
        <p:spPr/>
        <p:txBody>
          <a:bodyPr/>
          <a:lstStyle/>
          <a:p>
            <a:fld id="{C189D6D7-0A44-4FA4-92D1-1D1E766E0D67}" type="slidenum">
              <a:rPr lang="en-GB" smtClean="0"/>
              <a:t>‹#›</a:t>
            </a:fld>
            <a:endParaRPr lang="en-GB"/>
          </a:p>
        </p:txBody>
      </p:sp>
    </p:spTree>
    <p:extLst>
      <p:ext uri="{BB962C8B-B14F-4D97-AF65-F5344CB8AC3E}">
        <p14:creationId xmlns:p14="http://schemas.microsoft.com/office/powerpoint/2010/main" val="40508317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583AF9-E752-190E-985C-5DE562AB43EF}"/>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CD12A2E9-3BE6-384A-8718-7B955468A67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424A1F94-B677-1E33-CD58-8489B26902BD}"/>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C2A6DBA2-7847-75B9-25EE-5616456E0E3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BB454976-76EF-4AA3-2366-5226697A6285}"/>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A04885D9-CFA0-1D63-407B-B7704F9B4E7A}"/>
              </a:ext>
            </a:extLst>
          </p:cNvPr>
          <p:cNvSpPr>
            <a:spLocks noGrp="1"/>
          </p:cNvSpPr>
          <p:nvPr>
            <p:ph type="dt" sz="half" idx="10"/>
          </p:nvPr>
        </p:nvSpPr>
        <p:spPr/>
        <p:txBody>
          <a:bodyPr/>
          <a:lstStyle/>
          <a:p>
            <a:fld id="{26BD4A1C-62C1-4010-836C-8C594F99AAE1}" type="datetimeFigureOut">
              <a:rPr lang="en-GB" smtClean="0"/>
              <a:t>20/01/2026</a:t>
            </a:fld>
            <a:endParaRPr lang="en-GB"/>
          </a:p>
        </p:txBody>
      </p:sp>
      <p:sp>
        <p:nvSpPr>
          <p:cNvPr id="8" name="Footer Placeholder 7">
            <a:extLst>
              <a:ext uri="{FF2B5EF4-FFF2-40B4-BE49-F238E27FC236}">
                <a16:creationId xmlns:a16="http://schemas.microsoft.com/office/drawing/2014/main" id="{5A4617BA-FFDE-E2A8-4685-D7581C1EF2A7}"/>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7328BE74-2B56-CF2C-87E1-4EFC75126885}"/>
              </a:ext>
            </a:extLst>
          </p:cNvPr>
          <p:cNvSpPr>
            <a:spLocks noGrp="1"/>
          </p:cNvSpPr>
          <p:nvPr>
            <p:ph type="sldNum" sz="quarter" idx="12"/>
          </p:nvPr>
        </p:nvSpPr>
        <p:spPr/>
        <p:txBody>
          <a:bodyPr/>
          <a:lstStyle/>
          <a:p>
            <a:fld id="{C189D6D7-0A44-4FA4-92D1-1D1E766E0D67}" type="slidenum">
              <a:rPr lang="en-GB" smtClean="0"/>
              <a:t>‹#›</a:t>
            </a:fld>
            <a:endParaRPr lang="en-GB"/>
          </a:p>
        </p:txBody>
      </p:sp>
    </p:spTree>
    <p:extLst>
      <p:ext uri="{BB962C8B-B14F-4D97-AF65-F5344CB8AC3E}">
        <p14:creationId xmlns:p14="http://schemas.microsoft.com/office/powerpoint/2010/main" val="21408778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450689-A260-FA7E-60A7-FE49A32D94CD}"/>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8C4C8E7A-C7F3-CEE6-A7FE-3FEB4F092216}"/>
              </a:ext>
            </a:extLst>
          </p:cNvPr>
          <p:cNvSpPr>
            <a:spLocks noGrp="1"/>
          </p:cNvSpPr>
          <p:nvPr>
            <p:ph type="dt" sz="half" idx="10"/>
          </p:nvPr>
        </p:nvSpPr>
        <p:spPr/>
        <p:txBody>
          <a:bodyPr/>
          <a:lstStyle/>
          <a:p>
            <a:fld id="{26BD4A1C-62C1-4010-836C-8C594F99AAE1}" type="datetimeFigureOut">
              <a:rPr lang="en-GB" smtClean="0"/>
              <a:t>20/01/2026</a:t>
            </a:fld>
            <a:endParaRPr lang="en-GB"/>
          </a:p>
        </p:txBody>
      </p:sp>
      <p:sp>
        <p:nvSpPr>
          <p:cNvPr id="4" name="Footer Placeholder 3">
            <a:extLst>
              <a:ext uri="{FF2B5EF4-FFF2-40B4-BE49-F238E27FC236}">
                <a16:creationId xmlns:a16="http://schemas.microsoft.com/office/drawing/2014/main" id="{A3E7114B-5D8B-91DF-5BE1-CE129CF2313F}"/>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697B0248-68CC-BD44-9967-84F7C9950F21}"/>
              </a:ext>
            </a:extLst>
          </p:cNvPr>
          <p:cNvSpPr>
            <a:spLocks noGrp="1"/>
          </p:cNvSpPr>
          <p:nvPr>
            <p:ph type="sldNum" sz="quarter" idx="12"/>
          </p:nvPr>
        </p:nvSpPr>
        <p:spPr/>
        <p:txBody>
          <a:bodyPr/>
          <a:lstStyle/>
          <a:p>
            <a:fld id="{C189D6D7-0A44-4FA4-92D1-1D1E766E0D67}" type="slidenum">
              <a:rPr lang="en-GB" smtClean="0"/>
              <a:t>‹#›</a:t>
            </a:fld>
            <a:endParaRPr lang="en-GB"/>
          </a:p>
        </p:txBody>
      </p:sp>
    </p:spTree>
    <p:extLst>
      <p:ext uri="{BB962C8B-B14F-4D97-AF65-F5344CB8AC3E}">
        <p14:creationId xmlns:p14="http://schemas.microsoft.com/office/powerpoint/2010/main" val="28260249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BAE1B69-3C24-BACF-E6F1-9DCF3671D9D5}"/>
              </a:ext>
            </a:extLst>
          </p:cNvPr>
          <p:cNvSpPr>
            <a:spLocks noGrp="1"/>
          </p:cNvSpPr>
          <p:nvPr>
            <p:ph type="dt" sz="half" idx="10"/>
          </p:nvPr>
        </p:nvSpPr>
        <p:spPr/>
        <p:txBody>
          <a:bodyPr/>
          <a:lstStyle/>
          <a:p>
            <a:fld id="{26BD4A1C-62C1-4010-836C-8C594F99AAE1}" type="datetimeFigureOut">
              <a:rPr lang="en-GB" smtClean="0"/>
              <a:t>20/01/2026</a:t>
            </a:fld>
            <a:endParaRPr lang="en-GB"/>
          </a:p>
        </p:txBody>
      </p:sp>
      <p:sp>
        <p:nvSpPr>
          <p:cNvPr id="3" name="Footer Placeholder 2">
            <a:extLst>
              <a:ext uri="{FF2B5EF4-FFF2-40B4-BE49-F238E27FC236}">
                <a16:creationId xmlns:a16="http://schemas.microsoft.com/office/drawing/2014/main" id="{8DB4D620-AEB9-B462-B013-5F74B5254C59}"/>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0578E37-534F-2BFF-834D-CB0694BEFBD6}"/>
              </a:ext>
            </a:extLst>
          </p:cNvPr>
          <p:cNvSpPr>
            <a:spLocks noGrp="1"/>
          </p:cNvSpPr>
          <p:nvPr>
            <p:ph type="sldNum" sz="quarter" idx="12"/>
          </p:nvPr>
        </p:nvSpPr>
        <p:spPr/>
        <p:txBody>
          <a:bodyPr/>
          <a:lstStyle/>
          <a:p>
            <a:fld id="{C189D6D7-0A44-4FA4-92D1-1D1E766E0D67}" type="slidenum">
              <a:rPr lang="en-GB" smtClean="0"/>
              <a:t>‹#›</a:t>
            </a:fld>
            <a:endParaRPr lang="en-GB"/>
          </a:p>
        </p:txBody>
      </p:sp>
    </p:spTree>
    <p:extLst>
      <p:ext uri="{BB962C8B-B14F-4D97-AF65-F5344CB8AC3E}">
        <p14:creationId xmlns:p14="http://schemas.microsoft.com/office/powerpoint/2010/main" val="4259295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F86BD-9430-53AA-9C43-03868A2DF42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EF5E51F7-6B27-D5F9-9825-40DC7E04D1C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234BACF2-5A5D-4678-71BE-7E3D8A1C08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241DECC-F9DA-0EB6-3D64-71F32CFD5C6D}"/>
              </a:ext>
            </a:extLst>
          </p:cNvPr>
          <p:cNvSpPr>
            <a:spLocks noGrp="1"/>
          </p:cNvSpPr>
          <p:nvPr>
            <p:ph type="dt" sz="half" idx="10"/>
          </p:nvPr>
        </p:nvSpPr>
        <p:spPr/>
        <p:txBody>
          <a:bodyPr/>
          <a:lstStyle/>
          <a:p>
            <a:fld id="{26BD4A1C-62C1-4010-836C-8C594F99AAE1}" type="datetimeFigureOut">
              <a:rPr lang="en-GB" smtClean="0"/>
              <a:t>20/01/2026</a:t>
            </a:fld>
            <a:endParaRPr lang="en-GB"/>
          </a:p>
        </p:txBody>
      </p:sp>
      <p:sp>
        <p:nvSpPr>
          <p:cNvPr id="6" name="Footer Placeholder 5">
            <a:extLst>
              <a:ext uri="{FF2B5EF4-FFF2-40B4-BE49-F238E27FC236}">
                <a16:creationId xmlns:a16="http://schemas.microsoft.com/office/drawing/2014/main" id="{3A4D5606-8EF0-5271-56A3-1A5689A2D85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E599569-227A-C4B5-4D81-D69B215E2A19}"/>
              </a:ext>
            </a:extLst>
          </p:cNvPr>
          <p:cNvSpPr>
            <a:spLocks noGrp="1"/>
          </p:cNvSpPr>
          <p:nvPr>
            <p:ph type="sldNum" sz="quarter" idx="12"/>
          </p:nvPr>
        </p:nvSpPr>
        <p:spPr/>
        <p:txBody>
          <a:bodyPr/>
          <a:lstStyle/>
          <a:p>
            <a:fld id="{C189D6D7-0A44-4FA4-92D1-1D1E766E0D67}" type="slidenum">
              <a:rPr lang="en-GB" smtClean="0"/>
              <a:t>‹#›</a:t>
            </a:fld>
            <a:endParaRPr lang="en-GB"/>
          </a:p>
        </p:txBody>
      </p:sp>
    </p:spTree>
    <p:extLst>
      <p:ext uri="{BB962C8B-B14F-4D97-AF65-F5344CB8AC3E}">
        <p14:creationId xmlns:p14="http://schemas.microsoft.com/office/powerpoint/2010/main" val="11540150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C0A94-6CF6-AFDD-D291-8B1B098EEE6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96A2E682-6CAC-6D50-979D-B8A197DC12B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0BD23CA4-C841-0296-21B0-CE41A102F2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063331D5-2982-DA84-5C7B-F07C45903B58}"/>
              </a:ext>
            </a:extLst>
          </p:cNvPr>
          <p:cNvSpPr>
            <a:spLocks noGrp="1"/>
          </p:cNvSpPr>
          <p:nvPr>
            <p:ph type="dt" sz="half" idx="10"/>
          </p:nvPr>
        </p:nvSpPr>
        <p:spPr/>
        <p:txBody>
          <a:bodyPr/>
          <a:lstStyle/>
          <a:p>
            <a:fld id="{26BD4A1C-62C1-4010-836C-8C594F99AAE1}" type="datetimeFigureOut">
              <a:rPr lang="en-GB" smtClean="0"/>
              <a:t>20/01/2026</a:t>
            </a:fld>
            <a:endParaRPr lang="en-GB"/>
          </a:p>
        </p:txBody>
      </p:sp>
      <p:sp>
        <p:nvSpPr>
          <p:cNvPr id="6" name="Footer Placeholder 5">
            <a:extLst>
              <a:ext uri="{FF2B5EF4-FFF2-40B4-BE49-F238E27FC236}">
                <a16:creationId xmlns:a16="http://schemas.microsoft.com/office/drawing/2014/main" id="{0BA645DB-7D41-D268-567B-59F09C00B22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7C59E3E-2370-C950-40E5-DF1AA58A9663}"/>
              </a:ext>
            </a:extLst>
          </p:cNvPr>
          <p:cNvSpPr>
            <a:spLocks noGrp="1"/>
          </p:cNvSpPr>
          <p:nvPr>
            <p:ph type="sldNum" sz="quarter" idx="12"/>
          </p:nvPr>
        </p:nvSpPr>
        <p:spPr/>
        <p:txBody>
          <a:bodyPr/>
          <a:lstStyle/>
          <a:p>
            <a:fld id="{C189D6D7-0A44-4FA4-92D1-1D1E766E0D67}" type="slidenum">
              <a:rPr lang="en-GB" smtClean="0"/>
              <a:t>‹#›</a:t>
            </a:fld>
            <a:endParaRPr lang="en-GB"/>
          </a:p>
        </p:txBody>
      </p:sp>
    </p:spTree>
    <p:extLst>
      <p:ext uri="{BB962C8B-B14F-4D97-AF65-F5344CB8AC3E}">
        <p14:creationId xmlns:p14="http://schemas.microsoft.com/office/powerpoint/2010/main" val="20895257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3C5D8-6A69-4432-39BD-DBFA2E371D59}"/>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FA970860-48EB-51AB-5212-F0D13FBA4F13}"/>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EEC6F6CD-D53A-A1FD-E954-7ADEFB359CE2}"/>
              </a:ext>
            </a:extLst>
          </p:cNvPr>
          <p:cNvSpPr>
            <a:spLocks noGrp="1"/>
          </p:cNvSpPr>
          <p:nvPr>
            <p:ph type="dt" sz="half" idx="10"/>
          </p:nvPr>
        </p:nvSpPr>
        <p:spPr/>
        <p:txBody>
          <a:bodyPr/>
          <a:lstStyle/>
          <a:p>
            <a:fld id="{26BD4A1C-62C1-4010-836C-8C594F99AAE1}" type="datetimeFigureOut">
              <a:rPr lang="en-GB" smtClean="0"/>
              <a:t>20/01/2026</a:t>
            </a:fld>
            <a:endParaRPr lang="en-GB"/>
          </a:p>
        </p:txBody>
      </p:sp>
      <p:sp>
        <p:nvSpPr>
          <p:cNvPr id="5" name="Footer Placeholder 4">
            <a:extLst>
              <a:ext uri="{FF2B5EF4-FFF2-40B4-BE49-F238E27FC236}">
                <a16:creationId xmlns:a16="http://schemas.microsoft.com/office/drawing/2014/main" id="{A12024B7-9DA2-A7FE-F5D5-6AB3B8CA6B8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6B997BE-FDB8-00CE-A6EA-D92B8DB4CD8C}"/>
              </a:ext>
            </a:extLst>
          </p:cNvPr>
          <p:cNvSpPr>
            <a:spLocks noGrp="1"/>
          </p:cNvSpPr>
          <p:nvPr>
            <p:ph type="sldNum" sz="quarter" idx="12"/>
          </p:nvPr>
        </p:nvSpPr>
        <p:spPr/>
        <p:txBody>
          <a:bodyPr/>
          <a:lstStyle/>
          <a:p>
            <a:fld id="{C189D6D7-0A44-4FA4-92D1-1D1E766E0D67}" type="slidenum">
              <a:rPr lang="en-GB" smtClean="0"/>
              <a:t>‹#›</a:t>
            </a:fld>
            <a:endParaRPr lang="en-GB"/>
          </a:p>
        </p:txBody>
      </p:sp>
    </p:spTree>
    <p:extLst>
      <p:ext uri="{BB962C8B-B14F-4D97-AF65-F5344CB8AC3E}">
        <p14:creationId xmlns:p14="http://schemas.microsoft.com/office/powerpoint/2010/main" val="17679032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A87A5BB-CC85-548C-AA97-52E038E43DE2}"/>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12814C2E-AF04-6140-859D-E89F9766C8AB}"/>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E944B7DD-208E-6AE5-9CBD-9B2AA2885371}"/>
              </a:ext>
            </a:extLst>
          </p:cNvPr>
          <p:cNvSpPr>
            <a:spLocks noGrp="1"/>
          </p:cNvSpPr>
          <p:nvPr>
            <p:ph type="dt" sz="half" idx="10"/>
          </p:nvPr>
        </p:nvSpPr>
        <p:spPr/>
        <p:txBody>
          <a:bodyPr/>
          <a:lstStyle/>
          <a:p>
            <a:fld id="{26BD4A1C-62C1-4010-836C-8C594F99AAE1}" type="datetimeFigureOut">
              <a:rPr lang="en-GB" smtClean="0"/>
              <a:t>20/01/2026</a:t>
            </a:fld>
            <a:endParaRPr lang="en-GB"/>
          </a:p>
        </p:txBody>
      </p:sp>
      <p:sp>
        <p:nvSpPr>
          <p:cNvPr id="5" name="Footer Placeholder 4">
            <a:extLst>
              <a:ext uri="{FF2B5EF4-FFF2-40B4-BE49-F238E27FC236}">
                <a16:creationId xmlns:a16="http://schemas.microsoft.com/office/drawing/2014/main" id="{1216FC67-B154-C2C9-57B4-CF39D2BCE99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543DE01-6F38-5004-12BA-65C3B9DC1D08}"/>
              </a:ext>
            </a:extLst>
          </p:cNvPr>
          <p:cNvSpPr>
            <a:spLocks noGrp="1"/>
          </p:cNvSpPr>
          <p:nvPr>
            <p:ph type="sldNum" sz="quarter" idx="12"/>
          </p:nvPr>
        </p:nvSpPr>
        <p:spPr/>
        <p:txBody>
          <a:bodyPr/>
          <a:lstStyle/>
          <a:p>
            <a:fld id="{C189D6D7-0A44-4FA4-92D1-1D1E766E0D67}" type="slidenum">
              <a:rPr lang="en-GB" smtClean="0"/>
              <a:t>‹#›</a:t>
            </a:fld>
            <a:endParaRPr lang="en-GB"/>
          </a:p>
        </p:txBody>
      </p:sp>
    </p:spTree>
    <p:extLst>
      <p:ext uri="{BB962C8B-B14F-4D97-AF65-F5344CB8AC3E}">
        <p14:creationId xmlns:p14="http://schemas.microsoft.com/office/powerpoint/2010/main" val="34176573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EDD1B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F5F04-E335-67A4-FA69-8365E526D23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79DAD6FB-F3BC-752E-D374-800B1DE6484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9C8BC70D-06A8-D18A-A788-8FD4FB1B4696}"/>
              </a:ext>
            </a:extLst>
          </p:cNvPr>
          <p:cNvSpPr>
            <a:spLocks noGrp="1"/>
          </p:cNvSpPr>
          <p:nvPr>
            <p:ph type="dt" sz="half" idx="10"/>
          </p:nvPr>
        </p:nvSpPr>
        <p:spPr/>
        <p:txBody>
          <a:bodyPr/>
          <a:lstStyle/>
          <a:p>
            <a:fld id="{C7B41495-F5D4-4BAE-846E-C1BA39B38C3E}" type="datetime1">
              <a:rPr lang="en-GB" smtClean="0"/>
              <a:t>20/01/2026</a:t>
            </a:fld>
            <a:endParaRPr lang="en-GB"/>
          </a:p>
        </p:txBody>
      </p:sp>
      <p:sp>
        <p:nvSpPr>
          <p:cNvPr id="5" name="Footer Placeholder 4">
            <a:extLst>
              <a:ext uri="{FF2B5EF4-FFF2-40B4-BE49-F238E27FC236}">
                <a16:creationId xmlns:a16="http://schemas.microsoft.com/office/drawing/2014/main" id="{46DCE3A3-1862-497C-DDA8-5672505EB88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4EEAD9D-BBC4-E88C-BB0F-497F1E27EF11}"/>
              </a:ext>
            </a:extLst>
          </p:cNvPr>
          <p:cNvSpPr>
            <a:spLocks noGrp="1"/>
          </p:cNvSpPr>
          <p:nvPr>
            <p:ph type="sldNum" sz="quarter" idx="12"/>
          </p:nvPr>
        </p:nvSpPr>
        <p:spPr/>
        <p:txBody>
          <a:bodyPr/>
          <a:lstStyle>
            <a:lvl1pPr>
              <a:defRPr sz="2000" b="1"/>
            </a:lvl1pPr>
          </a:lstStyle>
          <a:p>
            <a:fld id="{1ED87AFC-F3F3-4E09-A9D9-1873FFB55ECB}" type="slidenum">
              <a:rPr lang="en-GB" smtClean="0"/>
              <a:pPr/>
              <a:t>‹#›</a:t>
            </a:fld>
            <a:endParaRPr lang="en-GB" dirty="0"/>
          </a:p>
        </p:txBody>
      </p:sp>
    </p:spTree>
    <p:extLst>
      <p:ext uri="{BB962C8B-B14F-4D97-AF65-F5344CB8AC3E}">
        <p14:creationId xmlns:p14="http://schemas.microsoft.com/office/powerpoint/2010/main" val="6189817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EDD1B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C67ED-67B0-A413-78B4-CDBF534FDBBF}"/>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4A41D5D6-9D4D-11E4-06D4-372026C4A08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6A8B2683-A2AF-4A75-8A55-9D7F47C47B12}"/>
              </a:ext>
            </a:extLst>
          </p:cNvPr>
          <p:cNvSpPr>
            <a:spLocks noGrp="1"/>
          </p:cNvSpPr>
          <p:nvPr>
            <p:ph type="dt" sz="half" idx="10"/>
          </p:nvPr>
        </p:nvSpPr>
        <p:spPr/>
        <p:txBody>
          <a:bodyPr/>
          <a:lstStyle/>
          <a:p>
            <a:fld id="{F1F00E1F-D883-4734-8D17-FAFD2FE3F82B}" type="datetime1">
              <a:rPr lang="en-GB" smtClean="0"/>
              <a:t>20/01/2026</a:t>
            </a:fld>
            <a:endParaRPr lang="en-GB"/>
          </a:p>
        </p:txBody>
      </p:sp>
      <p:sp>
        <p:nvSpPr>
          <p:cNvPr id="5" name="Footer Placeholder 4">
            <a:extLst>
              <a:ext uri="{FF2B5EF4-FFF2-40B4-BE49-F238E27FC236}">
                <a16:creationId xmlns:a16="http://schemas.microsoft.com/office/drawing/2014/main" id="{265BA211-1912-E80C-FB03-CEBF5226139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7279302-C457-E101-4432-A6FA5B745F6D}"/>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36127287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rgbClr val="EDD1B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E8383B-473A-5E42-BF42-66A87607B9D1}"/>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435053AF-2AFB-8A34-6F64-C9694583519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2C75E19C-560D-582B-5C65-BABE728403AE}"/>
              </a:ext>
            </a:extLst>
          </p:cNvPr>
          <p:cNvSpPr>
            <a:spLocks noGrp="1"/>
          </p:cNvSpPr>
          <p:nvPr>
            <p:ph type="dt" sz="half" idx="10"/>
          </p:nvPr>
        </p:nvSpPr>
        <p:spPr/>
        <p:txBody>
          <a:bodyPr/>
          <a:lstStyle/>
          <a:p>
            <a:fld id="{FAF03C43-999F-4677-8B7B-A143626357DE}" type="datetime1">
              <a:rPr lang="en-GB" smtClean="0"/>
              <a:t>20/01/2026</a:t>
            </a:fld>
            <a:endParaRPr lang="en-GB"/>
          </a:p>
        </p:txBody>
      </p:sp>
      <p:sp>
        <p:nvSpPr>
          <p:cNvPr id="5" name="Footer Placeholder 4">
            <a:extLst>
              <a:ext uri="{FF2B5EF4-FFF2-40B4-BE49-F238E27FC236}">
                <a16:creationId xmlns:a16="http://schemas.microsoft.com/office/drawing/2014/main" id="{89E26A85-9039-9DC7-FCE8-E59C15784A4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37E4C43-E1C4-CF43-D041-995B05E02BE4}"/>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8960877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rgbClr val="EDD1B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956A55-F2A7-95D7-5B21-8C725B775886}"/>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A4085870-E1A2-2279-E26B-485EDCBB07A8}"/>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7D75CDC7-3655-6623-C08B-2A0DDFBA474A}"/>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C5E85466-A2BA-0F1C-C0EE-3DDD9BBFB112}"/>
              </a:ext>
            </a:extLst>
          </p:cNvPr>
          <p:cNvSpPr>
            <a:spLocks noGrp="1"/>
          </p:cNvSpPr>
          <p:nvPr>
            <p:ph type="dt" sz="half" idx="10"/>
          </p:nvPr>
        </p:nvSpPr>
        <p:spPr/>
        <p:txBody>
          <a:bodyPr/>
          <a:lstStyle/>
          <a:p>
            <a:fld id="{AD62E2D2-7D84-4F62-AB79-04DD5D6E2A83}" type="datetime1">
              <a:rPr lang="en-GB" smtClean="0"/>
              <a:t>20/01/2026</a:t>
            </a:fld>
            <a:endParaRPr lang="en-GB"/>
          </a:p>
        </p:txBody>
      </p:sp>
      <p:sp>
        <p:nvSpPr>
          <p:cNvPr id="6" name="Footer Placeholder 5">
            <a:extLst>
              <a:ext uri="{FF2B5EF4-FFF2-40B4-BE49-F238E27FC236}">
                <a16:creationId xmlns:a16="http://schemas.microsoft.com/office/drawing/2014/main" id="{40ADF506-CEA6-3A73-C30B-9E8664508B8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31BEED9-EA69-B899-A439-2F43F88F9067}"/>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37967013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bg>
      <p:bgPr>
        <a:solidFill>
          <a:srgbClr val="EDD1B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8FB61-0B1B-1AA8-C776-6E6E59874D84}"/>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4BE91144-0D95-8068-5D00-7A87B3CBA5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0ECA04A-9C50-74D8-50AB-68DCD684C403}"/>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B6E713DA-D885-C472-BAD2-D383CFB17DB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004216DC-7E05-7364-DBE6-E5FCE8ADCFCC}"/>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63A299C5-58E9-0915-C7F9-532BCEB533B9}"/>
              </a:ext>
            </a:extLst>
          </p:cNvPr>
          <p:cNvSpPr>
            <a:spLocks noGrp="1"/>
          </p:cNvSpPr>
          <p:nvPr>
            <p:ph type="dt" sz="half" idx="10"/>
          </p:nvPr>
        </p:nvSpPr>
        <p:spPr/>
        <p:txBody>
          <a:bodyPr/>
          <a:lstStyle/>
          <a:p>
            <a:fld id="{3C542E2F-086F-40AD-AE37-0FE3516ECA88}" type="datetime1">
              <a:rPr lang="en-GB" smtClean="0"/>
              <a:t>20/01/2026</a:t>
            </a:fld>
            <a:endParaRPr lang="en-GB"/>
          </a:p>
        </p:txBody>
      </p:sp>
      <p:sp>
        <p:nvSpPr>
          <p:cNvPr id="8" name="Footer Placeholder 7">
            <a:extLst>
              <a:ext uri="{FF2B5EF4-FFF2-40B4-BE49-F238E27FC236}">
                <a16:creationId xmlns:a16="http://schemas.microsoft.com/office/drawing/2014/main" id="{FD2A08F8-E9E4-42AA-2BF5-F3FD711CF8EB}"/>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AC9A90D6-B33F-B27A-89BC-5C61CD746F9F}"/>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16811670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EDD1B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8F1DD-33BA-DC1A-503B-EDF553E94625}"/>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259C1459-127D-B946-DCC3-295E311F4556}"/>
              </a:ext>
            </a:extLst>
          </p:cNvPr>
          <p:cNvSpPr>
            <a:spLocks noGrp="1"/>
          </p:cNvSpPr>
          <p:nvPr>
            <p:ph type="dt" sz="half" idx="10"/>
          </p:nvPr>
        </p:nvSpPr>
        <p:spPr/>
        <p:txBody>
          <a:bodyPr/>
          <a:lstStyle/>
          <a:p>
            <a:fld id="{28BB7FCF-08A1-4FE4-9E9D-DC420D650C18}" type="datetime1">
              <a:rPr lang="en-GB" smtClean="0"/>
              <a:t>20/01/2026</a:t>
            </a:fld>
            <a:endParaRPr lang="en-GB"/>
          </a:p>
        </p:txBody>
      </p:sp>
      <p:sp>
        <p:nvSpPr>
          <p:cNvPr id="4" name="Footer Placeholder 3">
            <a:extLst>
              <a:ext uri="{FF2B5EF4-FFF2-40B4-BE49-F238E27FC236}">
                <a16:creationId xmlns:a16="http://schemas.microsoft.com/office/drawing/2014/main" id="{F06167AD-FE57-199A-AED0-34EC850A9298}"/>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EC4E0EC7-4B04-9729-C509-C54966A06EF8}"/>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394086180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EDD1B0"/>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02124B3-7905-CDCE-B292-FD8A2BD1E19B}"/>
              </a:ext>
            </a:extLst>
          </p:cNvPr>
          <p:cNvSpPr>
            <a:spLocks noGrp="1"/>
          </p:cNvSpPr>
          <p:nvPr>
            <p:ph type="dt" sz="half" idx="10"/>
          </p:nvPr>
        </p:nvSpPr>
        <p:spPr/>
        <p:txBody>
          <a:bodyPr/>
          <a:lstStyle/>
          <a:p>
            <a:fld id="{EDDDA0C7-BAEE-4F35-8A3B-93DC0CEF01B4}" type="datetime1">
              <a:rPr lang="en-GB" smtClean="0"/>
              <a:t>20/01/2026</a:t>
            </a:fld>
            <a:endParaRPr lang="en-GB"/>
          </a:p>
        </p:txBody>
      </p:sp>
      <p:sp>
        <p:nvSpPr>
          <p:cNvPr id="3" name="Footer Placeholder 2">
            <a:extLst>
              <a:ext uri="{FF2B5EF4-FFF2-40B4-BE49-F238E27FC236}">
                <a16:creationId xmlns:a16="http://schemas.microsoft.com/office/drawing/2014/main" id="{23FA3729-5522-EE34-2FCC-F4BC137CEF81}"/>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EFCA7865-47F4-47C5-BBCB-A6249F2A9B3C}"/>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416763635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bg>
      <p:bgPr>
        <a:solidFill>
          <a:srgbClr val="EDD1B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64DEA-FB17-B8A6-AA81-03FAA82022E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4EF307C4-5CF6-7B6B-7A9A-A16BDDA4517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4462CCBA-A6B6-D42B-9A6C-7C4515A57D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CB7EF61-BB13-5B78-32CC-DAE862704CBB}"/>
              </a:ext>
            </a:extLst>
          </p:cNvPr>
          <p:cNvSpPr>
            <a:spLocks noGrp="1"/>
          </p:cNvSpPr>
          <p:nvPr>
            <p:ph type="dt" sz="half" idx="10"/>
          </p:nvPr>
        </p:nvSpPr>
        <p:spPr/>
        <p:txBody>
          <a:bodyPr/>
          <a:lstStyle/>
          <a:p>
            <a:fld id="{E92368E4-9C31-482F-B818-B582CFCA3920}" type="datetime1">
              <a:rPr lang="en-GB" smtClean="0"/>
              <a:t>20/01/2026</a:t>
            </a:fld>
            <a:endParaRPr lang="en-GB"/>
          </a:p>
        </p:txBody>
      </p:sp>
      <p:sp>
        <p:nvSpPr>
          <p:cNvPr id="6" name="Footer Placeholder 5">
            <a:extLst>
              <a:ext uri="{FF2B5EF4-FFF2-40B4-BE49-F238E27FC236}">
                <a16:creationId xmlns:a16="http://schemas.microsoft.com/office/drawing/2014/main" id="{3E5CE7C5-8D38-2000-9396-6952E2AC53E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0481D8B-C963-0093-61E4-B314D8287EB9}"/>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306042567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rgbClr val="EDD1B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EC570-FFEA-139D-76DD-8FAD26F435B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1235F4C9-5646-2C72-5A74-36DBA95E04B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16B733E6-059F-B4E8-2665-301BD49D23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813E015-83D2-B22A-AEFA-3050D046CF74}"/>
              </a:ext>
            </a:extLst>
          </p:cNvPr>
          <p:cNvSpPr>
            <a:spLocks noGrp="1"/>
          </p:cNvSpPr>
          <p:nvPr>
            <p:ph type="dt" sz="half" idx="10"/>
          </p:nvPr>
        </p:nvSpPr>
        <p:spPr/>
        <p:txBody>
          <a:bodyPr/>
          <a:lstStyle/>
          <a:p>
            <a:fld id="{CFA87033-DBE3-47C4-85A3-06E175F67215}" type="datetime1">
              <a:rPr lang="en-GB" smtClean="0"/>
              <a:t>20/01/2026</a:t>
            </a:fld>
            <a:endParaRPr lang="en-GB"/>
          </a:p>
        </p:txBody>
      </p:sp>
      <p:sp>
        <p:nvSpPr>
          <p:cNvPr id="6" name="Footer Placeholder 5">
            <a:extLst>
              <a:ext uri="{FF2B5EF4-FFF2-40B4-BE49-F238E27FC236}">
                <a16:creationId xmlns:a16="http://schemas.microsoft.com/office/drawing/2014/main" id="{FE0DCC9E-7434-E9C4-BF07-F498CDF742F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97B5824-C721-15E0-005F-09D87B3694D5}"/>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351257263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rgbClr val="EDD1B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3DA8C0-0F4C-EB7E-4D83-13A13AB3468C}"/>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E92CC711-7438-1B41-AB61-31E43CBF3ADD}"/>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C47412AF-0EE4-43D6-3E5A-8492725341EF}"/>
              </a:ext>
            </a:extLst>
          </p:cNvPr>
          <p:cNvSpPr>
            <a:spLocks noGrp="1"/>
          </p:cNvSpPr>
          <p:nvPr>
            <p:ph type="dt" sz="half" idx="10"/>
          </p:nvPr>
        </p:nvSpPr>
        <p:spPr/>
        <p:txBody>
          <a:bodyPr/>
          <a:lstStyle/>
          <a:p>
            <a:fld id="{5188CAA1-DC3A-4AD5-88F3-EBC71BAF0E08}" type="datetime1">
              <a:rPr lang="en-GB" smtClean="0"/>
              <a:t>20/01/2026</a:t>
            </a:fld>
            <a:endParaRPr lang="en-GB"/>
          </a:p>
        </p:txBody>
      </p:sp>
      <p:sp>
        <p:nvSpPr>
          <p:cNvPr id="5" name="Footer Placeholder 4">
            <a:extLst>
              <a:ext uri="{FF2B5EF4-FFF2-40B4-BE49-F238E27FC236}">
                <a16:creationId xmlns:a16="http://schemas.microsoft.com/office/drawing/2014/main" id="{859C32D4-8659-7FED-DBB7-C92D7179A0B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0987D87-07EB-4978-82B2-863E55F52477}"/>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140157411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rgbClr val="EDD1B0"/>
        </a:solidFill>
        <a:effectLst/>
      </p:bgPr>
    </p:bg>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CC1CF52-EC45-CAB7-E131-1ECA7B9CBAE5}"/>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D81FF283-34F1-64D3-F66D-2F035B48F683}"/>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EC3D3432-534B-D87F-33AD-11D40092D389}"/>
              </a:ext>
            </a:extLst>
          </p:cNvPr>
          <p:cNvSpPr>
            <a:spLocks noGrp="1"/>
          </p:cNvSpPr>
          <p:nvPr>
            <p:ph type="dt" sz="half" idx="10"/>
          </p:nvPr>
        </p:nvSpPr>
        <p:spPr/>
        <p:txBody>
          <a:bodyPr/>
          <a:lstStyle/>
          <a:p>
            <a:fld id="{FED66873-85DD-4CDB-895B-8ED6F6A7367F}" type="datetime1">
              <a:rPr lang="en-GB" smtClean="0"/>
              <a:t>20/01/2026</a:t>
            </a:fld>
            <a:endParaRPr lang="en-GB"/>
          </a:p>
        </p:txBody>
      </p:sp>
      <p:sp>
        <p:nvSpPr>
          <p:cNvPr id="5" name="Footer Placeholder 4">
            <a:extLst>
              <a:ext uri="{FF2B5EF4-FFF2-40B4-BE49-F238E27FC236}">
                <a16:creationId xmlns:a16="http://schemas.microsoft.com/office/drawing/2014/main" id="{76AAE0A8-0EFF-A6D0-21B8-38A2D7E8A3B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4FC8CA4-F6F3-B516-1FBA-074CDC4BF988}"/>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32013253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424F3F6-2061-A0C8-CCDC-17FFD0ADE6D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CCB6A7E1-D830-5C56-3CC4-5018384D8B3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E245BF59-0EF5-BC33-8418-8E59C28F1FA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6BD4A1C-62C1-4010-836C-8C594F99AAE1}" type="datetimeFigureOut">
              <a:rPr lang="en-GB" smtClean="0"/>
              <a:t>20/01/2026</a:t>
            </a:fld>
            <a:endParaRPr lang="en-GB"/>
          </a:p>
        </p:txBody>
      </p:sp>
      <p:sp>
        <p:nvSpPr>
          <p:cNvPr id="5" name="Footer Placeholder 4">
            <a:extLst>
              <a:ext uri="{FF2B5EF4-FFF2-40B4-BE49-F238E27FC236}">
                <a16:creationId xmlns:a16="http://schemas.microsoft.com/office/drawing/2014/main" id="{248C5A2F-07C4-0B64-5D10-411D7F0F531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5684FF3D-228F-A48B-8C91-F5BE9C443E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189D6D7-0A44-4FA4-92D1-1D1E766E0D67}" type="slidenum">
              <a:rPr lang="en-GB" smtClean="0"/>
              <a:t>‹#›</a:t>
            </a:fld>
            <a:endParaRPr lang="en-GB"/>
          </a:p>
        </p:txBody>
      </p:sp>
    </p:spTree>
    <p:extLst>
      <p:ext uri="{BB962C8B-B14F-4D97-AF65-F5344CB8AC3E}">
        <p14:creationId xmlns:p14="http://schemas.microsoft.com/office/powerpoint/2010/main" val="3875768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EDD1B0"/>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2E5FCCA-3F3F-773D-CD33-62B98DC6A6D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E9A4DECA-96E2-A2E3-D34A-F7C25B021BD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02B31FA4-DBAE-837F-EEB7-35143BA1623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50EB35A-6C1C-44EB-A894-5CBC41E755B3}" type="datetime1">
              <a:rPr lang="en-GB" smtClean="0"/>
              <a:t>20/01/2026</a:t>
            </a:fld>
            <a:endParaRPr lang="en-GB"/>
          </a:p>
        </p:txBody>
      </p:sp>
      <p:sp>
        <p:nvSpPr>
          <p:cNvPr id="5" name="Footer Placeholder 4">
            <a:extLst>
              <a:ext uri="{FF2B5EF4-FFF2-40B4-BE49-F238E27FC236}">
                <a16:creationId xmlns:a16="http://schemas.microsoft.com/office/drawing/2014/main" id="{9061C84C-67E4-49E5-DBCE-67ED85EF169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FF2140A1-6DB9-3D28-8445-9C83A0B7076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2000" b="1">
                <a:solidFill>
                  <a:schemeClr val="tx1">
                    <a:tint val="75000"/>
                  </a:schemeClr>
                </a:solidFill>
              </a:defRPr>
            </a:lvl1pPr>
          </a:lstStyle>
          <a:p>
            <a:fld id="{1ED87AFC-F3F3-4E09-A9D9-1873FFB55ECB}" type="slidenum">
              <a:rPr lang="en-GB" smtClean="0"/>
              <a:pPr/>
              <a:t>‹#›</a:t>
            </a:fld>
            <a:endParaRPr lang="en-GB" dirty="0"/>
          </a:p>
        </p:txBody>
      </p:sp>
    </p:spTree>
    <p:extLst>
      <p:ext uri="{BB962C8B-B14F-4D97-AF65-F5344CB8AC3E}">
        <p14:creationId xmlns:p14="http://schemas.microsoft.com/office/powerpoint/2010/main" val="36538670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F9CBE3F-79A8-4F8F-88D9-DAD03D0D28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D3D409A-BED6-DA5F-AA0C-747413019A7E}"/>
              </a:ext>
            </a:extLst>
          </p:cNvPr>
          <p:cNvSpPr>
            <a:spLocks noGrp="1"/>
          </p:cNvSpPr>
          <p:nvPr>
            <p:ph type="ctrTitle"/>
          </p:nvPr>
        </p:nvSpPr>
        <p:spPr>
          <a:xfrm>
            <a:off x="1522030" y="1209220"/>
            <a:ext cx="9147940" cy="2337238"/>
          </a:xfrm>
        </p:spPr>
        <p:txBody>
          <a:bodyPr anchor="b">
            <a:normAutofit/>
          </a:bodyPr>
          <a:lstStyle/>
          <a:p>
            <a:r>
              <a:rPr lang="en-GB" sz="5200" b="1">
                <a:solidFill>
                  <a:srgbClr val="FFFFFF"/>
                </a:solidFill>
              </a:rPr>
              <a:t>ENG4118/5326 - Robotics 4/M</a:t>
            </a:r>
            <a:br>
              <a:rPr lang="en-GB" sz="5200" b="1">
                <a:solidFill>
                  <a:srgbClr val="FFFFFF"/>
                </a:solidFill>
              </a:rPr>
            </a:br>
            <a:r>
              <a:rPr lang="en-GB" sz="5200" b="1">
                <a:solidFill>
                  <a:srgbClr val="FFFFFF"/>
                </a:solidFill>
              </a:rPr>
              <a:t>Sensors, Actuators and Image capture, processing and analysis</a:t>
            </a:r>
          </a:p>
        </p:txBody>
      </p:sp>
      <p:sp>
        <p:nvSpPr>
          <p:cNvPr id="3" name="Subtitle 2">
            <a:extLst>
              <a:ext uri="{FF2B5EF4-FFF2-40B4-BE49-F238E27FC236}">
                <a16:creationId xmlns:a16="http://schemas.microsoft.com/office/drawing/2014/main" id="{0EC2D61B-0204-42F3-52E6-931A9496968D}"/>
              </a:ext>
            </a:extLst>
          </p:cNvPr>
          <p:cNvSpPr>
            <a:spLocks noGrp="1"/>
          </p:cNvSpPr>
          <p:nvPr>
            <p:ph type="subTitle" idx="1"/>
          </p:nvPr>
        </p:nvSpPr>
        <p:spPr>
          <a:xfrm>
            <a:off x="1522030" y="3605577"/>
            <a:ext cx="9147940" cy="1324303"/>
          </a:xfrm>
        </p:spPr>
        <p:txBody>
          <a:bodyPr anchor="t">
            <a:normAutofit/>
          </a:bodyPr>
          <a:lstStyle/>
          <a:p>
            <a:r>
              <a:rPr lang="en-GB" sz="2000" dirty="0">
                <a:solidFill>
                  <a:srgbClr val="FFFFFF"/>
                </a:solidFill>
              </a:rPr>
              <a:t>Lecture 4</a:t>
            </a:r>
          </a:p>
          <a:p>
            <a:r>
              <a:rPr lang="en-GB" sz="2000" dirty="0">
                <a:solidFill>
                  <a:srgbClr val="FFFFFF"/>
                </a:solidFill>
              </a:rPr>
              <a:t>Kevin Worrall</a:t>
            </a:r>
          </a:p>
        </p:txBody>
      </p:sp>
      <p:sp>
        <p:nvSpPr>
          <p:cNvPr id="12" name="Graphic 22">
            <a:extLst>
              <a:ext uri="{FF2B5EF4-FFF2-40B4-BE49-F238E27FC236}">
                <a16:creationId xmlns:a16="http://schemas.microsoft.com/office/drawing/2014/main" id="{508BEF50-7B1E-49A4-BC19-5F4F1D755E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1869" y="2383077"/>
            <a:ext cx="151536" cy="151536"/>
          </a:xfrm>
          <a:custGeom>
            <a:avLst/>
            <a:gdLst>
              <a:gd name="connsiteX0" fmla="*/ 141251 w 151536"/>
              <a:gd name="connsiteY0" fmla="*/ 65483 h 151536"/>
              <a:gd name="connsiteX1" fmla="*/ 86053 w 151536"/>
              <a:gd name="connsiteY1" fmla="*/ 65483 h 151536"/>
              <a:gd name="connsiteX2" fmla="*/ 86053 w 151536"/>
              <a:gd name="connsiteY2" fmla="*/ 10285 h 151536"/>
              <a:gd name="connsiteX3" fmla="*/ 75768 w 151536"/>
              <a:gd name="connsiteY3" fmla="*/ 0 h 151536"/>
              <a:gd name="connsiteX4" fmla="*/ 65483 w 151536"/>
              <a:gd name="connsiteY4" fmla="*/ 10285 h 151536"/>
              <a:gd name="connsiteX5" fmla="*/ 65483 w 151536"/>
              <a:gd name="connsiteY5" fmla="*/ 65483 h 151536"/>
              <a:gd name="connsiteX6" fmla="*/ 10285 w 151536"/>
              <a:gd name="connsiteY6" fmla="*/ 65483 h 151536"/>
              <a:gd name="connsiteX7" fmla="*/ 0 w 151536"/>
              <a:gd name="connsiteY7" fmla="*/ 75768 h 151536"/>
              <a:gd name="connsiteX8" fmla="*/ 10285 w 151536"/>
              <a:gd name="connsiteY8" fmla="*/ 86053 h 151536"/>
              <a:gd name="connsiteX9" fmla="*/ 65483 w 151536"/>
              <a:gd name="connsiteY9" fmla="*/ 86053 h 151536"/>
              <a:gd name="connsiteX10" fmla="*/ 65483 w 151536"/>
              <a:gd name="connsiteY10" fmla="*/ 141251 h 151536"/>
              <a:gd name="connsiteX11" fmla="*/ 75768 w 151536"/>
              <a:gd name="connsiteY11" fmla="*/ 151536 h 151536"/>
              <a:gd name="connsiteX12" fmla="*/ 86053 w 151536"/>
              <a:gd name="connsiteY12" fmla="*/ 141251 h 151536"/>
              <a:gd name="connsiteX13" fmla="*/ 86053 w 151536"/>
              <a:gd name="connsiteY13" fmla="*/ 86053 h 151536"/>
              <a:gd name="connsiteX14" fmla="*/ 141251 w 151536"/>
              <a:gd name="connsiteY14" fmla="*/ 86053 h 151536"/>
              <a:gd name="connsiteX15" fmla="*/ 151536 w 151536"/>
              <a:gd name="connsiteY15" fmla="*/ 75768 h 151536"/>
              <a:gd name="connsiteX16" fmla="*/ 141251 w 151536"/>
              <a:gd name="connsiteY16" fmla="*/ 65483 h 15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536" h="151536">
                <a:moveTo>
                  <a:pt x="141251" y="65483"/>
                </a:moveTo>
                <a:lnTo>
                  <a:pt x="86053" y="65483"/>
                </a:lnTo>
                <a:lnTo>
                  <a:pt x="86053" y="10285"/>
                </a:lnTo>
                <a:cubicBezTo>
                  <a:pt x="86053" y="4605"/>
                  <a:pt x="81448" y="0"/>
                  <a:pt x="75768" y="0"/>
                </a:cubicBezTo>
                <a:cubicBezTo>
                  <a:pt x="70088" y="0"/>
                  <a:pt x="65483" y="4605"/>
                  <a:pt x="65483" y="10285"/>
                </a:cubicBezTo>
                <a:lnTo>
                  <a:pt x="65483" y="65483"/>
                </a:lnTo>
                <a:lnTo>
                  <a:pt x="10285" y="65483"/>
                </a:lnTo>
                <a:cubicBezTo>
                  <a:pt x="4605" y="65483"/>
                  <a:pt x="0" y="70088"/>
                  <a:pt x="0" y="75768"/>
                </a:cubicBezTo>
                <a:cubicBezTo>
                  <a:pt x="0" y="81448"/>
                  <a:pt x="4605" y="86053"/>
                  <a:pt x="10285" y="86053"/>
                </a:cubicBezTo>
                <a:lnTo>
                  <a:pt x="65483" y="86053"/>
                </a:lnTo>
                <a:lnTo>
                  <a:pt x="65483" y="141251"/>
                </a:lnTo>
                <a:cubicBezTo>
                  <a:pt x="65483" y="146931"/>
                  <a:pt x="70088" y="151536"/>
                  <a:pt x="75768" y="151536"/>
                </a:cubicBezTo>
                <a:cubicBezTo>
                  <a:pt x="81448" y="151536"/>
                  <a:pt x="86053" y="146931"/>
                  <a:pt x="86053" y="141251"/>
                </a:cubicBezTo>
                <a:lnTo>
                  <a:pt x="86053" y="86053"/>
                </a:lnTo>
                <a:lnTo>
                  <a:pt x="141251" y="86053"/>
                </a:lnTo>
                <a:cubicBezTo>
                  <a:pt x="146931" y="86053"/>
                  <a:pt x="151536" y="81448"/>
                  <a:pt x="151536" y="75768"/>
                </a:cubicBezTo>
                <a:cubicBezTo>
                  <a:pt x="151536" y="70088"/>
                  <a:pt x="146931" y="65483"/>
                  <a:pt x="141251" y="65483"/>
                </a:cubicBezTo>
                <a:close/>
              </a:path>
            </a:pathLst>
          </a:custGeom>
          <a:solidFill>
            <a:srgbClr val="FFFFFF"/>
          </a:solidFill>
          <a:ln w="64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4"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724364" y="2265467"/>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6"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24834" y="2537201"/>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8" name="Graphic 21">
            <a:extLst>
              <a:ext uri="{FF2B5EF4-FFF2-40B4-BE49-F238E27FC236}">
                <a16:creationId xmlns:a16="http://schemas.microsoft.com/office/drawing/2014/main" id="{C39ADB8F-D187-49D7-BDCF-C1B6DC7270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4053" y="2832967"/>
            <a:ext cx="95759" cy="95759"/>
          </a:xfrm>
          <a:custGeom>
            <a:avLst/>
            <a:gdLst>
              <a:gd name="connsiteX0" fmla="*/ 95759 w 95759"/>
              <a:gd name="connsiteY0" fmla="*/ 47880 h 95759"/>
              <a:gd name="connsiteX1" fmla="*/ 47880 w 95759"/>
              <a:gd name="connsiteY1" fmla="*/ 95759 h 95759"/>
              <a:gd name="connsiteX2" fmla="*/ 0 w 95759"/>
              <a:gd name="connsiteY2" fmla="*/ 47880 h 95759"/>
              <a:gd name="connsiteX3" fmla="*/ 47880 w 95759"/>
              <a:gd name="connsiteY3" fmla="*/ 0 h 95759"/>
              <a:gd name="connsiteX4" fmla="*/ 95759 w 95759"/>
              <a:gd name="connsiteY4" fmla="*/ 47880 h 95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59" h="95759">
                <a:moveTo>
                  <a:pt x="95759" y="47880"/>
                </a:moveTo>
                <a:cubicBezTo>
                  <a:pt x="95759" y="74323"/>
                  <a:pt x="74323" y="95759"/>
                  <a:pt x="47880" y="95759"/>
                </a:cubicBezTo>
                <a:cubicBezTo>
                  <a:pt x="21436" y="95759"/>
                  <a:pt x="0" y="74323"/>
                  <a:pt x="0" y="47880"/>
                </a:cubicBezTo>
                <a:cubicBezTo>
                  <a:pt x="0" y="21436"/>
                  <a:pt x="21436" y="0"/>
                  <a:pt x="47880" y="0"/>
                </a:cubicBezTo>
                <a:cubicBezTo>
                  <a:pt x="74323" y="0"/>
                  <a:pt x="95759" y="21436"/>
                  <a:pt x="95759" y="47880"/>
                </a:cubicBezTo>
                <a:close/>
              </a:path>
            </a:pathLst>
          </a:custGeom>
          <a:solidFill>
            <a:srgbClr val="FFFFFF"/>
          </a:solidFill>
          <a:ln w="46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0"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772266" y="2803988"/>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2" name="Graphic 23">
            <a:extLst>
              <a:ext uri="{FF2B5EF4-FFF2-40B4-BE49-F238E27FC236}">
                <a16:creationId xmlns:a16="http://schemas.microsoft.com/office/drawing/2014/main" id="{3FBAD350-5664-4811-A208-657FB882D3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13405" y="3242499"/>
            <a:ext cx="108625" cy="108625"/>
          </a:xfrm>
          <a:custGeom>
            <a:avLst/>
            <a:gdLst>
              <a:gd name="connsiteX0" fmla="*/ 54313 w 108625"/>
              <a:gd name="connsiteY0" fmla="*/ 16053 h 108625"/>
              <a:gd name="connsiteX1" fmla="*/ 92572 w 108625"/>
              <a:gd name="connsiteY1" fmla="*/ 54313 h 108625"/>
              <a:gd name="connsiteX2" fmla="*/ 54313 w 108625"/>
              <a:gd name="connsiteY2" fmla="*/ 92572 h 108625"/>
              <a:gd name="connsiteX3" fmla="*/ 16053 w 108625"/>
              <a:gd name="connsiteY3" fmla="*/ 54313 h 108625"/>
              <a:gd name="connsiteX4" fmla="*/ 54313 w 108625"/>
              <a:gd name="connsiteY4" fmla="*/ 16053 h 108625"/>
              <a:gd name="connsiteX5" fmla="*/ 54313 w 108625"/>
              <a:gd name="connsiteY5" fmla="*/ 0 h 108625"/>
              <a:gd name="connsiteX6" fmla="*/ 0 w 108625"/>
              <a:gd name="connsiteY6" fmla="*/ 54313 h 108625"/>
              <a:gd name="connsiteX7" fmla="*/ 54313 w 108625"/>
              <a:gd name="connsiteY7" fmla="*/ 108625 h 108625"/>
              <a:gd name="connsiteX8" fmla="*/ 108625 w 108625"/>
              <a:gd name="connsiteY8" fmla="*/ 54313 h 108625"/>
              <a:gd name="connsiteX9" fmla="*/ 54313 w 108625"/>
              <a:gd name="connsiteY9" fmla="*/ 0 h 10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625" h="108625">
                <a:moveTo>
                  <a:pt x="54313" y="16053"/>
                </a:moveTo>
                <a:cubicBezTo>
                  <a:pt x="75442" y="16053"/>
                  <a:pt x="92572" y="33182"/>
                  <a:pt x="92572" y="54313"/>
                </a:cubicBezTo>
                <a:cubicBezTo>
                  <a:pt x="92572" y="75442"/>
                  <a:pt x="75442" y="92572"/>
                  <a:pt x="54313" y="92572"/>
                </a:cubicBezTo>
                <a:cubicBezTo>
                  <a:pt x="33182" y="92572"/>
                  <a:pt x="16053" y="75442"/>
                  <a:pt x="16053" y="54313"/>
                </a:cubicBezTo>
                <a:cubicBezTo>
                  <a:pt x="16074" y="33191"/>
                  <a:pt x="33191" y="16074"/>
                  <a:pt x="54313" y="16053"/>
                </a:cubicBezTo>
                <a:moveTo>
                  <a:pt x="54313" y="0"/>
                </a:moveTo>
                <a:cubicBezTo>
                  <a:pt x="24317" y="0"/>
                  <a:pt x="0" y="24317"/>
                  <a:pt x="0" y="54313"/>
                </a:cubicBezTo>
                <a:cubicBezTo>
                  <a:pt x="0" y="84309"/>
                  <a:pt x="24317" y="108625"/>
                  <a:pt x="54313" y="108625"/>
                </a:cubicBezTo>
                <a:cubicBezTo>
                  <a:pt x="84309" y="108625"/>
                  <a:pt x="108625" y="84309"/>
                  <a:pt x="108625" y="54313"/>
                </a:cubicBezTo>
                <a:cubicBezTo>
                  <a:pt x="108625" y="24317"/>
                  <a:pt x="84309" y="0"/>
                  <a:pt x="54313" y="0"/>
                </a:cubicBezTo>
                <a:close/>
              </a:path>
            </a:pathLst>
          </a:custGeom>
          <a:solidFill>
            <a:srgbClr val="FFFFFF"/>
          </a:solidFill>
          <a:ln w="5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cxnSp>
        <p:nvCxnSpPr>
          <p:cNvPr id="24" name="Straight Connector 23">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5831729"/>
            <a:ext cx="12188952" cy="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AE42FB52-67A8-E2C7-2462-FB99CD1C6398}"/>
              </a:ext>
            </a:extLst>
          </p:cNvPr>
          <p:cNvSpPr>
            <a:spLocks noGrp="1"/>
          </p:cNvSpPr>
          <p:nvPr>
            <p:ph type="sldNum" sz="quarter" idx="12"/>
          </p:nvPr>
        </p:nvSpPr>
        <p:spPr>
          <a:xfrm>
            <a:off x="8610600" y="6133916"/>
            <a:ext cx="2743200" cy="365125"/>
          </a:xfrm>
        </p:spPr>
        <p:txBody>
          <a:bodyPr>
            <a:normAutofit/>
          </a:bodyPr>
          <a:lstStyle/>
          <a:p>
            <a:pPr marL="0" marR="0" lvl="0" indent="0" algn="r" defTabSz="914400" rtl="0" eaLnBrk="1" fontAlgn="auto" latinLnBrk="0" hangingPunct="1">
              <a:lnSpc>
                <a:spcPct val="90000"/>
              </a:lnSpc>
              <a:spcBef>
                <a:spcPts val="0"/>
              </a:spcBef>
              <a:spcAft>
                <a:spcPts val="600"/>
              </a:spcAft>
              <a:buClrTx/>
              <a:buSzTx/>
              <a:buFontTx/>
              <a:buNone/>
              <a:tabLst/>
              <a:defRPr/>
            </a:pPr>
            <a:fld id="{1ED87AFC-F3F3-4E09-A9D9-1873FFB55ECB}" type="slidenum">
              <a:rPr kumimoji="0" lang="en-GB" sz="1900" b="1" i="0" u="none" strike="noStrike" kern="1200" cap="none" spc="0" normalizeH="0" baseline="0" noProof="0">
                <a:ln>
                  <a:noFill/>
                </a:ln>
                <a:solidFill>
                  <a:srgbClr val="FFFFFF"/>
                </a:solidFill>
                <a:effectLst/>
                <a:uLnTx/>
                <a:uFillTx/>
                <a:latin typeface="Calibri" panose="020F0502020204030204"/>
                <a:ea typeface="+mn-ea"/>
                <a:cs typeface="+mn-cs"/>
              </a:rPr>
              <a:pPr marL="0" marR="0" lvl="0" indent="0" algn="r" defTabSz="914400" rtl="0" eaLnBrk="1" fontAlgn="auto" latinLnBrk="0" hangingPunct="1">
                <a:lnSpc>
                  <a:spcPct val="90000"/>
                </a:lnSpc>
                <a:spcBef>
                  <a:spcPts val="0"/>
                </a:spcBef>
                <a:spcAft>
                  <a:spcPts val="600"/>
                </a:spcAft>
                <a:buClrTx/>
                <a:buSzTx/>
                <a:buFontTx/>
                <a:buNone/>
                <a:tabLst/>
                <a:defRPr/>
              </a:pPr>
              <a:t>1</a:t>
            </a:fld>
            <a:endParaRPr kumimoji="0" lang="en-GB" sz="1900" b="1" i="0" u="none" strike="noStrike" kern="1200" cap="none" spc="0" normalizeH="0" baseline="0" noProof="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313163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F9CBE3F-79A8-4F8F-88D9-DAD03D0D28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a:xfrm>
            <a:off x="1522030" y="1209220"/>
            <a:ext cx="9147940" cy="2337238"/>
          </a:xfrm>
        </p:spPr>
        <p:txBody>
          <a:bodyPr vert="horz" lIns="91440" tIns="45720" rIns="91440" bIns="45720" rtlCol="0" anchor="b">
            <a:normAutofit/>
          </a:bodyPr>
          <a:lstStyle/>
          <a:p>
            <a:pPr algn="ctr"/>
            <a:r>
              <a:rPr lang="en-US" sz="5600" b="1" kern="1200" dirty="0">
                <a:solidFill>
                  <a:srgbClr val="FFFFFF"/>
                </a:solidFill>
                <a:latin typeface="+mj-lt"/>
                <a:ea typeface="+mj-ea"/>
                <a:cs typeface="+mj-cs"/>
              </a:rPr>
              <a:t>Sensor Connection</a:t>
            </a:r>
          </a:p>
        </p:txBody>
      </p:sp>
      <p:sp>
        <p:nvSpPr>
          <p:cNvPr id="3" name="Subtitle 2">
            <a:extLst>
              <a:ext uri="{FF2B5EF4-FFF2-40B4-BE49-F238E27FC236}">
                <a16:creationId xmlns:a16="http://schemas.microsoft.com/office/drawing/2014/main" id="{0EC2D61B-0204-42F3-52E6-931A9496968D}"/>
              </a:ext>
            </a:extLst>
          </p:cNvPr>
          <p:cNvSpPr>
            <a:spLocks noGrp="1"/>
          </p:cNvSpPr>
          <p:nvPr>
            <p:ph type="body" idx="1"/>
          </p:nvPr>
        </p:nvSpPr>
        <p:spPr>
          <a:xfrm>
            <a:off x="1522030" y="3605577"/>
            <a:ext cx="9147940" cy="1324303"/>
          </a:xfrm>
        </p:spPr>
        <p:txBody>
          <a:bodyPr vert="horz" lIns="91440" tIns="45720" rIns="91440" bIns="45720" rtlCol="0" anchor="t">
            <a:normAutofit/>
          </a:bodyPr>
          <a:lstStyle/>
          <a:p>
            <a:pPr algn="ctr"/>
            <a:endParaRPr lang="en-US" sz="2000" kern="1200">
              <a:solidFill>
                <a:srgbClr val="FFFFFF"/>
              </a:solidFill>
              <a:latin typeface="+mn-lt"/>
              <a:ea typeface="+mn-ea"/>
              <a:cs typeface="+mn-cs"/>
            </a:endParaRPr>
          </a:p>
          <a:p>
            <a:pPr algn="ctr"/>
            <a:endParaRPr lang="en-US" sz="2000" kern="1200">
              <a:solidFill>
                <a:srgbClr val="FFFFFF"/>
              </a:solidFill>
              <a:latin typeface="+mn-lt"/>
              <a:ea typeface="+mn-ea"/>
              <a:cs typeface="+mn-cs"/>
            </a:endParaRPr>
          </a:p>
        </p:txBody>
      </p:sp>
      <p:sp>
        <p:nvSpPr>
          <p:cNvPr id="11" name="Graphic 22">
            <a:extLst>
              <a:ext uri="{FF2B5EF4-FFF2-40B4-BE49-F238E27FC236}">
                <a16:creationId xmlns:a16="http://schemas.microsoft.com/office/drawing/2014/main" id="{508BEF50-7B1E-49A4-BC19-5F4F1D755E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1869" y="2383077"/>
            <a:ext cx="151536" cy="151536"/>
          </a:xfrm>
          <a:custGeom>
            <a:avLst/>
            <a:gdLst>
              <a:gd name="connsiteX0" fmla="*/ 141251 w 151536"/>
              <a:gd name="connsiteY0" fmla="*/ 65483 h 151536"/>
              <a:gd name="connsiteX1" fmla="*/ 86053 w 151536"/>
              <a:gd name="connsiteY1" fmla="*/ 65483 h 151536"/>
              <a:gd name="connsiteX2" fmla="*/ 86053 w 151536"/>
              <a:gd name="connsiteY2" fmla="*/ 10285 h 151536"/>
              <a:gd name="connsiteX3" fmla="*/ 75768 w 151536"/>
              <a:gd name="connsiteY3" fmla="*/ 0 h 151536"/>
              <a:gd name="connsiteX4" fmla="*/ 65483 w 151536"/>
              <a:gd name="connsiteY4" fmla="*/ 10285 h 151536"/>
              <a:gd name="connsiteX5" fmla="*/ 65483 w 151536"/>
              <a:gd name="connsiteY5" fmla="*/ 65483 h 151536"/>
              <a:gd name="connsiteX6" fmla="*/ 10285 w 151536"/>
              <a:gd name="connsiteY6" fmla="*/ 65483 h 151536"/>
              <a:gd name="connsiteX7" fmla="*/ 0 w 151536"/>
              <a:gd name="connsiteY7" fmla="*/ 75768 h 151536"/>
              <a:gd name="connsiteX8" fmla="*/ 10285 w 151536"/>
              <a:gd name="connsiteY8" fmla="*/ 86053 h 151536"/>
              <a:gd name="connsiteX9" fmla="*/ 65483 w 151536"/>
              <a:gd name="connsiteY9" fmla="*/ 86053 h 151536"/>
              <a:gd name="connsiteX10" fmla="*/ 65483 w 151536"/>
              <a:gd name="connsiteY10" fmla="*/ 141251 h 151536"/>
              <a:gd name="connsiteX11" fmla="*/ 75768 w 151536"/>
              <a:gd name="connsiteY11" fmla="*/ 151536 h 151536"/>
              <a:gd name="connsiteX12" fmla="*/ 86053 w 151536"/>
              <a:gd name="connsiteY12" fmla="*/ 141251 h 151536"/>
              <a:gd name="connsiteX13" fmla="*/ 86053 w 151536"/>
              <a:gd name="connsiteY13" fmla="*/ 86053 h 151536"/>
              <a:gd name="connsiteX14" fmla="*/ 141251 w 151536"/>
              <a:gd name="connsiteY14" fmla="*/ 86053 h 151536"/>
              <a:gd name="connsiteX15" fmla="*/ 151536 w 151536"/>
              <a:gd name="connsiteY15" fmla="*/ 75768 h 151536"/>
              <a:gd name="connsiteX16" fmla="*/ 141251 w 151536"/>
              <a:gd name="connsiteY16" fmla="*/ 65483 h 15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536" h="151536">
                <a:moveTo>
                  <a:pt x="141251" y="65483"/>
                </a:moveTo>
                <a:lnTo>
                  <a:pt x="86053" y="65483"/>
                </a:lnTo>
                <a:lnTo>
                  <a:pt x="86053" y="10285"/>
                </a:lnTo>
                <a:cubicBezTo>
                  <a:pt x="86053" y="4605"/>
                  <a:pt x="81448" y="0"/>
                  <a:pt x="75768" y="0"/>
                </a:cubicBezTo>
                <a:cubicBezTo>
                  <a:pt x="70088" y="0"/>
                  <a:pt x="65483" y="4605"/>
                  <a:pt x="65483" y="10285"/>
                </a:cubicBezTo>
                <a:lnTo>
                  <a:pt x="65483" y="65483"/>
                </a:lnTo>
                <a:lnTo>
                  <a:pt x="10285" y="65483"/>
                </a:lnTo>
                <a:cubicBezTo>
                  <a:pt x="4605" y="65483"/>
                  <a:pt x="0" y="70088"/>
                  <a:pt x="0" y="75768"/>
                </a:cubicBezTo>
                <a:cubicBezTo>
                  <a:pt x="0" y="81448"/>
                  <a:pt x="4605" y="86053"/>
                  <a:pt x="10285" y="86053"/>
                </a:cubicBezTo>
                <a:lnTo>
                  <a:pt x="65483" y="86053"/>
                </a:lnTo>
                <a:lnTo>
                  <a:pt x="65483" y="141251"/>
                </a:lnTo>
                <a:cubicBezTo>
                  <a:pt x="65483" y="146931"/>
                  <a:pt x="70088" y="151536"/>
                  <a:pt x="75768" y="151536"/>
                </a:cubicBezTo>
                <a:cubicBezTo>
                  <a:pt x="81448" y="151536"/>
                  <a:pt x="86053" y="146931"/>
                  <a:pt x="86053" y="141251"/>
                </a:cubicBezTo>
                <a:lnTo>
                  <a:pt x="86053" y="86053"/>
                </a:lnTo>
                <a:lnTo>
                  <a:pt x="141251" y="86053"/>
                </a:lnTo>
                <a:cubicBezTo>
                  <a:pt x="146931" y="86053"/>
                  <a:pt x="151536" y="81448"/>
                  <a:pt x="151536" y="75768"/>
                </a:cubicBezTo>
                <a:cubicBezTo>
                  <a:pt x="151536" y="70088"/>
                  <a:pt x="146931" y="65483"/>
                  <a:pt x="141251" y="65483"/>
                </a:cubicBezTo>
                <a:close/>
              </a:path>
            </a:pathLst>
          </a:custGeom>
          <a:solidFill>
            <a:srgbClr val="FFFFFF"/>
          </a:solidFill>
          <a:ln w="64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3"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724364" y="2265467"/>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5"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24834" y="2537201"/>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7" name="Graphic 21">
            <a:extLst>
              <a:ext uri="{FF2B5EF4-FFF2-40B4-BE49-F238E27FC236}">
                <a16:creationId xmlns:a16="http://schemas.microsoft.com/office/drawing/2014/main" id="{C39ADB8F-D187-49D7-BDCF-C1B6DC7270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4053" y="2832967"/>
            <a:ext cx="95759" cy="95759"/>
          </a:xfrm>
          <a:custGeom>
            <a:avLst/>
            <a:gdLst>
              <a:gd name="connsiteX0" fmla="*/ 95759 w 95759"/>
              <a:gd name="connsiteY0" fmla="*/ 47880 h 95759"/>
              <a:gd name="connsiteX1" fmla="*/ 47880 w 95759"/>
              <a:gd name="connsiteY1" fmla="*/ 95759 h 95759"/>
              <a:gd name="connsiteX2" fmla="*/ 0 w 95759"/>
              <a:gd name="connsiteY2" fmla="*/ 47880 h 95759"/>
              <a:gd name="connsiteX3" fmla="*/ 47880 w 95759"/>
              <a:gd name="connsiteY3" fmla="*/ 0 h 95759"/>
              <a:gd name="connsiteX4" fmla="*/ 95759 w 95759"/>
              <a:gd name="connsiteY4" fmla="*/ 47880 h 95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59" h="95759">
                <a:moveTo>
                  <a:pt x="95759" y="47880"/>
                </a:moveTo>
                <a:cubicBezTo>
                  <a:pt x="95759" y="74323"/>
                  <a:pt x="74323" y="95759"/>
                  <a:pt x="47880" y="95759"/>
                </a:cubicBezTo>
                <a:cubicBezTo>
                  <a:pt x="21436" y="95759"/>
                  <a:pt x="0" y="74323"/>
                  <a:pt x="0" y="47880"/>
                </a:cubicBezTo>
                <a:cubicBezTo>
                  <a:pt x="0" y="21436"/>
                  <a:pt x="21436" y="0"/>
                  <a:pt x="47880" y="0"/>
                </a:cubicBezTo>
                <a:cubicBezTo>
                  <a:pt x="74323" y="0"/>
                  <a:pt x="95759" y="21436"/>
                  <a:pt x="95759" y="47880"/>
                </a:cubicBezTo>
                <a:close/>
              </a:path>
            </a:pathLst>
          </a:custGeom>
          <a:solidFill>
            <a:srgbClr val="FFFFFF"/>
          </a:solidFill>
          <a:ln w="46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9"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772266" y="2803988"/>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1" name="Graphic 23">
            <a:extLst>
              <a:ext uri="{FF2B5EF4-FFF2-40B4-BE49-F238E27FC236}">
                <a16:creationId xmlns:a16="http://schemas.microsoft.com/office/drawing/2014/main" id="{3FBAD350-5664-4811-A208-657FB882D3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13405" y="3242499"/>
            <a:ext cx="108625" cy="108625"/>
          </a:xfrm>
          <a:custGeom>
            <a:avLst/>
            <a:gdLst>
              <a:gd name="connsiteX0" fmla="*/ 54313 w 108625"/>
              <a:gd name="connsiteY0" fmla="*/ 16053 h 108625"/>
              <a:gd name="connsiteX1" fmla="*/ 92572 w 108625"/>
              <a:gd name="connsiteY1" fmla="*/ 54313 h 108625"/>
              <a:gd name="connsiteX2" fmla="*/ 54313 w 108625"/>
              <a:gd name="connsiteY2" fmla="*/ 92572 h 108625"/>
              <a:gd name="connsiteX3" fmla="*/ 16053 w 108625"/>
              <a:gd name="connsiteY3" fmla="*/ 54313 h 108625"/>
              <a:gd name="connsiteX4" fmla="*/ 54313 w 108625"/>
              <a:gd name="connsiteY4" fmla="*/ 16053 h 108625"/>
              <a:gd name="connsiteX5" fmla="*/ 54313 w 108625"/>
              <a:gd name="connsiteY5" fmla="*/ 0 h 108625"/>
              <a:gd name="connsiteX6" fmla="*/ 0 w 108625"/>
              <a:gd name="connsiteY6" fmla="*/ 54313 h 108625"/>
              <a:gd name="connsiteX7" fmla="*/ 54313 w 108625"/>
              <a:gd name="connsiteY7" fmla="*/ 108625 h 108625"/>
              <a:gd name="connsiteX8" fmla="*/ 108625 w 108625"/>
              <a:gd name="connsiteY8" fmla="*/ 54313 h 108625"/>
              <a:gd name="connsiteX9" fmla="*/ 54313 w 108625"/>
              <a:gd name="connsiteY9" fmla="*/ 0 h 10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625" h="108625">
                <a:moveTo>
                  <a:pt x="54313" y="16053"/>
                </a:moveTo>
                <a:cubicBezTo>
                  <a:pt x="75442" y="16053"/>
                  <a:pt x="92572" y="33182"/>
                  <a:pt x="92572" y="54313"/>
                </a:cubicBezTo>
                <a:cubicBezTo>
                  <a:pt x="92572" y="75442"/>
                  <a:pt x="75442" y="92572"/>
                  <a:pt x="54313" y="92572"/>
                </a:cubicBezTo>
                <a:cubicBezTo>
                  <a:pt x="33182" y="92572"/>
                  <a:pt x="16053" y="75442"/>
                  <a:pt x="16053" y="54313"/>
                </a:cubicBezTo>
                <a:cubicBezTo>
                  <a:pt x="16074" y="33191"/>
                  <a:pt x="33191" y="16074"/>
                  <a:pt x="54313" y="16053"/>
                </a:cubicBezTo>
                <a:moveTo>
                  <a:pt x="54313" y="0"/>
                </a:moveTo>
                <a:cubicBezTo>
                  <a:pt x="24317" y="0"/>
                  <a:pt x="0" y="24317"/>
                  <a:pt x="0" y="54313"/>
                </a:cubicBezTo>
                <a:cubicBezTo>
                  <a:pt x="0" y="84309"/>
                  <a:pt x="24317" y="108625"/>
                  <a:pt x="54313" y="108625"/>
                </a:cubicBezTo>
                <a:cubicBezTo>
                  <a:pt x="84309" y="108625"/>
                  <a:pt x="108625" y="84309"/>
                  <a:pt x="108625" y="54313"/>
                </a:cubicBezTo>
                <a:cubicBezTo>
                  <a:pt x="108625" y="24317"/>
                  <a:pt x="84309" y="0"/>
                  <a:pt x="54313" y="0"/>
                </a:cubicBezTo>
                <a:close/>
              </a:path>
            </a:pathLst>
          </a:custGeom>
          <a:solidFill>
            <a:srgbClr val="FFFFFF"/>
          </a:solidFill>
          <a:ln w="5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cxnSp>
        <p:nvCxnSpPr>
          <p:cNvPr id="23" name="Straight Connector 22">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5831729"/>
            <a:ext cx="12188952" cy="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
        <p:nvSpPr>
          <p:cNvPr id="4" name="Slide Number Placeholder 3">
            <a:extLst>
              <a:ext uri="{FF2B5EF4-FFF2-40B4-BE49-F238E27FC236}">
                <a16:creationId xmlns:a16="http://schemas.microsoft.com/office/drawing/2014/main" id="{972127E7-BBE6-243F-1E03-DA2A2738DA11}"/>
              </a:ext>
            </a:extLst>
          </p:cNvPr>
          <p:cNvSpPr>
            <a:spLocks noGrp="1"/>
          </p:cNvSpPr>
          <p:nvPr>
            <p:ph type="sldNum" sz="quarter" idx="12"/>
          </p:nvPr>
        </p:nvSpPr>
        <p:spPr>
          <a:xfrm>
            <a:off x="8610600" y="6133916"/>
            <a:ext cx="2743200" cy="365125"/>
          </a:xfrm>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1ED87AFC-F3F3-4E09-A9D9-1873FFB55ECB}" type="slidenum">
              <a:rPr kumimoji="0" lang="en-US" sz="1200" b="1" i="0" u="none" strike="noStrike" kern="1200" cap="none" spc="0" normalizeH="0" baseline="0" noProof="0">
                <a:ln>
                  <a:noFill/>
                </a:ln>
                <a:solidFill>
                  <a:srgbClr val="FFFFFF"/>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2</a:t>
            </a:fld>
            <a:endParaRPr kumimoji="0" lang="en-US" sz="1200" b="1" i="0" u="none" strike="noStrike" kern="1200" cap="none" spc="0" normalizeH="0" baseline="0" noProof="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227730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6C5C613-D120-2468-7617-7DC6223C1DE9}"/>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A336C070-EE2B-4422-AC9E-BBD6B64526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370B594-5C2A-F398-865B-07AE7607E848}"/>
              </a:ext>
            </a:extLst>
          </p:cNvPr>
          <p:cNvSpPr>
            <a:spLocks noGrp="1"/>
          </p:cNvSpPr>
          <p:nvPr>
            <p:ph type="title"/>
          </p:nvPr>
        </p:nvSpPr>
        <p:spPr>
          <a:xfrm>
            <a:off x="838200" y="365125"/>
            <a:ext cx="10515600" cy="1325563"/>
          </a:xfrm>
        </p:spPr>
        <p:txBody>
          <a:bodyPr>
            <a:normAutofit/>
          </a:bodyPr>
          <a:lstStyle/>
          <a:p>
            <a:r>
              <a:rPr lang="en-GB" sz="5400" b="1" dirty="0"/>
              <a:t>Sensor Connection</a:t>
            </a:r>
          </a:p>
        </p:txBody>
      </p:sp>
      <p:sp>
        <p:nvSpPr>
          <p:cNvPr id="13" name="sketch line">
            <a:extLst>
              <a:ext uri="{FF2B5EF4-FFF2-40B4-BE49-F238E27FC236}">
                <a16:creationId xmlns:a16="http://schemas.microsoft.com/office/drawing/2014/main" id="{5F9254BF-9818-9C83-5B5E-85FA725911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Content Placeholder 5">
            <a:extLst>
              <a:ext uri="{FF2B5EF4-FFF2-40B4-BE49-F238E27FC236}">
                <a16:creationId xmlns:a16="http://schemas.microsoft.com/office/drawing/2014/main" id="{C8744812-A7D1-4615-C3CE-F9828F513404}"/>
              </a:ext>
            </a:extLst>
          </p:cNvPr>
          <p:cNvSpPr>
            <a:spLocks noGrp="1"/>
          </p:cNvSpPr>
          <p:nvPr>
            <p:ph idx="1"/>
          </p:nvPr>
        </p:nvSpPr>
        <p:spPr>
          <a:xfrm>
            <a:off x="838200" y="1929383"/>
            <a:ext cx="10515600" cy="4563491"/>
          </a:xfrm>
        </p:spPr>
        <p:txBody>
          <a:bodyPr>
            <a:normAutofit fontScale="92500" lnSpcReduction="20000"/>
          </a:bodyPr>
          <a:lstStyle/>
          <a:p>
            <a:r>
              <a:rPr lang="en-GB" sz="3200" dirty="0"/>
              <a:t>Need to be aware that your sensor needs to connect to </a:t>
            </a:r>
            <a:r>
              <a:rPr lang="en-GB" sz="3200" b="1" i="1" dirty="0"/>
              <a:t>something</a:t>
            </a:r>
          </a:p>
          <a:p>
            <a:pPr lvl="1"/>
            <a:r>
              <a:rPr lang="en-GB" sz="2800" dirty="0"/>
              <a:t>Logging system</a:t>
            </a:r>
          </a:p>
          <a:p>
            <a:pPr lvl="1"/>
            <a:r>
              <a:rPr lang="en-GB" sz="2800" dirty="0"/>
              <a:t>Communication bus</a:t>
            </a:r>
          </a:p>
          <a:p>
            <a:pPr lvl="1"/>
            <a:r>
              <a:rPr lang="en-GB" sz="2800" dirty="0"/>
              <a:t>Microcontroller</a:t>
            </a:r>
          </a:p>
          <a:p>
            <a:pPr lvl="1"/>
            <a:r>
              <a:rPr lang="en-GB" sz="2800" dirty="0"/>
              <a:t>Analog to digital convertor</a:t>
            </a:r>
          </a:p>
          <a:p>
            <a:pPr lvl="1"/>
            <a:r>
              <a:rPr lang="en-GB" sz="2800" dirty="0"/>
              <a:t>…</a:t>
            </a:r>
          </a:p>
          <a:p>
            <a:r>
              <a:rPr lang="en-GB" sz="3200" dirty="0"/>
              <a:t>Expectation is that this connection will be perfect</a:t>
            </a:r>
          </a:p>
          <a:p>
            <a:pPr lvl="1"/>
            <a:r>
              <a:rPr lang="en-GB" sz="2800" dirty="0"/>
              <a:t>What the sensor reads is what the system that is connected to it reads</a:t>
            </a:r>
          </a:p>
          <a:p>
            <a:r>
              <a:rPr lang="en-GB" sz="3200" dirty="0"/>
              <a:t>…but…</a:t>
            </a:r>
          </a:p>
          <a:p>
            <a:r>
              <a:rPr lang="en-GB" sz="3200" dirty="0"/>
              <a:t>You are introducing additional sources of everything we have discussed</a:t>
            </a:r>
          </a:p>
        </p:txBody>
      </p:sp>
      <p:sp>
        <p:nvSpPr>
          <p:cNvPr id="4" name="Slide Number Placeholder 3">
            <a:extLst>
              <a:ext uri="{FF2B5EF4-FFF2-40B4-BE49-F238E27FC236}">
                <a16:creationId xmlns:a16="http://schemas.microsoft.com/office/drawing/2014/main" id="{E4F48ADF-D44A-A829-3DDB-B8D8A0464EB1}"/>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90000"/>
              </a:lnSpc>
              <a:spcBef>
                <a:spcPts val="0"/>
              </a:spcBef>
              <a:spcAft>
                <a:spcPts val="600"/>
              </a:spcAft>
              <a:buClrTx/>
              <a:buSzTx/>
              <a:buFontTx/>
              <a:buNone/>
              <a:tabLst/>
              <a:defRPr/>
            </a:pPr>
            <a:fld id="{1ED87AFC-F3F3-4E09-A9D9-1873FFB55ECB}" type="slidenum">
              <a:rPr kumimoji="0" lang="en-GB" sz="19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90000"/>
                </a:lnSpc>
                <a:spcBef>
                  <a:spcPts val="0"/>
                </a:spcBef>
                <a:spcAft>
                  <a:spcPts val="600"/>
                </a:spcAft>
                <a:buClrTx/>
                <a:buSzTx/>
                <a:buFontTx/>
                <a:buNone/>
                <a:tabLst/>
                <a:defRPr/>
              </a:pPr>
              <a:t>3</a:t>
            </a:fld>
            <a:endParaRPr kumimoji="0" lang="en-GB" sz="19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42317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C2212CA-BFE2-B496-4F1A-CA17670CE1F0}"/>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A585168-446E-F1C1-0F48-2FED9D2237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40A8F6A-8FF0-5F77-34E9-58AD30C7A6DF}"/>
              </a:ext>
            </a:extLst>
          </p:cNvPr>
          <p:cNvSpPr>
            <a:spLocks noGrp="1"/>
          </p:cNvSpPr>
          <p:nvPr>
            <p:ph type="title"/>
          </p:nvPr>
        </p:nvSpPr>
        <p:spPr>
          <a:xfrm>
            <a:off x="838200" y="365125"/>
            <a:ext cx="10515600" cy="1325563"/>
          </a:xfrm>
        </p:spPr>
        <p:txBody>
          <a:bodyPr>
            <a:normAutofit/>
          </a:bodyPr>
          <a:lstStyle/>
          <a:p>
            <a:r>
              <a:rPr lang="en-GB" sz="5400" b="1" dirty="0"/>
              <a:t>Sensor Connection</a:t>
            </a:r>
          </a:p>
        </p:txBody>
      </p:sp>
      <p:sp>
        <p:nvSpPr>
          <p:cNvPr id="13" name="sketch line">
            <a:extLst>
              <a:ext uri="{FF2B5EF4-FFF2-40B4-BE49-F238E27FC236}">
                <a16:creationId xmlns:a16="http://schemas.microsoft.com/office/drawing/2014/main" id="{2B643CD4-B68E-1326-D56D-7EE0F7BD4A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Content Placeholder 5">
            <a:extLst>
              <a:ext uri="{FF2B5EF4-FFF2-40B4-BE49-F238E27FC236}">
                <a16:creationId xmlns:a16="http://schemas.microsoft.com/office/drawing/2014/main" id="{A917C5AB-7BDD-BCAA-54D3-3D267621F20F}"/>
              </a:ext>
            </a:extLst>
          </p:cNvPr>
          <p:cNvSpPr>
            <a:spLocks noGrp="1"/>
          </p:cNvSpPr>
          <p:nvPr>
            <p:ph idx="1"/>
          </p:nvPr>
        </p:nvSpPr>
        <p:spPr>
          <a:xfrm>
            <a:off x="838200" y="1929384"/>
            <a:ext cx="10515600" cy="4251960"/>
          </a:xfrm>
        </p:spPr>
        <p:txBody>
          <a:bodyPr>
            <a:normAutofit/>
          </a:bodyPr>
          <a:lstStyle/>
          <a:p>
            <a:r>
              <a:rPr lang="en-GB" sz="2200" dirty="0"/>
              <a:t>Most common example is a sensor that outputs a voltage…</a:t>
            </a:r>
          </a:p>
          <a:p>
            <a:endParaRPr lang="en-GB" sz="2200" dirty="0"/>
          </a:p>
          <a:p>
            <a:endParaRPr lang="en-GB" sz="2200" dirty="0"/>
          </a:p>
          <a:p>
            <a:endParaRPr lang="en-GB" sz="2200" dirty="0"/>
          </a:p>
          <a:p>
            <a:endParaRPr lang="en-GB" sz="2200" dirty="0"/>
          </a:p>
          <a:p>
            <a:endParaRPr lang="en-GB" sz="2200" dirty="0"/>
          </a:p>
          <a:p>
            <a:endParaRPr lang="en-GB" sz="2200" dirty="0"/>
          </a:p>
          <a:p>
            <a:r>
              <a:rPr lang="en-GB" sz="2200" dirty="0"/>
              <a:t>More on this particular example later but there is an instant change… </a:t>
            </a:r>
          </a:p>
          <a:p>
            <a:r>
              <a:rPr lang="en-GB" sz="2200" dirty="0"/>
              <a:t>Your output is no longer a relationship between Vs and </a:t>
            </a:r>
            <a:r>
              <a:rPr lang="en-GB" sz="2200" dirty="0" err="1"/>
              <a:t>Vout</a:t>
            </a:r>
            <a:r>
              <a:rPr lang="en-GB" sz="2200" dirty="0"/>
              <a:t> (as you will find in a data sheet) but actually Vs and VI</a:t>
            </a:r>
          </a:p>
          <a:p>
            <a:endParaRPr lang="en-GB" sz="2200" dirty="0"/>
          </a:p>
        </p:txBody>
      </p:sp>
      <p:sp>
        <p:nvSpPr>
          <p:cNvPr id="4" name="Slide Number Placeholder 3">
            <a:extLst>
              <a:ext uri="{FF2B5EF4-FFF2-40B4-BE49-F238E27FC236}">
                <a16:creationId xmlns:a16="http://schemas.microsoft.com/office/drawing/2014/main" id="{087E8987-24B8-8B63-C34D-A4382004316A}"/>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90000"/>
              </a:lnSpc>
              <a:spcBef>
                <a:spcPts val="0"/>
              </a:spcBef>
              <a:spcAft>
                <a:spcPts val="600"/>
              </a:spcAft>
              <a:buClrTx/>
              <a:buSzTx/>
              <a:buFontTx/>
              <a:buNone/>
              <a:tabLst/>
              <a:defRPr/>
            </a:pPr>
            <a:fld id="{1ED87AFC-F3F3-4E09-A9D9-1873FFB55ECB}" type="slidenum">
              <a:rPr kumimoji="0" lang="en-GB" sz="19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90000"/>
                </a:lnSpc>
                <a:spcBef>
                  <a:spcPts val="0"/>
                </a:spcBef>
                <a:spcAft>
                  <a:spcPts val="600"/>
                </a:spcAft>
                <a:buClrTx/>
                <a:buSzTx/>
                <a:buFontTx/>
                <a:buNone/>
                <a:tabLst/>
                <a:defRPr/>
              </a:pPr>
              <a:t>4</a:t>
            </a:fld>
            <a:endParaRPr kumimoji="0" lang="en-GB" sz="19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3" name="Content Placeholder 8" descr="A diagram of a slider&#10;&#10;Description automatically generated">
            <a:extLst>
              <a:ext uri="{FF2B5EF4-FFF2-40B4-BE49-F238E27FC236}">
                <a16:creationId xmlns:a16="http://schemas.microsoft.com/office/drawing/2014/main" id="{2724C5C3-634C-7344-F5C1-A7DFD818A5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5647" y="2381247"/>
            <a:ext cx="3104620" cy="2095505"/>
          </a:xfrm>
          <a:prstGeom prst="rect">
            <a:avLst/>
          </a:prstGeom>
        </p:spPr>
      </p:pic>
      <p:pic>
        <p:nvPicPr>
          <p:cNvPr id="5" name="Content Placeholder 7" descr="A diagram of a slider&#10;&#10;Description automatically generated">
            <a:extLst>
              <a:ext uri="{FF2B5EF4-FFF2-40B4-BE49-F238E27FC236}">
                <a16:creationId xmlns:a16="http://schemas.microsoft.com/office/drawing/2014/main" id="{CF06B460-F438-EE6F-331B-211E0A0E0D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25825" y="2384699"/>
            <a:ext cx="5243778" cy="2092053"/>
          </a:xfrm>
          <a:prstGeom prst="rect">
            <a:avLst/>
          </a:prstGeom>
        </p:spPr>
      </p:pic>
      <p:sp>
        <p:nvSpPr>
          <p:cNvPr id="7" name="TextBox 6">
            <a:extLst>
              <a:ext uri="{FF2B5EF4-FFF2-40B4-BE49-F238E27FC236}">
                <a16:creationId xmlns:a16="http://schemas.microsoft.com/office/drawing/2014/main" id="{DAE4C580-FF71-DF93-C3A2-2B046D4777BD}"/>
              </a:ext>
            </a:extLst>
          </p:cNvPr>
          <p:cNvSpPr txBox="1"/>
          <p:nvPr/>
        </p:nvSpPr>
        <p:spPr>
          <a:xfrm>
            <a:off x="4557714" y="3244332"/>
            <a:ext cx="74543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But…</a:t>
            </a:r>
          </a:p>
        </p:txBody>
      </p:sp>
    </p:spTree>
    <p:extLst>
      <p:ext uri="{BB962C8B-B14F-4D97-AF65-F5344CB8AC3E}">
        <p14:creationId xmlns:p14="http://schemas.microsoft.com/office/powerpoint/2010/main" val="2857590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70D8452-31EE-D60C-34C0-52E0D7109994}"/>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5765F093-CCDB-D2F4-10E3-55B6F0D8B3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A6DE8F4-800D-41EE-5592-274A36C01047}"/>
              </a:ext>
            </a:extLst>
          </p:cNvPr>
          <p:cNvSpPr>
            <a:spLocks noGrp="1"/>
          </p:cNvSpPr>
          <p:nvPr>
            <p:ph type="title"/>
          </p:nvPr>
        </p:nvSpPr>
        <p:spPr>
          <a:xfrm>
            <a:off x="838200" y="365125"/>
            <a:ext cx="10515600" cy="1325563"/>
          </a:xfrm>
        </p:spPr>
        <p:txBody>
          <a:bodyPr>
            <a:normAutofit/>
          </a:bodyPr>
          <a:lstStyle/>
          <a:p>
            <a:r>
              <a:rPr lang="en-GB" sz="5400" b="1" dirty="0"/>
              <a:t>Sensor Connection</a:t>
            </a:r>
          </a:p>
        </p:txBody>
      </p:sp>
      <p:sp>
        <p:nvSpPr>
          <p:cNvPr id="13" name="sketch line">
            <a:extLst>
              <a:ext uri="{FF2B5EF4-FFF2-40B4-BE49-F238E27FC236}">
                <a16:creationId xmlns:a16="http://schemas.microsoft.com/office/drawing/2014/main" id="{EA402C80-9B60-7A69-7DE2-11B5521846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Content Placeholder 5">
            <a:extLst>
              <a:ext uri="{FF2B5EF4-FFF2-40B4-BE49-F238E27FC236}">
                <a16:creationId xmlns:a16="http://schemas.microsoft.com/office/drawing/2014/main" id="{E54434F8-0CE9-FB23-9B1D-92AF85793702}"/>
              </a:ext>
            </a:extLst>
          </p:cNvPr>
          <p:cNvSpPr>
            <a:spLocks noGrp="1"/>
          </p:cNvSpPr>
          <p:nvPr>
            <p:ph idx="1"/>
          </p:nvPr>
        </p:nvSpPr>
        <p:spPr>
          <a:xfrm>
            <a:off x="838200" y="1929384"/>
            <a:ext cx="10515600" cy="4251960"/>
          </a:xfrm>
        </p:spPr>
        <p:txBody>
          <a:bodyPr>
            <a:normAutofit fontScale="92500" lnSpcReduction="20000"/>
          </a:bodyPr>
          <a:lstStyle/>
          <a:p>
            <a:r>
              <a:rPr lang="en-GB" sz="3000" dirty="0"/>
              <a:t>Voltage and current measurements need an interface</a:t>
            </a:r>
          </a:p>
          <a:p>
            <a:pPr lvl="1"/>
            <a:r>
              <a:rPr lang="en-GB" sz="2600" dirty="0"/>
              <a:t>Impedance</a:t>
            </a:r>
          </a:p>
          <a:p>
            <a:pPr lvl="1"/>
            <a:r>
              <a:rPr lang="en-GB" sz="2600" dirty="0"/>
              <a:t>Noise</a:t>
            </a:r>
          </a:p>
          <a:p>
            <a:r>
              <a:rPr lang="en-GB" sz="3000" dirty="0"/>
              <a:t>Pins, wires, connectors, cable lengths… can all impact</a:t>
            </a:r>
          </a:p>
          <a:p>
            <a:r>
              <a:rPr lang="en-GB" sz="3000" dirty="0"/>
              <a:t>Is your analogue interface suitable?</a:t>
            </a:r>
          </a:p>
          <a:p>
            <a:pPr lvl="1"/>
            <a:r>
              <a:rPr lang="en-GB" sz="2600" dirty="0"/>
              <a:t>does your Analogue to Digital converter have a good resolution?</a:t>
            </a:r>
          </a:p>
          <a:p>
            <a:r>
              <a:rPr lang="en-GB" sz="3000" dirty="0"/>
              <a:t>But what about digital interfaces?</a:t>
            </a:r>
          </a:p>
          <a:p>
            <a:pPr lvl="1"/>
            <a:r>
              <a:rPr lang="en-GB" sz="2600" dirty="0"/>
              <a:t>Timing – is your sensor the only one on the bus?</a:t>
            </a:r>
          </a:p>
          <a:p>
            <a:pPr lvl="2"/>
            <a:r>
              <a:rPr lang="en-GB" sz="1900" dirty="0"/>
              <a:t>Can you detect and react within a suitable timeframe?</a:t>
            </a:r>
          </a:p>
          <a:p>
            <a:pPr lvl="1"/>
            <a:r>
              <a:rPr lang="en-GB" sz="2600" dirty="0"/>
              <a:t>What is the actual speed of the network and the actual time stamp?</a:t>
            </a:r>
          </a:p>
          <a:p>
            <a:pPr lvl="1"/>
            <a:r>
              <a:rPr lang="en-GB" sz="2600" dirty="0"/>
              <a:t>If you have a 24-bit output from a signal but a 16-bit processor – how do you ensure that you don’t lose information?</a:t>
            </a:r>
          </a:p>
          <a:p>
            <a:pPr lvl="1"/>
            <a:endParaRPr lang="en-GB" sz="1800" dirty="0"/>
          </a:p>
          <a:p>
            <a:pPr lvl="1"/>
            <a:endParaRPr lang="en-GB" sz="1800" dirty="0"/>
          </a:p>
          <a:p>
            <a:endParaRPr lang="en-GB" sz="2200" dirty="0"/>
          </a:p>
        </p:txBody>
      </p:sp>
      <p:sp>
        <p:nvSpPr>
          <p:cNvPr id="4" name="Slide Number Placeholder 3">
            <a:extLst>
              <a:ext uri="{FF2B5EF4-FFF2-40B4-BE49-F238E27FC236}">
                <a16:creationId xmlns:a16="http://schemas.microsoft.com/office/drawing/2014/main" id="{7B31E440-57AC-9469-B504-229BF48A563E}"/>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90000"/>
              </a:lnSpc>
              <a:spcBef>
                <a:spcPts val="0"/>
              </a:spcBef>
              <a:spcAft>
                <a:spcPts val="600"/>
              </a:spcAft>
              <a:buClrTx/>
              <a:buSzTx/>
              <a:buFontTx/>
              <a:buNone/>
              <a:tabLst/>
              <a:defRPr/>
            </a:pPr>
            <a:fld id="{1ED87AFC-F3F3-4E09-A9D9-1873FFB55ECB}" type="slidenum">
              <a:rPr kumimoji="0" lang="en-GB" sz="19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90000"/>
                </a:lnSpc>
                <a:spcBef>
                  <a:spcPts val="0"/>
                </a:spcBef>
                <a:spcAft>
                  <a:spcPts val="600"/>
                </a:spcAft>
                <a:buClrTx/>
                <a:buSzTx/>
                <a:buFontTx/>
                <a:buNone/>
                <a:tabLst/>
                <a:defRPr/>
              </a:pPr>
              <a:t>5</a:t>
            </a:fld>
            <a:endParaRPr kumimoji="0" lang="en-GB" sz="19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583457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2E127BF-4EEC-5EA4-11E5-11088480F20D}"/>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61D2D294-4618-2295-ECD7-C5E6051B2A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362D906-D388-A9D2-A45A-3E11DAD8B595}"/>
              </a:ext>
            </a:extLst>
          </p:cNvPr>
          <p:cNvSpPr>
            <a:spLocks noGrp="1"/>
          </p:cNvSpPr>
          <p:nvPr>
            <p:ph type="title"/>
          </p:nvPr>
        </p:nvSpPr>
        <p:spPr>
          <a:xfrm>
            <a:off x="1522030" y="1209220"/>
            <a:ext cx="9147940" cy="2337238"/>
          </a:xfrm>
        </p:spPr>
        <p:txBody>
          <a:bodyPr vert="horz" lIns="91440" tIns="45720" rIns="91440" bIns="45720" rtlCol="0" anchor="b">
            <a:normAutofit/>
          </a:bodyPr>
          <a:lstStyle/>
          <a:p>
            <a:pPr algn="ctr"/>
            <a:r>
              <a:rPr lang="en-US" sz="5600" b="1" kern="1200" dirty="0">
                <a:solidFill>
                  <a:srgbClr val="FFFFFF"/>
                </a:solidFill>
                <a:latin typeface="+mj-lt"/>
                <a:ea typeface="+mj-ea"/>
                <a:cs typeface="+mj-cs"/>
              </a:rPr>
              <a:t>Sensor Modelling</a:t>
            </a:r>
          </a:p>
        </p:txBody>
      </p:sp>
      <p:sp>
        <p:nvSpPr>
          <p:cNvPr id="3" name="Subtitle 2">
            <a:extLst>
              <a:ext uri="{FF2B5EF4-FFF2-40B4-BE49-F238E27FC236}">
                <a16:creationId xmlns:a16="http://schemas.microsoft.com/office/drawing/2014/main" id="{22B9DE54-0C26-C721-3508-BC0D921F9625}"/>
              </a:ext>
            </a:extLst>
          </p:cNvPr>
          <p:cNvSpPr>
            <a:spLocks noGrp="1"/>
          </p:cNvSpPr>
          <p:nvPr>
            <p:ph type="body" idx="1"/>
          </p:nvPr>
        </p:nvSpPr>
        <p:spPr>
          <a:xfrm>
            <a:off x="1522030" y="3605577"/>
            <a:ext cx="9147940" cy="1324303"/>
          </a:xfrm>
        </p:spPr>
        <p:txBody>
          <a:bodyPr vert="horz" lIns="91440" tIns="45720" rIns="91440" bIns="45720" rtlCol="0" anchor="t">
            <a:normAutofit/>
          </a:bodyPr>
          <a:lstStyle/>
          <a:p>
            <a:pPr algn="ctr"/>
            <a:endParaRPr lang="en-US" sz="2000" kern="1200">
              <a:solidFill>
                <a:srgbClr val="FFFFFF"/>
              </a:solidFill>
              <a:latin typeface="+mn-lt"/>
              <a:ea typeface="+mn-ea"/>
              <a:cs typeface="+mn-cs"/>
            </a:endParaRPr>
          </a:p>
          <a:p>
            <a:pPr algn="ctr"/>
            <a:endParaRPr lang="en-US" sz="2000" kern="1200">
              <a:solidFill>
                <a:srgbClr val="FFFFFF"/>
              </a:solidFill>
              <a:latin typeface="+mn-lt"/>
              <a:ea typeface="+mn-ea"/>
              <a:cs typeface="+mn-cs"/>
            </a:endParaRPr>
          </a:p>
        </p:txBody>
      </p:sp>
      <p:sp>
        <p:nvSpPr>
          <p:cNvPr id="11" name="Graphic 22">
            <a:extLst>
              <a:ext uri="{FF2B5EF4-FFF2-40B4-BE49-F238E27FC236}">
                <a16:creationId xmlns:a16="http://schemas.microsoft.com/office/drawing/2014/main" id="{F39E5781-64DB-F579-A3DE-CF4559D172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1869" y="2383077"/>
            <a:ext cx="151536" cy="151536"/>
          </a:xfrm>
          <a:custGeom>
            <a:avLst/>
            <a:gdLst>
              <a:gd name="connsiteX0" fmla="*/ 141251 w 151536"/>
              <a:gd name="connsiteY0" fmla="*/ 65483 h 151536"/>
              <a:gd name="connsiteX1" fmla="*/ 86053 w 151536"/>
              <a:gd name="connsiteY1" fmla="*/ 65483 h 151536"/>
              <a:gd name="connsiteX2" fmla="*/ 86053 w 151536"/>
              <a:gd name="connsiteY2" fmla="*/ 10285 h 151536"/>
              <a:gd name="connsiteX3" fmla="*/ 75768 w 151536"/>
              <a:gd name="connsiteY3" fmla="*/ 0 h 151536"/>
              <a:gd name="connsiteX4" fmla="*/ 65483 w 151536"/>
              <a:gd name="connsiteY4" fmla="*/ 10285 h 151536"/>
              <a:gd name="connsiteX5" fmla="*/ 65483 w 151536"/>
              <a:gd name="connsiteY5" fmla="*/ 65483 h 151536"/>
              <a:gd name="connsiteX6" fmla="*/ 10285 w 151536"/>
              <a:gd name="connsiteY6" fmla="*/ 65483 h 151536"/>
              <a:gd name="connsiteX7" fmla="*/ 0 w 151536"/>
              <a:gd name="connsiteY7" fmla="*/ 75768 h 151536"/>
              <a:gd name="connsiteX8" fmla="*/ 10285 w 151536"/>
              <a:gd name="connsiteY8" fmla="*/ 86053 h 151536"/>
              <a:gd name="connsiteX9" fmla="*/ 65483 w 151536"/>
              <a:gd name="connsiteY9" fmla="*/ 86053 h 151536"/>
              <a:gd name="connsiteX10" fmla="*/ 65483 w 151536"/>
              <a:gd name="connsiteY10" fmla="*/ 141251 h 151536"/>
              <a:gd name="connsiteX11" fmla="*/ 75768 w 151536"/>
              <a:gd name="connsiteY11" fmla="*/ 151536 h 151536"/>
              <a:gd name="connsiteX12" fmla="*/ 86053 w 151536"/>
              <a:gd name="connsiteY12" fmla="*/ 141251 h 151536"/>
              <a:gd name="connsiteX13" fmla="*/ 86053 w 151536"/>
              <a:gd name="connsiteY13" fmla="*/ 86053 h 151536"/>
              <a:gd name="connsiteX14" fmla="*/ 141251 w 151536"/>
              <a:gd name="connsiteY14" fmla="*/ 86053 h 151536"/>
              <a:gd name="connsiteX15" fmla="*/ 151536 w 151536"/>
              <a:gd name="connsiteY15" fmla="*/ 75768 h 151536"/>
              <a:gd name="connsiteX16" fmla="*/ 141251 w 151536"/>
              <a:gd name="connsiteY16" fmla="*/ 65483 h 15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536" h="151536">
                <a:moveTo>
                  <a:pt x="141251" y="65483"/>
                </a:moveTo>
                <a:lnTo>
                  <a:pt x="86053" y="65483"/>
                </a:lnTo>
                <a:lnTo>
                  <a:pt x="86053" y="10285"/>
                </a:lnTo>
                <a:cubicBezTo>
                  <a:pt x="86053" y="4605"/>
                  <a:pt x="81448" y="0"/>
                  <a:pt x="75768" y="0"/>
                </a:cubicBezTo>
                <a:cubicBezTo>
                  <a:pt x="70088" y="0"/>
                  <a:pt x="65483" y="4605"/>
                  <a:pt x="65483" y="10285"/>
                </a:cubicBezTo>
                <a:lnTo>
                  <a:pt x="65483" y="65483"/>
                </a:lnTo>
                <a:lnTo>
                  <a:pt x="10285" y="65483"/>
                </a:lnTo>
                <a:cubicBezTo>
                  <a:pt x="4605" y="65483"/>
                  <a:pt x="0" y="70088"/>
                  <a:pt x="0" y="75768"/>
                </a:cubicBezTo>
                <a:cubicBezTo>
                  <a:pt x="0" y="81448"/>
                  <a:pt x="4605" y="86053"/>
                  <a:pt x="10285" y="86053"/>
                </a:cubicBezTo>
                <a:lnTo>
                  <a:pt x="65483" y="86053"/>
                </a:lnTo>
                <a:lnTo>
                  <a:pt x="65483" y="141251"/>
                </a:lnTo>
                <a:cubicBezTo>
                  <a:pt x="65483" y="146931"/>
                  <a:pt x="70088" y="151536"/>
                  <a:pt x="75768" y="151536"/>
                </a:cubicBezTo>
                <a:cubicBezTo>
                  <a:pt x="81448" y="151536"/>
                  <a:pt x="86053" y="146931"/>
                  <a:pt x="86053" y="141251"/>
                </a:cubicBezTo>
                <a:lnTo>
                  <a:pt x="86053" y="86053"/>
                </a:lnTo>
                <a:lnTo>
                  <a:pt x="141251" y="86053"/>
                </a:lnTo>
                <a:cubicBezTo>
                  <a:pt x="146931" y="86053"/>
                  <a:pt x="151536" y="81448"/>
                  <a:pt x="151536" y="75768"/>
                </a:cubicBezTo>
                <a:cubicBezTo>
                  <a:pt x="151536" y="70088"/>
                  <a:pt x="146931" y="65483"/>
                  <a:pt x="141251" y="65483"/>
                </a:cubicBezTo>
                <a:close/>
              </a:path>
            </a:pathLst>
          </a:custGeom>
          <a:solidFill>
            <a:srgbClr val="FFFFFF"/>
          </a:solidFill>
          <a:ln w="64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3" name="Graphic 13">
            <a:extLst>
              <a:ext uri="{FF2B5EF4-FFF2-40B4-BE49-F238E27FC236}">
                <a16:creationId xmlns:a16="http://schemas.microsoft.com/office/drawing/2014/main" id="{6E0D199A-61E3-CAF9-E82F-0645EB349C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724364" y="2265467"/>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5" name="Graphic 15">
            <a:extLst>
              <a:ext uri="{FF2B5EF4-FFF2-40B4-BE49-F238E27FC236}">
                <a16:creationId xmlns:a16="http://schemas.microsoft.com/office/drawing/2014/main" id="{5A645ADB-A618-60E7-27D9-06772E82E3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24834" y="2537201"/>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7" name="Graphic 21">
            <a:extLst>
              <a:ext uri="{FF2B5EF4-FFF2-40B4-BE49-F238E27FC236}">
                <a16:creationId xmlns:a16="http://schemas.microsoft.com/office/drawing/2014/main" id="{9258130B-D0F2-8A6A-4EBB-80E4413DE0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4053" y="2832967"/>
            <a:ext cx="95759" cy="95759"/>
          </a:xfrm>
          <a:custGeom>
            <a:avLst/>
            <a:gdLst>
              <a:gd name="connsiteX0" fmla="*/ 95759 w 95759"/>
              <a:gd name="connsiteY0" fmla="*/ 47880 h 95759"/>
              <a:gd name="connsiteX1" fmla="*/ 47880 w 95759"/>
              <a:gd name="connsiteY1" fmla="*/ 95759 h 95759"/>
              <a:gd name="connsiteX2" fmla="*/ 0 w 95759"/>
              <a:gd name="connsiteY2" fmla="*/ 47880 h 95759"/>
              <a:gd name="connsiteX3" fmla="*/ 47880 w 95759"/>
              <a:gd name="connsiteY3" fmla="*/ 0 h 95759"/>
              <a:gd name="connsiteX4" fmla="*/ 95759 w 95759"/>
              <a:gd name="connsiteY4" fmla="*/ 47880 h 95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59" h="95759">
                <a:moveTo>
                  <a:pt x="95759" y="47880"/>
                </a:moveTo>
                <a:cubicBezTo>
                  <a:pt x="95759" y="74323"/>
                  <a:pt x="74323" y="95759"/>
                  <a:pt x="47880" y="95759"/>
                </a:cubicBezTo>
                <a:cubicBezTo>
                  <a:pt x="21436" y="95759"/>
                  <a:pt x="0" y="74323"/>
                  <a:pt x="0" y="47880"/>
                </a:cubicBezTo>
                <a:cubicBezTo>
                  <a:pt x="0" y="21436"/>
                  <a:pt x="21436" y="0"/>
                  <a:pt x="47880" y="0"/>
                </a:cubicBezTo>
                <a:cubicBezTo>
                  <a:pt x="74323" y="0"/>
                  <a:pt x="95759" y="21436"/>
                  <a:pt x="95759" y="47880"/>
                </a:cubicBezTo>
                <a:close/>
              </a:path>
            </a:pathLst>
          </a:custGeom>
          <a:solidFill>
            <a:srgbClr val="FFFFFF"/>
          </a:solidFill>
          <a:ln w="46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9" name="Graphic 12">
            <a:extLst>
              <a:ext uri="{FF2B5EF4-FFF2-40B4-BE49-F238E27FC236}">
                <a16:creationId xmlns:a16="http://schemas.microsoft.com/office/drawing/2014/main" id="{52493A40-A218-CE0A-470E-9A5100913D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772266" y="2803988"/>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1" name="Graphic 23">
            <a:extLst>
              <a:ext uri="{FF2B5EF4-FFF2-40B4-BE49-F238E27FC236}">
                <a16:creationId xmlns:a16="http://schemas.microsoft.com/office/drawing/2014/main" id="{181AD85B-F22A-C41A-67B7-6625563A27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13405" y="3242499"/>
            <a:ext cx="108625" cy="108625"/>
          </a:xfrm>
          <a:custGeom>
            <a:avLst/>
            <a:gdLst>
              <a:gd name="connsiteX0" fmla="*/ 54313 w 108625"/>
              <a:gd name="connsiteY0" fmla="*/ 16053 h 108625"/>
              <a:gd name="connsiteX1" fmla="*/ 92572 w 108625"/>
              <a:gd name="connsiteY1" fmla="*/ 54313 h 108625"/>
              <a:gd name="connsiteX2" fmla="*/ 54313 w 108625"/>
              <a:gd name="connsiteY2" fmla="*/ 92572 h 108625"/>
              <a:gd name="connsiteX3" fmla="*/ 16053 w 108625"/>
              <a:gd name="connsiteY3" fmla="*/ 54313 h 108625"/>
              <a:gd name="connsiteX4" fmla="*/ 54313 w 108625"/>
              <a:gd name="connsiteY4" fmla="*/ 16053 h 108625"/>
              <a:gd name="connsiteX5" fmla="*/ 54313 w 108625"/>
              <a:gd name="connsiteY5" fmla="*/ 0 h 108625"/>
              <a:gd name="connsiteX6" fmla="*/ 0 w 108625"/>
              <a:gd name="connsiteY6" fmla="*/ 54313 h 108625"/>
              <a:gd name="connsiteX7" fmla="*/ 54313 w 108625"/>
              <a:gd name="connsiteY7" fmla="*/ 108625 h 108625"/>
              <a:gd name="connsiteX8" fmla="*/ 108625 w 108625"/>
              <a:gd name="connsiteY8" fmla="*/ 54313 h 108625"/>
              <a:gd name="connsiteX9" fmla="*/ 54313 w 108625"/>
              <a:gd name="connsiteY9" fmla="*/ 0 h 10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625" h="108625">
                <a:moveTo>
                  <a:pt x="54313" y="16053"/>
                </a:moveTo>
                <a:cubicBezTo>
                  <a:pt x="75442" y="16053"/>
                  <a:pt x="92572" y="33182"/>
                  <a:pt x="92572" y="54313"/>
                </a:cubicBezTo>
                <a:cubicBezTo>
                  <a:pt x="92572" y="75442"/>
                  <a:pt x="75442" y="92572"/>
                  <a:pt x="54313" y="92572"/>
                </a:cubicBezTo>
                <a:cubicBezTo>
                  <a:pt x="33182" y="92572"/>
                  <a:pt x="16053" y="75442"/>
                  <a:pt x="16053" y="54313"/>
                </a:cubicBezTo>
                <a:cubicBezTo>
                  <a:pt x="16074" y="33191"/>
                  <a:pt x="33191" y="16074"/>
                  <a:pt x="54313" y="16053"/>
                </a:cubicBezTo>
                <a:moveTo>
                  <a:pt x="54313" y="0"/>
                </a:moveTo>
                <a:cubicBezTo>
                  <a:pt x="24317" y="0"/>
                  <a:pt x="0" y="24317"/>
                  <a:pt x="0" y="54313"/>
                </a:cubicBezTo>
                <a:cubicBezTo>
                  <a:pt x="0" y="84309"/>
                  <a:pt x="24317" y="108625"/>
                  <a:pt x="54313" y="108625"/>
                </a:cubicBezTo>
                <a:cubicBezTo>
                  <a:pt x="84309" y="108625"/>
                  <a:pt x="108625" y="84309"/>
                  <a:pt x="108625" y="54313"/>
                </a:cubicBezTo>
                <a:cubicBezTo>
                  <a:pt x="108625" y="24317"/>
                  <a:pt x="84309" y="0"/>
                  <a:pt x="54313" y="0"/>
                </a:cubicBezTo>
                <a:close/>
              </a:path>
            </a:pathLst>
          </a:custGeom>
          <a:solidFill>
            <a:srgbClr val="FFFFFF"/>
          </a:solidFill>
          <a:ln w="5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cxnSp>
        <p:nvCxnSpPr>
          <p:cNvPr id="23" name="Straight Connector 22">
            <a:extLst>
              <a:ext uri="{FF2B5EF4-FFF2-40B4-BE49-F238E27FC236}">
                <a16:creationId xmlns:a16="http://schemas.microsoft.com/office/drawing/2014/main" id="{415BA905-F7A1-FEBB-7FEC-EAB8FAF9E5A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5831729"/>
            <a:ext cx="12188952" cy="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
        <p:nvSpPr>
          <p:cNvPr id="4" name="Slide Number Placeholder 3">
            <a:extLst>
              <a:ext uri="{FF2B5EF4-FFF2-40B4-BE49-F238E27FC236}">
                <a16:creationId xmlns:a16="http://schemas.microsoft.com/office/drawing/2014/main" id="{54E3CCC8-E78F-6E81-D5A9-B81A864260C2}"/>
              </a:ext>
            </a:extLst>
          </p:cNvPr>
          <p:cNvSpPr>
            <a:spLocks noGrp="1"/>
          </p:cNvSpPr>
          <p:nvPr>
            <p:ph type="sldNum" sz="quarter" idx="12"/>
          </p:nvPr>
        </p:nvSpPr>
        <p:spPr>
          <a:xfrm>
            <a:off x="8610600" y="6133916"/>
            <a:ext cx="2743200" cy="365125"/>
          </a:xfrm>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1ED87AFC-F3F3-4E09-A9D9-1873FFB55ECB}" type="slidenum">
              <a:rPr kumimoji="0" lang="en-US" sz="1200" b="1" i="0" u="none" strike="noStrike" kern="1200" cap="none" spc="0" normalizeH="0" baseline="0" noProof="0">
                <a:ln>
                  <a:noFill/>
                </a:ln>
                <a:solidFill>
                  <a:srgbClr val="FFFFFF"/>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6</a:t>
            </a:fld>
            <a:endParaRPr kumimoji="0" lang="en-US" sz="1200" b="1" i="0" u="none" strike="noStrike" kern="1200" cap="none" spc="0" normalizeH="0" baseline="0" noProof="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574344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5E7EECD-B5CE-12EF-74C2-ABFAC60668FE}"/>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7ED42127-8CEE-A719-22D4-E00E5A4B17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9BB22D8-B906-1CC1-AB4A-6F40402D86DB}"/>
              </a:ext>
            </a:extLst>
          </p:cNvPr>
          <p:cNvSpPr>
            <a:spLocks noGrp="1"/>
          </p:cNvSpPr>
          <p:nvPr>
            <p:ph type="title"/>
          </p:nvPr>
        </p:nvSpPr>
        <p:spPr>
          <a:xfrm>
            <a:off x="838200" y="365125"/>
            <a:ext cx="10515600" cy="1325563"/>
          </a:xfrm>
        </p:spPr>
        <p:txBody>
          <a:bodyPr>
            <a:normAutofit/>
          </a:bodyPr>
          <a:lstStyle/>
          <a:p>
            <a:r>
              <a:rPr lang="en-GB" sz="5400" b="1" dirty="0"/>
              <a:t>Sensor Modelling</a:t>
            </a:r>
          </a:p>
        </p:txBody>
      </p:sp>
      <p:sp>
        <p:nvSpPr>
          <p:cNvPr id="13" name="sketch line">
            <a:extLst>
              <a:ext uri="{FF2B5EF4-FFF2-40B4-BE49-F238E27FC236}">
                <a16:creationId xmlns:a16="http://schemas.microsoft.com/office/drawing/2014/main" id="{C32715D6-073C-26FE-0260-D73FA21A57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F2F1A4FD-B97F-9F72-B5FE-3C5A13EB1A86}"/>
                  </a:ext>
                </a:extLst>
              </p:cNvPr>
              <p:cNvSpPr>
                <a:spLocks noGrp="1"/>
              </p:cNvSpPr>
              <p:nvPr>
                <p:ph idx="1"/>
              </p:nvPr>
            </p:nvSpPr>
            <p:spPr>
              <a:xfrm>
                <a:off x="838200" y="1929384"/>
                <a:ext cx="10515600" cy="4251960"/>
              </a:xfrm>
            </p:spPr>
            <p:txBody>
              <a:bodyPr>
                <a:normAutofit lnSpcReduction="10000"/>
              </a:bodyPr>
              <a:lstStyle/>
              <a:p>
                <a:r>
                  <a:rPr lang="en-GB" sz="2400" dirty="0"/>
                  <a:t>It can help to consider a single sensor as a system</a:t>
                </a:r>
              </a:p>
              <a:p>
                <a:pPr lvl="1"/>
                <a:r>
                  <a:rPr lang="en-GB" dirty="0"/>
                  <a:t>Input</a:t>
                </a:r>
              </a:p>
              <a:p>
                <a:pPr lvl="1"/>
                <a:r>
                  <a:rPr lang="en-GB" dirty="0"/>
                  <a:t>Disturbances</a:t>
                </a:r>
              </a:p>
              <a:p>
                <a:pPr lvl="1"/>
                <a:r>
                  <a:rPr lang="en-GB" dirty="0"/>
                  <a:t>Desired</a:t>
                </a:r>
              </a:p>
              <a:p>
                <a:pPr lvl="1"/>
                <a:r>
                  <a:rPr lang="en-GB" dirty="0"/>
                  <a:t>Output</a:t>
                </a:r>
              </a:p>
              <a:p>
                <a:r>
                  <a:rPr lang="en-GB" sz="2400" dirty="0"/>
                  <a:t>Fundamentally a general sensor equation can be given as:</a:t>
                </a:r>
              </a:p>
              <a:p>
                <a:endParaRPr lang="en-GB" sz="2400" dirty="0"/>
              </a:p>
              <a:p>
                <a:pPr marL="0" indent="0">
                  <a:buNone/>
                </a:pPr>
                <a14:m>
                  <m:oMathPara xmlns:m="http://schemas.openxmlformats.org/officeDocument/2006/math">
                    <m:oMathParaPr>
                      <m:jc m:val="centerGroup"/>
                    </m:oMathParaPr>
                    <m:oMath xmlns:m="http://schemas.openxmlformats.org/officeDocument/2006/math">
                      <m:r>
                        <a:rPr lang="en-GB" sz="2400" b="0" i="1" smtClean="0">
                          <a:latin typeface="Cambria Math" panose="02040503050406030204" pitchFamily="18" charset="0"/>
                        </a:rPr>
                        <m:t>𝑦</m:t>
                      </m:r>
                      <m:r>
                        <a:rPr lang="en-GB" sz="2400" b="0" i="1" smtClean="0">
                          <a:latin typeface="Cambria Math" panose="02040503050406030204" pitchFamily="18" charset="0"/>
                        </a:rPr>
                        <m:t>=</m:t>
                      </m:r>
                      <m:r>
                        <a:rPr lang="en-GB" sz="2400" b="0" i="1" smtClean="0">
                          <a:latin typeface="Cambria Math" panose="02040503050406030204" pitchFamily="18" charset="0"/>
                        </a:rPr>
                        <m:t>𝑓</m:t>
                      </m:r>
                      <m:d>
                        <m:dPr>
                          <m:ctrlPr>
                            <a:rPr lang="en-GB" sz="2400" b="0" i="1" smtClean="0">
                              <a:latin typeface="Cambria Math" panose="02040503050406030204" pitchFamily="18" charset="0"/>
                            </a:rPr>
                          </m:ctrlPr>
                        </m:dPr>
                        <m:e>
                          <m:r>
                            <a:rPr lang="en-GB" sz="2400" b="0" i="1" smtClean="0">
                              <a:latin typeface="Cambria Math" panose="02040503050406030204" pitchFamily="18" charset="0"/>
                            </a:rPr>
                            <m:t>𝑎</m:t>
                          </m:r>
                          <m:r>
                            <a:rPr lang="en-GB" sz="2400" b="0" i="1" smtClean="0">
                              <a:latin typeface="Cambria Math" panose="02040503050406030204" pitchFamily="18" charset="0"/>
                            </a:rPr>
                            <m:t>,</m:t>
                          </m:r>
                          <m:r>
                            <a:rPr lang="en-GB" sz="2400" b="0" i="1" smtClean="0">
                              <a:latin typeface="Cambria Math" panose="02040503050406030204" pitchFamily="18" charset="0"/>
                            </a:rPr>
                            <m:t>𝑥</m:t>
                          </m:r>
                        </m:e>
                      </m:d>
                      <m:r>
                        <a:rPr lang="en-GB" sz="2400" b="0" i="1" smtClean="0">
                          <a:latin typeface="Cambria Math" panose="02040503050406030204" pitchFamily="18" charset="0"/>
                        </a:rPr>
                        <m:t>+</m:t>
                      </m:r>
                      <m:r>
                        <a:rPr lang="en-GB" sz="2400" b="0" i="1" smtClean="0">
                          <a:latin typeface="Cambria Math" panose="02040503050406030204" pitchFamily="18" charset="0"/>
                        </a:rPr>
                        <m:t>𝑐</m:t>
                      </m:r>
                    </m:oMath>
                  </m:oMathPara>
                </a14:m>
                <a:endParaRPr lang="en-GB" sz="2400" b="0" dirty="0"/>
              </a:p>
              <a:p>
                <a:pPr marL="0" indent="0">
                  <a:buNone/>
                </a:pPr>
                <a:endParaRPr lang="en-GB" sz="2400" b="0" dirty="0"/>
              </a:p>
              <a:p>
                <a:pPr marL="0" indent="0">
                  <a:buNone/>
                </a:pPr>
                <a:r>
                  <a:rPr lang="en-GB" sz="2400" b="0" dirty="0"/>
                  <a:t>	Where </a:t>
                </a:r>
                <a:r>
                  <a:rPr lang="en-GB" sz="2400" b="0" i="1" dirty="0"/>
                  <a:t>y</a:t>
                </a:r>
                <a:r>
                  <a:rPr lang="en-GB" sz="2400" b="0" dirty="0"/>
                  <a:t> is the outpu</a:t>
                </a:r>
                <a:r>
                  <a:rPr lang="en-GB" sz="2400" dirty="0"/>
                  <a:t>t, </a:t>
                </a:r>
                <a:r>
                  <a:rPr lang="en-GB" sz="2400" i="1" dirty="0"/>
                  <a:t>f</a:t>
                </a:r>
                <a:r>
                  <a:rPr lang="en-GB" sz="2400" dirty="0"/>
                  <a:t> is a sensor function, </a:t>
                </a:r>
                <a:r>
                  <a:rPr lang="en-GB" sz="2400" i="1" dirty="0"/>
                  <a:t>x</a:t>
                </a:r>
                <a:r>
                  <a:rPr lang="en-GB" sz="2400" dirty="0"/>
                  <a:t> is the sensor input, </a:t>
                </a:r>
                <a:r>
                  <a:rPr lang="en-GB" sz="2400" i="1" dirty="0"/>
                  <a:t>a</a:t>
                </a:r>
                <a:r>
                  <a:rPr lang="en-GB" sz="2400" dirty="0"/>
                  <a:t> 	represents internal parameters, </a:t>
                </a:r>
                <a:r>
                  <a:rPr lang="en-GB" sz="2400" i="1" dirty="0"/>
                  <a:t>c</a:t>
                </a:r>
                <a:r>
                  <a:rPr lang="en-GB" sz="2400" dirty="0"/>
                  <a:t> is a constant </a:t>
                </a:r>
              </a:p>
              <a:p>
                <a:pPr marL="0" indent="0">
                  <a:buNone/>
                </a:pPr>
                <a:endParaRPr lang="en-GB" b="0" dirty="0"/>
              </a:p>
              <a:p>
                <a:endParaRPr lang="en-GB" sz="1800" dirty="0"/>
              </a:p>
              <a:p>
                <a:endParaRPr lang="en-GB" sz="2200" dirty="0"/>
              </a:p>
              <a:p>
                <a:endParaRPr lang="en-GB" sz="2200" dirty="0"/>
              </a:p>
              <a:p>
                <a:endParaRPr lang="en-GB" sz="2200" dirty="0"/>
              </a:p>
              <a:p>
                <a:pPr lvl="1"/>
                <a:endParaRPr lang="en-GB" sz="1800" dirty="0"/>
              </a:p>
              <a:p>
                <a:endParaRPr lang="en-GB" sz="2200" dirty="0"/>
              </a:p>
            </p:txBody>
          </p:sp>
        </mc:Choice>
        <mc:Fallback xmlns="">
          <p:sp>
            <p:nvSpPr>
              <p:cNvPr id="6" name="Content Placeholder 5">
                <a:extLst>
                  <a:ext uri="{FF2B5EF4-FFF2-40B4-BE49-F238E27FC236}">
                    <a16:creationId xmlns:a16="http://schemas.microsoft.com/office/drawing/2014/main" id="{F2F1A4FD-B97F-9F72-B5FE-3C5A13EB1A86}"/>
                  </a:ext>
                </a:extLst>
              </p:cNvPr>
              <p:cNvSpPr>
                <a:spLocks noGrp="1" noRot="1" noChangeAspect="1" noMove="1" noResize="1" noEditPoints="1" noAdjustHandles="1" noChangeArrowheads="1" noChangeShapeType="1" noTextEdit="1"/>
              </p:cNvSpPr>
              <p:nvPr>
                <p:ph idx="1"/>
              </p:nvPr>
            </p:nvSpPr>
            <p:spPr>
              <a:xfrm>
                <a:off x="838200" y="1929384"/>
                <a:ext cx="10515600" cy="4251960"/>
              </a:xfrm>
              <a:blipFill>
                <a:blip r:embed="rId2"/>
                <a:stretch>
                  <a:fillRect l="-812" t="-2726"/>
                </a:stretch>
              </a:blipFill>
            </p:spPr>
            <p:txBody>
              <a:bodyPr/>
              <a:lstStyle/>
              <a:p>
                <a:r>
                  <a:rPr lang="en-GB">
                    <a:noFill/>
                  </a:rPr>
                  <a:t> </a:t>
                </a:r>
              </a:p>
            </p:txBody>
          </p:sp>
        </mc:Fallback>
      </mc:AlternateContent>
      <p:sp>
        <p:nvSpPr>
          <p:cNvPr id="4" name="Slide Number Placeholder 3">
            <a:extLst>
              <a:ext uri="{FF2B5EF4-FFF2-40B4-BE49-F238E27FC236}">
                <a16:creationId xmlns:a16="http://schemas.microsoft.com/office/drawing/2014/main" id="{3E180F7C-D67A-34A2-88AB-B5FDEFD868E7}"/>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90000"/>
              </a:lnSpc>
              <a:spcBef>
                <a:spcPts val="0"/>
              </a:spcBef>
              <a:spcAft>
                <a:spcPts val="600"/>
              </a:spcAft>
              <a:buClrTx/>
              <a:buSzTx/>
              <a:buFontTx/>
              <a:buNone/>
              <a:tabLst/>
              <a:defRPr/>
            </a:pPr>
            <a:fld id="{1ED87AFC-F3F3-4E09-A9D9-1873FFB55ECB}" type="slidenum">
              <a:rPr kumimoji="0" lang="en-GB" sz="19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90000"/>
                </a:lnSpc>
                <a:spcBef>
                  <a:spcPts val="0"/>
                </a:spcBef>
                <a:spcAft>
                  <a:spcPts val="600"/>
                </a:spcAft>
                <a:buClrTx/>
                <a:buSzTx/>
                <a:buFontTx/>
                <a:buNone/>
                <a:tabLst/>
                <a:defRPr/>
              </a:pPr>
              <a:t>7</a:t>
            </a:fld>
            <a:endParaRPr kumimoji="0" lang="en-GB" sz="19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387923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B4134C0-3243-0326-75C5-8D5D3D06AE76}"/>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DD210CC3-BBEC-3297-95D3-053C55C5D3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2F0E283-DF81-3282-B773-059185955B29}"/>
              </a:ext>
            </a:extLst>
          </p:cNvPr>
          <p:cNvSpPr>
            <a:spLocks noGrp="1"/>
          </p:cNvSpPr>
          <p:nvPr>
            <p:ph type="title"/>
          </p:nvPr>
        </p:nvSpPr>
        <p:spPr>
          <a:xfrm>
            <a:off x="838200" y="365125"/>
            <a:ext cx="10515600" cy="1325563"/>
          </a:xfrm>
        </p:spPr>
        <p:txBody>
          <a:bodyPr>
            <a:normAutofit/>
          </a:bodyPr>
          <a:lstStyle/>
          <a:p>
            <a:r>
              <a:rPr lang="en-GB" sz="5400" b="1" dirty="0"/>
              <a:t>Sensor Modelling</a:t>
            </a:r>
          </a:p>
        </p:txBody>
      </p:sp>
      <p:sp>
        <p:nvSpPr>
          <p:cNvPr id="13" name="sketch line">
            <a:extLst>
              <a:ext uri="{FF2B5EF4-FFF2-40B4-BE49-F238E27FC236}">
                <a16:creationId xmlns:a16="http://schemas.microsoft.com/office/drawing/2014/main" id="{680E888B-5832-472C-0DC5-CC4BDC6840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Content Placeholder 5">
            <a:extLst>
              <a:ext uri="{FF2B5EF4-FFF2-40B4-BE49-F238E27FC236}">
                <a16:creationId xmlns:a16="http://schemas.microsoft.com/office/drawing/2014/main" id="{C03C2BDA-86E5-074A-000A-23E74CA8F784}"/>
              </a:ext>
            </a:extLst>
          </p:cNvPr>
          <p:cNvSpPr>
            <a:spLocks noGrp="1"/>
          </p:cNvSpPr>
          <p:nvPr>
            <p:ph idx="1"/>
          </p:nvPr>
        </p:nvSpPr>
        <p:spPr>
          <a:xfrm>
            <a:off x="838200" y="1929384"/>
            <a:ext cx="10515600" cy="4251960"/>
          </a:xfrm>
        </p:spPr>
        <p:txBody>
          <a:bodyPr>
            <a:normAutofit/>
          </a:bodyPr>
          <a:lstStyle/>
          <a:p>
            <a:r>
              <a:rPr lang="en-GB" sz="2200" dirty="0"/>
              <a:t>There are general models of sensors</a:t>
            </a:r>
          </a:p>
          <a:p>
            <a:r>
              <a:rPr lang="en-GB" sz="2200" dirty="0" err="1"/>
              <a:t>Hammerstien</a:t>
            </a:r>
            <a:r>
              <a:rPr lang="en-GB" sz="2200" dirty="0"/>
              <a:t>-Wiener feedback model is one</a:t>
            </a:r>
          </a:p>
          <a:p>
            <a:endParaRPr lang="en-GB" sz="2200" dirty="0"/>
          </a:p>
        </p:txBody>
      </p:sp>
      <p:sp>
        <p:nvSpPr>
          <p:cNvPr id="4" name="Slide Number Placeholder 3">
            <a:extLst>
              <a:ext uri="{FF2B5EF4-FFF2-40B4-BE49-F238E27FC236}">
                <a16:creationId xmlns:a16="http://schemas.microsoft.com/office/drawing/2014/main" id="{86757D8E-64C6-FDB7-65F0-325B9AD8CC93}"/>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90000"/>
              </a:lnSpc>
              <a:spcBef>
                <a:spcPts val="0"/>
              </a:spcBef>
              <a:spcAft>
                <a:spcPts val="600"/>
              </a:spcAft>
              <a:buClrTx/>
              <a:buSzTx/>
              <a:buFontTx/>
              <a:buNone/>
              <a:tabLst/>
              <a:defRPr/>
            </a:pPr>
            <a:fld id="{1ED87AFC-F3F3-4E09-A9D9-1873FFB55ECB}" type="slidenum">
              <a:rPr kumimoji="0" lang="en-GB" sz="19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90000"/>
                </a:lnSpc>
                <a:spcBef>
                  <a:spcPts val="0"/>
                </a:spcBef>
                <a:spcAft>
                  <a:spcPts val="600"/>
                </a:spcAft>
                <a:buClrTx/>
                <a:buSzTx/>
                <a:buFontTx/>
                <a:buNone/>
                <a:tabLst/>
                <a:defRPr/>
              </a:pPr>
              <a:t>8</a:t>
            </a:fld>
            <a:endParaRPr kumimoji="0" lang="en-GB" sz="19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8" name="Picture 7" descr="A diagram of a diagram&#10;&#10;Description automatically generated">
            <a:extLst>
              <a:ext uri="{FF2B5EF4-FFF2-40B4-BE49-F238E27FC236}">
                <a16:creationId xmlns:a16="http://schemas.microsoft.com/office/drawing/2014/main" id="{D3987B33-0867-566C-BBFA-AED535634A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3373637"/>
            <a:ext cx="10829205" cy="2169340"/>
          </a:xfrm>
          <a:prstGeom prst="rect">
            <a:avLst/>
          </a:prstGeom>
        </p:spPr>
      </p:pic>
    </p:spTree>
    <p:extLst>
      <p:ext uri="{BB962C8B-B14F-4D97-AF65-F5344CB8AC3E}">
        <p14:creationId xmlns:p14="http://schemas.microsoft.com/office/powerpoint/2010/main" val="40062823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1DA3028-E95B-5C61-696D-1873FFF65650}"/>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C491A514-F671-F6FE-F2EE-93BBF294CF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6F778D9-5E7F-8AA1-05F1-2CD953CD8B32}"/>
              </a:ext>
            </a:extLst>
          </p:cNvPr>
          <p:cNvSpPr>
            <a:spLocks noGrp="1"/>
          </p:cNvSpPr>
          <p:nvPr>
            <p:ph type="title"/>
          </p:nvPr>
        </p:nvSpPr>
        <p:spPr>
          <a:xfrm>
            <a:off x="838200" y="365125"/>
            <a:ext cx="10515600" cy="1325563"/>
          </a:xfrm>
        </p:spPr>
        <p:txBody>
          <a:bodyPr>
            <a:normAutofit/>
          </a:bodyPr>
          <a:lstStyle/>
          <a:p>
            <a:r>
              <a:rPr lang="en-GB" sz="5400" b="1" dirty="0"/>
              <a:t>Sensor Modelling</a:t>
            </a:r>
          </a:p>
        </p:txBody>
      </p:sp>
      <p:sp>
        <p:nvSpPr>
          <p:cNvPr id="13" name="sketch line">
            <a:extLst>
              <a:ext uri="{FF2B5EF4-FFF2-40B4-BE49-F238E27FC236}">
                <a16:creationId xmlns:a16="http://schemas.microsoft.com/office/drawing/2014/main" id="{4B6CD375-D581-4021-DA48-75D88BB9C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Content Placeholder 5">
            <a:extLst>
              <a:ext uri="{FF2B5EF4-FFF2-40B4-BE49-F238E27FC236}">
                <a16:creationId xmlns:a16="http://schemas.microsoft.com/office/drawing/2014/main" id="{AA2E9AE0-3B70-23F2-5C99-C08A1EE17618}"/>
              </a:ext>
            </a:extLst>
          </p:cNvPr>
          <p:cNvSpPr>
            <a:spLocks noGrp="1"/>
          </p:cNvSpPr>
          <p:nvPr>
            <p:ph idx="1"/>
          </p:nvPr>
        </p:nvSpPr>
        <p:spPr>
          <a:xfrm>
            <a:off x="838200" y="1929384"/>
            <a:ext cx="10515600" cy="4251960"/>
          </a:xfrm>
        </p:spPr>
        <p:txBody>
          <a:bodyPr>
            <a:normAutofit/>
          </a:bodyPr>
          <a:lstStyle/>
          <a:p>
            <a:pPr marL="0" indent="0">
              <a:buNone/>
            </a:pPr>
            <a:endParaRPr lang="en-GB" sz="2200" dirty="0"/>
          </a:p>
          <a:p>
            <a:endParaRPr lang="en-GB" sz="2200" dirty="0"/>
          </a:p>
        </p:txBody>
      </p:sp>
      <p:sp>
        <p:nvSpPr>
          <p:cNvPr id="4" name="Slide Number Placeholder 3">
            <a:extLst>
              <a:ext uri="{FF2B5EF4-FFF2-40B4-BE49-F238E27FC236}">
                <a16:creationId xmlns:a16="http://schemas.microsoft.com/office/drawing/2014/main" id="{EE6D96AC-DA22-3E5D-AE47-43794A035735}"/>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90000"/>
              </a:lnSpc>
              <a:spcBef>
                <a:spcPts val="0"/>
              </a:spcBef>
              <a:spcAft>
                <a:spcPts val="600"/>
              </a:spcAft>
              <a:buClrTx/>
              <a:buSzTx/>
              <a:buFontTx/>
              <a:buNone/>
              <a:tabLst/>
              <a:defRPr/>
            </a:pPr>
            <a:fld id="{1ED87AFC-F3F3-4E09-A9D9-1873FFB55ECB}" type="slidenum">
              <a:rPr kumimoji="0" lang="en-GB" sz="19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90000"/>
                </a:lnSpc>
                <a:spcBef>
                  <a:spcPts val="0"/>
                </a:spcBef>
                <a:spcAft>
                  <a:spcPts val="600"/>
                </a:spcAft>
                <a:buClrTx/>
                <a:buSzTx/>
                <a:buFontTx/>
                <a:buNone/>
                <a:tabLst/>
                <a:defRPr/>
              </a:pPr>
              <a:t>9</a:t>
            </a:fld>
            <a:endParaRPr kumimoji="0" lang="en-GB" sz="19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14" name="Picture 13">
            <a:extLst>
              <a:ext uri="{FF2B5EF4-FFF2-40B4-BE49-F238E27FC236}">
                <a16:creationId xmlns:a16="http://schemas.microsoft.com/office/drawing/2014/main" id="{DE54D14A-366C-592A-99D8-41A49EAAC18F}"/>
              </a:ext>
            </a:extLst>
          </p:cNvPr>
          <p:cNvPicPr>
            <a:picLocks noChangeAspect="1"/>
          </p:cNvPicPr>
          <p:nvPr/>
        </p:nvPicPr>
        <p:blipFill>
          <a:blip r:embed="rId2"/>
          <a:stretch>
            <a:fillRect/>
          </a:stretch>
        </p:blipFill>
        <p:spPr>
          <a:xfrm>
            <a:off x="3962733" y="3001233"/>
            <a:ext cx="4263483" cy="2108261"/>
          </a:xfrm>
          <a:prstGeom prst="rect">
            <a:avLst/>
          </a:prstGeom>
        </p:spPr>
      </p:pic>
      <p:sp>
        <p:nvSpPr>
          <p:cNvPr id="15" name="TextBox 14">
            <a:extLst>
              <a:ext uri="{FF2B5EF4-FFF2-40B4-BE49-F238E27FC236}">
                <a16:creationId xmlns:a16="http://schemas.microsoft.com/office/drawing/2014/main" id="{3C7C3ECD-0AA0-AAE7-FA74-27C109863841}"/>
              </a:ext>
            </a:extLst>
          </p:cNvPr>
          <p:cNvSpPr txBox="1"/>
          <p:nvPr/>
        </p:nvSpPr>
        <p:spPr>
          <a:xfrm>
            <a:off x="3962733" y="4285494"/>
            <a:ext cx="68480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Input</a:t>
            </a:r>
          </a:p>
        </p:txBody>
      </p:sp>
      <p:sp>
        <p:nvSpPr>
          <p:cNvPr id="16" name="TextBox 15">
            <a:extLst>
              <a:ext uri="{FF2B5EF4-FFF2-40B4-BE49-F238E27FC236}">
                <a16:creationId xmlns:a16="http://schemas.microsoft.com/office/drawing/2014/main" id="{4013C2C9-DDC3-AEB1-D598-11EF077D3B68}"/>
              </a:ext>
            </a:extLst>
          </p:cNvPr>
          <p:cNvSpPr txBox="1"/>
          <p:nvPr/>
        </p:nvSpPr>
        <p:spPr>
          <a:xfrm>
            <a:off x="7544466" y="4285494"/>
            <a:ext cx="85632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Output</a:t>
            </a:r>
          </a:p>
        </p:txBody>
      </p:sp>
    </p:spTree>
    <p:extLst>
      <p:ext uri="{BB962C8B-B14F-4D97-AF65-F5344CB8AC3E}">
        <p14:creationId xmlns:p14="http://schemas.microsoft.com/office/powerpoint/2010/main" val="12877458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68B2446-73FE-031F-CD8F-033A58A19155}"/>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2E3D04D-EBBD-9958-743E-EDFFA08AF2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B18B68B-7CEF-B74E-BA47-3583DF246D36}"/>
              </a:ext>
            </a:extLst>
          </p:cNvPr>
          <p:cNvSpPr>
            <a:spLocks noGrp="1"/>
          </p:cNvSpPr>
          <p:nvPr>
            <p:ph type="title"/>
          </p:nvPr>
        </p:nvSpPr>
        <p:spPr>
          <a:xfrm>
            <a:off x="838200" y="365125"/>
            <a:ext cx="10515600" cy="1325563"/>
          </a:xfrm>
        </p:spPr>
        <p:txBody>
          <a:bodyPr>
            <a:normAutofit/>
          </a:bodyPr>
          <a:lstStyle/>
          <a:p>
            <a:r>
              <a:rPr lang="en-GB" sz="5400" b="1" dirty="0"/>
              <a:t>Sensor Modelling</a:t>
            </a:r>
          </a:p>
        </p:txBody>
      </p:sp>
      <p:sp>
        <p:nvSpPr>
          <p:cNvPr id="13" name="sketch line">
            <a:extLst>
              <a:ext uri="{FF2B5EF4-FFF2-40B4-BE49-F238E27FC236}">
                <a16:creationId xmlns:a16="http://schemas.microsoft.com/office/drawing/2014/main" id="{5236B873-99E0-909F-5180-28B97D5579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Content Placeholder 5">
            <a:extLst>
              <a:ext uri="{FF2B5EF4-FFF2-40B4-BE49-F238E27FC236}">
                <a16:creationId xmlns:a16="http://schemas.microsoft.com/office/drawing/2014/main" id="{2FB83702-45E6-447E-2F1D-25619582824B}"/>
              </a:ext>
            </a:extLst>
          </p:cNvPr>
          <p:cNvSpPr>
            <a:spLocks noGrp="1"/>
          </p:cNvSpPr>
          <p:nvPr>
            <p:ph idx="1"/>
          </p:nvPr>
        </p:nvSpPr>
        <p:spPr>
          <a:xfrm>
            <a:off x="838200" y="1929384"/>
            <a:ext cx="10515600" cy="4251960"/>
          </a:xfrm>
        </p:spPr>
        <p:txBody>
          <a:bodyPr>
            <a:normAutofit/>
          </a:bodyPr>
          <a:lstStyle/>
          <a:p>
            <a:pPr marL="0" indent="0">
              <a:buNone/>
            </a:pPr>
            <a:endParaRPr lang="en-GB" sz="2200" dirty="0"/>
          </a:p>
          <a:p>
            <a:endParaRPr lang="en-GB" sz="2200" dirty="0"/>
          </a:p>
        </p:txBody>
      </p:sp>
      <p:sp>
        <p:nvSpPr>
          <p:cNvPr id="4" name="Slide Number Placeholder 3">
            <a:extLst>
              <a:ext uri="{FF2B5EF4-FFF2-40B4-BE49-F238E27FC236}">
                <a16:creationId xmlns:a16="http://schemas.microsoft.com/office/drawing/2014/main" id="{F8913104-40CB-09C3-1E72-486B6A4A2348}"/>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90000"/>
              </a:lnSpc>
              <a:spcBef>
                <a:spcPts val="0"/>
              </a:spcBef>
              <a:spcAft>
                <a:spcPts val="600"/>
              </a:spcAft>
              <a:buClrTx/>
              <a:buSzTx/>
              <a:buFontTx/>
              <a:buNone/>
              <a:tabLst/>
              <a:defRPr/>
            </a:pPr>
            <a:fld id="{1ED87AFC-F3F3-4E09-A9D9-1873FFB55ECB}" type="slidenum">
              <a:rPr kumimoji="0" lang="en-GB" sz="19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90000"/>
                </a:lnSpc>
                <a:spcBef>
                  <a:spcPts val="0"/>
                </a:spcBef>
                <a:spcAft>
                  <a:spcPts val="600"/>
                </a:spcAft>
                <a:buClrTx/>
                <a:buSzTx/>
                <a:buFontTx/>
                <a:buNone/>
                <a:tabLst/>
                <a:defRPr/>
              </a:pPr>
              <a:t>10</a:t>
            </a:fld>
            <a:endParaRPr kumimoji="0" lang="en-GB" sz="19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14" name="Picture 13">
            <a:extLst>
              <a:ext uri="{FF2B5EF4-FFF2-40B4-BE49-F238E27FC236}">
                <a16:creationId xmlns:a16="http://schemas.microsoft.com/office/drawing/2014/main" id="{48AD66BE-6E5A-1F62-0A07-E96DA479CCB0}"/>
              </a:ext>
            </a:extLst>
          </p:cNvPr>
          <p:cNvPicPr>
            <a:picLocks noChangeAspect="1"/>
          </p:cNvPicPr>
          <p:nvPr/>
        </p:nvPicPr>
        <p:blipFill>
          <a:blip r:embed="rId2"/>
          <a:stretch>
            <a:fillRect/>
          </a:stretch>
        </p:blipFill>
        <p:spPr>
          <a:xfrm>
            <a:off x="3962733" y="3001233"/>
            <a:ext cx="4263483" cy="2108261"/>
          </a:xfrm>
          <a:prstGeom prst="rect">
            <a:avLst/>
          </a:prstGeom>
        </p:spPr>
      </p:pic>
      <p:pic>
        <p:nvPicPr>
          <p:cNvPr id="10" name="Picture 9">
            <a:extLst>
              <a:ext uri="{FF2B5EF4-FFF2-40B4-BE49-F238E27FC236}">
                <a16:creationId xmlns:a16="http://schemas.microsoft.com/office/drawing/2014/main" id="{905E98D7-15AF-3743-34C4-99AD0E73EEB8}"/>
              </a:ext>
            </a:extLst>
          </p:cNvPr>
          <p:cNvPicPr>
            <a:picLocks noChangeAspect="1"/>
          </p:cNvPicPr>
          <p:nvPr/>
        </p:nvPicPr>
        <p:blipFill>
          <a:blip r:embed="rId3"/>
          <a:stretch>
            <a:fillRect/>
          </a:stretch>
        </p:blipFill>
        <p:spPr>
          <a:xfrm>
            <a:off x="1604251" y="1915584"/>
            <a:ext cx="8980449" cy="4440766"/>
          </a:xfrm>
          <a:prstGeom prst="rect">
            <a:avLst/>
          </a:prstGeom>
        </p:spPr>
      </p:pic>
      <p:sp>
        <p:nvSpPr>
          <p:cNvPr id="15" name="TextBox 14">
            <a:extLst>
              <a:ext uri="{FF2B5EF4-FFF2-40B4-BE49-F238E27FC236}">
                <a16:creationId xmlns:a16="http://schemas.microsoft.com/office/drawing/2014/main" id="{375CB0B1-058D-A3E5-9AE2-944FEC6BE1E8}"/>
              </a:ext>
            </a:extLst>
          </p:cNvPr>
          <p:cNvSpPr txBox="1"/>
          <p:nvPr/>
        </p:nvSpPr>
        <p:spPr>
          <a:xfrm>
            <a:off x="1261847" y="2743200"/>
            <a:ext cx="68480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Input</a:t>
            </a:r>
          </a:p>
        </p:txBody>
      </p:sp>
      <p:sp>
        <p:nvSpPr>
          <p:cNvPr id="16" name="TextBox 15">
            <a:extLst>
              <a:ext uri="{FF2B5EF4-FFF2-40B4-BE49-F238E27FC236}">
                <a16:creationId xmlns:a16="http://schemas.microsoft.com/office/drawing/2014/main" id="{E8DFD26C-0C1E-C26F-11D4-BF4B65602EE1}"/>
              </a:ext>
            </a:extLst>
          </p:cNvPr>
          <p:cNvSpPr txBox="1"/>
          <p:nvPr/>
        </p:nvSpPr>
        <p:spPr>
          <a:xfrm>
            <a:off x="10102338" y="3541643"/>
            <a:ext cx="85632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Output</a:t>
            </a:r>
          </a:p>
        </p:txBody>
      </p:sp>
      <p:sp>
        <p:nvSpPr>
          <p:cNvPr id="17" name="TextBox 16">
            <a:extLst>
              <a:ext uri="{FF2B5EF4-FFF2-40B4-BE49-F238E27FC236}">
                <a16:creationId xmlns:a16="http://schemas.microsoft.com/office/drawing/2014/main" id="{9ACD8E95-F52D-9E07-B812-241107A265EB}"/>
              </a:ext>
            </a:extLst>
          </p:cNvPr>
          <p:cNvSpPr txBox="1"/>
          <p:nvPr/>
        </p:nvSpPr>
        <p:spPr>
          <a:xfrm>
            <a:off x="1729782" y="3686031"/>
            <a:ext cx="71365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Noise</a:t>
            </a:r>
          </a:p>
        </p:txBody>
      </p:sp>
      <p:sp>
        <p:nvSpPr>
          <p:cNvPr id="18" name="TextBox 17">
            <a:extLst>
              <a:ext uri="{FF2B5EF4-FFF2-40B4-BE49-F238E27FC236}">
                <a16:creationId xmlns:a16="http://schemas.microsoft.com/office/drawing/2014/main" id="{39D42738-1B80-754A-8729-8B8FB470C837}"/>
              </a:ext>
            </a:extLst>
          </p:cNvPr>
          <p:cNvSpPr txBox="1"/>
          <p:nvPr/>
        </p:nvSpPr>
        <p:spPr>
          <a:xfrm>
            <a:off x="8450619" y="4135967"/>
            <a:ext cx="71365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Noise</a:t>
            </a:r>
          </a:p>
        </p:txBody>
      </p:sp>
      <p:sp>
        <p:nvSpPr>
          <p:cNvPr id="20" name="TextBox 19">
            <a:extLst>
              <a:ext uri="{FF2B5EF4-FFF2-40B4-BE49-F238E27FC236}">
                <a16:creationId xmlns:a16="http://schemas.microsoft.com/office/drawing/2014/main" id="{CA10E1DE-0715-6696-6F73-6430CC5DC951}"/>
              </a:ext>
            </a:extLst>
          </p:cNvPr>
          <p:cNvSpPr txBox="1"/>
          <p:nvPr/>
        </p:nvSpPr>
        <p:spPr>
          <a:xfrm>
            <a:off x="2640111" y="4320633"/>
            <a:ext cx="56297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Bias</a:t>
            </a:r>
          </a:p>
        </p:txBody>
      </p:sp>
      <p:sp>
        <p:nvSpPr>
          <p:cNvPr id="21" name="TextBox 20">
            <a:extLst>
              <a:ext uri="{FF2B5EF4-FFF2-40B4-BE49-F238E27FC236}">
                <a16:creationId xmlns:a16="http://schemas.microsoft.com/office/drawing/2014/main" id="{3F84932F-0ACE-85B8-6A1C-BB61EB7B64A4}"/>
              </a:ext>
            </a:extLst>
          </p:cNvPr>
          <p:cNvSpPr txBox="1"/>
          <p:nvPr/>
        </p:nvSpPr>
        <p:spPr>
          <a:xfrm>
            <a:off x="3679614" y="2684095"/>
            <a:ext cx="115512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Saturation</a:t>
            </a:r>
          </a:p>
        </p:txBody>
      </p:sp>
      <p:sp>
        <p:nvSpPr>
          <p:cNvPr id="22" name="TextBox 21">
            <a:extLst>
              <a:ext uri="{FF2B5EF4-FFF2-40B4-BE49-F238E27FC236}">
                <a16:creationId xmlns:a16="http://schemas.microsoft.com/office/drawing/2014/main" id="{FB81EE8F-2C62-C2EA-44AC-8AA41F0BB38B}"/>
              </a:ext>
            </a:extLst>
          </p:cNvPr>
          <p:cNvSpPr txBox="1"/>
          <p:nvPr/>
        </p:nvSpPr>
        <p:spPr>
          <a:xfrm>
            <a:off x="8947214" y="2816567"/>
            <a:ext cx="115512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Saturation</a:t>
            </a:r>
          </a:p>
        </p:txBody>
      </p:sp>
      <p:sp>
        <p:nvSpPr>
          <p:cNvPr id="23" name="TextBox 22">
            <a:extLst>
              <a:ext uri="{FF2B5EF4-FFF2-40B4-BE49-F238E27FC236}">
                <a16:creationId xmlns:a16="http://schemas.microsoft.com/office/drawing/2014/main" id="{8B436B06-21E3-F97B-3E8A-B2C7B69200B3}"/>
              </a:ext>
            </a:extLst>
          </p:cNvPr>
          <p:cNvSpPr txBox="1"/>
          <p:nvPr/>
        </p:nvSpPr>
        <p:spPr>
          <a:xfrm>
            <a:off x="6189280" y="5012331"/>
            <a:ext cx="245163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Previous Measurements</a:t>
            </a:r>
          </a:p>
        </p:txBody>
      </p:sp>
      <p:sp>
        <p:nvSpPr>
          <p:cNvPr id="24" name="TextBox 23">
            <a:extLst>
              <a:ext uri="{FF2B5EF4-FFF2-40B4-BE49-F238E27FC236}">
                <a16:creationId xmlns:a16="http://schemas.microsoft.com/office/drawing/2014/main" id="{32334A95-287D-7286-04BD-B0D0DAF88004}"/>
              </a:ext>
            </a:extLst>
          </p:cNvPr>
          <p:cNvSpPr txBox="1"/>
          <p:nvPr/>
        </p:nvSpPr>
        <p:spPr>
          <a:xfrm>
            <a:off x="4459522" y="3550482"/>
            <a:ext cx="120417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Dead band</a:t>
            </a:r>
          </a:p>
        </p:txBody>
      </p:sp>
      <p:sp>
        <p:nvSpPr>
          <p:cNvPr id="25" name="TextBox 24">
            <a:extLst>
              <a:ext uri="{FF2B5EF4-FFF2-40B4-BE49-F238E27FC236}">
                <a16:creationId xmlns:a16="http://schemas.microsoft.com/office/drawing/2014/main" id="{BEEE6E77-26FC-6318-7CF8-898B54CB2375}"/>
              </a:ext>
            </a:extLst>
          </p:cNvPr>
          <p:cNvSpPr txBox="1"/>
          <p:nvPr/>
        </p:nvSpPr>
        <p:spPr>
          <a:xfrm>
            <a:off x="5312133" y="2734520"/>
            <a:ext cx="113306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Hysteresis</a:t>
            </a:r>
          </a:p>
        </p:txBody>
      </p:sp>
      <p:sp>
        <p:nvSpPr>
          <p:cNvPr id="27" name="TextBox 26">
            <a:extLst>
              <a:ext uri="{FF2B5EF4-FFF2-40B4-BE49-F238E27FC236}">
                <a16:creationId xmlns:a16="http://schemas.microsoft.com/office/drawing/2014/main" id="{B7905017-AE13-4FFE-8202-FA6409DC0DDD}"/>
              </a:ext>
            </a:extLst>
          </p:cNvPr>
          <p:cNvSpPr txBox="1"/>
          <p:nvPr/>
        </p:nvSpPr>
        <p:spPr>
          <a:xfrm>
            <a:off x="3625805" y="5817467"/>
            <a:ext cx="458119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Calibri" panose="020F0502020204030204"/>
                <a:ea typeface="+mn-ea"/>
                <a:cs typeface="+mn-cs"/>
              </a:rPr>
              <a:t>And that’s before you factor in the connection</a:t>
            </a:r>
          </a:p>
        </p:txBody>
      </p:sp>
    </p:spTree>
    <p:extLst>
      <p:ext uri="{BB962C8B-B14F-4D97-AF65-F5344CB8AC3E}">
        <p14:creationId xmlns:p14="http://schemas.microsoft.com/office/powerpoint/2010/main" val="2351088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7" grpId="0"/>
      <p:bldP spid="18" grpId="0"/>
      <p:bldP spid="20" grpId="0"/>
      <p:bldP spid="21" grpId="0"/>
      <p:bldP spid="22" grpId="0"/>
      <p:bldP spid="23" grpId="0"/>
      <p:bldP spid="24" grpId="0"/>
      <p:bldP spid="25" grpId="0"/>
      <p:bldP spid="27"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604C9BB-9F31-496A-95DA-3053FCECD090}"/>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6E3545E8-673C-491B-60B2-995F31E7A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14F7176-633A-9FED-B6BA-D260B9747375}"/>
              </a:ext>
            </a:extLst>
          </p:cNvPr>
          <p:cNvSpPr>
            <a:spLocks noGrp="1"/>
          </p:cNvSpPr>
          <p:nvPr>
            <p:ph type="title"/>
          </p:nvPr>
        </p:nvSpPr>
        <p:spPr>
          <a:xfrm>
            <a:off x="1522030" y="1209220"/>
            <a:ext cx="9147940" cy="2337238"/>
          </a:xfrm>
        </p:spPr>
        <p:txBody>
          <a:bodyPr vert="horz" lIns="91440" tIns="45720" rIns="91440" bIns="45720" rtlCol="0" anchor="b">
            <a:normAutofit/>
          </a:bodyPr>
          <a:lstStyle/>
          <a:p>
            <a:pPr algn="ctr"/>
            <a:r>
              <a:rPr lang="en-US" sz="5600" b="1" kern="1200" dirty="0">
                <a:solidFill>
                  <a:srgbClr val="FFFFFF"/>
                </a:solidFill>
                <a:latin typeface="+mj-lt"/>
                <a:ea typeface="+mj-ea"/>
                <a:cs typeface="+mj-cs"/>
              </a:rPr>
              <a:t>Example</a:t>
            </a:r>
          </a:p>
        </p:txBody>
      </p:sp>
      <p:sp>
        <p:nvSpPr>
          <p:cNvPr id="3" name="Subtitle 2">
            <a:extLst>
              <a:ext uri="{FF2B5EF4-FFF2-40B4-BE49-F238E27FC236}">
                <a16:creationId xmlns:a16="http://schemas.microsoft.com/office/drawing/2014/main" id="{7B787C49-E1E1-313D-42CB-1FB33B48E914}"/>
              </a:ext>
            </a:extLst>
          </p:cNvPr>
          <p:cNvSpPr>
            <a:spLocks noGrp="1"/>
          </p:cNvSpPr>
          <p:nvPr>
            <p:ph type="body" idx="1"/>
          </p:nvPr>
        </p:nvSpPr>
        <p:spPr>
          <a:xfrm>
            <a:off x="1522030" y="3605577"/>
            <a:ext cx="9147940" cy="1324303"/>
          </a:xfrm>
        </p:spPr>
        <p:txBody>
          <a:bodyPr vert="horz" lIns="91440" tIns="45720" rIns="91440" bIns="45720" rtlCol="0" anchor="t">
            <a:normAutofit/>
          </a:bodyPr>
          <a:lstStyle/>
          <a:p>
            <a:pPr algn="ctr"/>
            <a:endParaRPr lang="en-US" sz="2000" kern="1200">
              <a:solidFill>
                <a:srgbClr val="FFFFFF"/>
              </a:solidFill>
              <a:latin typeface="+mn-lt"/>
              <a:ea typeface="+mn-ea"/>
              <a:cs typeface="+mn-cs"/>
            </a:endParaRPr>
          </a:p>
          <a:p>
            <a:pPr algn="ctr"/>
            <a:endParaRPr lang="en-US" sz="2000" kern="1200">
              <a:solidFill>
                <a:srgbClr val="FFFFFF"/>
              </a:solidFill>
              <a:latin typeface="+mn-lt"/>
              <a:ea typeface="+mn-ea"/>
              <a:cs typeface="+mn-cs"/>
            </a:endParaRPr>
          </a:p>
        </p:txBody>
      </p:sp>
      <p:sp>
        <p:nvSpPr>
          <p:cNvPr id="11" name="Graphic 22">
            <a:extLst>
              <a:ext uri="{FF2B5EF4-FFF2-40B4-BE49-F238E27FC236}">
                <a16:creationId xmlns:a16="http://schemas.microsoft.com/office/drawing/2014/main" id="{E4A0EE7B-692E-F915-8BEB-D56A16FBA4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1869" y="2383077"/>
            <a:ext cx="151536" cy="151536"/>
          </a:xfrm>
          <a:custGeom>
            <a:avLst/>
            <a:gdLst>
              <a:gd name="connsiteX0" fmla="*/ 141251 w 151536"/>
              <a:gd name="connsiteY0" fmla="*/ 65483 h 151536"/>
              <a:gd name="connsiteX1" fmla="*/ 86053 w 151536"/>
              <a:gd name="connsiteY1" fmla="*/ 65483 h 151536"/>
              <a:gd name="connsiteX2" fmla="*/ 86053 w 151536"/>
              <a:gd name="connsiteY2" fmla="*/ 10285 h 151536"/>
              <a:gd name="connsiteX3" fmla="*/ 75768 w 151536"/>
              <a:gd name="connsiteY3" fmla="*/ 0 h 151536"/>
              <a:gd name="connsiteX4" fmla="*/ 65483 w 151536"/>
              <a:gd name="connsiteY4" fmla="*/ 10285 h 151536"/>
              <a:gd name="connsiteX5" fmla="*/ 65483 w 151536"/>
              <a:gd name="connsiteY5" fmla="*/ 65483 h 151536"/>
              <a:gd name="connsiteX6" fmla="*/ 10285 w 151536"/>
              <a:gd name="connsiteY6" fmla="*/ 65483 h 151536"/>
              <a:gd name="connsiteX7" fmla="*/ 0 w 151536"/>
              <a:gd name="connsiteY7" fmla="*/ 75768 h 151536"/>
              <a:gd name="connsiteX8" fmla="*/ 10285 w 151536"/>
              <a:gd name="connsiteY8" fmla="*/ 86053 h 151536"/>
              <a:gd name="connsiteX9" fmla="*/ 65483 w 151536"/>
              <a:gd name="connsiteY9" fmla="*/ 86053 h 151536"/>
              <a:gd name="connsiteX10" fmla="*/ 65483 w 151536"/>
              <a:gd name="connsiteY10" fmla="*/ 141251 h 151536"/>
              <a:gd name="connsiteX11" fmla="*/ 75768 w 151536"/>
              <a:gd name="connsiteY11" fmla="*/ 151536 h 151536"/>
              <a:gd name="connsiteX12" fmla="*/ 86053 w 151536"/>
              <a:gd name="connsiteY12" fmla="*/ 141251 h 151536"/>
              <a:gd name="connsiteX13" fmla="*/ 86053 w 151536"/>
              <a:gd name="connsiteY13" fmla="*/ 86053 h 151536"/>
              <a:gd name="connsiteX14" fmla="*/ 141251 w 151536"/>
              <a:gd name="connsiteY14" fmla="*/ 86053 h 151536"/>
              <a:gd name="connsiteX15" fmla="*/ 151536 w 151536"/>
              <a:gd name="connsiteY15" fmla="*/ 75768 h 151536"/>
              <a:gd name="connsiteX16" fmla="*/ 141251 w 151536"/>
              <a:gd name="connsiteY16" fmla="*/ 65483 h 15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536" h="151536">
                <a:moveTo>
                  <a:pt x="141251" y="65483"/>
                </a:moveTo>
                <a:lnTo>
                  <a:pt x="86053" y="65483"/>
                </a:lnTo>
                <a:lnTo>
                  <a:pt x="86053" y="10285"/>
                </a:lnTo>
                <a:cubicBezTo>
                  <a:pt x="86053" y="4605"/>
                  <a:pt x="81448" y="0"/>
                  <a:pt x="75768" y="0"/>
                </a:cubicBezTo>
                <a:cubicBezTo>
                  <a:pt x="70088" y="0"/>
                  <a:pt x="65483" y="4605"/>
                  <a:pt x="65483" y="10285"/>
                </a:cubicBezTo>
                <a:lnTo>
                  <a:pt x="65483" y="65483"/>
                </a:lnTo>
                <a:lnTo>
                  <a:pt x="10285" y="65483"/>
                </a:lnTo>
                <a:cubicBezTo>
                  <a:pt x="4605" y="65483"/>
                  <a:pt x="0" y="70088"/>
                  <a:pt x="0" y="75768"/>
                </a:cubicBezTo>
                <a:cubicBezTo>
                  <a:pt x="0" y="81448"/>
                  <a:pt x="4605" y="86053"/>
                  <a:pt x="10285" y="86053"/>
                </a:cubicBezTo>
                <a:lnTo>
                  <a:pt x="65483" y="86053"/>
                </a:lnTo>
                <a:lnTo>
                  <a:pt x="65483" y="141251"/>
                </a:lnTo>
                <a:cubicBezTo>
                  <a:pt x="65483" y="146931"/>
                  <a:pt x="70088" y="151536"/>
                  <a:pt x="75768" y="151536"/>
                </a:cubicBezTo>
                <a:cubicBezTo>
                  <a:pt x="81448" y="151536"/>
                  <a:pt x="86053" y="146931"/>
                  <a:pt x="86053" y="141251"/>
                </a:cubicBezTo>
                <a:lnTo>
                  <a:pt x="86053" y="86053"/>
                </a:lnTo>
                <a:lnTo>
                  <a:pt x="141251" y="86053"/>
                </a:lnTo>
                <a:cubicBezTo>
                  <a:pt x="146931" y="86053"/>
                  <a:pt x="151536" y="81448"/>
                  <a:pt x="151536" y="75768"/>
                </a:cubicBezTo>
                <a:cubicBezTo>
                  <a:pt x="151536" y="70088"/>
                  <a:pt x="146931" y="65483"/>
                  <a:pt x="141251" y="65483"/>
                </a:cubicBezTo>
                <a:close/>
              </a:path>
            </a:pathLst>
          </a:custGeom>
          <a:solidFill>
            <a:srgbClr val="FFFFFF"/>
          </a:solidFill>
          <a:ln w="64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3" name="Graphic 13">
            <a:extLst>
              <a:ext uri="{FF2B5EF4-FFF2-40B4-BE49-F238E27FC236}">
                <a16:creationId xmlns:a16="http://schemas.microsoft.com/office/drawing/2014/main" id="{91DD27C4-FD7B-A941-6E32-71962BE13E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724364" y="2265467"/>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5" name="Graphic 15">
            <a:extLst>
              <a:ext uri="{FF2B5EF4-FFF2-40B4-BE49-F238E27FC236}">
                <a16:creationId xmlns:a16="http://schemas.microsoft.com/office/drawing/2014/main" id="{24CD9AC8-6B4D-DA30-B3AC-9C5E5EEA4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24834" y="2537201"/>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7" name="Graphic 21">
            <a:extLst>
              <a:ext uri="{FF2B5EF4-FFF2-40B4-BE49-F238E27FC236}">
                <a16:creationId xmlns:a16="http://schemas.microsoft.com/office/drawing/2014/main" id="{0C47EF4D-6880-DC75-D010-E37ABDE597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4053" y="2832967"/>
            <a:ext cx="95759" cy="95759"/>
          </a:xfrm>
          <a:custGeom>
            <a:avLst/>
            <a:gdLst>
              <a:gd name="connsiteX0" fmla="*/ 95759 w 95759"/>
              <a:gd name="connsiteY0" fmla="*/ 47880 h 95759"/>
              <a:gd name="connsiteX1" fmla="*/ 47880 w 95759"/>
              <a:gd name="connsiteY1" fmla="*/ 95759 h 95759"/>
              <a:gd name="connsiteX2" fmla="*/ 0 w 95759"/>
              <a:gd name="connsiteY2" fmla="*/ 47880 h 95759"/>
              <a:gd name="connsiteX3" fmla="*/ 47880 w 95759"/>
              <a:gd name="connsiteY3" fmla="*/ 0 h 95759"/>
              <a:gd name="connsiteX4" fmla="*/ 95759 w 95759"/>
              <a:gd name="connsiteY4" fmla="*/ 47880 h 95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59" h="95759">
                <a:moveTo>
                  <a:pt x="95759" y="47880"/>
                </a:moveTo>
                <a:cubicBezTo>
                  <a:pt x="95759" y="74323"/>
                  <a:pt x="74323" y="95759"/>
                  <a:pt x="47880" y="95759"/>
                </a:cubicBezTo>
                <a:cubicBezTo>
                  <a:pt x="21436" y="95759"/>
                  <a:pt x="0" y="74323"/>
                  <a:pt x="0" y="47880"/>
                </a:cubicBezTo>
                <a:cubicBezTo>
                  <a:pt x="0" y="21436"/>
                  <a:pt x="21436" y="0"/>
                  <a:pt x="47880" y="0"/>
                </a:cubicBezTo>
                <a:cubicBezTo>
                  <a:pt x="74323" y="0"/>
                  <a:pt x="95759" y="21436"/>
                  <a:pt x="95759" y="47880"/>
                </a:cubicBezTo>
                <a:close/>
              </a:path>
            </a:pathLst>
          </a:custGeom>
          <a:solidFill>
            <a:srgbClr val="FFFFFF"/>
          </a:solidFill>
          <a:ln w="46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9" name="Graphic 12">
            <a:extLst>
              <a:ext uri="{FF2B5EF4-FFF2-40B4-BE49-F238E27FC236}">
                <a16:creationId xmlns:a16="http://schemas.microsoft.com/office/drawing/2014/main" id="{0F743728-76A5-97C5-DFDA-A4F3C9B9C9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772266" y="2803988"/>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1" name="Graphic 23">
            <a:extLst>
              <a:ext uri="{FF2B5EF4-FFF2-40B4-BE49-F238E27FC236}">
                <a16:creationId xmlns:a16="http://schemas.microsoft.com/office/drawing/2014/main" id="{076E9499-6D8D-7C96-7418-174DFECFEB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13405" y="3242499"/>
            <a:ext cx="108625" cy="108625"/>
          </a:xfrm>
          <a:custGeom>
            <a:avLst/>
            <a:gdLst>
              <a:gd name="connsiteX0" fmla="*/ 54313 w 108625"/>
              <a:gd name="connsiteY0" fmla="*/ 16053 h 108625"/>
              <a:gd name="connsiteX1" fmla="*/ 92572 w 108625"/>
              <a:gd name="connsiteY1" fmla="*/ 54313 h 108625"/>
              <a:gd name="connsiteX2" fmla="*/ 54313 w 108625"/>
              <a:gd name="connsiteY2" fmla="*/ 92572 h 108625"/>
              <a:gd name="connsiteX3" fmla="*/ 16053 w 108625"/>
              <a:gd name="connsiteY3" fmla="*/ 54313 h 108625"/>
              <a:gd name="connsiteX4" fmla="*/ 54313 w 108625"/>
              <a:gd name="connsiteY4" fmla="*/ 16053 h 108625"/>
              <a:gd name="connsiteX5" fmla="*/ 54313 w 108625"/>
              <a:gd name="connsiteY5" fmla="*/ 0 h 108625"/>
              <a:gd name="connsiteX6" fmla="*/ 0 w 108625"/>
              <a:gd name="connsiteY6" fmla="*/ 54313 h 108625"/>
              <a:gd name="connsiteX7" fmla="*/ 54313 w 108625"/>
              <a:gd name="connsiteY7" fmla="*/ 108625 h 108625"/>
              <a:gd name="connsiteX8" fmla="*/ 108625 w 108625"/>
              <a:gd name="connsiteY8" fmla="*/ 54313 h 108625"/>
              <a:gd name="connsiteX9" fmla="*/ 54313 w 108625"/>
              <a:gd name="connsiteY9" fmla="*/ 0 h 10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625" h="108625">
                <a:moveTo>
                  <a:pt x="54313" y="16053"/>
                </a:moveTo>
                <a:cubicBezTo>
                  <a:pt x="75442" y="16053"/>
                  <a:pt x="92572" y="33182"/>
                  <a:pt x="92572" y="54313"/>
                </a:cubicBezTo>
                <a:cubicBezTo>
                  <a:pt x="92572" y="75442"/>
                  <a:pt x="75442" y="92572"/>
                  <a:pt x="54313" y="92572"/>
                </a:cubicBezTo>
                <a:cubicBezTo>
                  <a:pt x="33182" y="92572"/>
                  <a:pt x="16053" y="75442"/>
                  <a:pt x="16053" y="54313"/>
                </a:cubicBezTo>
                <a:cubicBezTo>
                  <a:pt x="16074" y="33191"/>
                  <a:pt x="33191" y="16074"/>
                  <a:pt x="54313" y="16053"/>
                </a:cubicBezTo>
                <a:moveTo>
                  <a:pt x="54313" y="0"/>
                </a:moveTo>
                <a:cubicBezTo>
                  <a:pt x="24317" y="0"/>
                  <a:pt x="0" y="24317"/>
                  <a:pt x="0" y="54313"/>
                </a:cubicBezTo>
                <a:cubicBezTo>
                  <a:pt x="0" y="84309"/>
                  <a:pt x="24317" y="108625"/>
                  <a:pt x="54313" y="108625"/>
                </a:cubicBezTo>
                <a:cubicBezTo>
                  <a:pt x="84309" y="108625"/>
                  <a:pt x="108625" y="84309"/>
                  <a:pt x="108625" y="54313"/>
                </a:cubicBezTo>
                <a:cubicBezTo>
                  <a:pt x="108625" y="24317"/>
                  <a:pt x="84309" y="0"/>
                  <a:pt x="54313" y="0"/>
                </a:cubicBezTo>
                <a:close/>
              </a:path>
            </a:pathLst>
          </a:custGeom>
          <a:solidFill>
            <a:srgbClr val="FFFFFF"/>
          </a:solidFill>
          <a:ln w="5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cxnSp>
        <p:nvCxnSpPr>
          <p:cNvPr id="23" name="Straight Connector 22">
            <a:extLst>
              <a:ext uri="{FF2B5EF4-FFF2-40B4-BE49-F238E27FC236}">
                <a16:creationId xmlns:a16="http://schemas.microsoft.com/office/drawing/2014/main" id="{03A9D4D8-2154-0B3B-13B8-8AD4226064B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5831729"/>
            <a:ext cx="12188952" cy="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
        <p:nvSpPr>
          <p:cNvPr id="4" name="Slide Number Placeholder 3">
            <a:extLst>
              <a:ext uri="{FF2B5EF4-FFF2-40B4-BE49-F238E27FC236}">
                <a16:creationId xmlns:a16="http://schemas.microsoft.com/office/drawing/2014/main" id="{D5836CA1-60C7-A084-683D-056BFB9D0F87}"/>
              </a:ext>
            </a:extLst>
          </p:cNvPr>
          <p:cNvSpPr>
            <a:spLocks noGrp="1"/>
          </p:cNvSpPr>
          <p:nvPr>
            <p:ph type="sldNum" sz="quarter" idx="12"/>
          </p:nvPr>
        </p:nvSpPr>
        <p:spPr>
          <a:xfrm>
            <a:off x="8610600" y="6133916"/>
            <a:ext cx="2743200" cy="365125"/>
          </a:xfrm>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1ED87AFC-F3F3-4E09-A9D9-1873FFB55ECB}" type="slidenum">
              <a:rPr kumimoji="0" lang="en-US" sz="1200" b="1" i="0" u="none" strike="noStrike" kern="1200" cap="none" spc="0" normalizeH="0" baseline="0" noProof="0">
                <a:ln>
                  <a:noFill/>
                </a:ln>
                <a:solidFill>
                  <a:srgbClr val="FFFFFF"/>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11</a:t>
            </a:fld>
            <a:endParaRPr kumimoji="0" lang="en-US" sz="1200" b="1" i="0" u="none" strike="noStrike" kern="1200" cap="none" spc="0" normalizeH="0" baseline="0" noProof="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538830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6FFC44C-3512-FEE8-82BC-EAC7BCFF79F8}"/>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A64964AB-50B2-7064-105F-406103324B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E7528DD-E547-6184-88A9-6C39A064EE90}"/>
              </a:ext>
            </a:extLst>
          </p:cNvPr>
          <p:cNvSpPr>
            <a:spLocks noGrp="1"/>
          </p:cNvSpPr>
          <p:nvPr>
            <p:ph type="title"/>
          </p:nvPr>
        </p:nvSpPr>
        <p:spPr>
          <a:xfrm>
            <a:off x="838200" y="365125"/>
            <a:ext cx="10515600" cy="1325563"/>
          </a:xfrm>
        </p:spPr>
        <p:txBody>
          <a:bodyPr>
            <a:normAutofit/>
          </a:bodyPr>
          <a:lstStyle/>
          <a:p>
            <a:r>
              <a:rPr lang="en-GB" sz="5400" b="1" dirty="0"/>
              <a:t>Temperature Sensor – LMT86</a:t>
            </a:r>
          </a:p>
        </p:txBody>
      </p:sp>
      <p:sp>
        <p:nvSpPr>
          <p:cNvPr id="13" name="sketch line">
            <a:extLst>
              <a:ext uri="{FF2B5EF4-FFF2-40B4-BE49-F238E27FC236}">
                <a16:creationId xmlns:a16="http://schemas.microsoft.com/office/drawing/2014/main" id="{53DE60A6-F35D-69B5-A142-8BE74C148D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Content Placeholder 5">
            <a:extLst>
              <a:ext uri="{FF2B5EF4-FFF2-40B4-BE49-F238E27FC236}">
                <a16:creationId xmlns:a16="http://schemas.microsoft.com/office/drawing/2014/main" id="{DDE363E2-D1A9-0CB5-754D-E279F0DA3FBD}"/>
              </a:ext>
            </a:extLst>
          </p:cNvPr>
          <p:cNvSpPr>
            <a:spLocks noGrp="1"/>
          </p:cNvSpPr>
          <p:nvPr>
            <p:ph idx="1"/>
          </p:nvPr>
        </p:nvSpPr>
        <p:spPr>
          <a:xfrm>
            <a:off x="838200" y="1929384"/>
            <a:ext cx="10515600" cy="4251960"/>
          </a:xfrm>
        </p:spPr>
        <p:txBody>
          <a:bodyPr>
            <a:normAutofit/>
          </a:bodyPr>
          <a:lstStyle/>
          <a:p>
            <a:r>
              <a:rPr lang="en-GB" b="0" dirty="0"/>
              <a:t>Accurate - ±0.4°C but maximum ±2.7°C </a:t>
            </a:r>
          </a:p>
          <a:p>
            <a:r>
              <a:rPr lang="en-GB" dirty="0"/>
              <a:t>Gain -10.9mv/</a:t>
            </a:r>
            <a:r>
              <a:rPr lang="en-GB" b="0" dirty="0"/>
              <a:t>°</a:t>
            </a:r>
            <a:r>
              <a:rPr lang="en-GB" dirty="0"/>
              <a:t>C</a:t>
            </a:r>
          </a:p>
          <a:p>
            <a:r>
              <a:rPr lang="en-GB" b="0" dirty="0"/>
              <a:t>Range -50°C to 150°</a:t>
            </a:r>
            <a:r>
              <a:rPr lang="en-GB" dirty="0"/>
              <a:t>C</a:t>
            </a:r>
          </a:p>
          <a:p>
            <a:r>
              <a:rPr lang="en-GB" dirty="0"/>
              <a:t>Thermal time constant 10s (1.2m/s airflow)</a:t>
            </a:r>
          </a:p>
          <a:p>
            <a:r>
              <a:rPr lang="en-GB" b="0" dirty="0"/>
              <a:t>Various other but these are the important parameters for us</a:t>
            </a:r>
          </a:p>
          <a:p>
            <a:r>
              <a:rPr lang="en-GB" dirty="0"/>
              <a:t>So what does this mean?</a:t>
            </a:r>
            <a:endParaRPr lang="en-GB" b="0" dirty="0"/>
          </a:p>
          <a:p>
            <a:endParaRPr lang="en-GB" b="0" dirty="0"/>
          </a:p>
          <a:p>
            <a:endParaRPr lang="en-GB" b="0" dirty="0"/>
          </a:p>
          <a:p>
            <a:endParaRPr lang="en-GB" sz="1800" dirty="0"/>
          </a:p>
          <a:p>
            <a:endParaRPr lang="en-GB" sz="2200" dirty="0"/>
          </a:p>
          <a:p>
            <a:endParaRPr lang="en-GB" sz="2200" dirty="0"/>
          </a:p>
          <a:p>
            <a:endParaRPr lang="en-GB" sz="2200" dirty="0"/>
          </a:p>
          <a:p>
            <a:pPr lvl="1"/>
            <a:endParaRPr lang="en-GB" sz="1800" dirty="0"/>
          </a:p>
          <a:p>
            <a:endParaRPr lang="en-GB" sz="2200" dirty="0"/>
          </a:p>
        </p:txBody>
      </p:sp>
      <p:sp>
        <p:nvSpPr>
          <p:cNvPr id="4" name="Slide Number Placeholder 3">
            <a:extLst>
              <a:ext uri="{FF2B5EF4-FFF2-40B4-BE49-F238E27FC236}">
                <a16:creationId xmlns:a16="http://schemas.microsoft.com/office/drawing/2014/main" id="{9D19DE56-3219-4305-7F81-52A19888BB2B}"/>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90000"/>
              </a:lnSpc>
              <a:spcBef>
                <a:spcPts val="0"/>
              </a:spcBef>
              <a:spcAft>
                <a:spcPts val="600"/>
              </a:spcAft>
              <a:buClrTx/>
              <a:buSzTx/>
              <a:buFontTx/>
              <a:buNone/>
              <a:tabLst/>
              <a:defRPr/>
            </a:pPr>
            <a:fld id="{1ED87AFC-F3F3-4E09-A9D9-1873FFB55ECB}" type="slidenum">
              <a:rPr kumimoji="0" lang="en-GB" sz="19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90000"/>
                </a:lnSpc>
                <a:spcBef>
                  <a:spcPts val="0"/>
                </a:spcBef>
                <a:spcAft>
                  <a:spcPts val="600"/>
                </a:spcAft>
                <a:buClrTx/>
                <a:buSzTx/>
                <a:buFontTx/>
                <a:buNone/>
                <a:tabLst/>
                <a:defRPr/>
              </a:pPr>
              <a:t>12</a:t>
            </a:fld>
            <a:endParaRPr kumimoji="0" lang="en-GB" sz="19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646693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6AD7029-3C1A-D294-5D81-45DCCFD87EE0}"/>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49639B77-62EE-CA25-95BC-21E9BED598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2A3371A-DB6F-BBCC-675E-CE684485F90D}"/>
              </a:ext>
            </a:extLst>
          </p:cNvPr>
          <p:cNvSpPr>
            <a:spLocks noGrp="1"/>
          </p:cNvSpPr>
          <p:nvPr>
            <p:ph type="title"/>
          </p:nvPr>
        </p:nvSpPr>
        <p:spPr>
          <a:xfrm>
            <a:off x="838200" y="365125"/>
            <a:ext cx="10515600" cy="1325563"/>
          </a:xfrm>
        </p:spPr>
        <p:txBody>
          <a:bodyPr>
            <a:normAutofit/>
          </a:bodyPr>
          <a:lstStyle/>
          <a:p>
            <a:r>
              <a:rPr lang="en-GB" sz="5400" b="1" dirty="0"/>
              <a:t>Temperature Sensor – LMT86</a:t>
            </a:r>
          </a:p>
        </p:txBody>
      </p:sp>
      <p:sp>
        <p:nvSpPr>
          <p:cNvPr id="13" name="sketch line">
            <a:extLst>
              <a:ext uri="{FF2B5EF4-FFF2-40B4-BE49-F238E27FC236}">
                <a16:creationId xmlns:a16="http://schemas.microsoft.com/office/drawing/2014/main" id="{B6A3C895-97B9-663E-42DE-3366397503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Content Placeholder 5">
            <a:extLst>
              <a:ext uri="{FF2B5EF4-FFF2-40B4-BE49-F238E27FC236}">
                <a16:creationId xmlns:a16="http://schemas.microsoft.com/office/drawing/2014/main" id="{6A9ADA77-6471-331E-3520-6CEC1A29C796}"/>
              </a:ext>
            </a:extLst>
          </p:cNvPr>
          <p:cNvSpPr>
            <a:spLocks noGrp="1"/>
          </p:cNvSpPr>
          <p:nvPr>
            <p:ph idx="1"/>
          </p:nvPr>
        </p:nvSpPr>
        <p:spPr>
          <a:xfrm>
            <a:off x="838200" y="1929384"/>
            <a:ext cx="10515600" cy="4251960"/>
          </a:xfrm>
        </p:spPr>
        <p:txBody>
          <a:bodyPr>
            <a:normAutofit/>
          </a:bodyPr>
          <a:lstStyle/>
          <a:p>
            <a:endParaRPr lang="en-GB" b="0" dirty="0"/>
          </a:p>
          <a:p>
            <a:endParaRPr lang="en-GB" b="0" dirty="0"/>
          </a:p>
          <a:p>
            <a:endParaRPr lang="en-GB" sz="1800" dirty="0"/>
          </a:p>
          <a:p>
            <a:endParaRPr lang="en-GB" sz="2200" dirty="0"/>
          </a:p>
          <a:p>
            <a:endParaRPr lang="en-GB" sz="2200" dirty="0"/>
          </a:p>
          <a:p>
            <a:endParaRPr lang="en-GB" sz="2200" dirty="0"/>
          </a:p>
          <a:p>
            <a:pPr lvl="1"/>
            <a:endParaRPr lang="en-GB" sz="1800" dirty="0"/>
          </a:p>
          <a:p>
            <a:endParaRPr lang="en-GB" sz="2200" dirty="0"/>
          </a:p>
        </p:txBody>
      </p:sp>
      <p:sp>
        <p:nvSpPr>
          <p:cNvPr id="4" name="Slide Number Placeholder 3">
            <a:extLst>
              <a:ext uri="{FF2B5EF4-FFF2-40B4-BE49-F238E27FC236}">
                <a16:creationId xmlns:a16="http://schemas.microsoft.com/office/drawing/2014/main" id="{28039524-B031-8E2E-44BC-C682FC8C7F0F}"/>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90000"/>
              </a:lnSpc>
              <a:spcBef>
                <a:spcPts val="0"/>
              </a:spcBef>
              <a:spcAft>
                <a:spcPts val="600"/>
              </a:spcAft>
              <a:buClrTx/>
              <a:buSzTx/>
              <a:buFontTx/>
              <a:buNone/>
              <a:tabLst/>
              <a:defRPr/>
            </a:pPr>
            <a:fld id="{1ED87AFC-F3F3-4E09-A9D9-1873FFB55ECB}" type="slidenum">
              <a:rPr kumimoji="0" lang="en-GB" sz="19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90000"/>
                </a:lnSpc>
                <a:spcBef>
                  <a:spcPts val="0"/>
                </a:spcBef>
                <a:spcAft>
                  <a:spcPts val="600"/>
                </a:spcAft>
                <a:buClrTx/>
                <a:buSzTx/>
                <a:buFontTx/>
                <a:buNone/>
                <a:tabLst/>
                <a:defRPr/>
              </a:pPr>
              <a:t>13</a:t>
            </a:fld>
            <a:endParaRPr kumimoji="0" lang="en-GB" sz="19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aphicFrame>
        <p:nvGraphicFramePr>
          <p:cNvPr id="5" name="Chart 4">
            <a:extLst>
              <a:ext uri="{FF2B5EF4-FFF2-40B4-BE49-F238E27FC236}">
                <a16:creationId xmlns:a16="http://schemas.microsoft.com/office/drawing/2014/main" id="{AE1C6596-E979-22C8-4D6D-EF7502E447FA}"/>
              </a:ext>
            </a:extLst>
          </p:cNvPr>
          <p:cNvGraphicFramePr>
            <a:graphicFrameLocks/>
          </p:cNvGraphicFramePr>
          <p:nvPr/>
        </p:nvGraphicFramePr>
        <p:xfrm>
          <a:off x="2078497" y="1677373"/>
          <a:ext cx="8031957" cy="499153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7924948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19D24F8-80AF-96DC-E4DA-C7A529F9AB18}"/>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0E02B04-56F0-FDBE-9AEC-A87778D31A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72E8EF9-1198-740E-97A1-9DEFB444FF14}"/>
              </a:ext>
            </a:extLst>
          </p:cNvPr>
          <p:cNvSpPr>
            <a:spLocks noGrp="1"/>
          </p:cNvSpPr>
          <p:nvPr>
            <p:ph type="title"/>
          </p:nvPr>
        </p:nvSpPr>
        <p:spPr>
          <a:xfrm>
            <a:off x="838200" y="365125"/>
            <a:ext cx="10515600" cy="1325563"/>
          </a:xfrm>
        </p:spPr>
        <p:txBody>
          <a:bodyPr>
            <a:normAutofit/>
          </a:bodyPr>
          <a:lstStyle/>
          <a:p>
            <a:r>
              <a:rPr lang="en-GB" sz="5400" b="1" dirty="0"/>
              <a:t>Temperature Sensor – LMT86</a:t>
            </a:r>
          </a:p>
        </p:txBody>
      </p:sp>
      <p:sp>
        <p:nvSpPr>
          <p:cNvPr id="13" name="sketch line">
            <a:extLst>
              <a:ext uri="{FF2B5EF4-FFF2-40B4-BE49-F238E27FC236}">
                <a16:creationId xmlns:a16="http://schemas.microsoft.com/office/drawing/2014/main" id="{D38BE4D4-A35E-A15E-4F48-6A3205412C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Content Placeholder 5">
            <a:extLst>
              <a:ext uri="{FF2B5EF4-FFF2-40B4-BE49-F238E27FC236}">
                <a16:creationId xmlns:a16="http://schemas.microsoft.com/office/drawing/2014/main" id="{FD978FEC-B655-7064-08D4-F7E1D839D11D}"/>
              </a:ext>
            </a:extLst>
          </p:cNvPr>
          <p:cNvSpPr>
            <a:spLocks noGrp="1"/>
          </p:cNvSpPr>
          <p:nvPr>
            <p:ph idx="1"/>
          </p:nvPr>
        </p:nvSpPr>
        <p:spPr>
          <a:xfrm>
            <a:off x="838200" y="1929384"/>
            <a:ext cx="10515600" cy="4251960"/>
          </a:xfrm>
        </p:spPr>
        <p:txBody>
          <a:bodyPr>
            <a:normAutofit/>
          </a:bodyPr>
          <a:lstStyle/>
          <a:p>
            <a:endParaRPr lang="en-GB" b="0" dirty="0"/>
          </a:p>
          <a:p>
            <a:endParaRPr lang="en-GB" b="0" dirty="0"/>
          </a:p>
          <a:p>
            <a:endParaRPr lang="en-GB" sz="1800" dirty="0"/>
          </a:p>
          <a:p>
            <a:endParaRPr lang="en-GB" sz="2200" dirty="0"/>
          </a:p>
          <a:p>
            <a:endParaRPr lang="en-GB" sz="2200" dirty="0"/>
          </a:p>
          <a:p>
            <a:endParaRPr lang="en-GB" sz="2200" dirty="0"/>
          </a:p>
          <a:p>
            <a:pPr lvl="1"/>
            <a:endParaRPr lang="en-GB" sz="1800" dirty="0"/>
          </a:p>
          <a:p>
            <a:endParaRPr lang="en-GB" sz="2200" dirty="0"/>
          </a:p>
        </p:txBody>
      </p:sp>
      <p:sp>
        <p:nvSpPr>
          <p:cNvPr id="4" name="Slide Number Placeholder 3">
            <a:extLst>
              <a:ext uri="{FF2B5EF4-FFF2-40B4-BE49-F238E27FC236}">
                <a16:creationId xmlns:a16="http://schemas.microsoft.com/office/drawing/2014/main" id="{BD80F575-5779-C1C2-06DB-D64DDA8D1622}"/>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90000"/>
              </a:lnSpc>
              <a:spcBef>
                <a:spcPts val="0"/>
              </a:spcBef>
              <a:spcAft>
                <a:spcPts val="600"/>
              </a:spcAft>
              <a:buClrTx/>
              <a:buSzTx/>
              <a:buFontTx/>
              <a:buNone/>
              <a:tabLst/>
              <a:defRPr/>
            </a:pPr>
            <a:fld id="{1ED87AFC-F3F3-4E09-A9D9-1873FFB55ECB}" type="slidenum">
              <a:rPr kumimoji="0" lang="en-GB" sz="19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90000"/>
                </a:lnSpc>
                <a:spcBef>
                  <a:spcPts val="0"/>
                </a:spcBef>
                <a:spcAft>
                  <a:spcPts val="600"/>
                </a:spcAft>
                <a:buClrTx/>
                <a:buSzTx/>
                <a:buFontTx/>
                <a:buNone/>
                <a:tabLst/>
                <a:defRPr/>
              </a:pPr>
              <a:t>14</a:t>
            </a:fld>
            <a:endParaRPr kumimoji="0" lang="en-GB" sz="19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aphicFrame>
        <p:nvGraphicFramePr>
          <p:cNvPr id="3" name="Chart 2">
            <a:extLst>
              <a:ext uri="{FF2B5EF4-FFF2-40B4-BE49-F238E27FC236}">
                <a16:creationId xmlns:a16="http://schemas.microsoft.com/office/drawing/2014/main" id="{5D9B5DA2-8948-CAC9-BC2D-E0DDB304AF82}"/>
              </a:ext>
            </a:extLst>
          </p:cNvPr>
          <p:cNvGraphicFramePr>
            <a:graphicFrameLocks/>
          </p:cNvGraphicFramePr>
          <p:nvPr/>
        </p:nvGraphicFramePr>
        <p:xfrm>
          <a:off x="2576460" y="1677373"/>
          <a:ext cx="7036031" cy="497683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5274357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799BF46-80E0-0847-286A-4901420A0514}"/>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556C6DFD-1F0E-9E02-D9F3-385CAE8001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0356C8E-D4B0-FCFE-730B-0CCE5352A5D0}"/>
              </a:ext>
            </a:extLst>
          </p:cNvPr>
          <p:cNvSpPr>
            <a:spLocks noGrp="1"/>
          </p:cNvSpPr>
          <p:nvPr>
            <p:ph type="title"/>
          </p:nvPr>
        </p:nvSpPr>
        <p:spPr>
          <a:xfrm>
            <a:off x="838200" y="365125"/>
            <a:ext cx="10515600" cy="1325563"/>
          </a:xfrm>
        </p:spPr>
        <p:txBody>
          <a:bodyPr>
            <a:normAutofit/>
          </a:bodyPr>
          <a:lstStyle/>
          <a:p>
            <a:r>
              <a:rPr lang="en-GB" sz="5400" b="1" dirty="0"/>
              <a:t>Temperature Sensor – LMT86</a:t>
            </a:r>
          </a:p>
        </p:txBody>
      </p:sp>
      <p:sp>
        <p:nvSpPr>
          <p:cNvPr id="13" name="sketch line">
            <a:extLst>
              <a:ext uri="{FF2B5EF4-FFF2-40B4-BE49-F238E27FC236}">
                <a16:creationId xmlns:a16="http://schemas.microsoft.com/office/drawing/2014/main" id="{ADCAE45E-AE22-4790-C8ED-BC1118D0E1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Slide Number Placeholder 3">
            <a:extLst>
              <a:ext uri="{FF2B5EF4-FFF2-40B4-BE49-F238E27FC236}">
                <a16:creationId xmlns:a16="http://schemas.microsoft.com/office/drawing/2014/main" id="{FD7A0D5C-4603-07A9-BE2C-415D9FAE5C9C}"/>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90000"/>
              </a:lnSpc>
              <a:spcBef>
                <a:spcPts val="0"/>
              </a:spcBef>
              <a:spcAft>
                <a:spcPts val="600"/>
              </a:spcAft>
              <a:buClrTx/>
              <a:buSzTx/>
              <a:buFontTx/>
              <a:buNone/>
              <a:tabLst/>
              <a:defRPr/>
            </a:pPr>
            <a:fld id="{1ED87AFC-F3F3-4E09-A9D9-1873FFB55ECB}" type="slidenum">
              <a:rPr kumimoji="0" lang="en-GB" sz="19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90000"/>
                </a:lnSpc>
                <a:spcBef>
                  <a:spcPts val="0"/>
                </a:spcBef>
                <a:spcAft>
                  <a:spcPts val="600"/>
                </a:spcAft>
                <a:buClrTx/>
                <a:buSzTx/>
                <a:buFontTx/>
                <a:buNone/>
                <a:tabLst/>
                <a:defRPr/>
              </a:pPr>
              <a:t>15</a:t>
            </a:fld>
            <a:endParaRPr kumimoji="0" lang="en-GB" sz="19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aphicFrame>
        <p:nvGraphicFramePr>
          <p:cNvPr id="7" name="Content Placeholder 6">
            <a:extLst>
              <a:ext uri="{FF2B5EF4-FFF2-40B4-BE49-F238E27FC236}">
                <a16:creationId xmlns:a16="http://schemas.microsoft.com/office/drawing/2014/main" id="{00C94E56-AD8C-722F-194D-E647B05DB08D}"/>
              </a:ext>
            </a:extLst>
          </p:cNvPr>
          <p:cNvGraphicFramePr>
            <a:graphicFrameLocks noGrp="1"/>
          </p:cNvGraphicFramePr>
          <p:nvPr>
            <p:ph idx="1"/>
          </p:nvPr>
        </p:nvGraphicFramePr>
        <p:xfrm>
          <a:off x="838200" y="1825625"/>
          <a:ext cx="10515600" cy="435133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2689082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9B9BC48-339D-E8D7-FFBA-052F62AAE003}"/>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8FB3F5E-A34B-5168-97E9-832A299BA8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5E22F8F-5244-80C0-1156-E84B63745C38}"/>
              </a:ext>
            </a:extLst>
          </p:cNvPr>
          <p:cNvSpPr>
            <a:spLocks noGrp="1"/>
          </p:cNvSpPr>
          <p:nvPr>
            <p:ph type="title"/>
          </p:nvPr>
        </p:nvSpPr>
        <p:spPr>
          <a:xfrm>
            <a:off x="838200" y="365125"/>
            <a:ext cx="10515600" cy="1325563"/>
          </a:xfrm>
        </p:spPr>
        <p:txBody>
          <a:bodyPr>
            <a:normAutofit/>
          </a:bodyPr>
          <a:lstStyle/>
          <a:p>
            <a:r>
              <a:rPr lang="en-GB" sz="5400" b="1" dirty="0"/>
              <a:t>Temperature Sensor – LMT86</a:t>
            </a:r>
          </a:p>
        </p:txBody>
      </p:sp>
      <p:sp>
        <p:nvSpPr>
          <p:cNvPr id="13" name="sketch line">
            <a:extLst>
              <a:ext uri="{FF2B5EF4-FFF2-40B4-BE49-F238E27FC236}">
                <a16:creationId xmlns:a16="http://schemas.microsoft.com/office/drawing/2014/main" id="{7EDF5C31-24DE-8A4B-D4EC-F89CBBC07E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Slide Number Placeholder 3">
            <a:extLst>
              <a:ext uri="{FF2B5EF4-FFF2-40B4-BE49-F238E27FC236}">
                <a16:creationId xmlns:a16="http://schemas.microsoft.com/office/drawing/2014/main" id="{21FF615B-1EC9-F313-3A9F-CBD2FD47AAB9}"/>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90000"/>
              </a:lnSpc>
              <a:spcBef>
                <a:spcPts val="0"/>
              </a:spcBef>
              <a:spcAft>
                <a:spcPts val="600"/>
              </a:spcAft>
              <a:buClrTx/>
              <a:buSzTx/>
              <a:buFontTx/>
              <a:buNone/>
              <a:tabLst/>
              <a:defRPr/>
            </a:pPr>
            <a:fld id="{1ED87AFC-F3F3-4E09-A9D9-1873FFB55ECB}" type="slidenum">
              <a:rPr kumimoji="0" lang="en-GB" sz="19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90000"/>
                </a:lnSpc>
                <a:spcBef>
                  <a:spcPts val="0"/>
                </a:spcBef>
                <a:spcAft>
                  <a:spcPts val="600"/>
                </a:spcAft>
                <a:buClrTx/>
                <a:buSzTx/>
                <a:buFontTx/>
                <a:buNone/>
                <a:tabLst/>
                <a:defRPr/>
              </a:pPr>
              <a:t>16</a:t>
            </a:fld>
            <a:endParaRPr kumimoji="0" lang="en-GB" sz="19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aphicFrame>
        <p:nvGraphicFramePr>
          <p:cNvPr id="6" name="Content Placeholder 5">
            <a:extLst>
              <a:ext uri="{FF2B5EF4-FFF2-40B4-BE49-F238E27FC236}">
                <a16:creationId xmlns:a16="http://schemas.microsoft.com/office/drawing/2014/main" id="{2718979F-AE67-DB00-614D-C0FB490A5B36}"/>
              </a:ext>
            </a:extLst>
          </p:cNvPr>
          <p:cNvGraphicFramePr>
            <a:graphicFrameLocks noGrp="1"/>
          </p:cNvGraphicFramePr>
          <p:nvPr>
            <p:ph idx="1"/>
          </p:nvPr>
        </p:nvGraphicFramePr>
        <p:xfrm>
          <a:off x="838200" y="1825625"/>
          <a:ext cx="10515600" cy="435133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9699425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0D2BC66-B0A0-B25C-0A7F-673D192B4A8C}"/>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0BE891F9-2C46-3724-E433-0CCB5B2AA7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45B4A7A-5B3A-F5EB-CB27-A6662B1BCA74}"/>
              </a:ext>
            </a:extLst>
          </p:cNvPr>
          <p:cNvSpPr>
            <a:spLocks noGrp="1"/>
          </p:cNvSpPr>
          <p:nvPr>
            <p:ph type="title"/>
          </p:nvPr>
        </p:nvSpPr>
        <p:spPr>
          <a:xfrm>
            <a:off x="838200" y="365125"/>
            <a:ext cx="10515600" cy="1325563"/>
          </a:xfrm>
        </p:spPr>
        <p:txBody>
          <a:bodyPr>
            <a:normAutofit/>
          </a:bodyPr>
          <a:lstStyle/>
          <a:p>
            <a:r>
              <a:rPr lang="en-GB" sz="5400" b="1" dirty="0"/>
              <a:t>Temperature Sensor – LMT86</a:t>
            </a:r>
          </a:p>
        </p:txBody>
      </p:sp>
      <p:sp>
        <p:nvSpPr>
          <p:cNvPr id="13" name="sketch line">
            <a:extLst>
              <a:ext uri="{FF2B5EF4-FFF2-40B4-BE49-F238E27FC236}">
                <a16:creationId xmlns:a16="http://schemas.microsoft.com/office/drawing/2014/main" id="{11F9A48F-8A40-CAEF-2A91-DC5416865C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Content Placeholder 5">
            <a:extLst>
              <a:ext uri="{FF2B5EF4-FFF2-40B4-BE49-F238E27FC236}">
                <a16:creationId xmlns:a16="http://schemas.microsoft.com/office/drawing/2014/main" id="{2663FCFA-5123-B4BA-593B-D2A460E149CF}"/>
              </a:ext>
            </a:extLst>
          </p:cNvPr>
          <p:cNvSpPr>
            <a:spLocks noGrp="1"/>
          </p:cNvSpPr>
          <p:nvPr>
            <p:ph idx="1"/>
          </p:nvPr>
        </p:nvSpPr>
        <p:spPr>
          <a:xfrm>
            <a:off x="838200" y="1929384"/>
            <a:ext cx="10515600" cy="4251960"/>
          </a:xfrm>
        </p:spPr>
        <p:txBody>
          <a:bodyPr>
            <a:normAutofit/>
          </a:bodyPr>
          <a:lstStyle/>
          <a:p>
            <a:r>
              <a:rPr lang="en-GB" b="0" dirty="0"/>
              <a:t>Conversion of voltage</a:t>
            </a:r>
          </a:p>
          <a:p>
            <a:r>
              <a:rPr lang="en-GB" dirty="0"/>
              <a:t>Output voltage – 2616mV to 420mV (-50</a:t>
            </a:r>
            <a:r>
              <a:rPr lang="en-GB" b="0" dirty="0"/>
              <a:t>°</a:t>
            </a:r>
            <a:r>
              <a:rPr lang="en-GB" dirty="0"/>
              <a:t>C to 150</a:t>
            </a:r>
            <a:r>
              <a:rPr lang="en-GB" b="0" dirty="0"/>
              <a:t>°</a:t>
            </a:r>
            <a:r>
              <a:rPr lang="en-GB" dirty="0"/>
              <a:t>C)</a:t>
            </a:r>
          </a:p>
          <a:p>
            <a:r>
              <a:rPr lang="en-GB" b="0" dirty="0"/>
              <a:t>Need to detect about 1</a:t>
            </a:r>
            <a:r>
              <a:rPr lang="en-GB" dirty="0"/>
              <a:t>mV</a:t>
            </a:r>
          </a:p>
          <a:p>
            <a:r>
              <a:rPr lang="en-GB" b="0" dirty="0"/>
              <a:t>8 bit </a:t>
            </a:r>
            <a:r>
              <a:rPr lang="en-GB" b="0" dirty="0" err="1"/>
              <a:t>AtoD</a:t>
            </a:r>
            <a:r>
              <a:rPr lang="en-GB" b="0" dirty="0"/>
              <a:t> </a:t>
            </a:r>
            <a:r>
              <a:rPr lang="en-GB" dirty="0"/>
              <a:t>– 256 discreet (assuming 3V reference) 11.7mV… this can be done… but only ever going to get 1</a:t>
            </a:r>
            <a:r>
              <a:rPr lang="en-GB" b="0" dirty="0"/>
              <a:t>°</a:t>
            </a:r>
            <a:r>
              <a:rPr lang="en-GB" dirty="0"/>
              <a:t>C as a result of the calibration data available in the datasheet.</a:t>
            </a:r>
          </a:p>
          <a:p>
            <a:endParaRPr lang="en-GB" b="0" dirty="0"/>
          </a:p>
          <a:p>
            <a:endParaRPr lang="en-GB" b="0" dirty="0"/>
          </a:p>
          <a:p>
            <a:endParaRPr lang="en-GB" b="0" dirty="0"/>
          </a:p>
          <a:p>
            <a:endParaRPr lang="en-GB" sz="1800" dirty="0"/>
          </a:p>
          <a:p>
            <a:endParaRPr lang="en-GB" sz="2200" dirty="0"/>
          </a:p>
          <a:p>
            <a:endParaRPr lang="en-GB" sz="2200" dirty="0"/>
          </a:p>
          <a:p>
            <a:endParaRPr lang="en-GB" sz="2200" dirty="0"/>
          </a:p>
          <a:p>
            <a:pPr lvl="1"/>
            <a:endParaRPr lang="en-GB" sz="1800" dirty="0"/>
          </a:p>
          <a:p>
            <a:endParaRPr lang="en-GB" sz="2200" dirty="0"/>
          </a:p>
        </p:txBody>
      </p:sp>
      <p:sp>
        <p:nvSpPr>
          <p:cNvPr id="4" name="Slide Number Placeholder 3">
            <a:extLst>
              <a:ext uri="{FF2B5EF4-FFF2-40B4-BE49-F238E27FC236}">
                <a16:creationId xmlns:a16="http://schemas.microsoft.com/office/drawing/2014/main" id="{A0986B16-9185-4E65-2FBD-F3A14BD4E5FA}"/>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90000"/>
              </a:lnSpc>
              <a:spcBef>
                <a:spcPts val="0"/>
              </a:spcBef>
              <a:spcAft>
                <a:spcPts val="600"/>
              </a:spcAft>
              <a:buClrTx/>
              <a:buSzTx/>
              <a:buFontTx/>
              <a:buNone/>
              <a:tabLst/>
              <a:defRPr/>
            </a:pPr>
            <a:fld id="{1ED87AFC-F3F3-4E09-A9D9-1873FFB55ECB}" type="slidenum">
              <a:rPr kumimoji="0" lang="en-GB" sz="19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90000"/>
                </a:lnSpc>
                <a:spcBef>
                  <a:spcPts val="0"/>
                </a:spcBef>
                <a:spcAft>
                  <a:spcPts val="600"/>
                </a:spcAft>
                <a:buClrTx/>
                <a:buSzTx/>
                <a:buFontTx/>
                <a:buNone/>
                <a:tabLst/>
                <a:defRPr/>
              </a:pPr>
              <a:t>17</a:t>
            </a:fld>
            <a:endParaRPr kumimoji="0" lang="en-GB" sz="19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21706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6B2120C-BAF0-E1CB-6A4F-F6245C473870}"/>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0A4AE64-6A2A-0C76-61F1-B9456C2227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A71121E-316F-C333-0CCC-49C2EB620305}"/>
              </a:ext>
            </a:extLst>
          </p:cNvPr>
          <p:cNvSpPr>
            <a:spLocks noGrp="1"/>
          </p:cNvSpPr>
          <p:nvPr>
            <p:ph type="title"/>
          </p:nvPr>
        </p:nvSpPr>
        <p:spPr>
          <a:xfrm>
            <a:off x="838200" y="365125"/>
            <a:ext cx="10515600" cy="1325563"/>
          </a:xfrm>
        </p:spPr>
        <p:txBody>
          <a:bodyPr>
            <a:normAutofit/>
          </a:bodyPr>
          <a:lstStyle/>
          <a:p>
            <a:r>
              <a:rPr lang="en-GB" sz="5400" b="1" dirty="0"/>
              <a:t>Examples</a:t>
            </a:r>
          </a:p>
        </p:txBody>
      </p:sp>
      <p:sp>
        <p:nvSpPr>
          <p:cNvPr id="13" name="sketch line">
            <a:extLst>
              <a:ext uri="{FF2B5EF4-FFF2-40B4-BE49-F238E27FC236}">
                <a16:creationId xmlns:a16="http://schemas.microsoft.com/office/drawing/2014/main" id="{1C9973E1-52D0-4A26-291E-C79701895F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Content Placeholder 5">
            <a:extLst>
              <a:ext uri="{FF2B5EF4-FFF2-40B4-BE49-F238E27FC236}">
                <a16:creationId xmlns:a16="http://schemas.microsoft.com/office/drawing/2014/main" id="{63CEE467-6BCF-FA9D-EBC4-569FE4B2F7B9}"/>
              </a:ext>
            </a:extLst>
          </p:cNvPr>
          <p:cNvSpPr>
            <a:spLocks noGrp="1"/>
          </p:cNvSpPr>
          <p:nvPr>
            <p:ph idx="1"/>
          </p:nvPr>
        </p:nvSpPr>
        <p:spPr>
          <a:xfrm>
            <a:off x="838200" y="1929384"/>
            <a:ext cx="10515600" cy="4251960"/>
          </a:xfrm>
        </p:spPr>
        <p:txBody>
          <a:bodyPr>
            <a:normAutofit/>
          </a:bodyPr>
          <a:lstStyle/>
          <a:p>
            <a:r>
              <a:rPr lang="en-GB" b="0" dirty="0"/>
              <a:t>Further examples will be made available</a:t>
            </a:r>
            <a:endParaRPr lang="en-GB" dirty="0"/>
          </a:p>
          <a:p>
            <a:endParaRPr lang="en-GB" b="0" dirty="0"/>
          </a:p>
          <a:p>
            <a:endParaRPr lang="en-GB" b="0" dirty="0"/>
          </a:p>
          <a:p>
            <a:endParaRPr lang="en-GB" b="0" dirty="0"/>
          </a:p>
          <a:p>
            <a:endParaRPr lang="en-GB" sz="1800" dirty="0"/>
          </a:p>
          <a:p>
            <a:endParaRPr lang="en-GB" sz="2200" dirty="0"/>
          </a:p>
          <a:p>
            <a:endParaRPr lang="en-GB" sz="2200" dirty="0"/>
          </a:p>
          <a:p>
            <a:endParaRPr lang="en-GB" sz="2200" dirty="0"/>
          </a:p>
          <a:p>
            <a:pPr lvl="1"/>
            <a:endParaRPr lang="en-GB" sz="1800" dirty="0"/>
          </a:p>
          <a:p>
            <a:endParaRPr lang="en-GB" sz="2200" dirty="0"/>
          </a:p>
        </p:txBody>
      </p:sp>
      <p:sp>
        <p:nvSpPr>
          <p:cNvPr id="4" name="Slide Number Placeholder 3">
            <a:extLst>
              <a:ext uri="{FF2B5EF4-FFF2-40B4-BE49-F238E27FC236}">
                <a16:creationId xmlns:a16="http://schemas.microsoft.com/office/drawing/2014/main" id="{CEDE694C-D532-AB75-B55D-6A4D82BB52CD}"/>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90000"/>
              </a:lnSpc>
              <a:spcBef>
                <a:spcPts val="0"/>
              </a:spcBef>
              <a:spcAft>
                <a:spcPts val="600"/>
              </a:spcAft>
              <a:buClrTx/>
              <a:buSzTx/>
              <a:buFontTx/>
              <a:buNone/>
              <a:tabLst/>
              <a:defRPr/>
            </a:pPr>
            <a:fld id="{1ED87AFC-F3F3-4E09-A9D9-1873FFB55ECB}" type="slidenum">
              <a:rPr kumimoji="0" lang="en-GB" sz="19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90000"/>
                </a:lnSpc>
                <a:spcBef>
                  <a:spcPts val="0"/>
                </a:spcBef>
                <a:spcAft>
                  <a:spcPts val="600"/>
                </a:spcAft>
                <a:buClrTx/>
                <a:buSzTx/>
                <a:buFontTx/>
                <a:buNone/>
                <a:tabLst/>
                <a:defRPr/>
              </a:pPr>
              <a:t>18</a:t>
            </a:fld>
            <a:endParaRPr kumimoji="0" lang="en-GB" sz="19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504378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327D73B4-9F5C-4A64-A179-51B9500CB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a:xfrm>
            <a:off x="6657715" y="467271"/>
            <a:ext cx="4195674" cy="2052522"/>
          </a:xfrm>
        </p:spPr>
        <p:txBody>
          <a:bodyPr anchor="b">
            <a:normAutofit/>
          </a:bodyPr>
          <a:lstStyle/>
          <a:p>
            <a:r>
              <a:rPr lang="en-GB" sz="5600" b="1" dirty="0"/>
              <a:t>Overview</a:t>
            </a:r>
          </a:p>
        </p:txBody>
      </p:sp>
      <p:sp>
        <p:nvSpPr>
          <p:cNvPr id="8" name="Oval 7">
            <a:extLst>
              <a:ext uri="{FF2B5EF4-FFF2-40B4-BE49-F238E27FC236}">
                <a16:creationId xmlns:a16="http://schemas.microsoft.com/office/drawing/2014/main" id="{C1F06963-6374-4B48-844F-071A9BAAAE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2965" y="554152"/>
            <a:ext cx="5742189" cy="5742189"/>
          </a:xfrm>
          <a:prstGeom prst="ellipse">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50F57451-DC0D-84D4-4468-91BA2BD39266}"/>
              </a:ext>
            </a:extLst>
          </p:cNvPr>
          <p:cNvPicPr>
            <a:picLocks noChangeAspect="1"/>
          </p:cNvPicPr>
          <p:nvPr/>
        </p:nvPicPr>
        <p:blipFill>
          <a:blip r:embed="rId2"/>
          <a:srcRect r="6253" b="3"/>
          <a:stretch/>
        </p:blipFill>
        <p:spPr>
          <a:xfrm>
            <a:off x="505418" y="554151"/>
            <a:ext cx="5742189" cy="5742189"/>
          </a:xfrm>
          <a:custGeom>
            <a:avLst/>
            <a:gdLst/>
            <a:ahLst/>
            <a:cxnLst/>
            <a:rect l="l" t="t" r="r" b="b"/>
            <a:pathLst>
              <a:path w="1838528" h="1838528">
                <a:moveTo>
                  <a:pt x="919264" y="0"/>
                </a:moveTo>
                <a:cubicBezTo>
                  <a:pt x="1426959" y="0"/>
                  <a:pt x="1838528" y="411569"/>
                  <a:pt x="1838528" y="919264"/>
                </a:cubicBezTo>
                <a:cubicBezTo>
                  <a:pt x="1838528" y="1426959"/>
                  <a:pt x="1426959" y="1838528"/>
                  <a:pt x="919264" y="1838528"/>
                </a:cubicBezTo>
                <a:cubicBezTo>
                  <a:pt x="411569" y="1838528"/>
                  <a:pt x="0" y="1426959"/>
                  <a:pt x="0" y="919264"/>
                </a:cubicBezTo>
                <a:cubicBezTo>
                  <a:pt x="0" y="411569"/>
                  <a:pt x="411569" y="0"/>
                  <a:pt x="919264" y="0"/>
                </a:cubicBezTo>
                <a:close/>
              </a:path>
            </a:pathLst>
          </a:custGeom>
        </p:spPr>
      </p:pic>
      <p:sp>
        <p:nvSpPr>
          <p:cNvPr id="9" name="!!plus graphic">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4956" y="703679"/>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1"/>
          </a:solidFill>
          <a:ln w="776" cap="flat">
            <a:noFill/>
            <a:prstDash val="solid"/>
            <a:miter/>
          </a:ln>
        </p:spPr>
        <p:txBody>
          <a:bodyPr rtlCol="0" anchor="ctr"/>
          <a:lstStyle/>
          <a:p>
            <a:endParaRPr lang="en-US"/>
          </a:p>
        </p:txBody>
      </p:sp>
      <p:sp>
        <p:nvSpPr>
          <p:cNvPr id="11" name="!!circle graphic">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2753" y="1562696"/>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1"/>
          </a:solidFill>
          <a:ln w="751" cap="flat">
            <a:noFill/>
            <a:prstDash val="solid"/>
            <a:miter/>
          </a:ln>
        </p:spPr>
        <p:txBody>
          <a:bodyPr rtlCol="0" anchor="ctr"/>
          <a:lstStyle/>
          <a:p>
            <a:endParaRPr lang="en-US"/>
          </a:p>
        </p:txBody>
      </p:sp>
      <p:sp>
        <p:nvSpPr>
          <p:cNvPr id="3" name="Subtitle 2">
            <a:extLst>
              <a:ext uri="{FF2B5EF4-FFF2-40B4-BE49-F238E27FC236}">
                <a16:creationId xmlns:a16="http://schemas.microsoft.com/office/drawing/2014/main" id="{0EC2D61B-0204-42F3-52E6-931A9496968D}"/>
              </a:ext>
            </a:extLst>
          </p:cNvPr>
          <p:cNvSpPr>
            <a:spLocks noGrp="1"/>
          </p:cNvSpPr>
          <p:nvPr>
            <p:ph idx="1"/>
          </p:nvPr>
        </p:nvSpPr>
        <p:spPr>
          <a:xfrm>
            <a:off x="6657715" y="2990818"/>
            <a:ext cx="4195673" cy="2913872"/>
          </a:xfrm>
        </p:spPr>
        <p:txBody>
          <a:bodyPr anchor="t">
            <a:normAutofit/>
          </a:bodyPr>
          <a:lstStyle/>
          <a:p>
            <a:r>
              <a:rPr lang="en-GB" sz="2000" dirty="0">
                <a:solidFill>
                  <a:schemeClr val="tx1">
                    <a:alpha val="80000"/>
                  </a:schemeClr>
                </a:solidFill>
              </a:rPr>
              <a:t>Position and displacement Sensors</a:t>
            </a:r>
          </a:p>
          <a:p>
            <a:pPr lvl="1"/>
            <a:r>
              <a:rPr lang="en-GB" sz="2000" dirty="0">
                <a:solidFill>
                  <a:schemeClr val="tx1">
                    <a:alpha val="80000"/>
                  </a:schemeClr>
                </a:solidFill>
              </a:rPr>
              <a:t>Overview</a:t>
            </a:r>
          </a:p>
          <a:p>
            <a:pPr lvl="1"/>
            <a:r>
              <a:rPr lang="en-GB" sz="2000" dirty="0">
                <a:solidFill>
                  <a:schemeClr val="tx1">
                    <a:alpha val="80000"/>
                  </a:schemeClr>
                </a:solidFill>
              </a:rPr>
              <a:t>Potentiometers</a:t>
            </a:r>
          </a:p>
          <a:p>
            <a:pPr lvl="1"/>
            <a:r>
              <a:rPr lang="en-GB" sz="2000" dirty="0">
                <a:solidFill>
                  <a:schemeClr val="tx1">
                    <a:alpha val="80000"/>
                  </a:schemeClr>
                </a:solidFill>
              </a:rPr>
              <a:t>LVDT</a:t>
            </a:r>
          </a:p>
          <a:p>
            <a:pPr lvl="1"/>
            <a:r>
              <a:rPr lang="en-GB" sz="2000" dirty="0">
                <a:solidFill>
                  <a:schemeClr val="tx1">
                    <a:alpha val="80000"/>
                  </a:schemeClr>
                </a:solidFill>
              </a:rPr>
              <a:t>Resolvers</a:t>
            </a:r>
          </a:p>
          <a:p>
            <a:endParaRPr lang="en-GB" sz="2000" dirty="0">
              <a:solidFill>
                <a:schemeClr val="tx1">
                  <a:alpha val="80000"/>
                </a:schemeClr>
              </a:solidFill>
            </a:endParaRPr>
          </a:p>
          <a:p>
            <a:endParaRPr lang="en-GB" sz="2000" dirty="0">
              <a:solidFill>
                <a:schemeClr val="tx1">
                  <a:alpha val="80000"/>
                </a:schemeClr>
              </a:solidFill>
            </a:endParaRPr>
          </a:p>
          <a:p>
            <a:endParaRPr lang="en-GB" sz="2000" dirty="0">
              <a:solidFill>
                <a:schemeClr val="tx1">
                  <a:alpha val="80000"/>
                </a:schemeClr>
              </a:solidFill>
            </a:endParaRPr>
          </a:p>
          <a:p>
            <a:endParaRPr lang="en-GB" sz="2000" dirty="0">
              <a:solidFill>
                <a:schemeClr val="tx1">
                  <a:alpha val="80000"/>
                </a:schemeClr>
              </a:solidFill>
            </a:endParaRPr>
          </a:p>
          <a:p>
            <a:pPr lvl="2"/>
            <a:endParaRPr lang="en-GB" dirty="0">
              <a:solidFill>
                <a:schemeClr val="tx1">
                  <a:alpha val="80000"/>
                </a:schemeClr>
              </a:solidFill>
            </a:endParaRPr>
          </a:p>
          <a:p>
            <a:pPr lvl="2"/>
            <a:endParaRPr lang="en-GB" dirty="0">
              <a:solidFill>
                <a:schemeClr val="tx1">
                  <a:alpha val="80000"/>
                </a:schemeClr>
              </a:solidFill>
            </a:endParaRPr>
          </a:p>
          <a:p>
            <a:pPr lvl="2"/>
            <a:endParaRPr lang="en-GB" dirty="0">
              <a:solidFill>
                <a:schemeClr val="tx1">
                  <a:alpha val="80000"/>
                </a:schemeClr>
              </a:solidFill>
            </a:endParaRPr>
          </a:p>
          <a:p>
            <a:endParaRPr lang="en-GB" sz="2000" dirty="0">
              <a:solidFill>
                <a:schemeClr val="tx1">
                  <a:alpha val="80000"/>
                </a:schemeClr>
              </a:solidFill>
            </a:endParaRPr>
          </a:p>
        </p:txBody>
      </p:sp>
      <p:sp>
        <p:nvSpPr>
          <p:cNvPr id="13" name="!!dot graphic">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54149" y="5775082"/>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1"/>
          </a:solidFill>
          <a:ln w="516" cap="flat">
            <a:noFill/>
            <a:prstDash val="solid"/>
            <a:miter/>
          </a:ln>
        </p:spPr>
        <p:txBody>
          <a:bodyPr rtlCol="0" anchor="ctr"/>
          <a:lstStyle/>
          <a:p>
            <a:endParaRPr lang="en-US"/>
          </a:p>
        </p:txBody>
      </p:sp>
      <p:sp>
        <p:nvSpPr>
          <p:cNvPr id="4" name="Slide Number Placeholder 3">
            <a:extLst>
              <a:ext uri="{FF2B5EF4-FFF2-40B4-BE49-F238E27FC236}">
                <a16:creationId xmlns:a16="http://schemas.microsoft.com/office/drawing/2014/main" id="{8B50761D-BFB0-57EF-E43B-6C4AC298B0C1}"/>
              </a:ext>
            </a:extLst>
          </p:cNvPr>
          <p:cNvSpPr>
            <a:spLocks noGrp="1"/>
          </p:cNvSpPr>
          <p:nvPr>
            <p:ph type="sldNum" sz="quarter" idx="12"/>
          </p:nvPr>
        </p:nvSpPr>
        <p:spPr>
          <a:xfrm>
            <a:off x="8610600" y="6356350"/>
            <a:ext cx="2743200" cy="365125"/>
          </a:xfrm>
        </p:spPr>
        <p:txBody>
          <a:bodyPr>
            <a:normAutofit/>
          </a:bodyPr>
          <a:lstStyle/>
          <a:p>
            <a:pPr marL="0" marR="0" lvl="0" indent="0" defTabSz="914400" rtl="0" eaLnBrk="1" fontAlgn="auto" latinLnBrk="0" hangingPunct="1">
              <a:spcBef>
                <a:spcPts val="0"/>
              </a:spcBef>
              <a:spcAft>
                <a:spcPts val="600"/>
              </a:spcAft>
              <a:buClrTx/>
              <a:buSzTx/>
              <a:buFontTx/>
              <a:buNone/>
              <a:tabLst/>
              <a:defRPr/>
            </a:pPr>
            <a:fld id="{1ED87AFC-F3F3-4E09-A9D9-1873FFB55ECB}" type="slidenum">
              <a:rPr kumimoji="0" lang="en-GB" b="1" i="0" u="none" strike="noStrike" kern="1200" cap="none" spc="0" normalizeH="0" baseline="0" noProof="0">
                <a:ln>
                  <a:noFill/>
                </a:ln>
                <a:solidFill>
                  <a:schemeClr val="tx1">
                    <a:alpha val="60000"/>
                  </a:schemeClr>
                </a:solidFill>
                <a:effectLst/>
                <a:uLnTx/>
                <a:uFillTx/>
                <a:latin typeface="Calibri" panose="020F0502020204030204"/>
                <a:ea typeface="+mn-ea"/>
                <a:cs typeface="+mn-cs"/>
              </a:rPr>
              <a:pPr marL="0" marR="0" lvl="0" indent="0" defTabSz="914400" rtl="0" eaLnBrk="1" fontAlgn="auto" latinLnBrk="0" hangingPunct="1">
                <a:spcBef>
                  <a:spcPts val="0"/>
                </a:spcBef>
                <a:spcAft>
                  <a:spcPts val="600"/>
                </a:spcAft>
                <a:buClrTx/>
                <a:buSzTx/>
                <a:buFontTx/>
                <a:buNone/>
                <a:tabLst/>
                <a:defRPr/>
              </a:pPr>
              <a:t>19</a:t>
            </a:fld>
            <a:endParaRPr kumimoji="0" lang="en-GB" b="1" i="0" u="none" strike="noStrike" kern="1200" cap="none" spc="0" normalizeH="0" baseline="0" noProof="0">
              <a:ln>
                <a:noFill/>
              </a:ln>
              <a:solidFill>
                <a:schemeClr val="tx1">
                  <a:alpha val="60000"/>
                </a:schemeClr>
              </a:solidFill>
              <a:effectLst/>
              <a:uLnTx/>
              <a:uFillTx/>
              <a:latin typeface="Calibri" panose="020F0502020204030204"/>
              <a:ea typeface="+mn-ea"/>
              <a:cs typeface="+mn-cs"/>
            </a:endParaRPr>
          </a:p>
        </p:txBody>
      </p:sp>
      <p:cxnSp>
        <p:nvCxnSpPr>
          <p:cNvPr id="15" name="!!Straight Connector">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9272"/>
            <a:ext cx="0" cy="3238728"/>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294905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696216B-3E08-A160-C46A-D1C2AE6915AF}"/>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8F9CBE3F-79A8-4F8F-88D9-DAD03D0D28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373D3586-CCDF-36BB-73A2-57D1B1CEA7E7}"/>
              </a:ext>
            </a:extLst>
          </p:cNvPr>
          <p:cNvSpPr>
            <a:spLocks noGrp="1"/>
          </p:cNvSpPr>
          <p:nvPr>
            <p:ph type="title"/>
          </p:nvPr>
        </p:nvSpPr>
        <p:spPr>
          <a:xfrm>
            <a:off x="1522030" y="1209220"/>
            <a:ext cx="9147940" cy="2337238"/>
          </a:xfrm>
        </p:spPr>
        <p:txBody>
          <a:bodyPr vert="horz" lIns="91440" tIns="45720" rIns="91440" bIns="45720" rtlCol="0" anchor="b">
            <a:normAutofit/>
          </a:bodyPr>
          <a:lstStyle/>
          <a:p>
            <a:pPr algn="ctr"/>
            <a:r>
              <a:rPr lang="en-US" sz="5600" b="1" kern="1200" dirty="0">
                <a:solidFill>
                  <a:srgbClr val="FFFFFF"/>
                </a:solidFill>
                <a:latin typeface="+mj-lt"/>
                <a:ea typeface="+mj-ea"/>
                <a:cs typeface="+mj-cs"/>
              </a:rPr>
              <a:t>Position and Displacement Sensors</a:t>
            </a:r>
          </a:p>
        </p:txBody>
      </p:sp>
      <p:sp>
        <p:nvSpPr>
          <p:cNvPr id="3" name="Subtitle 2">
            <a:extLst>
              <a:ext uri="{FF2B5EF4-FFF2-40B4-BE49-F238E27FC236}">
                <a16:creationId xmlns:a16="http://schemas.microsoft.com/office/drawing/2014/main" id="{82FB1CA6-A924-B46E-2429-7477AB8156A0}"/>
              </a:ext>
            </a:extLst>
          </p:cNvPr>
          <p:cNvSpPr>
            <a:spLocks noGrp="1"/>
          </p:cNvSpPr>
          <p:nvPr>
            <p:ph type="body" idx="1"/>
          </p:nvPr>
        </p:nvSpPr>
        <p:spPr>
          <a:xfrm>
            <a:off x="1522030" y="3605577"/>
            <a:ext cx="9147940" cy="1324303"/>
          </a:xfrm>
        </p:spPr>
        <p:txBody>
          <a:bodyPr vert="horz" lIns="91440" tIns="45720" rIns="91440" bIns="45720" rtlCol="0" anchor="t">
            <a:normAutofit/>
          </a:bodyPr>
          <a:lstStyle/>
          <a:p>
            <a:pPr algn="ctr"/>
            <a:endParaRPr lang="en-US" sz="2000" kern="1200">
              <a:solidFill>
                <a:srgbClr val="FFFFFF"/>
              </a:solidFill>
              <a:latin typeface="+mn-lt"/>
              <a:ea typeface="+mn-ea"/>
              <a:cs typeface="+mn-cs"/>
            </a:endParaRPr>
          </a:p>
          <a:p>
            <a:pPr algn="ctr"/>
            <a:endParaRPr lang="en-US" sz="2000" kern="1200">
              <a:solidFill>
                <a:srgbClr val="FFFFFF"/>
              </a:solidFill>
              <a:latin typeface="+mn-lt"/>
              <a:ea typeface="+mn-ea"/>
              <a:cs typeface="+mn-cs"/>
            </a:endParaRPr>
          </a:p>
        </p:txBody>
      </p:sp>
      <p:sp>
        <p:nvSpPr>
          <p:cNvPr id="7" name="Graphic 22">
            <a:extLst>
              <a:ext uri="{FF2B5EF4-FFF2-40B4-BE49-F238E27FC236}">
                <a16:creationId xmlns:a16="http://schemas.microsoft.com/office/drawing/2014/main" id="{508BEF50-7B1E-49A4-BC19-5F4F1D755E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1869" y="2383077"/>
            <a:ext cx="151536" cy="151536"/>
          </a:xfrm>
          <a:custGeom>
            <a:avLst/>
            <a:gdLst>
              <a:gd name="connsiteX0" fmla="*/ 141251 w 151536"/>
              <a:gd name="connsiteY0" fmla="*/ 65483 h 151536"/>
              <a:gd name="connsiteX1" fmla="*/ 86053 w 151536"/>
              <a:gd name="connsiteY1" fmla="*/ 65483 h 151536"/>
              <a:gd name="connsiteX2" fmla="*/ 86053 w 151536"/>
              <a:gd name="connsiteY2" fmla="*/ 10285 h 151536"/>
              <a:gd name="connsiteX3" fmla="*/ 75768 w 151536"/>
              <a:gd name="connsiteY3" fmla="*/ 0 h 151536"/>
              <a:gd name="connsiteX4" fmla="*/ 65483 w 151536"/>
              <a:gd name="connsiteY4" fmla="*/ 10285 h 151536"/>
              <a:gd name="connsiteX5" fmla="*/ 65483 w 151536"/>
              <a:gd name="connsiteY5" fmla="*/ 65483 h 151536"/>
              <a:gd name="connsiteX6" fmla="*/ 10285 w 151536"/>
              <a:gd name="connsiteY6" fmla="*/ 65483 h 151536"/>
              <a:gd name="connsiteX7" fmla="*/ 0 w 151536"/>
              <a:gd name="connsiteY7" fmla="*/ 75768 h 151536"/>
              <a:gd name="connsiteX8" fmla="*/ 10285 w 151536"/>
              <a:gd name="connsiteY8" fmla="*/ 86053 h 151536"/>
              <a:gd name="connsiteX9" fmla="*/ 65483 w 151536"/>
              <a:gd name="connsiteY9" fmla="*/ 86053 h 151536"/>
              <a:gd name="connsiteX10" fmla="*/ 65483 w 151536"/>
              <a:gd name="connsiteY10" fmla="*/ 141251 h 151536"/>
              <a:gd name="connsiteX11" fmla="*/ 75768 w 151536"/>
              <a:gd name="connsiteY11" fmla="*/ 151536 h 151536"/>
              <a:gd name="connsiteX12" fmla="*/ 86053 w 151536"/>
              <a:gd name="connsiteY12" fmla="*/ 141251 h 151536"/>
              <a:gd name="connsiteX13" fmla="*/ 86053 w 151536"/>
              <a:gd name="connsiteY13" fmla="*/ 86053 h 151536"/>
              <a:gd name="connsiteX14" fmla="*/ 141251 w 151536"/>
              <a:gd name="connsiteY14" fmla="*/ 86053 h 151536"/>
              <a:gd name="connsiteX15" fmla="*/ 151536 w 151536"/>
              <a:gd name="connsiteY15" fmla="*/ 75768 h 151536"/>
              <a:gd name="connsiteX16" fmla="*/ 141251 w 151536"/>
              <a:gd name="connsiteY16" fmla="*/ 65483 h 15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536" h="151536">
                <a:moveTo>
                  <a:pt x="141251" y="65483"/>
                </a:moveTo>
                <a:lnTo>
                  <a:pt x="86053" y="65483"/>
                </a:lnTo>
                <a:lnTo>
                  <a:pt x="86053" y="10285"/>
                </a:lnTo>
                <a:cubicBezTo>
                  <a:pt x="86053" y="4605"/>
                  <a:pt x="81448" y="0"/>
                  <a:pt x="75768" y="0"/>
                </a:cubicBezTo>
                <a:cubicBezTo>
                  <a:pt x="70088" y="0"/>
                  <a:pt x="65483" y="4605"/>
                  <a:pt x="65483" y="10285"/>
                </a:cubicBezTo>
                <a:lnTo>
                  <a:pt x="65483" y="65483"/>
                </a:lnTo>
                <a:lnTo>
                  <a:pt x="10285" y="65483"/>
                </a:lnTo>
                <a:cubicBezTo>
                  <a:pt x="4605" y="65483"/>
                  <a:pt x="0" y="70088"/>
                  <a:pt x="0" y="75768"/>
                </a:cubicBezTo>
                <a:cubicBezTo>
                  <a:pt x="0" y="81448"/>
                  <a:pt x="4605" y="86053"/>
                  <a:pt x="10285" y="86053"/>
                </a:cubicBezTo>
                <a:lnTo>
                  <a:pt x="65483" y="86053"/>
                </a:lnTo>
                <a:lnTo>
                  <a:pt x="65483" y="141251"/>
                </a:lnTo>
                <a:cubicBezTo>
                  <a:pt x="65483" y="146931"/>
                  <a:pt x="70088" y="151536"/>
                  <a:pt x="75768" y="151536"/>
                </a:cubicBezTo>
                <a:cubicBezTo>
                  <a:pt x="81448" y="151536"/>
                  <a:pt x="86053" y="146931"/>
                  <a:pt x="86053" y="141251"/>
                </a:cubicBezTo>
                <a:lnTo>
                  <a:pt x="86053" y="86053"/>
                </a:lnTo>
                <a:lnTo>
                  <a:pt x="141251" y="86053"/>
                </a:lnTo>
                <a:cubicBezTo>
                  <a:pt x="146931" y="86053"/>
                  <a:pt x="151536" y="81448"/>
                  <a:pt x="151536" y="75768"/>
                </a:cubicBezTo>
                <a:cubicBezTo>
                  <a:pt x="151536" y="70088"/>
                  <a:pt x="146931" y="65483"/>
                  <a:pt x="141251" y="65483"/>
                </a:cubicBezTo>
                <a:close/>
              </a:path>
            </a:pathLst>
          </a:custGeom>
          <a:solidFill>
            <a:srgbClr val="FFFFFF"/>
          </a:solidFill>
          <a:ln w="646" cap="flat">
            <a:noFill/>
            <a:prstDash val="solid"/>
            <a:miter/>
          </a:ln>
        </p:spPr>
        <p:txBody>
          <a:bodyPr rtlCol="0" anchor="ctr"/>
          <a:lstStyle/>
          <a:p>
            <a:endParaRPr lang="en-US">
              <a:solidFill>
                <a:srgbClr val="FFFFFF"/>
              </a:solidFill>
            </a:endParaRPr>
          </a:p>
        </p:txBody>
      </p:sp>
      <p:sp>
        <p:nvSpPr>
          <p:cNvPr id="8"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724364" y="2265467"/>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endParaRPr lang="en-US">
              <a:solidFill>
                <a:srgbClr val="FFFFFF"/>
              </a:solidFill>
            </a:endParaRPr>
          </a:p>
        </p:txBody>
      </p:sp>
      <p:sp>
        <p:nvSpPr>
          <p:cNvPr id="10"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24834" y="2537201"/>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endParaRPr lang="en-US">
              <a:solidFill>
                <a:srgbClr val="FFFFFF"/>
              </a:solidFill>
            </a:endParaRPr>
          </a:p>
        </p:txBody>
      </p:sp>
      <p:sp>
        <p:nvSpPr>
          <p:cNvPr id="12" name="Graphic 21">
            <a:extLst>
              <a:ext uri="{FF2B5EF4-FFF2-40B4-BE49-F238E27FC236}">
                <a16:creationId xmlns:a16="http://schemas.microsoft.com/office/drawing/2014/main" id="{C39ADB8F-D187-49D7-BDCF-C1B6DC7270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4053" y="2832967"/>
            <a:ext cx="95759" cy="95759"/>
          </a:xfrm>
          <a:custGeom>
            <a:avLst/>
            <a:gdLst>
              <a:gd name="connsiteX0" fmla="*/ 95759 w 95759"/>
              <a:gd name="connsiteY0" fmla="*/ 47880 h 95759"/>
              <a:gd name="connsiteX1" fmla="*/ 47880 w 95759"/>
              <a:gd name="connsiteY1" fmla="*/ 95759 h 95759"/>
              <a:gd name="connsiteX2" fmla="*/ 0 w 95759"/>
              <a:gd name="connsiteY2" fmla="*/ 47880 h 95759"/>
              <a:gd name="connsiteX3" fmla="*/ 47880 w 95759"/>
              <a:gd name="connsiteY3" fmla="*/ 0 h 95759"/>
              <a:gd name="connsiteX4" fmla="*/ 95759 w 95759"/>
              <a:gd name="connsiteY4" fmla="*/ 47880 h 95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59" h="95759">
                <a:moveTo>
                  <a:pt x="95759" y="47880"/>
                </a:moveTo>
                <a:cubicBezTo>
                  <a:pt x="95759" y="74323"/>
                  <a:pt x="74323" y="95759"/>
                  <a:pt x="47880" y="95759"/>
                </a:cubicBezTo>
                <a:cubicBezTo>
                  <a:pt x="21436" y="95759"/>
                  <a:pt x="0" y="74323"/>
                  <a:pt x="0" y="47880"/>
                </a:cubicBezTo>
                <a:cubicBezTo>
                  <a:pt x="0" y="21436"/>
                  <a:pt x="21436" y="0"/>
                  <a:pt x="47880" y="0"/>
                </a:cubicBezTo>
                <a:cubicBezTo>
                  <a:pt x="74323" y="0"/>
                  <a:pt x="95759" y="21436"/>
                  <a:pt x="95759" y="47880"/>
                </a:cubicBezTo>
                <a:close/>
              </a:path>
            </a:pathLst>
          </a:custGeom>
          <a:solidFill>
            <a:srgbClr val="FFFFFF"/>
          </a:solidFill>
          <a:ln w="469" cap="flat">
            <a:noFill/>
            <a:prstDash val="solid"/>
            <a:miter/>
          </a:ln>
        </p:spPr>
        <p:txBody>
          <a:bodyPr rtlCol="0" anchor="ctr"/>
          <a:lstStyle/>
          <a:p>
            <a:endParaRPr lang="en-US">
              <a:solidFill>
                <a:srgbClr val="FFFFFF"/>
              </a:solidFill>
            </a:endParaRPr>
          </a:p>
        </p:txBody>
      </p:sp>
      <p:sp>
        <p:nvSpPr>
          <p:cNvPr id="14"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772266" y="2803988"/>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endParaRPr lang="en-US">
              <a:solidFill>
                <a:srgbClr val="FFFFFF"/>
              </a:solidFill>
            </a:endParaRPr>
          </a:p>
        </p:txBody>
      </p:sp>
      <p:sp>
        <p:nvSpPr>
          <p:cNvPr id="16" name="Graphic 23">
            <a:extLst>
              <a:ext uri="{FF2B5EF4-FFF2-40B4-BE49-F238E27FC236}">
                <a16:creationId xmlns:a16="http://schemas.microsoft.com/office/drawing/2014/main" id="{3FBAD350-5664-4811-A208-657FB882D3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13405" y="3242499"/>
            <a:ext cx="108625" cy="108625"/>
          </a:xfrm>
          <a:custGeom>
            <a:avLst/>
            <a:gdLst>
              <a:gd name="connsiteX0" fmla="*/ 54313 w 108625"/>
              <a:gd name="connsiteY0" fmla="*/ 16053 h 108625"/>
              <a:gd name="connsiteX1" fmla="*/ 92572 w 108625"/>
              <a:gd name="connsiteY1" fmla="*/ 54313 h 108625"/>
              <a:gd name="connsiteX2" fmla="*/ 54313 w 108625"/>
              <a:gd name="connsiteY2" fmla="*/ 92572 h 108625"/>
              <a:gd name="connsiteX3" fmla="*/ 16053 w 108625"/>
              <a:gd name="connsiteY3" fmla="*/ 54313 h 108625"/>
              <a:gd name="connsiteX4" fmla="*/ 54313 w 108625"/>
              <a:gd name="connsiteY4" fmla="*/ 16053 h 108625"/>
              <a:gd name="connsiteX5" fmla="*/ 54313 w 108625"/>
              <a:gd name="connsiteY5" fmla="*/ 0 h 108625"/>
              <a:gd name="connsiteX6" fmla="*/ 0 w 108625"/>
              <a:gd name="connsiteY6" fmla="*/ 54313 h 108625"/>
              <a:gd name="connsiteX7" fmla="*/ 54313 w 108625"/>
              <a:gd name="connsiteY7" fmla="*/ 108625 h 108625"/>
              <a:gd name="connsiteX8" fmla="*/ 108625 w 108625"/>
              <a:gd name="connsiteY8" fmla="*/ 54313 h 108625"/>
              <a:gd name="connsiteX9" fmla="*/ 54313 w 108625"/>
              <a:gd name="connsiteY9" fmla="*/ 0 h 10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625" h="108625">
                <a:moveTo>
                  <a:pt x="54313" y="16053"/>
                </a:moveTo>
                <a:cubicBezTo>
                  <a:pt x="75442" y="16053"/>
                  <a:pt x="92572" y="33182"/>
                  <a:pt x="92572" y="54313"/>
                </a:cubicBezTo>
                <a:cubicBezTo>
                  <a:pt x="92572" y="75442"/>
                  <a:pt x="75442" y="92572"/>
                  <a:pt x="54313" y="92572"/>
                </a:cubicBezTo>
                <a:cubicBezTo>
                  <a:pt x="33182" y="92572"/>
                  <a:pt x="16053" y="75442"/>
                  <a:pt x="16053" y="54313"/>
                </a:cubicBezTo>
                <a:cubicBezTo>
                  <a:pt x="16074" y="33191"/>
                  <a:pt x="33191" y="16074"/>
                  <a:pt x="54313" y="16053"/>
                </a:cubicBezTo>
                <a:moveTo>
                  <a:pt x="54313" y="0"/>
                </a:moveTo>
                <a:cubicBezTo>
                  <a:pt x="24317" y="0"/>
                  <a:pt x="0" y="24317"/>
                  <a:pt x="0" y="54313"/>
                </a:cubicBezTo>
                <a:cubicBezTo>
                  <a:pt x="0" y="84309"/>
                  <a:pt x="24317" y="108625"/>
                  <a:pt x="54313" y="108625"/>
                </a:cubicBezTo>
                <a:cubicBezTo>
                  <a:pt x="84309" y="108625"/>
                  <a:pt x="108625" y="84309"/>
                  <a:pt x="108625" y="54313"/>
                </a:cubicBezTo>
                <a:cubicBezTo>
                  <a:pt x="108625" y="24317"/>
                  <a:pt x="84309" y="0"/>
                  <a:pt x="54313" y="0"/>
                </a:cubicBezTo>
                <a:close/>
              </a:path>
            </a:pathLst>
          </a:custGeom>
          <a:solidFill>
            <a:srgbClr val="FFFFFF"/>
          </a:solidFill>
          <a:ln w="516" cap="flat">
            <a:noFill/>
            <a:prstDash val="solid"/>
            <a:miter/>
          </a:ln>
        </p:spPr>
        <p:txBody>
          <a:bodyPr rtlCol="0" anchor="ctr"/>
          <a:lstStyle/>
          <a:p>
            <a:endParaRPr lang="en-US">
              <a:solidFill>
                <a:srgbClr val="FFFFFF"/>
              </a:solidFill>
            </a:endParaRPr>
          </a:p>
        </p:txBody>
      </p:sp>
      <p:cxnSp>
        <p:nvCxnSpPr>
          <p:cNvPr id="18" name="Straight Connector 17">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5831729"/>
            <a:ext cx="12188952" cy="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
        <p:nvSpPr>
          <p:cNvPr id="4" name="Slide Number Placeholder 3">
            <a:extLst>
              <a:ext uri="{FF2B5EF4-FFF2-40B4-BE49-F238E27FC236}">
                <a16:creationId xmlns:a16="http://schemas.microsoft.com/office/drawing/2014/main" id="{66D75A86-1016-51D9-BB1B-CAD3D8255A8B}"/>
              </a:ext>
            </a:extLst>
          </p:cNvPr>
          <p:cNvSpPr>
            <a:spLocks noGrp="1"/>
          </p:cNvSpPr>
          <p:nvPr>
            <p:ph type="sldNum" sz="quarter" idx="12"/>
          </p:nvPr>
        </p:nvSpPr>
        <p:spPr>
          <a:xfrm>
            <a:off x="8610600" y="6133916"/>
            <a:ext cx="2743200" cy="365125"/>
          </a:xfrm>
        </p:spPr>
        <p:txBody>
          <a:bodyPr vert="horz" lIns="91440" tIns="45720" rIns="91440" bIns="45720" rtlCol="0" anchor="ctr">
            <a:normAutofit/>
          </a:bodyPr>
          <a:lstStyle/>
          <a:p>
            <a:pPr marR="0" lvl="0" indent="0" fontAlgn="auto">
              <a:spcBef>
                <a:spcPts val="0"/>
              </a:spcBef>
              <a:spcAft>
                <a:spcPts val="600"/>
              </a:spcAft>
              <a:buClrTx/>
              <a:buSzTx/>
              <a:buFontTx/>
              <a:buNone/>
              <a:tabLst/>
              <a:defRPr/>
            </a:pPr>
            <a:fld id="{1ED87AFC-F3F3-4E09-A9D9-1873FFB55ECB}" type="slidenum">
              <a:rPr kumimoji="0" lang="en-US" b="1" i="0" u="none" strike="noStrike" cap="none" spc="0" normalizeH="0" baseline="0" noProof="0">
                <a:ln>
                  <a:noFill/>
                </a:ln>
                <a:solidFill>
                  <a:srgbClr val="FFFFFF"/>
                </a:solidFill>
                <a:effectLst/>
                <a:uLnTx/>
                <a:uFillTx/>
              </a:rPr>
              <a:pPr marR="0" lvl="0" indent="0" fontAlgn="auto">
                <a:spcBef>
                  <a:spcPts val="0"/>
                </a:spcBef>
                <a:spcAft>
                  <a:spcPts val="600"/>
                </a:spcAft>
                <a:buClrTx/>
                <a:buSzTx/>
                <a:buFontTx/>
                <a:buNone/>
                <a:tabLst/>
                <a:defRPr/>
              </a:pPr>
              <a:t>20</a:t>
            </a:fld>
            <a:endParaRPr kumimoji="0" lang="en-US" b="1" i="0" u="none" strike="noStrike" cap="none" spc="0" normalizeH="0" baseline="0" noProof="0">
              <a:ln>
                <a:noFill/>
              </a:ln>
              <a:solidFill>
                <a:srgbClr val="FFFFFF"/>
              </a:solidFill>
              <a:effectLst/>
              <a:uLnTx/>
              <a:uFillTx/>
            </a:endParaRPr>
          </a:p>
        </p:txBody>
      </p:sp>
    </p:spTree>
    <p:extLst>
      <p:ext uri="{BB962C8B-B14F-4D97-AF65-F5344CB8AC3E}">
        <p14:creationId xmlns:p14="http://schemas.microsoft.com/office/powerpoint/2010/main" val="13584277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B157FE6-26E9-6371-76D8-13F55B81334A}"/>
            </a:ext>
          </a:extLst>
        </p:cNvPr>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1C0E8AF-988C-888E-9943-EE96C3D4E97C}"/>
              </a:ext>
            </a:extLst>
          </p:cNvPr>
          <p:cNvSpPr>
            <a:spLocks noGrp="1"/>
          </p:cNvSpPr>
          <p:nvPr>
            <p:ph type="title"/>
          </p:nvPr>
        </p:nvSpPr>
        <p:spPr>
          <a:xfrm>
            <a:off x="838200" y="365125"/>
            <a:ext cx="10515600" cy="1325563"/>
          </a:xfrm>
        </p:spPr>
        <p:txBody>
          <a:bodyPr>
            <a:normAutofit/>
          </a:bodyPr>
          <a:lstStyle/>
          <a:p>
            <a:r>
              <a:rPr lang="en-GB" sz="5400" b="1" dirty="0"/>
              <a:t>Position and Displacement</a:t>
            </a:r>
          </a:p>
        </p:txBody>
      </p:sp>
      <p:sp>
        <p:nvSpPr>
          <p:cNvPr id="7"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6C6539E1-592B-D2AC-FE22-EEC56531834D}"/>
              </a:ext>
            </a:extLst>
          </p:cNvPr>
          <p:cNvSpPr>
            <a:spLocks noGrp="1"/>
          </p:cNvSpPr>
          <p:nvPr>
            <p:ph idx="1"/>
          </p:nvPr>
        </p:nvSpPr>
        <p:spPr>
          <a:xfrm>
            <a:off x="838200" y="1929384"/>
            <a:ext cx="10515600" cy="4251960"/>
          </a:xfrm>
        </p:spPr>
        <p:txBody>
          <a:bodyPr>
            <a:normAutofit/>
          </a:bodyPr>
          <a:lstStyle/>
          <a:p>
            <a:r>
              <a:rPr lang="en-GB" sz="2600" b="1" i="1" dirty="0"/>
              <a:t>Position Sensors </a:t>
            </a:r>
            <a:r>
              <a:rPr lang="en-GB" sz="2600" dirty="0"/>
              <a:t>Concerned with the determination of the position of some object in relation to some reference point</a:t>
            </a:r>
          </a:p>
          <a:p>
            <a:r>
              <a:rPr lang="en-GB" sz="2600" b="1" i="1" dirty="0"/>
              <a:t>Displacement Sensors </a:t>
            </a:r>
            <a:r>
              <a:rPr lang="en-GB" sz="2600" dirty="0"/>
              <a:t>Concerned with the measurement of the amount by which some object has moved</a:t>
            </a:r>
          </a:p>
          <a:p>
            <a:r>
              <a:rPr lang="en-GB" sz="2600" b="1" i="1" dirty="0"/>
              <a:t>Contact Sensors </a:t>
            </a:r>
            <a:r>
              <a:rPr lang="en-GB" sz="2600" dirty="0"/>
              <a:t>the object being sensed comes into mechanical contact with the sensor</a:t>
            </a:r>
          </a:p>
          <a:p>
            <a:r>
              <a:rPr lang="en-GB" sz="2600" b="1" i="1" dirty="0"/>
              <a:t>Non-Contact Sensors </a:t>
            </a:r>
            <a:r>
              <a:rPr lang="en-GB" sz="2600" dirty="0"/>
              <a:t>there is no physical contact between the object being sensed and the sensor</a:t>
            </a:r>
          </a:p>
          <a:p>
            <a:endParaRPr lang="en-GB" sz="2200" dirty="0"/>
          </a:p>
          <a:p>
            <a:endParaRPr lang="en-GB" sz="2200" dirty="0"/>
          </a:p>
          <a:p>
            <a:endParaRPr lang="en-GB" sz="2200" dirty="0"/>
          </a:p>
          <a:p>
            <a:endParaRPr lang="en-GB" sz="2200" dirty="0"/>
          </a:p>
        </p:txBody>
      </p:sp>
      <p:sp>
        <p:nvSpPr>
          <p:cNvPr id="4" name="Slide Number Placeholder 3">
            <a:extLst>
              <a:ext uri="{FF2B5EF4-FFF2-40B4-BE49-F238E27FC236}">
                <a16:creationId xmlns:a16="http://schemas.microsoft.com/office/drawing/2014/main" id="{0CA8FC73-8B2D-3B66-DBD6-F8D8197403BC}"/>
              </a:ext>
            </a:extLst>
          </p:cNvPr>
          <p:cNvSpPr>
            <a:spLocks noGrp="1"/>
          </p:cNvSpPr>
          <p:nvPr>
            <p:ph type="sldNum" sz="quarter" idx="12"/>
          </p:nvPr>
        </p:nvSpPr>
        <p:spPr>
          <a:xfrm>
            <a:off x="8610600" y="6356350"/>
            <a:ext cx="2743200" cy="365125"/>
          </a:xfrm>
        </p:spPr>
        <p:txBody>
          <a:bodyPr>
            <a:normAutofit/>
          </a:bodyPr>
          <a:lstStyle/>
          <a:p>
            <a:pPr marL="0" marR="0" lvl="0" indent="0" defTabSz="914400" rtl="0" eaLnBrk="1" fontAlgn="auto" latinLnBrk="0" hangingPunct="1">
              <a:spcBef>
                <a:spcPts val="0"/>
              </a:spcBef>
              <a:spcAft>
                <a:spcPts val="600"/>
              </a:spcAft>
              <a:buClrTx/>
              <a:buSzTx/>
              <a:buFontTx/>
              <a:buNone/>
              <a:tabLst/>
              <a:defRPr/>
            </a:pPr>
            <a:fld id="{1ED87AFC-F3F3-4E09-A9D9-1873FFB55ECB}" type="slidenum">
              <a:rPr kumimoji="0" lang="en-GB" b="1" i="0" u="none" strike="noStrike" kern="1200" cap="none" spc="0" normalizeH="0" baseline="0" noProof="0" smtClean="0">
                <a:ln>
                  <a:noFill/>
                </a:ln>
                <a:effectLst/>
                <a:uLnTx/>
                <a:uFillTx/>
                <a:latin typeface="Calibri" panose="020F0502020204030204"/>
                <a:ea typeface="+mn-ea"/>
                <a:cs typeface="+mn-cs"/>
              </a:rPr>
              <a:pPr marL="0" marR="0" lvl="0" indent="0" defTabSz="914400" rtl="0" eaLnBrk="1" fontAlgn="auto" latinLnBrk="0" hangingPunct="1">
                <a:spcBef>
                  <a:spcPts val="0"/>
                </a:spcBef>
                <a:spcAft>
                  <a:spcPts val="600"/>
                </a:spcAft>
                <a:buClrTx/>
                <a:buSzTx/>
                <a:buFontTx/>
                <a:buNone/>
                <a:tabLst/>
                <a:defRPr/>
              </a:pPr>
              <a:t>21</a:t>
            </a:fld>
            <a:endParaRPr kumimoji="0" lang="en-GB" b="1" i="0" u="none" strike="noStrike" kern="1200" cap="none" spc="0" normalizeH="0" baseline="0" noProof="0">
              <a:ln>
                <a:noFill/>
              </a:ln>
              <a:effectLst/>
              <a:uLnTx/>
              <a:uFillTx/>
              <a:latin typeface="Calibri" panose="020F0502020204030204"/>
              <a:ea typeface="+mn-ea"/>
              <a:cs typeface="+mn-cs"/>
            </a:endParaRPr>
          </a:p>
        </p:txBody>
      </p:sp>
    </p:spTree>
    <p:extLst>
      <p:ext uri="{BB962C8B-B14F-4D97-AF65-F5344CB8AC3E}">
        <p14:creationId xmlns:p14="http://schemas.microsoft.com/office/powerpoint/2010/main" val="2933303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B8E94FC-460B-FD17-D7EF-A942AE3077FA}"/>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4FED84A-F310-A33D-D7E2-E28C73111929}"/>
              </a:ext>
            </a:extLst>
          </p:cNvPr>
          <p:cNvSpPr>
            <a:spLocks noGrp="1"/>
          </p:cNvSpPr>
          <p:nvPr>
            <p:ph type="title"/>
          </p:nvPr>
        </p:nvSpPr>
        <p:spPr>
          <a:xfrm>
            <a:off x="572493" y="238539"/>
            <a:ext cx="11018520" cy="1434415"/>
          </a:xfrm>
        </p:spPr>
        <p:txBody>
          <a:bodyPr anchor="b">
            <a:normAutofit/>
          </a:bodyPr>
          <a:lstStyle/>
          <a:p>
            <a:r>
              <a:rPr lang="en-GB" sz="5000" b="1"/>
              <a:t>Position and Displacement - Examples</a:t>
            </a:r>
          </a:p>
        </p:txBody>
      </p:sp>
      <p:sp>
        <p:nvSpPr>
          <p:cNvPr id="12"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40289E17-3381-5007-DB09-7D5B22184651}"/>
              </a:ext>
            </a:extLst>
          </p:cNvPr>
          <p:cNvSpPr>
            <a:spLocks noGrp="1"/>
          </p:cNvSpPr>
          <p:nvPr>
            <p:ph idx="1"/>
          </p:nvPr>
        </p:nvSpPr>
        <p:spPr>
          <a:xfrm>
            <a:off x="572493" y="2071316"/>
            <a:ext cx="6713552" cy="4119172"/>
          </a:xfrm>
        </p:spPr>
        <p:txBody>
          <a:bodyPr anchor="t">
            <a:normAutofit/>
          </a:bodyPr>
          <a:lstStyle/>
          <a:p>
            <a:r>
              <a:rPr lang="en-GB" sz="1700" b="1" i="1"/>
              <a:t>Position </a:t>
            </a:r>
          </a:p>
          <a:p>
            <a:pPr lvl="1"/>
            <a:r>
              <a:rPr lang="en-GB" sz="1700"/>
              <a:t>How far from the charging station?</a:t>
            </a:r>
          </a:p>
          <a:p>
            <a:pPr lvl="1"/>
            <a:r>
              <a:rPr lang="en-GB" sz="1700"/>
              <a:t>How close is the end effector to the input tray?</a:t>
            </a:r>
          </a:p>
          <a:p>
            <a:r>
              <a:rPr lang="en-GB" sz="1700" b="1" i="1"/>
              <a:t>Position Sensor</a:t>
            </a:r>
          </a:p>
          <a:p>
            <a:pPr lvl="1"/>
            <a:r>
              <a:rPr lang="en-GB" sz="1700"/>
              <a:t>Ruler, protractor</a:t>
            </a:r>
          </a:p>
          <a:p>
            <a:pPr lvl="1"/>
            <a:r>
              <a:rPr lang="en-GB" sz="1700"/>
              <a:t>Encoders</a:t>
            </a:r>
          </a:p>
          <a:p>
            <a:pPr lvl="1"/>
            <a:r>
              <a:rPr lang="en-GB" sz="1700"/>
              <a:t>Linear and angular variable resistors</a:t>
            </a:r>
          </a:p>
          <a:p>
            <a:pPr lvl="1"/>
            <a:r>
              <a:rPr lang="en-GB" sz="1700"/>
              <a:t>Draw string sensors</a:t>
            </a:r>
          </a:p>
          <a:p>
            <a:r>
              <a:rPr lang="en-GB" sz="1700" b="1" i="1"/>
              <a:t>Displacement</a:t>
            </a:r>
          </a:p>
          <a:p>
            <a:pPr lvl="1"/>
            <a:r>
              <a:rPr lang="en-GB" sz="1700"/>
              <a:t>How for has the mobile robot moved?</a:t>
            </a:r>
          </a:p>
          <a:p>
            <a:r>
              <a:rPr lang="en-GB" sz="1700" b="1" i="1"/>
              <a:t>Displacement sensor</a:t>
            </a:r>
          </a:p>
          <a:p>
            <a:pPr lvl="1"/>
            <a:r>
              <a:rPr lang="en-GB" sz="1700"/>
              <a:t>Normally the same devices are used but you are measuring from a different point</a:t>
            </a:r>
          </a:p>
          <a:p>
            <a:endParaRPr lang="en-GB" sz="1700"/>
          </a:p>
        </p:txBody>
      </p:sp>
      <p:pic>
        <p:nvPicPr>
          <p:cNvPr id="5" name="Picture 4">
            <a:extLst>
              <a:ext uri="{FF2B5EF4-FFF2-40B4-BE49-F238E27FC236}">
                <a16:creationId xmlns:a16="http://schemas.microsoft.com/office/drawing/2014/main" id="{4C3933D6-C7A1-2EB6-6C6F-BC864E286996}"/>
              </a:ext>
            </a:extLst>
          </p:cNvPr>
          <p:cNvPicPr>
            <a:picLocks noChangeAspect="1"/>
          </p:cNvPicPr>
          <p:nvPr/>
        </p:nvPicPr>
        <p:blipFill>
          <a:blip r:embed="rId2"/>
          <a:srcRect l="1453" r="10757" b="-3"/>
          <a:stretch/>
        </p:blipFill>
        <p:spPr>
          <a:xfrm>
            <a:off x="7675658" y="2093976"/>
            <a:ext cx="3941064" cy="4096512"/>
          </a:xfrm>
          <a:prstGeom prst="rect">
            <a:avLst/>
          </a:prstGeom>
        </p:spPr>
      </p:pic>
      <p:sp>
        <p:nvSpPr>
          <p:cNvPr id="4" name="Slide Number Placeholder 3">
            <a:extLst>
              <a:ext uri="{FF2B5EF4-FFF2-40B4-BE49-F238E27FC236}">
                <a16:creationId xmlns:a16="http://schemas.microsoft.com/office/drawing/2014/main" id="{80EC9F81-DC44-87CD-CB94-04CBA6730C58}"/>
              </a:ext>
            </a:extLst>
          </p:cNvPr>
          <p:cNvSpPr>
            <a:spLocks noGrp="1"/>
          </p:cNvSpPr>
          <p:nvPr>
            <p:ph type="sldNum" sz="quarter" idx="12"/>
          </p:nvPr>
        </p:nvSpPr>
        <p:spPr>
          <a:xfrm>
            <a:off x="8610600" y="6356350"/>
            <a:ext cx="2743200" cy="365125"/>
          </a:xfrm>
        </p:spPr>
        <p:txBody>
          <a:bodyPr>
            <a:normAutofit/>
          </a:bodyPr>
          <a:lstStyle/>
          <a:p>
            <a:pPr marL="0" marR="0" lvl="0" indent="0" defTabSz="914400" rtl="0" eaLnBrk="1" fontAlgn="auto" latinLnBrk="0" hangingPunct="1">
              <a:spcBef>
                <a:spcPts val="0"/>
              </a:spcBef>
              <a:spcAft>
                <a:spcPts val="600"/>
              </a:spcAft>
              <a:buClrTx/>
              <a:buSzTx/>
              <a:buFontTx/>
              <a:buNone/>
              <a:tabLst/>
              <a:defRPr/>
            </a:pPr>
            <a:fld id="{1ED87AFC-F3F3-4E09-A9D9-1873FFB55ECB}" type="slidenum">
              <a:rPr kumimoji="0" lang="en-GB" b="1" i="0" u="none" strike="noStrike" kern="1200" cap="none" spc="0" normalizeH="0" baseline="0" noProof="0" smtClean="0">
                <a:ln>
                  <a:noFill/>
                </a:ln>
                <a:effectLst/>
                <a:uLnTx/>
                <a:uFillTx/>
                <a:latin typeface="Calibri" panose="020F0502020204030204"/>
                <a:ea typeface="+mn-ea"/>
                <a:cs typeface="+mn-cs"/>
              </a:rPr>
              <a:pPr marL="0" marR="0" lvl="0" indent="0" defTabSz="914400" rtl="0" eaLnBrk="1" fontAlgn="auto" latinLnBrk="0" hangingPunct="1">
                <a:spcBef>
                  <a:spcPts val="0"/>
                </a:spcBef>
                <a:spcAft>
                  <a:spcPts val="600"/>
                </a:spcAft>
                <a:buClrTx/>
                <a:buSzTx/>
                <a:buFontTx/>
                <a:buNone/>
                <a:tabLst/>
                <a:defRPr/>
              </a:pPr>
              <a:t>22</a:t>
            </a:fld>
            <a:endParaRPr kumimoji="0" lang="en-GB" b="1" i="0" u="none" strike="noStrike" kern="1200" cap="none" spc="0" normalizeH="0" baseline="0" noProof="0">
              <a:ln>
                <a:noFill/>
              </a:ln>
              <a:effectLst/>
              <a:uLnTx/>
              <a:uFillTx/>
              <a:latin typeface="Calibri" panose="020F0502020204030204"/>
              <a:ea typeface="+mn-ea"/>
              <a:cs typeface="+mn-cs"/>
            </a:endParaRPr>
          </a:p>
        </p:txBody>
      </p:sp>
    </p:spTree>
    <p:extLst>
      <p:ext uri="{BB962C8B-B14F-4D97-AF65-F5344CB8AC3E}">
        <p14:creationId xmlns:p14="http://schemas.microsoft.com/office/powerpoint/2010/main" val="3164879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1D5DA9E-7FCE-E6E1-C406-D4AD4ABD4D98}"/>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8F9CBE3F-79A8-4F8F-88D9-DAD03D0D28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DE0DF34E-6179-598B-E6D7-63C79DBEE2AF}"/>
              </a:ext>
            </a:extLst>
          </p:cNvPr>
          <p:cNvSpPr>
            <a:spLocks noGrp="1"/>
          </p:cNvSpPr>
          <p:nvPr>
            <p:ph type="title"/>
          </p:nvPr>
        </p:nvSpPr>
        <p:spPr>
          <a:xfrm>
            <a:off x="1522030" y="1209220"/>
            <a:ext cx="9147940" cy="2337238"/>
          </a:xfrm>
        </p:spPr>
        <p:txBody>
          <a:bodyPr vert="horz" lIns="91440" tIns="45720" rIns="91440" bIns="45720" rtlCol="0" anchor="b">
            <a:normAutofit/>
          </a:bodyPr>
          <a:lstStyle/>
          <a:p>
            <a:pPr algn="ctr"/>
            <a:r>
              <a:rPr lang="en-US" sz="5600" b="1" kern="1200" dirty="0">
                <a:solidFill>
                  <a:srgbClr val="FFFFFF"/>
                </a:solidFill>
                <a:latin typeface="+mj-lt"/>
                <a:ea typeface="+mj-ea"/>
                <a:cs typeface="+mj-cs"/>
              </a:rPr>
              <a:t>Potentiometers</a:t>
            </a:r>
          </a:p>
        </p:txBody>
      </p:sp>
      <p:sp>
        <p:nvSpPr>
          <p:cNvPr id="3" name="Subtitle 2">
            <a:extLst>
              <a:ext uri="{FF2B5EF4-FFF2-40B4-BE49-F238E27FC236}">
                <a16:creationId xmlns:a16="http://schemas.microsoft.com/office/drawing/2014/main" id="{35F2443D-A8E1-A1C7-0FBD-56393DCBCB17}"/>
              </a:ext>
            </a:extLst>
          </p:cNvPr>
          <p:cNvSpPr>
            <a:spLocks noGrp="1"/>
          </p:cNvSpPr>
          <p:nvPr>
            <p:ph type="body" idx="1"/>
          </p:nvPr>
        </p:nvSpPr>
        <p:spPr>
          <a:xfrm>
            <a:off x="1522030" y="3605577"/>
            <a:ext cx="9147940" cy="1324303"/>
          </a:xfrm>
        </p:spPr>
        <p:txBody>
          <a:bodyPr vert="horz" lIns="91440" tIns="45720" rIns="91440" bIns="45720" rtlCol="0" anchor="t">
            <a:normAutofit/>
          </a:bodyPr>
          <a:lstStyle/>
          <a:p>
            <a:pPr algn="ctr"/>
            <a:endParaRPr lang="en-US" sz="2000" kern="1200">
              <a:solidFill>
                <a:srgbClr val="FFFFFF"/>
              </a:solidFill>
              <a:latin typeface="+mn-lt"/>
              <a:ea typeface="+mn-ea"/>
              <a:cs typeface="+mn-cs"/>
            </a:endParaRPr>
          </a:p>
          <a:p>
            <a:pPr algn="ctr"/>
            <a:endParaRPr lang="en-US" sz="2000" kern="1200">
              <a:solidFill>
                <a:srgbClr val="FFFFFF"/>
              </a:solidFill>
              <a:latin typeface="+mn-lt"/>
              <a:ea typeface="+mn-ea"/>
              <a:cs typeface="+mn-cs"/>
            </a:endParaRPr>
          </a:p>
        </p:txBody>
      </p:sp>
      <p:sp>
        <p:nvSpPr>
          <p:cNvPr id="7" name="Graphic 22">
            <a:extLst>
              <a:ext uri="{FF2B5EF4-FFF2-40B4-BE49-F238E27FC236}">
                <a16:creationId xmlns:a16="http://schemas.microsoft.com/office/drawing/2014/main" id="{508BEF50-7B1E-49A4-BC19-5F4F1D755E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1869" y="2383077"/>
            <a:ext cx="151536" cy="151536"/>
          </a:xfrm>
          <a:custGeom>
            <a:avLst/>
            <a:gdLst>
              <a:gd name="connsiteX0" fmla="*/ 141251 w 151536"/>
              <a:gd name="connsiteY0" fmla="*/ 65483 h 151536"/>
              <a:gd name="connsiteX1" fmla="*/ 86053 w 151536"/>
              <a:gd name="connsiteY1" fmla="*/ 65483 h 151536"/>
              <a:gd name="connsiteX2" fmla="*/ 86053 w 151536"/>
              <a:gd name="connsiteY2" fmla="*/ 10285 h 151536"/>
              <a:gd name="connsiteX3" fmla="*/ 75768 w 151536"/>
              <a:gd name="connsiteY3" fmla="*/ 0 h 151536"/>
              <a:gd name="connsiteX4" fmla="*/ 65483 w 151536"/>
              <a:gd name="connsiteY4" fmla="*/ 10285 h 151536"/>
              <a:gd name="connsiteX5" fmla="*/ 65483 w 151536"/>
              <a:gd name="connsiteY5" fmla="*/ 65483 h 151536"/>
              <a:gd name="connsiteX6" fmla="*/ 10285 w 151536"/>
              <a:gd name="connsiteY6" fmla="*/ 65483 h 151536"/>
              <a:gd name="connsiteX7" fmla="*/ 0 w 151536"/>
              <a:gd name="connsiteY7" fmla="*/ 75768 h 151536"/>
              <a:gd name="connsiteX8" fmla="*/ 10285 w 151536"/>
              <a:gd name="connsiteY8" fmla="*/ 86053 h 151536"/>
              <a:gd name="connsiteX9" fmla="*/ 65483 w 151536"/>
              <a:gd name="connsiteY9" fmla="*/ 86053 h 151536"/>
              <a:gd name="connsiteX10" fmla="*/ 65483 w 151536"/>
              <a:gd name="connsiteY10" fmla="*/ 141251 h 151536"/>
              <a:gd name="connsiteX11" fmla="*/ 75768 w 151536"/>
              <a:gd name="connsiteY11" fmla="*/ 151536 h 151536"/>
              <a:gd name="connsiteX12" fmla="*/ 86053 w 151536"/>
              <a:gd name="connsiteY12" fmla="*/ 141251 h 151536"/>
              <a:gd name="connsiteX13" fmla="*/ 86053 w 151536"/>
              <a:gd name="connsiteY13" fmla="*/ 86053 h 151536"/>
              <a:gd name="connsiteX14" fmla="*/ 141251 w 151536"/>
              <a:gd name="connsiteY14" fmla="*/ 86053 h 151536"/>
              <a:gd name="connsiteX15" fmla="*/ 151536 w 151536"/>
              <a:gd name="connsiteY15" fmla="*/ 75768 h 151536"/>
              <a:gd name="connsiteX16" fmla="*/ 141251 w 151536"/>
              <a:gd name="connsiteY16" fmla="*/ 65483 h 15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536" h="151536">
                <a:moveTo>
                  <a:pt x="141251" y="65483"/>
                </a:moveTo>
                <a:lnTo>
                  <a:pt x="86053" y="65483"/>
                </a:lnTo>
                <a:lnTo>
                  <a:pt x="86053" y="10285"/>
                </a:lnTo>
                <a:cubicBezTo>
                  <a:pt x="86053" y="4605"/>
                  <a:pt x="81448" y="0"/>
                  <a:pt x="75768" y="0"/>
                </a:cubicBezTo>
                <a:cubicBezTo>
                  <a:pt x="70088" y="0"/>
                  <a:pt x="65483" y="4605"/>
                  <a:pt x="65483" y="10285"/>
                </a:cubicBezTo>
                <a:lnTo>
                  <a:pt x="65483" y="65483"/>
                </a:lnTo>
                <a:lnTo>
                  <a:pt x="10285" y="65483"/>
                </a:lnTo>
                <a:cubicBezTo>
                  <a:pt x="4605" y="65483"/>
                  <a:pt x="0" y="70088"/>
                  <a:pt x="0" y="75768"/>
                </a:cubicBezTo>
                <a:cubicBezTo>
                  <a:pt x="0" y="81448"/>
                  <a:pt x="4605" y="86053"/>
                  <a:pt x="10285" y="86053"/>
                </a:cubicBezTo>
                <a:lnTo>
                  <a:pt x="65483" y="86053"/>
                </a:lnTo>
                <a:lnTo>
                  <a:pt x="65483" y="141251"/>
                </a:lnTo>
                <a:cubicBezTo>
                  <a:pt x="65483" y="146931"/>
                  <a:pt x="70088" y="151536"/>
                  <a:pt x="75768" y="151536"/>
                </a:cubicBezTo>
                <a:cubicBezTo>
                  <a:pt x="81448" y="151536"/>
                  <a:pt x="86053" y="146931"/>
                  <a:pt x="86053" y="141251"/>
                </a:cubicBezTo>
                <a:lnTo>
                  <a:pt x="86053" y="86053"/>
                </a:lnTo>
                <a:lnTo>
                  <a:pt x="141251" y="86053"/>
                </a:lnTo>
                <a:cubicBezTo>
                  <a:pt x="146931" y="86053"/>
                  <a:pt x="151536" y="81448"/>
                  <a:pt x="151536" y="75768"/>
                </a:cubicBezTo>
                <a:cubicBezTo>
                  <a:pt x="151536" y="70088"/>
                  <a:pt x="146931" y="65483"/>
                  <a:pt x="141251" y="65483"/>
                </a:cubicBezTo>
                <a:close/>
              </a:path>
            </a:pathLst>
          </a:custGeom>
          <a:solidFill>
            <a:srgbClr val="FFFFFF"/>
          </a:solidFill>
          <a:ln w="646" cap="flat">
            <a:noFill/>
            <a:prstDash val="solid"/>
            <a:miter/>
          </a:ln>
        </p:spPr>
        <p:txBody>
          <a:bodyPr rtlCol="0" anchor="ctr"/>
          <a:lstStyle/>
          <a:p>
            <a:endParaRPr lang="en-US">
              <a:solidFill>
                <a:srgbClr val="FFFFFF"/>
              </a:solidFill>
            </a:endParaRPr>
          </a:p>
        </p:txBody>
      </p:sp>
      <p:sp>
        <p:nvSpPr>
          <p:cNvPr id="8"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724364" y="2265467"/>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endParaRPr lang="en-US">
              <a:solidFill>
                <a:srgbClr val="FFFFFF"/>
              </a:solidFill>
            </a:endParaRPr>
          </a:p>
        </p:txBody>
      </p:sp>
      <p:sp>
        <p:nvSpPr>
          <p:cNvPr id="10"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24834" y="2537201"/>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endParaRPr lang="en-US">
              <a:solidFill>
                <a:srgbClr val="FFFFFF"/>
              </a:solidFill>
            </a:endParaRPr>
          </a:p>
        </p:txBody>
      </p:sp>
      <p:sp>
        <p:nvSpPr>
          <p:cNvPr id="12" name="Graphic 21">
            <a:extLst>
              <a:ext uri="{FF2B5EF4-FFF2-40B4-BE49-F238E27FC236}">
                <a16:creationId xmlns:a16="http://schemas.microsoft.com/office/drawing/2014/main" id="{C39ADB8F-D187-49D7-BDCF-C1B6DC7270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4053" y="2832967"/>
            <a:ext cx="95759" cy="95759"/>
          </a:xfrm>
          <a:custGeom>
            <a:avLst/>
            <a:gdLst>
              <a:gd name="connsiteX0" fmla="*/ 95759 w 95759"/>
              <a:gd name="connsiteY0" fmla="*/ 47880 h 95759"/>
              <a:gd name="connsiteX1" fmla="*/ 47880 w 95759"/>
              <a:gd name="connsiteY1" fmla="*/ 95759 h 95759"/>
              <a:gd name="connsiteX2" fmla="*/ 0 w 95759"/>
              <a:gd name="connsiteY2" fmla="*/ 47880 h 95759"/>
              <a:gd name="connsiteX3" fmla="*/ 47880 w 95759"/>
              <a:gd name="connsiteY3" fmla="*/ 0 h 95759"/>
              <a:gd name="connsiteX4" fmla="*/ 95759 w 95759"/>
              <a:gd name="connsiteY4" fmla="*/ 47880 h 95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59" h="95759">
                <a:moveTo>
                  <a:pt x="95759" y="47880"/>
                </a:moveTo>
                <a:cubicBezTo>
                  <a:pt x="95759" y="74323"/>
                  <a:pt x="74323" y="95759"/>
                  <a:pt x="47880" y="95759"/>
                </a:cubicBezTo>
                <a:cubicBezTo>
                  <a:pt x="21436" y="95759"/>
                  <a:pt x="0" y="74323"/>
                  <a:pt x="0" y="47880"/>
                </a:cubicBezTo>
                <a:cubicBezTo>
                  <a:pt x="0" y="21436"/>
                  <a:pt x="21436" y="0"/>
                  <a:pt x="47880" y="0"/>
                </a:cubicBezTo>
                <a:cubicBezTo>
                  <a:pt x="74323" y="0"/>
                  <a:pt x="95759" y="21436"/>
                  <a:pt x="95759" y="47880"/>
                </a:cubicBezTo>
                <a:close/>
              </a:path>
            </a:pathLst>
          </a:custGeom>
          <a:solidFill>
            <a:srgbClr val="FFFFFF"/>
          </a:solidFill>
          <a:ln w="469" cap="flat">
            <a:noFill/>
            <a:prstDash val="solid"/>
            <a:miter/>
          </a:ln>
        </p:spPr>
        <p:txBody>
          <a:bodyPr rtlCol="0" anchor="ctr"/>
          <a:lstStyle/>
          <a:p>
            <a:endParaRPr lang="en-US">
              <a:solidFill>
                <a:srgbClr val="FFFFFF"/>
              </a:solidFill>
            </a:endParaRPr>
          </a:p>
        </p:txBody>
      </p:sp>
      <p:sp>
        <p:nvSpPr>
          <p:cNvPr id="14"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772266" y="2803988"/>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endParaRPr lang="en-US">
              <a:solidFill>
                <a:srgbClr val="FFFFFF"/>
              </a:solidFill>
            </a:endParaRPr>
          </a:p>
        </p:txBody>
      </p:sp>
      <p:sp>
        <p:nvSpPr>
          <p:cNvPr id="16" name="Graphic 23">
            <a:extLst>
              <a:ext uri="{FF2B5EF4-FFF2-40B4-BE49-F238E27FC236}">
                <a16:creationId xmlns:a16="http://schemas.microsoft.com/office/drawing/2014/main" id="{3FBAD350-5664-4811-A208-657FB882D3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13405" y="3242499"/>
            <a:ext cx="108625" cy="108625"/>
          </a:xfrm>
          <a:custGeom>
            <a:avLst/>
            <a:gdLst>
              <a:gd name="connsiteX0" fmla="*/ 54313 w 108625"/>
              <a:gd name="connsiteY0" fmla="*/ 16053 h 108625"/>
              <a:gd name="connsiteX1" fmla="*/ 92572 w 108625"/>
              <a:gd name="connsiteY1" fmla="*/ 54313 h 108625"/>
              <a:gd name="connsiteX2" fmla="*/ 54313 w 108625"/>
              <a:gd name="connsiteY2" fmla="*/ 92572 h 108625"/>
              <a:gd name="connsiteX3" fmla="*/ 16053 w 108625"/>
              <a:gd name="connsiteY3" fmla="*/ 54313 h 108625"/>
              <a:gd name="connsiteX4" fmla="*/ 54313 w 108625"/>
              <a:gd name="connsiteY4" fmla="*/ 16053 h 108625"/>
              <a:gd name="connsiteX5" fmla="*/ 54313 w 108625"/>
              <a:gd name="connsiteY5" fmla="*/ 0 h 108625"/>
              <a:gd name="connsiteX6" fmla="*/ 0 w 108625"/>
              <a:gd name="connsiteY6" fmla="*/ 54313 h 108625"/>
              <a:gd name="connsiteX7" fmla="*/ 54313 w 108625"/>
              <a:gd name="connsiteY7" fmla="*/ 108625 h 108625"/>
              <a:gd name="connsiteX8" fmla="*/ 108625 w 108625"/>
              <a:gd name="connsiteY8" fmla="*/ 54313 h 108625"/>
              <a:gd name="connsiteX9" fmla="*/ 54313 w 108625"/>
              <a:gd name="connsiteY9" fmla="*/ 0 h 10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625" h="108625">
                <a:moveTo>
                  <a:pt x="54313" y="16053"/>
                </a:moveTo>
                <a:cubicBezTo>
                  <a:pt x="75442" y="16053"/>
                  <a:pt x="92572" y="33182"/>
                  <a:pt x="92572" y="54313"/>
                </a:cubicBezTo>
                <a:cubicBezTo>
                  <a:pt x="92572" y="75442"/>
                  <a:pt x="75442" y="92572"/>
                  <a:pt x="54313" y="92572"/>
                </a:cubicBezTo>
                <a:cubicBezTo>
                  <a:pt x="33182" y="92572"/>
                  <a:pt x="16053" y="75442"/>
                  <a:pt x="16053" y="54313"/>
                </a:cubicBezTo>
                <a:cubicBezTo>
                  <a:pt x="16074" y="33191"/>
                  <a:pt x="33191" y="16074"/>
                  <a:pt x="54313" y="16053"/>
                </a:cubicBezTo>
                <a:moveTo>
                  <a:pt x="54313" y="0"/>
                </a:moveTo>
                <a:cubicBezTo>
                  <a:pt x="24317" y="0"/>
                  <a:pt x="0" y="24317"/>
                  <a:pt x="0" y="54313"/>
                </a:cubicBezTo>
                <a:cubicBezTo>
                  <a:pt x="0" y="84309"/>
                  <a:pt x="24317" y="108625"/>
                  <a:pt x="54313" y="108625"/>
                </a:cubicBezTo>
                <a:cubicBezTo>
                  <a:pt x="84309" y="108625"/>
                  <a:pt x="108625" y="84309"/>
                  <a:pt x="108625" y="54313"/>
                </a:cubicBezTo>
                <a:cubicBezTo>
                  <a:pt x="108625" y="24317"/>
                  <a:pt x="84309" y="0"/>
                  <a:pt x="54313" y="0"/>
                </a:cubicBezTo>
                <a:close/>
              </a:path>
            </a:pathLst>
          </a:custGeom>
          <a:solidFill>
            <a:srgbClr val="FFFFFF"/>
          </a:solidFill>
          <a:ln w="516" cap="flat">
            <a:noFill/>
            <a:prstDash val="solid"/>
            <a:miter/>
          </a:ln>
        </p:spPr>
        <p:txBody>
          <a:bodyPr rtlCol="0" anchor="ctr"/>
          <a:lstStyle/>
          <a:p>
            <a:endParaRPr lang="en-US">
              <a:solidFill>
                <a:srgbClr val="FFFFFF"/>
              </a:solidFill>
            </a:endParaRPr>
          </a:p>
        </p:txBody>
      </p:sp>
      <p:cxnSp>
        <p:nvCxnSpPr>
          <p:cNvPr id="18" name="Straight Connector 17">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5831729"/>
            <a:ext cx="12188952" cy="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
        <p:nvSpPr>
          <p:cNvPr id="4" name="Slide Number Placeholder 3">
            <a:extLst>
              <a:ext uri="{FF2B5EF4-FFF2-40B4-BE49-F238E27FC236}">
                <a16:creationId xmlns:a16="http://schemas.microsoft.com/office/drawing/2014/main" id="{0913F739-F2F4-5EA5-4410-CC4234BD41EE}"/>
              </a:ext>
            </a:extLst>
          </p:cNvPr>
          <p:cNvSpPr>
            <a:spLocks noGrp="1"/>
          </p:cNvSpPr>
          <p:nvPr>
            <p:ph type="sldNum" sz="quarter" idx="12"/>
          </p:nvPr>
        </p:nvSpPr>
        <p:spPr>
          <a:xfrm>
            <a:off x="8610600" y="6133916"/>
            <a:ext cx="2743200" cy="365125"/>
          </a:xfrm>
        </p:spPr>
        <p:txBody>
          <a:bodyPr vert="horz" lIns="91440" tIns="45720" rIns="91440" bIns="45720" rtlCol="0" anchor="ctr">
            <a:normAutofit/>
          </a:bodyPr>
          <a:lstStyle/>
          <a:p>
            <a:pPr marR="0" lvl="0" indent="0" fontAlgn="auto">
              <a:spcBef>
                <a:spcPts val="0"/>
              </a:spcBef>
              <a:spcAft>
                <a:spcPts val="600"/>
              </a:spcAft>
              <a:buClrTx/>
              <a:buSzTx/>
              <a:buFontTx/>
              <a:buNone/>
              <a:tabLst/>
              <a:defRPr/>
            </a:pPr>
            <a:fld id="{1ED87AFC-F3F3-4E09-A9D9-1873FFB55ECB}" type="slidenum">
              <a:rPr kumimoji="0" lang="en-US" b="1" i="0" u="none" strike="noStrike" cap="none" spc="0" normalizeH="0" baseline="0" noProof="0">
                <a:ln>
                  <a:noFill/>
                </a:ln>
                <a:solidFill>
                  <a:srgbClr val="FFFFFF"/>
                </a:solidFill>
                <a:effectLst/>
                <a:uLnTx/>
                <a:uFillTx/>
              </a:rPr>
              <a:pPr marR="0" lvl="0" indent="0" fontAlgn="auto">
                <a:spcBef>
                  <a:spcPts val="0"/>
                </a:spcBef>
                <a:spcAft>
                  <a:spcPts val="600"/>
                </a:spcAft>
                <a:buClrTx/>
                <a:buSzTx/>
                <a:buFontTx/>
                <a:buNone/>
                <a:tabLst/>
                <a:defRPr/>
              </a:pPr>
              <a:t>23</a:t>
            </a:fld>
            <a:endParaRPr kumimoji="0" lang="en-US" b="1" i="0" u="none" strike="noStrike" cap="none" spc="0" normalizeH="0" baseline="0" noProof="0">
              <a:ln>
                <a:noFill/>
              </a:ln>
              <a:solidFill>
                <a:srgbClr val="FFFFFF"/>
              </a:solidFill>
              <a:effectLst/>
              <a:uLnTx/>
              <a:uFillTx/>
            </a:endParaRPr>
          </a:p>
        </p:txBody>
      </p:sp>
    </p:spTree>
    <p:extLst>
      <p:ext uri="{BB962C8B-B14F-4D97-AF65-F5344CB8AC3E}">
        <p14:creationId xmlns:p14="http://schemas.microsoft.com/office/powerpoint/2010/main" val="3305249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a:xfrm>
            <a:off x="572493" y="238539"/>
            <a:ext cx="11018520" cy="1434415"/>
          </a:xfrm>
        </p:spPr>
        <p:txBody>
          <a:bodyPr vert="horz" lIns="91440" tIns="45720" rIns="91440" bIns="45720" rtlCol="0" anchor="b">
            <a:normAutofit/>
          </a:bodyPr>
          <a:lstStyle/>
          <a:p>
            <a:r>
              <a:rPr lang="en-US" sz="5400" b="1"/>
              <a:t>Potentiometers</a:t>
            </a:r>
          </a:p>
        </p:txBody>
      </p:sp>
      <p:sp>
        <p:nvSpPr>
          <p:cNvPr id="14"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0EC2D61B-0204-42F3-52E6-931A9496968D}"/>
              </a:ext>
            </a:extLst>
          </p:cNvPr>
          <p:cNvSpPr>
            <a:spLocks noGrp="1"/>
          </p:cNvSpPr>
          <p:nvPr>
            <p:ph sz="half" idx="1"/>
          </p:nvPr>
        </p:nvSpPr>
        <p:spPr>
          <a:xfrm>
            <a:off x="572493" y="2071316"/>
            <a:ext cx="6713552" cy="4119172"/>
          </a:xfrm>
        </p:spPr>
        <p:txBody>
          <a:bodyPr vert="horz" lIns="91440" tIns="45720" rIns="91440" bIns="45720" rtlCol="0" anchor="t">
            <a:normAutofit/>
          </a:bodyPr>
          <a:lstStyle/>
          <a:p>
            <a:r>
              <a:rPr lang="en-US" sz="2200" dirty="0"/>
              <a:t>What can potentiometers be used for?</a:t>
            </a:r>
          </a:p>
          <a:p>
            <a:pPr lvl="1"/>
            <a:r>
              <a:rPr lang="en-US" sz="2200" dirty="0"/>
              <a:t>Provide the position (with suitable calculations) of rotational joints</a:t>
            </a:r>
          </a:p>
          <a:p>
            <a:pPr lvl="1"/>
            <a:r>
              <a:rPr lang="en-US" sz="2200" dirty="0"/>
              <a:t>A potentiometer converts position information into a variable voltage through a resistor</a:t>
            </a:r>
          </a:p>
          <a:p>
            <a:r>
              <a:rPr lang="en-GB" sz="2200" dirty="0"/>
              <a:t>As the sliding contact (wiper) slides along the resistor, the proportion of resistance before or after the wiper contact point varies compared to the total resistance</a:t>
            </a:r>
          </a:p>
          <a:p>
            <a:r>
              <a:rPr lang="en-GB" sz="2200" dirty="0"/>
              <a:t>With a constant input voltage, V</a:t>
            </a:r>
            <a:r>
              <a:rPr lang="en-GB" sz="2200" baseline="-25000" dirty="0"/>
              <a:t>S</a:t>
            </a:r>
            <a:r>
              <a:rPr lang="en-GB" sz="2200" dirty="0"/>
              <a:t>, the output voltage, </a:t>
            </a:r>
            <a:r>
              <a:rPr lang="en-GB" sz="2200" dirty="0" err="1"/>
              <a:t>V</a:t>
            </a:r>
            <a:r>
              <a:rPr lang="en-GB" sz="2200" baseline="-25000" dirty="0" err="1"/>
              <a:t>out</a:t>
            </a:r>
            <a:r>
              <a:rPr lang="en-GB" sz="2200" dirty="0"/>
              <a:t>, is a fraction of the input voltage</a:t>
            </a:r>
          </a:p>
        </p:txBody>
      </p:sp>
      <p:pic>
        <p:nvPicPr>
          <p:cNvPr id="7" name="Content Placeholder 6">
            <a:extLst>
              <a:ext uri="{FF2B5EF4-FFF2-40B4-BE49-F238E27FC236}">
                <a16:creationId xmlns:a16="http://schemas.microsoft.com/office/drawing/2014/main" id="{07290135-E524-9A2E-9A6D-84717156C218}"/>
              </a:ext>
            </a:extLst>
          </p:cNvPr>
          <p:cNvPicPr>
            <a:picLocks noGrp="1" noChangeAspect="1"/>
          </p:cNvPicPr>
          <p:nvPr>
            <p:ph sz="half" idx="2"/>
          </p:nvPr>
        </p:nvPicPr>
        <p:blipFill>
          <a:blip r:embed="rId2"/>
          <a:srcRect t="11388" r="-3" b="-3"/>
          <a:stretch/>
        </p:blipFill>
        <p:spPr>
          <a:xfrm>
            <a:off x="7675658" y="2093976"/>
            <a:ext cx="3941064" cy="4096512"/>
          </a:xfrm>
          <a:prstGeom prst="rect">
            <a:avLst/>
          </a:prstGeom>
        </p:spPr>
      </p:pic>
      <p:sp>
        <p:nvSpPr>
          <p:cNvPr id="4" name="Slide Number Placeholder 3">
            <a:extLst>
              <a:ext uri="{FF2B5EF4-FFF2-40B4-BE49-F238E27FC236}">
                <a16:creationId xmlns:a16="http://schemas.microsoft.com/office/drawing/2014/main" id="{1A2050B1-DF37-2DFC-FDF3-0B4F63C76D7E}"/>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defRPr/>
            </a:pPr>
            <a:fld id="{1ED87AFC-F3F3-4E09-A9D9-1873FFB55ECB}" type="slidenum">
              <a:rPr lang="en-US" smtClean="0">
                <a:solidFill>
                  <a:prstClr val="black">
                    <a:tint val="75000"/>
                  </a:prstClr>
                </a:solidFill>
                <a:latin typeface="Calibri" panose="020F0502020204030204"/>
              </a:rPr>
              <a:pPr>
                <a:spcAft>
                  <a:spcPts val="600"/>
                </a:spcAft>
                <a:defRPr/>
              </a:pPr>
              <a:t>24</a:t>
            </a:fld>
            <a:endParaRPr lang="en-US">
              <a:solidFill>
                <a:prstClr val="black">
                  <a:tint val="75000"/>
                </a:prstClr>
              </a:solidFill>
              <a:latin typeface="Calibri" panose="020F0502020204030204"/>
            </a:endParaRPr>
          </a:p>
        </p:txBody>
      </p:sp>
    </p:spTree>
    <p:extLst>
      <p:ext uri="{BB962C8B-B14F-4D97-AF65-F5344CB8AC3E}">
        <p14:creationId xmlns:p14="http://schemas.microsoft.com/office/powerpoint/2010/main" val="163429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CD36D38-35AB-0982-E3DC-D081A2E78198}"/>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C302262B-7562-B9CD-7B45-1314DB157A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6F1E3AD4-9EE3-E301-E299-2390B606A9FE}"/>
              </a:ext>
            </a:extLst>
          </p:cNvPr>
          <p:cNvSpPr>
            <a:spLocks noGrp="1"/>
          </p:cNvSpPr>
          <p:nvPr>
            <p:ph type="title"/>
          </p:nvPr>
        </p:nvSpPr>
        <p:spPr>
          <a:xfrm>
            <a:off x="572493" y="238539"/>
            <a:ext cx="11018520" cy="1434415"/>
          </a:xfrm>
        </p:spPr>
        <p:txBody>
          <a:bodyPr vert="horz" lIns="91440" tIns="45720" rIns="91440" bIns="45720" rtlCol="0" anchor="b">
            <a:normAutofit/>
          </a:bodyPr>
          <a:lstStyle/>
          <a:p>
            <a:r>
              <a:rPr lang="en-US" sz="5400" b="1"/>
              <a:t>Potentiometers</a:t>
            </a:r>
          </a:p>
        </p:txBody>
      </p:sp>
      <p:sp>
        <p:nvSpPr>
          <p:cNvPr id="14" name="sketchy line">
            <a:extLst>
              <a:ext uri="{FF2B5EF4-FFF2-40B4-BE49-F238E27FC236}">
                <a16:creationId xmlns:a16="http://schemas.microsoft.com/office/drawing/2014/main" id="{AD70F5C3-E934-A709-EC3C-95A2858143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Subtitle 2">
            <a:extLst>
              <a:ext uri="{FF2B5EF4-FFF2-40B4-BE49-F238E27FC236}">
                <a16:creationId xmlns:a16="http://schemas.microsoft.com/office/drawing/2014/main" id="{78453AEB-13AF-8A20-9421-0B3767585952}"/>
              </a:ext>
            </a:extLst>
          </p:cNvPr>
          <p:cNvSpPr>
            <a:spLocks noGrp="1"/>
          </p:cNvSpPr>
          <p:nvPr>
            <p:ph sz="half" idx="1"/>
          </p:nvPr>
        </p:nvSpPr>
        <p:spPr>
          <a:xfrm>
            <a:off x="572493" y="2071316"/>
            <a:ext cx="5761805" cy="4119172"/>
          </a:xfrm>
        </p:spPr>
        <p:txBody>
          <a:bodyPr vert="horz" lIns="91440" tIns="45720" rIns="91440" bIns="45720" rtlCol="0" anchor="t">
            <a:normAutofit/>
          </a:bodyPr>
          <a:lstStyle/>
          <a:p>
            <a:r>
              <a:rPr lang="en-GB" sz="2200" dirty="0"/>
              <a:t>Potentiometers are available in both linear and rotary forms and can be used to measure linear or angular motion</a:t>
            </a:r>
          </a:p>
          <a:p>
            <a:r>
              <a:rPr lang="en-GB" sz="2200" dirty="0"/>
              <a:t>The resistor is in the form of a track along the potentiometer</a:t>
            </a:r>
          </a:p>
          <a:p>
            <a:r>
              <a:rPr lang="en-GB" sz="2200" dirty="0"/>
              <a:t>This track may be of thin film of a resistive material such as carbon, conductive ceramic, conductive plastic or metal</a:t>
            </a:r>
          </a:p>
          <a:p>
            <a:r>
              <a:rPr lang="en-GB" sz="2200" dirty="0"/>
              <a:t>Alternatively wire wound potentiometers are used with the track consisting of a highly resistive wire wound on to anodised aluminium</a:t>
            </a:r>
          </a:p>
        </p:txBody>
      </p:sp>
      <p:sp>
        <p:nvSpPr>
          <p:cNvPr id="4" name="Slide Number Placeholder 3">
            <a:extLst>
              <a:ext uri="{FF2B5EF4-FFF2-40B4-BE49-F238E27FC236}">
                <a16:creationId xmlns:a16="http://schemas.microsoft.com/office/drawing/2014/main" id="{978AD06B-B7FF-6652-A4CB-A140CF3C5FCD}"/>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1ED87AFC-F3F3-4E09-A9D9-1873FFB55EC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25</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8" name="Content Placeholder 7">
            <a:extLst>
              <a:ext uri="{FF2B5EF4-FFF2-40B4-BE49-F238E27FC236}">
                <a16:creationId xmlns:a16="http://schemas.microsoft.com/office/drawing/2014/main" id="{13D6FFB3-0533-0FC7-2FE8-CC751A37765C}"/>
              </a:ext>
            </a:extLst>
          </p:cNvPr>
          <p:cNvPicPr>
            <a:picLocks noGrp="1" noChangeAspect="1"/>
          </p:cNvPicPr>
          <p:nvPr>
            <p:ph sz="half" idx="2"/>
          </p:nvPr>
        </p:nvPicPr>
        <p:blipFill>
          <a:blip r:embed="rId2"/>
          <a:stretch>
            <a:fillRect/>
          </a:stretch>
        </p:blipFill>
        <p:spPr>
          <a:xfrm>
            <a:off x="6172200" y="1994942"/>
            <a:ext cx="5181600" cy="4012703"/>
          </a:xfrm>
          <a:prstGeom prst="rect">
            <a:avLst/>
          </a:prstGeom>
        </p:spPr>
      </p:pic>
      <p:sp>
        <p:nvSpPr>
          <p:cNvPr id="9" name="TextBox 8">
            <a:extLst>
              <a:ext uri="{FF2B5EF4-FFF2-40B4-BE49-F238E27FC236}">
                <a16:creationId xmlns:a16="http://schemas.microsoft.com/office/drawing/2014/main" id="{2D497F43-1DCD-B412-5BEE-CB968E6CE971}"/>
              </a:ext>
            </a:extLst>
          </p:cNvPr>
          <p:cNvSpPr txBox="1"/>
          <p:nvPr/>
        </p:nvSpPr>
        <p:spPr>
          <a:xfrm>
            <a:off x="7667991" y="5876840"/>
            <a:ext cx="3923022" cy="261610"/>
          </a:xfrm>
          <a:prstGeom prst="rect">
            <a:avLst/>
          </a:prstGeom>
          <a:noFill/>
        </p:spPr>
        <p:txBody>
          <a:bodyPr wrap="square" rtlCol="0">
            <a:spAutoFit/>
          </a:bodyPr>
          <a:lstStyle/>
          <a:p>
            <a:r>
              <a:rPr lang="en-GB" sz="1100" dirty="0"/>
              <a:t>https://www.build-electronic-circuits.com/potentiometer/</a:t>
            </a:r>
          </a:p>
        </p:txBody>
      </p:sp>
    </p:spTree>
    <p:extLst>
      <p:ext uri="{BB962C8B-B14F-4D97-AF65-F5344CB8AC3E}">
        <p14:creationId xmlns:p14="http://schemas.microsoft.com/office/powerpoint/2010/main" val="2950975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a:xfrm>
            <a:off x="572493" y="238539"/>
            <a:ext cx="11018520" cy="1434415"/>
          </a:xfrm>
        </p:spPr>
        <p:txBody>
          <a:bodyPr vert="horz" lIns="91440" tIns="45720" rIns="91440" bIns="45720" rtlCol="0" anchor="b">
            <a:normAutofit/>
          </a:bodyPr>
          <a:lstStyle/>
          <a:p>
            <a:r>
              <a:rPr lang="en-US" sz="5400" b="1"/>
              <a:t>Potentiometers</a:t>
            </a:r>
          </a:p>
        </p:txBody>
      </p:sp>
      <p:sp>
        <p:nvSpPr>
          <p:cNvPr id="16"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0EC2D61B-0204-42F3-52E6-931A9496968D}"/>
              </a:ext>
            </a:extLst>
          </p:cNvPr>
          <p:cNvSpPr>
            <a:spLocks noGrp="1"/>
          </p:cNvSpPr>
          <p:nvPr>
            <p:ph sz="half" idx="1"/>
          </p:nvPr>
        </p:nvSpPr>
        <p:spPr>
          <a:xfrm>
            <a:off x="572493" y="2071316"/>
            <a:ext cx="5523507" cy="4119172"/>
          </a:xfrm>
        </p:spPr>
        <p:txBody>
          <a:bodyPr vert="horz" lIns="91440" tIns="45720" rIns="91440" bIns="45720" rtlCol="0" anchor="t">
            <a:normAutofit/>
          </a:bodyPr>
          <a:lstStyle/>
          <a:p>
            <a:r>
              <a:rPr lang="en-US" sz="2200" dirty="0"/>
              <a:t>Input voltage, Vs, is between terminals 1 and 3</a:t>
            </a:r>
          </a:p>
          <a:p>
            <a:r>
              <a:rPr lang="en-US" sz="2200" dirty="0"/>
              <a:t>Output voltage is between terminals 2 and 3.</a:t>
            </a:r>
          </a:p>
          <a:p>
            <a:r>
              <a:rPr lang="en-US" sz="2200" dirty="0"/>
              <a:t>With a constant input voltage, V</a:t>
            </a:r>
            <a:r>
              <a:rPr lang="en-US" sz="2200" baseline="-25000" dirty="0"/>
              <a:t>S</a:t>
            </a:r>
            <a:r>
              <a:rPr lang="en-US" sz="2200" dirty="0"/>
              <a:t>, the output voltage, </a:t>
            </a:r>
            <a:r>
              <a:rPr lang="en-US" sz="2200" dirty="0" err="1"/>
              <a:t>V</a:t>
            </a:r>
            <a:r>
              <a:rPr lang="en-US" sz="2200" baseline="-25000" dirty="0" err="1"/>
              <a:t>out</a:t>
            </a:r>
            <a:r>
              <a:rPr lang="en-US" sz="2200" dirty="0"/>
              <a:t>, is a fraction of the input voltage</a:t>
            </a:r>
          </a:p>
        </p:txBody>
      </p:sp>
      <p:sp>
        <p:nvSpPr>
          <p:cNvPr id="4" name="Slide Number Placeholder 3">
            <a:extLst>
              <a:ext uri="{FF2B5EF4-FFF2-40B4-BE49-F238E27FC236}">
                <a16:creationId xmlns:a16="http://schemas.microsoft.com/office/drawing/2014/main" id="{1A2050B1-DF37-2DFC-FDF3-0B4F63C76D7E}"/>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defRPr/>
            </a:pPr>
            <a:fld id="{1ED87AFC-F3F3-4E09-A9D9-1873FFB55ECB}" type="slidenum">
              <a:rPr lang="en-US" smtClean="0">
                <a:solidFill>
                  <a:prstClr val="black">
                    <a:tint val="75000"/>
                  </a:prstClr>
                </a:solidFill>
                <a:latin typeface="Calibri" panose="020F0502020204030204"/>
              </a:rPr>
              <a:pPr>
                <a:spcAft>
                  <a:spcPts val="600"/>
                </a:spcAft>
                <a:defRPr/>
              </a:pPr>
              <a:t>26</a:t>
            </a:fld>
            <a:endParaRPr lang="en-US">
              <a:solidFill>
                <a:prstClr val="black">
                  <a:tint val="75000"/>
                </a:prstClr>
              </a:solidFill>
              <a:latin typeface="Calibri" panose="020F0502020204030204"/>
            </a:endParaRPr>
          </a:p>
        </p:txBody>
      </p:sp>
      <p:pic>
        <p:nvPicPr>
          <p:cNvPr id="7" name="Content Placeholder 8" descr="A diagram of a slider&#10;&#10;Description automatically generated">
            <a:extLst>
              <a:ext uri="{FF2B5EF4-FFF2-40B4-BE49-F238E27FC236}">
                <a16:creationId xmlns:a16="http://schemas.microsoft.com/office/drawing/2014/main" id="{4C3C653D-B4DE-6EB0-7F6D-92ED91B5F288}"/>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72200" y="2252599"/>
            <a:ext cx="5181600" cy="3497390"/>
          </a:xfrm>
        </p:spPr>
      </p:pic>
      <p:pic>
        <p:nvPicPr>
          <p:cNvPr id="8" name="Picture 3_0" descr="Text&#10;&#10;Description automatically generated">
            <a:extLst>
              <a:ext uri="{FF2B5EF4-FFF2-40B4-BE49-F238E27FC236}">
                <a16:creationId xmlns:a16="http://schemas.microsoft.com/office/drawing/2014/main" id="{DD466FC3-3403-5E58-D03F-8FA337DE7E2C}"/>
              </a:ext>
            </a:extLst>
          </p:cNvPr>
          <p:cNvPicPr/>
          <p:nvPr/>
        </p:nvPicPr>
        <p:blipFill>
          <a:blip r:embed="rId3"/>
          <a:stretch/>
        </p:blipFill>
        <p:spPr>
          <a:xfrm>
            <a:off x="2226362" y="4868240"/>
            <a:ext cx="1848098" cy="1104003"/>
          </a:xfrm>
          <a:prstGeom prst="rect">
            <a:avLst/>
          </a:prstGeom>
          <a:ln w="0">
            <a:noFill/>
          </a:ln>
        </p:spPr>
      </p:pic>
    </p:spTree>
    <p:extLst>
      <p:ext uri="{BB962C8B-B14F-4D97-AF65-F5344CB8AC3E}">
        <p14:creationId xmlns:p14="http://schemas.microsoft.com/office/powerpoint/2010/main" val="1559841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A8908DB7-C3A6-4FCB-9820-CEE02B398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a:xfrm>
            <a:off x="630936" y="640823"/>
            <a:ext cx="3419856" cy="5583148"/>
          </a:xfrm>
        </p:spPr>
        <p:txBody>
          <a:bodyPr vert="horz" lIns="91440" tIns="45720" rIns="91440" bIns="45720" rtlCol="0" anchor="ctr">
            <a:normAutofit/>
          </a:bodyPr>
          <a:lstStyle/>
          <a:p>
            <a:r>
              <a:rPr lang="en-US" sz="3800" b="1" kern="1200">
                <a:solidFill>
                  <a:schemeClr val="tx1"/>
                </a:solidFill>
                <a:latin typeface="+mj-lt"/>
                <a:ea typeface="+mj-ea"/>
                <a:cs typeface="+mj-cs"/>
              </a:rPr>
              <a:t>Potentiometers</a:t>
            </a:r>
          </a:p>
        </p:txBody>
      </p:sp>
      <p:sp>
        <p:nvSpPr>
          <p:cNvPr id="15" name="sketch line">
            <a:extLst>
              <a:ext uri="{FF2B5EF4-FFF2-40B4-BE49-F238E27FC236}">
                <a16:creationId xmlns:a16="http://schemas.microsoft.com/office/drawing/2014/main" id="{535742DD-1B16-4E9D-B715-0D74B4574A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267200" y="630936"/>
            <a:ext cx="18288" cy="5590381"/>
          </a:xfrm>
          <a:custGeom>
            <a:avLst/>
            <a:gdLst>
              <a:gd name="csX0" fmla="*/ 0 w 18288"/>
              <a:gd name="csY0" fmla="*/ 0 h 5590381"/>
              <a:gd name="csX1" fmla="*/ 18288 w 18288"/>
              <a:gd name="csY1" fmla="*/ 0 h 5590381"/>
              <a:gd name="csX2" fmla="*/ 18288 w 18288"/>
              <a:gd name="csY2" fmla="*/ 754701 h 5590381"/>
              <a:gd name="csX3" fmla="*/ 18288 w 18288"/>
              <a:gd name="csY3" fmla="*/ 1565307 h 5590381"/>
              <a:gd name="csX4" fmla="*/ 18288 w 18288"/>
              <a:gd name="csY4" fmla="*/ 2152297 h 5590381"/>
              <a:gd name="csX5" fmla="*/ 18288 w 18288"/>
              <a:gd name="csY5" fmla="*/ 2906998 h 5590381"/>
              <a:gd name="csX6" fmla="*/ 18288 w 18288"/>
              <a:gd name="csY6" fmla="*/ 3549892 h 5590381"/>
              <a:gd name="csX7" fmla="*/ 18288 w 18288"/>
              <a:gd name="csY7" fmla="*/ 4080978 h 5590381"/>
              <a:gd name="csX8" fmla="*/ 18288 w 18288"/>
              <a:gd name="csY8" fmla="*/ 4835680 h 5590381"/>
              <a:gd name="csX9" fmla="*/ 18288 w 18288"/>
              <a:gd name="csY9" fmla="*/ 5590381 h 5590381"/>
              <a:gd name="csX10" fmla="*/ 0 w 18288"/>
              <a:gd name="csY10" fmla="*/ 5590381 h 5590381"/>
              <a:gd name="csX11" fmla="*/ 0 w 18288"/>
              <a:gd name="csY11" fmla="*/ 4835680 h 5590381"/>
              <a:gd name="csX12" fmla="*/ 0 w 18288"/>
              <a:gd name="csY12" fmla="*/ 4304593 h 5590381"/>
              <a:gd name="csX13" fmla="*/ 0 w 18288"/>
              <a:gd name="csY13" fmla="*/ 3773507 h 5590381"/>
              <a:gd name="csX14" fmla="*/ 0 w 18288"/>
              <a:gd name="csY14" fmla="*/ 3186517 h 5590381"/>
              <a:gd name="csX15" fmla="*/ 0 w 18288"/>
              <a:gd name="csY15" fmla="*/ 2487720 h 5590381"/>
              <a:gd name="csX16" fmla="*/ 0 w 18288"/>
              <a:gd name="csY16" fmla="*/ 1956633 h 5590381"/>
              <a:gd name="csX17" fmla="*/ 0 w 18288"/>
              <a:gd name="csY17" fmla="*/ 1425547 h 5590381"/>
              <a:gd name="csX18" fmla="*/ 0 w 18288"/>
              <a:gd name="csY18" fmla="*/ 614942 h 5590381"/>
              <a:gd name="csX19" fmla="*/ 0 w 18288"/>
              <a:gd name="csY19" fmla="*/ 0 h 55903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288" h="5590381" fill="none" extrusionOk="0">
                <a:moveTo>
                  <a:pt x="0" y="0"/>
                </a:moveTo>
                <a:cubicBezTo>
                  <a:pt x="7726" y="-435"/>
                  <a:pt x="14198" y="437"/>
                  <a:pt x="18288" y="0"/>
                </a:cubicBezTo>
                <a:cubicBezTo>
                  <a:pt x="-5226" y="225076"/>
                  <a:pt x="46275" y="562283"/>
                  <a:pt x="18288" y="754701"/>
                </a:cubicBezTo>
                <a:cubicBezTo>
                  <a:pt x="-9699" y="947119"/>
                  <a:pt x="30081" y="1239251"/>
                  <a:pt x="18288" y="1565307"/>
                </a:cubicBezTo>
                <a:cubicBezTo>
                  <a:pt x="6495" y="1891363"/>
                  <a:pt x="7160" y="1999140"/>
                  <a:pt x="18288" y="2152297"/>
                </a:cubicBezTo>
                <a:cubicBezTo>
                  <a:pt x="29417" y="2305454"/>
                  <a:pt x="28705" y="2598333"/>
                  <a:pt x="18288" y="2906998"/>
                </a:cubicBezTo>
                <a:cubicBezTo>
                  <a:pt x="7871" y="3215663"/>
                  <a:pt x="35263" y="3327412"/>
                  <a:pt x="18288" y="3549892"/>
                </a:cubicBezTo>
                <a:cubicBezTo>
                  <a:pt x="1313" y="3772372"/>
                  <a:pt x="38561" y="3843836"/>
                  <a:pt x="18288" y="4080978"/>
                </a:cubicBezTo>
                <a:cubicBezTo>
                  <a:pt x="-1985" y="4318120"/>
                  <a:pt x="-3806" y="4511166"/>
                  <a:pt x="18288" y="4835680"/>
                </a:cubicBezTo>
                <a:cubicBezTo>
                  <a:pt x="40382" y="5160194"/>
                  <a:pt x="-13070" y="5401748"/>
                  <a:pt x="18288" y="5590381"/>
                </a:cubicBezTo>
                <a:cubicBezTo>
                  <a:pt x="12010" y="5589863"/>
                  <a:pt x="6799" y="5589982"/>
                  <a:pt x="0" y="5590381"/>
                </a:cubicBezTo>
                <a:cubicBezTo>
                  <a:pt x="-6480" y="5250523"/>
                  <a:pt x="-32148" y="5052531"/>
                  <a:pt x="0" y="4835680"/>
                </a:cubicBezTo>
                <a:cubicBezTo>
                  <a:pt x="32148" y="4618829"/>
                  <a:pt x="5352" y="4496374"/>
                  <a:pt x="0" y="4304593"/>
                </a:cubicBezTo>
                <a:cubicBezTo>
                  <a:pt x="-5352" y="4112812"/>
                  <a:pt x="9645" y="3919423"/>
                  <a:pt x="0" y="3773507"/>
                </a:cubicBezTo>
                <a:cubicBezTo>
                  <a:pt x="-9645" y="3627591"/>
                  <a:pt x="-10654" y="3330687"/>
                  <a:pt x="0" y="3186517"/>
                </a:cubicBezTo>
                <a:cubicBezTo>
                  <a:pt x="10654" y="3042347"/>
                  <a:pt x="18181" y="2635923"/>
                  <a:pt x="0" y="2487720"/>
                </a:cubicBezTo>
                <a:cubicBezTo>
                  <a:pt x="-18181" y="2339517"/>
                  <a:pt x="-7947" y="2113537"/>
                  <a:pt x="0" y="1956633"/>
                </a:cubicBezTo>
                <a:cubicBezTo>
                  <a:pt x="7947" y="1799729"/>
                  <a:pt x="-15145" y="1657735"/>
                  <a:pt x="0" y="1425547"/>
                </a:cubicBezTo>
                <a:cubicBezTo>
                  <a:pt x="15145" y="1193359"/>
                  <a:pt x="-23832" y="948054"/>
                  <a:pt x="0" y="614942"/>
                </a:cubicBezTo>
                <a:cubicBezTo>
                  <a:pt x="23832" y="281831"/>
                  <a:pt x="2816" y="129878"/>
                  <a:pt x="0" y="0"/>
                </a:cubicBezTo>
                <a:close/>
              </a:path>
              <a:path w="18288" h="5590381" stroke="0" extrusionOk="0">
                <a:moveTo>
                  <a:pt x="0" y="0"/>
                </a:moveTo>
                <a:cubicBezTo>
                  <a:pt x="5871" y="848"/>
                  <a:pt x="11713" y="-200"/>
                  <a:pt x="18288" y="0"/>
                </a:cubicBezTo>
                <a:cubicBezTo>
                  <a:pt x="41141" y="165299"/>
                  <a:pt x="3613" y="427555"/>
                  <a:pt x="18288" y="698798"/>
                </a:cubicBezTo>
                <a:cubicBezTo>
                  <a:pt x="32963" y="970041"/>
                  <a:pt x="19680" y="1226199"/>
                  <a:pt x="18288" y="1397595"/>
                </a:cubicBezTo>
                <a:cubicBezTo>
                  <a:pt x="16896" y="1568991"/>
                  <a:pt x="38798" y="1794517"/>
                  <a:pt x="18288" y="2152297"/>
                </a:cubicBezTo>
                <a:cubicBezTo>
                  <a:pt x="-2222" y="2510077"/>
                  <a:pt x="40846" y="2594424"/>
                  <a:pt x="18288" y="2739287"/>
                </a:cubicBezTo>
                <a:cubicBezTo>
                  <a:pt x="-4270" y="2884150"/>
                  <a:pt x="27117" y="3129706"/>
                  <a:pt x="18288" y="3493988"/>
                </a:cubicBezTo>
                <a:cubicBezTo>
                  <a:pt x="9459" y="3858270"/>
                  <a:pt x="54201" y="4041447"/>
                  <a:pt x="18288" y="4304593"/>
                </a:cubicBezTo>
                <a:cubicBezTo>
                  <a:pt x="-17625" y="4567740"/>
                  <a:pt x="49627" y="5149125"/>
                  <a:pt x="18288" y="5590381"/>
                </a:cubicBezTo>
                <a:cubicBezTo>
                  <a:pt x="10860" y="5590744"/>
                  <a:pt x="7568" y="5590157"/>
                  <a:pt x="0" y="5590381"/>
                </a:cubicBezTo>
                <a:cubicBezTo>
                  <a:pt x="36767" y="5266821"/>
                  <a:pt x="-16223" y="5116146"/>
                  <a:pt x="0" y="4835680"/>
                </a:cubicBezTo>
                <a:cubicBezTo>
                  <a:pt x="16223" y="4555214"/>
                  <a:pt x="-16316" y="4356490"/>
                  <a:pt x="0" y="4136882"/>
                </a:cubicBezTo>
                <a:cubicBezTo>
                  <a:pt x="16316" y="3917274"/>
                  <a:pt x="8005" y="3773465"/>
                  <a:pt x="0" y="3549892"/>
                </a:cubicBezTo>
                <a:cubicBezTo>
                  <a:pt x="-8005" y="3326319"/>
                  <a:pt x="27623" y="3052456"/>
                  <a:pt x="0" y="2851094"/>
                </a:cubicBezTo>
                <a:cubicBezTo>
                  <a:pt x="-27623" y="2649732"/>
                  <a:pt x="5614" y="2455815"/>
                  <a:pt x="0" y="2264104"/>
                </a:cubicBezTo>
                <a:cubicBezTo>
                  <a:pt x="-5614" y="2072393"/>
                  <a:pt x="22598" y="1990723"/>
                  <a:pt x="0" y="1733018"/>
                </a:cubicBezTo>
                <a:cubicBezTo>
                  <a:pt x="-22598" y="1475313"/>
                  <a:pt x="-6965" y="1369123"/>
                  <a:pt x="0" y="1090124"/>
                </a:cubicBezTo>
                <a:cubicBezTo>
                  <a:pt x="6965" y="811125"/>
                  <a:pt x="-19273" y="50704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3114097614">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Content Placeholder 7" descr="A diagram of a slider&#10;&#10;Description automatically generated">
            <a:extLst>
              <a:ext uri="{FF2B5EF4-FFF2-40B4-BE49-F238E27FC236}">
                <a16:creationId xmlns:a16="http://schemas.microsoft.com/office/drawing/2014/main" id="{5BAC7303-ABFD-1320-3697-10B742C1F84B}"/>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4654296" y="1208837"/>
            <a:ext cx="6894576" cy="2757830"/>
          </a:xfrm>
          <a:prstGeom prst="rect">
            <a:avLst/>
          </a:prstGeom>
        </p:spPr>
      </p:pic>
      <p:sp>
        <p:nvSpPr>
          <p:cNvPr id="3" name="Subtitle 2">
            <a:extLst>
              <a:ext uri="{FF2B5EF4-FFF2-40B4-BE49-F238E27FC236}">
                <a16:creationId xmlns:a16="http://schemas.microsoft.com/office/drawing/2014/main" id="{0EC2D61B-0204-42F3-52E6-931A9496968D}"/>
              </a:ext>
            </a:extLst>
          </p:cNvPr>
          <p:cNvSpPr>
            <a:spLocks noGrp="1"/>
          </p:cNvSpPr>
          <p:nvPr>
            <p:ph sz="half" idx="1"/>
          </p:nvPr>
        </p:nvSpPr>
        <p:spPr>
          <a:xfrm>
            <a:off x="4654296" y="4798577"/>
            <a:ext cx="6894576" cy="1428487"/>
          </a:xfrm>
        </p:spPr>
        <p:txBody>
          <a:bodyPr vert="horz" lIns="91440" tIns="45720" rIns="91440" bIns="45720" rtlCol="0" anchor="t">
            <a:normAutofit/>
          </a:bodyPr>
          <a:lstStyle/>
          <a:p>
            <a:r>
              <a:rPr lang="en-US" sz="2200" dirty="0"/>
              <a:t>An important effect to be considered with potentiometers is the effect of load, </a:t>
            </a:r>
            <a:r>
              <a:rPr lang="en-US" sz="2200" dirty="0" err="1"/>
              <a:t>Rl</a:t>
            </a:r>
            <a:r>
              <a:rPr lang="en-US" sz="2200" dirty="0"/>
              <a:t>, connected across the output.</a:t>
            </a:r>
          </a:p>
        </p:txBody>
      </p:sp>
      <p:sp>
        <p:nvSpPr>
          <p:cNvPr id="4" name="Slide Number Placeholder 3">
            <a:extLst>
              <a:ext uri="{FF2B5EF4-FFF2-40B4-BE49-F238E27FC236}">
                <a16:creationId xmlns:a16="http://schemas.microsoft.com/office/drawing/2014/main" id="{1A2050B1-DF37-2DFC-FDF3-0B4F63C76D7E}"/>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marR="0" lvl="0" indent="0" fontAlgn="auto">
              <a:spcBef>
                <a:spcPts val="0"/>
              </a:spcBef>
              <a:spcAft>
                <a:spcPts val="600"/>
              </a:spcAft>
              <a:buClrTx/>
              <a:buSzTx/>
              <a:buFontTx/>
              <a:buNone/>
              <a:tabLst/>
              <a:defRPr/>
            </a:pPr>
            <a:fld id="{1ED87AFC-F3F3-4E09-A9D9-1873FFB55ECB}" type="slidenum">
              <a:rPr kumimoji="0" lang="en-US" b="1" i="0" u="none" strike="noStrike" cap="none" spc="0" normalizeH="0" baseline="0" noProof="0" smtClean="0">
                <a:ln>
                  <a:noFill/>
                </a:ln>
                <a:solidFill>
                  <a:schemeClr val="tx1">
                    <a:tint val="75000"/>
                  </a:schemeClr>
                </a:solidFill>
                <a:effectLst/>
                <a:uLnTx/>
                <a:uFillTx/>
              </a:rPr>
              <a:pPr marR="0" lvl="0" indent="0" fontAlgn="auto">
                <a:spcBef>
                  <a:spcPts val="0"/>
                </a:spcBef>
                <a:spcAft>
                  <a:spcPts val="600"/>
                </a:spcAft>
                <a:buClrTx/>
                <a:buSzTx/>
                <a:buFontTx/>
                <a:buNone/>
                <a:tabLst/>
                <a:defRPr/>
              </a:pPr>
              <a:t>27</a:t>
            </a:fld>
            <a:endParaRPr kumimoji="0" lang="en-US" b="1" i="0" u="none" strike="noStrike" cap="none" spc="0" normalizeH="0" baseline="0" noProof="0">
              <a:ln>
                <a:noFill/>
              </a:ln>
              <a:solidFill>
                <a:schemeClr val="tx1">
                  <a:tint val="75000"/>
                </a:schemeClr>
              </a:solidFill>
              <a:effectLst/>
              <a:uLnTx/>
              <a:uFillTx/>
            </a:endParaRPr>
          </a:p>
        </p:txBody>
      </p:sp>
    </p:spTree>
    <p:extLst>
      <p:ext uri="{BB962C8B-B14F-4D97-AF65-F5344CB8AC3E}">
        <p14:creationId xmlns:p14="http://schemas.microsoft.com/office/powerpoint/2010/main" val="729833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a:xfrm>
            <a:off x="838200" y="365125"/>
            <a:ext cx="10515600" cy="1325563"/>
          </a:xfrm>
        </p:spPr>
        <p:txBody>
          <a:bodyPr>
            <a:normAutofit/>
          </a:bodyPr>
          <a:lstStyle/>
          <a:p>
            <a:r>
              <a:rPr lang="en-GB" sz="5400" b="1"/>
              <a:t>Potentiometers</a:t>
            </a:r>
          </a:p>
        </p:txBody>
      </p:sp>
      <p:sp>
        <p:nvSpPr>
          <p:cNvPr id="11"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0EC2D61B-0204-42F3-52E6-931A9496968D}"/>
              </a:ext>
            </a:extLst>
          </p:cNvPr>
          <p:cNvSpPr>
            <a:spLocks noGrp="1"/>
          </p:cNvSpPr>
          <p:nvPr>
            <p:ph idx="1"/>
          </p:nvPr>
        </p:nvSpPr>
        <p:spPr>
          <a:xfrm>
            <a:off x="838200" y="1929384"/>
            <a:ext cx="10515600" cy="4251960"/>
          </a:xfrm>
        </p:spPr>
        <p:txBody>
          <a:bodyPr>
            <a:normAutofit/>
          </a:bodyPr>
          <a:lstStyle/>
          <a:p>
            <a:r>
              <a:rPr lang="en-GB" sz="3200" dirty="0"/>
              <a:t>The potential difference across the load, </a:t>
            </a:r>
            <a:r>
              <a:rPr lang="en-GB" sz="3200" dirty="0" err="1"/>
              <a:t>Vl</a:t>
            </a:r>
            <a:r>
              <a:rPr lang="en-GB" sz="3200" dirty="0"/>
              <a:t>, is only directly proportional to the output voltage, </a:t>
            </a:r>
            <a:r>
              <a:rPr lang="en-GB" sz="3200" dirty="0" err="1"/>
              <a:t>Vout</a:t>
            </a:r>
            <a:r>
              <a:rPr lang="en-GB" sz="3200" dirty="0"/>
              <a:t>, if the load resistance, </a:t>
            </a:r>
            <a:r>
              <a:rPr lang="en-GB" sz="3200" dirty="0" err="1"/>
              <a:t>Rl</a:t>
            </a:r>
            <a:r>
              <a:rPr lang="en-GB" sz="3200" dirty="0"/>
              <a:t>, is infinite</a:t>
            </a:r>
          </a:p>
          <a:p>
            <a:r>
              <a:rPr lang="en-GB" sz="3200" dirty="0"/>
              <a:t>For loads of finite resistance, the effect of the load is to transform the linear relationship between voltage and displacement into a non-linear relationship</a:t>
            </a:r>
          </a:p>
          <a:p>
            <a:r>
              <a:rPr lang="en-GB" sz="3200" dirty="0"/>
              <a:t>To find the total resistance across the input voltage we analyse the circuit</a:t>
            </a:r>
          </a:p>
        </p:txBody>
      </p:sp>
      <p:sp>
        <p:nvSpPr>
          <p:cNvPr id="4" name="Slide Number Placeholder 3">
            <a:extLst>
              <a:ext uri="{FF2B5EF4-FFF2-40B4-BE49-F238E27FC236}">
                <a16:creationId xmlns:a16="http://schemas.microsoft.com/office/drawing/2014/main" id="{1A2050B1-DF37-2DFC-FDF3-0B4F63C76D7E}"/>
              </a:ext>
            </a:extLst>
          </p:cNvPr>
          <p:cNvSpPr>
            <a:spLocks noGrp="1"/>
          </p:cNvSpPr>
          <p:nvPr>
            <p:ph type="sldNum" sz="quarter" idx="12"/>
          </p:nvPr>
        </p:nvSpPr>
        <p:spPr>
          <a:xfrm>
            <a:off x="8610600" y="6356350"/>
            <a:ext cx="2743200" cy="365125"/>
          </a:xfrm>
        </p:spPr>
        <p:txBody>
          <a:bodyPr>
            <a:normAutofit/>
          </a:bodyPr>
          <a:lstStyle/>
          <a:p>
            <a:pPr marL="0" marR="0" lvl="0" indent="0" defTabSz="914400" rtl="0" eaLnBrk="1" fontAlgn="auto" latinLnBrk="0" hangingPunct="1">
              <a:spcBef>
                <a:spcPts val="0"/>
              </a:spcBef>
              <a:spcAft>
                <a:spcPts val="600"/>
              </a:spcAft>
              <a:buClrTx/>
              <a:buSzTx/>
              <a:buFontTx/>
              <a:buNone/>
              <a:tabLst/>
              <a:defRPr/>
            </a:pPr>
            <a:fld id="{1ED87AFC-F3F3-4E09-A9D9-1873FFB55ECB}" type="slidenum">
              <a:rPr kumimoji="0" lang="en-GB" b="1" i="0" u="none" strike="noStrike" kern="1200" cap="none" spc="0" normalizeH="0" baseline="0" noProof="0" smtClean="0">
                <a:ln>
                  <a:noFill/>
                </a:ln>
                <a:effectLst/>
                <a:uLnTx/>
                <a:uFillTx/>
                <a:latin typeface="Calibri" panose="020F0502020204030204"/>
                <a:ea typeface="+mn-ea"/>
                <a:cs typeface="+mn-cs"/>
              </a:rPr>
              <a:pPr marL="0" marR="0" lvl="0" indent="0" defTabSz="914400" rtl="0" eaLnBrk="1" fontAlgn="auto" latinLnBrk="0" hangingPunct="1">
                <a:spcBef>
                  <a:spcPts val="0"/>
                </a:spcBef>
                <a:spcAft>
                  <a:spcPts val="600"/>
                </a:spcAft>
                <a:buClrTx/>
                <a:buSzTx/>
                <a:buFontTx/>
                <a:buNone/>
                <a:tabLst/>
                <a:defRPr/>
              </a:pPr>
              <a:t>28</a:t>
            </a:fld>
            <a:endParaRPr kumimoji="0" lang="en-GB" b="1" i="0" u="none" strike="noStrike" kern="1200" cap="none" spc="0" normalizeH="0" baseline="0" noProof="0">
              <a:ln>
                <a:noFill/>
              </a:ln>
              <a:effectLst/>
              <a:uLnTx/>
              <a:uFillTx/>
              <a:latin typeface="Calibri" panose="020F0502020204030204"/>
              <a:ea typeface="+mn-ea"/>
              <a:cs typeface="+mn-cs"/>
            </a:endParaRPr>
          </a:p>
        </p:txBody>
      </p:sp>
    </p:spTree>
    <p:extLst>
      <p:ext uri="{BB962C8B-B14F-4D97-AF65-F5344CB8AC3E}">
        <p14:creationId xmlns:p14="http://schemas.microsoft.com/office/powerpoint/2010/main" val="2307664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a:xfrm>
            <a:off x="838200" y="365125"/>
            <a:ext cx="10515600" cy="1325563"/>
          </a:xfrm>
        </p:spPr>
        <p:txBody>
          <a:bodyPr>
            <a:normAutofit/>
          </a:bodyPr>
          <a:lstStyle/>
          <a:p>
            <a:r>
              <a:rPr lang="en-GB" sz="5400" b="1"/>
              <a:t>Potentiometers</a:t>
            </a:r>
          </a:p>
        </p:txBody>
      </p:sp>
      <p:sp>
        <p:nvSpPr>
          <p:cNvPr id="11"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 name="Subtitle 2">
                <a:extLst>
                  <a:ext uri="{FF2B5EF4-FFF2-40B4-BE49-F238E27FC236}">
                    <a16:creationId xmlns:a16="http://schemas.microsoft.com/office/drawing/2014/main" id="{0EC2D61B-0204-42F3-52E6-931A9496968D}"/>
                  </a:ext>
                </a:extLst>
              </p:cNvPr>
              <p:cNvSpPr>
                <a:spLocks noGrp="1"/>
              </p:cNvSpPr>
              <p:nvPr>
                <p:ph idx="1"/>
              </p:nvPr>
            </p:nvSpPr>
            <p:spPr>
              <a:xfrm>
                <a:off x="838200" y="1929384"/>
                <a:ext cx="10515600" cy="4251960"/>
              </a:xfrm>
            </p:spPr>
            <p:txBody>
              <a:bodyPr>
                <a:normAutofit/>
              </a:bodyPr>
              <a:lstStyle/>
              <a:p>
                <a:r>
                  <a:rPr lang="en-GB" sz="2200" dirty="0"/>
                  <a:t>Full Calculation is:</a:t>
                </a:r>
              </a:p>
              <a:p>
                <a:pPr marL="0" indent="0">
                  <a:buNone/>
                </a:pPr>
                <a:endParaRPr lang="en-GB" sz="2200" dirty="0"/>
              </a:p>
              <a:p>
                <a:pPr marL="0" indent="0">
                  <a:buNone/>
                </a:pPr>
                <a14:m>
                  <m:oMathPara xmlns:m="http://schemas.openxmlformats.org/officeDocument/2006/math">
                    <m:oMathParaPr>
                      <m:jc m:val="centerGroup"/>
                    </m:oMathParaPr>
                    <m:oMath xmlns:m="http://schemas.openxmlformats.org/officeDocument/2006/math">
                      <m:f>
                        <m:fPr>
                          <m:ctrlPr>
                            <a:rPr lang="en-GB" i="1" smtClean="0">
                              <a:latin typeface="Cambria Math" panose="02040503050406030204" pitchFamily="18" charset="0"/>
                            </a:rPr>
                          </m:ctrlPr>
                        </m:fPr>
                        <m:num>
                          <m:r>
                            <a:rPr lang="en-GB" b="0" i="1" smtClean="0">
                              <a:latin typeface="Cambria Math" panose="02040503050406030204" pitchFamily="18" charset="0"/>
                            </a:rPr>
                            <m:t>𝑉𝑙</m:t>
                          </m:r>
                        </m:num>
                        <m:den>
                          <m:r>
                            <a:rPr lang="en-GB" b="0" i="1" smtClean="0">
                              <a:latin typeface="Cambria Math" panose="02040503050406030204" pitchFamily="18" charset="0"/>
                            </a:rPr>
                            <m:t>𝑉𝑠</m:t>
                          </m:r>
                        </m:den>
                      </m:f>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𝑥</m:t>
                          </m:r>
                        </m:num>
                        <m:den>
                          <m:f>
                            <m:fPr>
                              <m:ctrlPr>
                                <a:rPr lang="en-GB" b="0" i="1" smtClean="0">
                                  <a:latin typeface="Cambria Math" panose="02040503050406030204" pitchFamily="18" charset="0"/>
                                </a:rPr>
                              </m:ctrlPr>
                            </m:fPr>
                            <m:num>
                              <m:r>
                                <a:rPr lang="en-GB" b="0" i="1" smtClean="0">
                                  <a:latin typeface="Cambria Math" panose="02040503050406030204" pitchFamily="18" charset="0"/>
                                </a:rPr>
                                <m:t>𝑅𝑝</m:t>
                              </m:r>
                            </m:num>
                            <m:den>
                              <m:r>
                                <a:rPr lang="en-GB" b="0" i="1" smtClean="0">
                                  <a:latin typeface="Cambria Math" panose="02040503050406030204" pitchFamily="18" charset="0"/>
                                </a:rPr>
                                <m:t>𝑅𝑙</m:t>
                              </m:r>
                            </m:den>
                          </m:f>
                          <m:r>
                            <a:rPr lang="en-GB" b="0" i="1" smtClean="0">
                              <a:latin typeface="Cambria Math" panose="02040503050406030204" pitchFamily="18" charset="0"/>
                            </a:rPr>
                            <m:t>.</m:t>
                          </m:r>
                          <m:r>
                            <a:rPr lang="en-GB" b="0" i="1" smtClean="0">
                              <a:latin typeface="Cambria Math" panose="02040503050406030204" pitchFamily="18" charset="0"/>
                            </a:rPr>
                            <m:t>𝑥</m:t>
                          </m:r>
                          <m:r>
                            <a:rPr lang="en-GB" b="0" i="1" smtClean="0">
                              <a:latin typeface="Cambria Math" panose="02040503050406030204" pitchFamily="18" charset="0"/>
                            </a:rPr>
                            <m:t>.</m:t>
                          </m:r>
                          <m:d>
                            <m:dPr>
                              <m:ctrlPr>
                                <a:rPr lang="en-GB" b="0" i="1" smtClean="0">
                                  <a:latin typeface="Cambria Math" panose="02040503050406030204" pitchFamily="18" charset="0"/>
                                </a:rPr>
                              </m:ctrlPr>
                            </m:dPr>
                            <m:e>
                              <m:r>
                                <a:rPr lang="en-GB" b="0" i="1" smtClean="0">
                                  <a:latin typeface="Cambria Math" panose="02040503050406030204" pitchFamily="18" charset="0"/>
                                </a:rPr>
                                <m:t>1</m:t>
                              </m:r>
                              <m:r>
                                <a:rPr lang="en-GB" b="0" i="1" smtClean="0">
                                  <a:latin typeface="Cambria Math" panose="02040503050406030204" pitchFamily="18" charset="0"/>
                                </a:rPr>
                                <m:t>−</m:t>
                              </m:r>
                              <m:r>
                                <a:rPr lang="en-GB" b="0" i="1" smtClean="0">
                                  <a:latin typeface="Cambria Math" panose="02040503050406030204" pitchFamily="18" charset="0"/>
                                </a:rPr>
                                <m:t>𝑥</m:t>
                              </m:r>
                            </m:e>
                          </m:d>
                          <m:r>
                            <a:rPr lang="en-GB" b="0" i="1" smtClean="0">
                              <a:latin typeface="Cambria Math" panose="02040503050406030204" pitchFamily="18" charset="0"/>
                            </a:rPr>
                            <m:t>+</m:t>
                          </m:r>
                          <m:r>
                            <a:rPr lang="en-GB" b="0" i="1" smtClean="0">
                              <a:latin typeface="Cambria Math" panose="02040503050406030204" pitchFamily="18" charset="0"/>
                            </a:rPr>
                            <m:t>1</m:t>
                          </m:r>
                        </m:den>
                      </m:f>
                    </m:oMath>
                  </m:oMathPara>
                </a14:m>
                <a:endParaRPr lang="en-GB" sz="1600" dirty="0"/>
              </a:p>
              <a:p>
                <a:pPr marL="0" indent="0">
                  <a:buNone/>
                </a:pPr>
                <a:endParaRPr lang="en-GB" sz="2200" dirty="0"/>
              </a:p>
              <a:p>
                <a:r>
                  <a:rPr lang="en-GB" sz="2200" dirty="0"/>
                  <a:t>With x being a fraction of Rp</a:t>
                </a:r>
              </a:p>
              <a:p>
                <a:r>
                  <a:rPr lang="en-GB" sz="2200" dirty="0"/>
                  <a:t>However…</a:t>
                </a:r>
              </a:p>
              <a:p>
                <a:pPr marL="0" indent="0">
                  <a:buNone/>
                </a:pPr>
                <a:endParaRPr lang="en-GB" sz="2200" dirty="0"/>
              </a:p>
              <a:p>
                <a:pPr marL="0" indent="0">
                  <a:buNone/>
                </a:pPr>
                <a:endParaRPr lang="en-GB" sz="2200" dirty="0"/>
              </a:p>
            </p:txBody>
          </p:sp>
        </mc:Choice>
        <mc:Fallback xmlns="">
          <p:sp>
            <p:nvSpPr>
              <p:cNvPr id="3" name="Subtitle 2">
                <a:extLst>
                  <a:ext uri="{FF2B5EF4-FFF2-40B4-BE49-F238E27FC236}">
                    <a16:creationId xmlns:a16="http://schemas.microsoft.com/office/drawing/2014/main" id="{0EC2D61B-0204-42F3-52E6-931A9496968D}"/>
                  </a:ext>
                </a:extLst>
              </p:cNvPr>
              <p:cNvSpPr>
                <a:spLocks noGrp="1" noRot="1" noChangeAspect="1" noMove="1" noResize="1" noEditPoints="1" noAdjustHandles="1" noChangeArrowheads="1" noChangeShapeType="1" noTextEdit="1"/>
              </p:cNvSpPr>
              <p:nvPr>
                <p:ph idx="1"/>
              </p:nvPr>
            </p:nvSpPr>
            <p:spPr>
              <a:xfrm>
                <a:off x="838200" y="1929384"/>
                <a:ext cx="10515600" cy="4251960"/>
              </a:xfrm>
              <a:blipFill>
                <a:blip r:embed="rId2"/>
                <a:stretch>
                  <a:fillRect l="-696" t="-1722"/>
                </a:stretch>
              </a:blipFill>
            </p:spPr>
            <p:txBody>
              <a:bodyPr/>
              <a:lstStyle/>
              <a:p>
                <a:r>
                  <a:rPr lang="en-GB">
                    <a:noFill/>
                  </a:rPr>
                  <a:t> </a:t>
                </a:r>
              </a:p>
            </p:txBody>
          </p:sp>
        </mc:Fallback>
      </mc:AlternateContent>
      <p:sp>
        <p:nvSpPr>
          <p:cNvPr id="4" name="Slide Number Placeholder 3">
            <a:extLst>
              <a:ext uri="{FF2B5EF4-FFF2-40B4-BE49-F238E27FC236}">
                <a16:creationId xmlns:a16="http://schemas.microsoft.com/office/drawing/2014/main" id="{1A2050B1-DF37-2DFC-FDF3-0B4F63C76D7E}"/>
              </a:ext>
            </a:extLst>
          </p:cNvPr>
          <p:cNvSpPr>
            <a:spLocks noGrp="1"/>
          </p:cNvSpPr>
          <p:nvPr>
            <p:ph type="sldNum" sz="quarter" idx="12"/>
          </p:nvPr>
        </p:nvSpPr>
        <p:spPr>
          <a:xfrm>
            <a:off x="8610600" y="6356350"/>
            <a:ext cx="2743200" cy="365125"/>
          </a:xfrm>
        </p:spPr>
        <p:txBody>
          <a:bodyPr>
            <a:normAutofit/>
          </a:bodyPr>
          <a:lstStyle/>
          <a:p>
            <a:pPr marL="0" marR="0" lvl="0" indent="0" defTabSz="914400" rtl="0" eaLnBrk="1" fontAlgn="auto" latinLnBrk="0" hangingPunct="1">
              <a:spcBef>
                <a:spcPts val="0"/>
              </a:spcBef>
              <a:spcAft>
                <a:spcPts val="600"/>
              </a:spcAft>
              <a:buClrTx/>
              <a:buSzTx/>
              <a:buFontTx/>
              <a:buNone/>
              <a:tabLst/>
              <a:defRPr/>
            </a:pPr>
            <a:fld id="{1ED87AFC-F3F3-4E09-A9D9-1873FFB55ECB}" type="slidenum">
              <a:rPr kumimoji="0" lang="en-GB" b="1" i="0" u="none" strike="noStrike" kern="1200" cap="none" spc="0" normalizeH="0" baseline="0" noProof="0" smtClean="0">
                <a:ln>
                  <a:noFill/>
                </a:ln>
                <a:effectLst/>
                <a:uLnTx/>
                <a:uFillTx/>
                <a:latin typeface="Calibri" panose="020F0502020204030204"/>
                <a:ea typeface="+mn-ea"/>
                <a:cs typeface="+mn-cs"/>
              </a:rPr>
              <a:pPr marL="0" marR="0" lvl="0" indent="0" defTabSz="914400" rtl="0" eaLnBrk="1" fontAlgn="auto" latinLnBrk="0" hangingPunct="1">
                <a:spcBef>
                  <a:spcPts val="0"/>
                </a:spcBef>
                <a:spcAft>
                  <a:spcPts val="600"/>
                </a:spcAft>
                <a:buClrTx/>
                <a:buSzTx/>
                <a:buFontTx/>
                <a:buNone/>
                <a:tabLst/>
                <a:defRPr/>
              </a:pPr>
              <a:t>29</a:t>
            </a:fld>
            <a:endParaRPr kumimoji="0" lang="en-GB" b="1" i="0" u="none" strike="noStrike" kern="1200" cap="none" spc="0" normalizeH="0" baseline="0" noProof="0">
              <a:ln>
                <a:noFill/>
              </a:ln>
              <a:effectLst/>
              <a:uLnTx/>
              <a:uFillTx/>
              <a:latin typeface="Calibri" panose="020F0502020204030204"/>
              <a:ea typeface="+mn-ea"/>
              <a:cs typeface="+mn-cs"/>
            </a:endParaRPr>
          </a:p>
        </p:txBody>
      </p:sp>
    </p:spTree>
    <p:extLst>
      <p:ext uri="{BB962C8B-B14F-4D97-AF65-F5344CB8AC3E}">
        <p14:creationId xmlns:p14="http://schemas.microsoft.com/office/powerpoint/2010/main" val="25806993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a:xfrm>
            <a:off x="838200" y="365125"/>
            <a:ext cx="10515600" cy="1325563"/>
          </a:xfrm>
        </p:spPr>
        <p:txBody>
          <a:bodyPr>
            <a:normAutofit/>
          </a:bodyPr>
          <a:lstStyle/>
          <a:p>
            <a:r>
              <a:rPr lang="en-GB" sz="5400" b="1"/>
              <a:t>Potentiometers</a:t>
            </a:r>
          </a:p>
        </p:txBody>
      </p:sp>
      <p:sp>
        <p:nvSpPr>
          <p:cNvPr id="11"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 name="Subtitle 2">
                <a:extLst>
                  <a:ext uri="{FF2B5EF4-FFF2-40B4-BE49-F238E27FC236}">
                    <a16:creationId xmlns:a16="http://schemas.microsoft.com/office/drawing/2014/main" id="{0EC2D61B-0204-42F3-52E6-931A9496968D}"/>
                  </a:ext>
                </a:extLst>
              </p:cNvPr>
              <p:cNvSpPr>
                <a:spLocks noGrp="1"/>
              </p:cNvSpPr>
              <p:nvPr>
                <p:ph idx="1"/>
              </p:nvPr>
            </p:nvSpPr>
            <p:spPr>
              <a:xfrm>
                <a:off x="838200" y="1929384"/>
                <a:ext cx="10515600" cy="4251960"/>
              </a:xfrm>
            </p:spPr>
            <p:txBody>
              <a:bodyPr>
                <a:normAutofit/>
              </a:bodyPr>
              <a:lstStyle/>
              <a:p>
                <a:r>
                  <a:rPr lang="en-GB" sz="2200" dirty="0"/>
                  <a:t>Error introduced by load having finite resistance is: </a:t>
                </a:r>
              </a:p>
              <a:p>
                <a:pPr marL="0" indent="0">
                  <a:buNone/>
                </a:pPr>
                <a:endParaRPr lang="en-GB" sz="2000" dirty="0"/>
              </a:p>
              <a:p>
                <a:pPr marL="0" indent="0">
                  <a:buNone/>
                </a:pPr>
                <a14:m>
                  <m:oMathPara xmlns:m="http://schemas.openxmlformats.org/officeDocument/2006/math">
                    <m:oMathParaPr>
                      <m:jc m:val="centerGroup"/>
                    </m:oMathParaPr>
                    <m:oMath xmlns:m="http://schemas.openxmlformats.org/officeDocument/2006/math">
                      <m:r>
                        <a:rPr lang="en-GB" sz="2400" b="0" i="1" smtClean="0">
                          <a:latin typeface="Cambria Math" panose="02040503050406030204" pitchFamily="18" charset="0"/>
                        </a:rPr>
                        <m:t>𝑒𝑟𝑟𝑜𝑟</m:t>
                      </m:r>
                      <m:r>
                        <a:rPr lang="en-GB" sz="2400" b="0" i="1" smtClean="0">
                          <a:latin typeface="Cambria Math" panose="02040503050406030204" pitchFamily="18" charset="0"/>
                        </a:rPr>
                        <m:t>=</m:t>
                      </m:r>
                      <m:r>
                        <a:rPr lang="en-GB" sz="2400" b="0" i="1" smtClean="0">
                          <a:latin typeface="Cambria Math" panose="02040503050406030204" pitchFamily="18" charset="0"/>
                        </a:rPr>
                        <m:t>𝑥</m:t>
                      </m:r>
                      <m:r>
                        <a:rPr lang="en-GB" sz="2400" b="0" i="1" smtClean="0">
                          <a:latin typeface="Cambria Math" panose="02040503050406030204" pitchFamily="18" charset="0"/>
                        </a:rPr>
                        <m:t>.</m:t>
                      </m:r>
                      <m:r>
                        <a:rPr lang="en-GB" sz="2400" b="0" i="1" smtClean="0">
                          <a:latin typeface="Cambria Math" panose="02040503050406030204" pitchFamily="18" charset="0"/>
                        </a:rPr>
                        <m:t>𝑉𝑠</m:t>
                      </m:r>
                      <m:r>
                        <a:rPr lang="en-GB" sz="2400" b="0" i="1" smtClean="0">
                          <a:latin typeface="Cambria Math" panose="02040503050406030204" pitchFamily="18" charset="0"/>
                        </a:rPr>
                        <m:t>−</m:t>
                      </m:r>
                      <m:r>
                        <a:rPr lang="en-GB" sz="2400" b="0" i="1" smtClean="0">
                          <a:latin typeface="Cambria Math" panose="02040503050406030204" pitchFamily="18" charset="0"/>
                        </a:rPr>
                        <m:t>𝑉𝑙</m:t>
                      </m:r>
                      <m:r>
                        <a:rPr lang="en-GB" sz="2400" b="0" i="1" smtClean="0">
                          <a:latin typeface="Cambria Math" panose="02040503050406030204" pitchFamily="18" charset="0"/>
                        </a:rPr>
                        <m:t>=</m:t>
                      </m:r>
                      <m:r>
                        <a:rPr lang="en-GB" sz="2400" b="0" i="1" smtClean="0">
                          <a:latin typeface="Cambria Math" panose="02040503050406030204" pitchFamily="18" charset="0"/>
                        </a:rPr>
                        <m:t>𝑥</m:t>
                      </m:r>
                      <m:r>
                        <a:rPr lang="en-GB" sz="2400" b="0" i="1" smtClean="0">
                          <a:latin typeface="Cambria Math" panose="02040503050406030204" pitchFamily="18" charset="0"/>
                        </a:rPr>
                        <m:t>.</m:t>
                      </m:r>
                      <m:r>
                        <a:rPr lang="en-GB" sz="2400" b="0" i="1" smtClean="0">
                          <a:latin typeface="Cambria Math" panose="02040503050406030204" pitchFamily="18" charset="0"/>
                        </a:rPr>
                        <m:t>𝑉𝑠</m:t>
                      </m:r>
                      <m:r>
                        <a:rPr lang="en-GB" sz="2400" b="0" i="1" smtClean="0">
                          <a:latin typeface="Cambria Math" panose="02040503050406030204" pitchFamily="18" charset="0"/>
                        </a:rPr>
                        <m:t>−</m:t>
                      </m:r>
                      <m:f>
                        <m:fPr>
                          <m:ctrlPr>
                            <a:rPr lang="en-GB" sz="2400" i="1">
                              <a:latin typeface="Cambria Math" panose="02040503050406030204" pitchFamily="18" charset="0"/>
                            </a:rPr>
                          </m:ctrlPr>
                        </m:fPr>
                        <m:num>
                          <m:r>
                            <a:rPr lang="en-GB" sz="2400" i="1">
                              <a:latin typeface="Cambria Math" panose="02040503050406030204" pitchFamily="18" charset="0"/>
                            </a:rPr>
                            <m:t>𝑥</m:t>
                          </m:r>
                          <m:r>
                            <a:rPr lang="en-GB" sz="2400" b="0" i="1" smtClean="0">
                              <a:latin typeface="Cambria Math" panose="02040503050406030204" pitchFamily="18" charset="0"/>
                            </a:rPr>
                            <m:t>.</m:t>
                          </m:r>
                          <m:r>
                            <a:rPr lang="en-GB" sz="2400" b="0" i="1" smtClean="0">
                              <a:latin typeface="Cambria Math" panose="02040503050406030204" pitchFamily="18" charset="0"/>
                            </a:rPr>
                            <m:t>𝑉𝑠</m:t>
                          </m:r>
                        </m:num>
                        <m:den>
                          <m:f>
                            <m:fPr>
                              <m:ctrlPr>
                                <a:rPr lang="en-GB" sz="2400" i="1">
                                  <a:latin typeface="Cambria Math" panose="02040503050406030204" pitchFamily="18" charset="0"/>
                                </a:rPr>
                              </m:ctrlPr>
                            </m:fPr>
                            <m:num>
                              <m:r>
                                <a:rPr lang="en-GB" sz="2400" i="1">
                                  <a:latin typeface="Cambria Math" panose="02040503050406030204" pitchFamily="18" charset="0"/>
                                </a:rPr>
                                <m:t>𝑅𝑝</m:t>
                              </m:r>
                            </m:num>
                            <m:den>
                              <m:r>
                                <a:rPr lang="en-GB" sz="2400" i="1">
                                  <a:latin typeface="Cambria Math" panose="02040503050406030204" pitchFamily="18" charset="0"/>
                                </a:rPr>
                                <m:t>𝑅𝑙</m:t>
                              </m:r>
                            </m:den>
                          </m:f>
                          <m:r>
                            <a:rPr lang="en-GB" sz="2400" i="1">
                              <a:latin typeface="Cambria Math" panose="02040503050406030204" pitchFamily="18" charset="0"/>
                            </a:rPr>
                            <m:t>.</m:t>
                          </m:r>
                          <m:r>
                            <a:rPr lang="en-GB" sz="2400" i="1">
                              <a:latin typeface="Cambria Math" panose="02040503050406030204" pitchFamily="18" charset="0"/>
                            </a:rPr>
                            <m:t>𝑥</m:t>
                          </m:r>
                          <m:r>
                            <a:rPr lang="en-GB" sz="2400" i="1">
                              <a:latin typeface="Cambria Math" panose="02040503050406030204" pitchFamily="18" charset="0"/>
                            </a:rPr>
                            <m:t>.</m:t>
                          </m:r>
                          <m:d>
                            <m:dPr>
                              <m:ctrlPr>
                                <a:rPr lang="en-GB" sz="2400" i="1">
                                  <a:latin typeface="Cambria Math" panose="02040503050406030204" pitchFamily="18" charset="0"/>
                                </a:rPr>
                              </m:ctrlPr>
                            </m:dPr>
                            <m:e>
                              <m:r>
                                <a:rPr lang="en-GB" sz="2400" i="1">
                                  <a:latin typeface="Cambria Math" panose="02040503050406030204" pitchFamily="18" charset="0"/>
                                </a:rPr>
                                <m:t>1−</m:t>
                              </m:r>
                              <m:r>
                                <a:rPr lang="en-GB" sz="2400" i="1">
                                  <a:latin typeface="Cambria Math" panose="02040503050406030204" pitchFamily="18" charset="0"/>
                                </a:rPr>
                                <m:t>𝑥</m:t>
                              </m:r>
                            </m:e>
                          </m:d>
                          <m:r>
                            <a:rPr lang="en-GB" sz="2400" i="1">
                              <a:latin typeface="Cambria Math" panose="02040503050406030204" pitchFamily="18" charset="0"/>
                            </a:rPr>
                            <m:t>+1</m:t>
                          </m:r>
                        </m:den>
                      </m:f>
                      <m:r>
                        <a:rPr lang="en-GB" sz="2400" b="0" i="1" smtClean="0">
                          <a:latin typeface="Cambria Math" panose="02040503050406030204" pitchFamily="18" charset="0"/>
                        </a:rPr>
                        <m:t>=</m:t>
                      </m:r>
                      <m:r>
                        <a:rPr lang="en-GB" sz="2400" b="0" i="1" smtClean="0">
                          <a:latin typeface="Cambria Math" panose="02040503050406030204" pitchFamily="18" charset="0"/>
                        </a:rPr>
                        <m:t>𝑉𝑠</m:t>
                      </m:r>
                      <m:r>
                        <a:rPr lang="en-GB" sz="2400" b="0" i="1" smtClean="0">
                          <a:latin typeface="Cambria Math" panose="02040503050406030204" pitchFamily="18" charset="0"/>
                        </a:rPr>
                        <m:t>.</m:t>
                      </m:r>
                      <m:f>
                        <m:fPr>
                          <m:ctrlPr>
                            <a:rPr lang="en-GB" sz="2400" b="0" i="1" smtClean="0">
                              <a:latin typeface="Cambria Math" panose="02040503050406030204" pitchFamily="18" charset="0"/>
                            </a:rPr>
                          </m:ctrlPr>
                        </m:fPr>
                        <m:num>
                          <m:r>
                            <a:rPr lang="en-GB" sz="2400" b="0" i="1" smtClean="0">
                              <a:latin typeface="Cambria Math" panose="02040503050406030204" pitchFamily="18" charset="0"/>
                            </a:rPr>
                            <m:t>𝑅𝑝</m:t>
                          </m:r>
                        </m:num>
                        <m:den>
                          <m:r>
                            <a:rPr lang="en-GB" sz="2400" b="0" i="1" smtClean="0">
                              <a:latin typeface="Cambria Math" panose="02040503050406030204" pitchFamily="18" charset="0"/>
                            </a:rPr>
                            <m:t>𝑅𝑙</m:t>
                          </m:r>
                        </m:den>
                      </m:f>
                      <m:r>
                        <a:rPr lang="en-GB" sz="2400" b="0" i="1" smtClean="0">
                          <a:latin typeface="Cambria Math" panose="02040503050406030204" pitchFamily="18" charset="0"/>
                        </a:rPr>
                        <m:t>.</m:t>
                      </m:r>
                      <m:d>
                        <m:dPr>
                          <m:ctrlPr>
                            <a:rPr lang="en-GB" sz="2400" b="0" i="1" smtClean="0">
                              <a:latin typeface="Cambria Math" panose="02040503050406030204" pitchFamily="18" charset="0"/>
                            </a:rPr>
                          </m:ctrlPr>
                        </m:dPr>
                        <m:e>
                          <m:sSup>
                            <m:sSupPr>
                              <m:ctrlPr>
                                <a:rPr lang="en-GB" sz="2400" b="0" i="1" smtClean="0">
                                  <a:latin typeface="Cambria Math" panose="02040503050406030204" pitchFamily="18" charset="0"/>
                                </a:rPr>
                              </m:ctrlPr>
                            </m:sSupPr>
                            <m:e>
                              <m:r>
                                <a:rPr lang="en-GB" sz="2400" b="0" i="1" smtClean="0">
                                  <a:latin typeface="Cambria Math" panose="02040503050406030204" pitchFamily="18" charset="0"/>
                                </a:rPr>
                                <m:t>𝑥</m:t>
                              </m:r>
                            </m:e>
                            <m:sup>
                              <m:r>
                                <a:rPr lang="en-GB" sz="2400" b="0" i="1" smtClean="0">
                                  <a:latin typeface="Cambria Math" panose="02040503050406030204" pitchFamily="18" charset="0"/>
                                </a:rPr>
                                <m:t>2</m:t>
                              </m:r>
                            </m:sup>
                          </m:sSup>
                          <m:r>
                            <a:rPr lang="en-GB" sz="2400" b="0" i="1" smtClean="0">
                              <a:latin typeface="Cambria Math" panose="02040503050406030204" pitchFamily="18" charset="0"/>
                            </a:rPr>
                            <m:t>−</m:t>
                          </m:r>
                          <m:sSup>
                            <m:sSupPr>
                              <m:ctrlPr>
                                <a:rPr lang="en-GB" sz="2400" b="0" i="1" smtClean="0">
                                  <a:latin typeface="Cambria Math" panose="02040503050406030204" pitchFamily="18" charset="0"/>
                                </a:rPr>
                              </m:ctrlPr>
                            </m:sSupPr>
                            <m:e>
                              <m:r>
                                <a:rPr lang="en-GB" sz="2400" b="0" i="1" smtClean="0">
                                  <a:latin typeface="Cambria Math" panose="02040503050406030204" pitchFamily="18" charset="0"/>
                                </a:rPr>
                                <m:t>𝑥</m:t>
                              </m:r>
                            </m:e>
                            <m:sup>
                              <m:r>
                                <a:rPr lang="en-GB" sz="2400" b="0" i="1" smtClean="0">
                                  <a:latin typeface="Cambria Math" panose="02040503050406030204" pitchFamily="18" charset="0"/>
                                </a:rPr>
                                <m:t>3</m:t>
                              </m:r>
                            </m:sup>
                          </m:sSup>
                        </m:e>
                      </m:d>
                    </m:oMath>
                  </m:oMathPara>
                </a14:m>
                <a:endParaRPr lang="en-GB" sz="2200" dirty="0"/>
              </a:p>
              <a:p>
                <a:endParaRPr lang="en-GB" sz="2200" dirty="0"/>
              </a:p>
              <a:p>
                <a:endParaRPr lang="en-GB" sz="2200" dirty="0"/>
              </a:p>
              <a:p>
                <a:pPr marL="0" indent="0">
                  <a:buNone/>
                </a:pPr>
                <a:endParaRPr lang="en-GB" sz="2200" dirty="0"/>
              </a:p>
              <a:p>
                <a:pPr marL="0" indent="0">
                  <a:buNone/>
                </a:pPr>
                <a:endParaRPr lang="en-GB" sz="2200" dirty="0"/>
              </a:p>
            </p:txBody>
          </p:sp>
        </mc:Choice>
        <mc:Fallback xmlns="">
          <p:sp>
            <p:nvSpPr>
              <p:cNvPr id="3" name="Subtitle 2">
                <a:extLst>
                  <a:ext uri="{FF2B5EF4-FFF2-40B4-BE49-F238E27FC236}">
                    <a16:creationId xmlns:a16="http://schemas.microsoft.com/office/drawing/2014/main" id="{0EC2D61B-0204-42F3-52E6-931A9496968D}"/>
                  </a:ext>
                </a:extLst>
              </p:cNvPr>
              <p:cNvSpPr>
                <a:spLocks noGrp="1" noRot="1" noChangeAspect="1" noMove="1" noResize="1" noEditPoints="1" noAdjustHandles="1" noChangeArrowheads="1" noChangeShapeType="1" noTextEdit="1"/>
              </p:cNvSpPr>
              <p:nvPr>
                <p:ph idx="1"/>
              </p:nvPr>
            </p:nvSpPr>
            <p:spPr>
              <a:xfrm>
                <a:off x="838200" y="1929384"/>
                <a:ext cx="10515600" cy="4251960"/>
              </a:xfrm>
              <a:blipFill>
                <a:blip r:embed="rId2"/>
                <a:stretch>
                  <a:fillRect l="-696" t="-1722"/>
                </a:stretch>
              </a:blipFill>
            </p:spPr>
            <p:txBody>
              <a:bodyPr/>
              <a:lstStyle/>
              <a:p>
                <a:r>
                  <a:rPr lang="en-GB">
                    <a:noFill/>
                  </a:rPr>
                  <a:t> </a:t>
                </a:r>
              </a:p>
            </p:txBody>
          </p:sp>
        </mc:Fallback>
      </mc:AlternateContent>
      <p:sp>
        <p:nvSpPr>
          <p:cNvPr id="4" name="Slide Number Placeholder 3">
            <a:extLst>
              <a:ext uri="{FF2B5EF4-FFF2-40B4-BE49-F238E27FC236}">
                <a16:creationId xmlns:a16="http://schemas.microsoft.com/office/drawing/2014/main" id="{1A2050B1-DF37-2DFC-FDF3-0B4F63C76D7E}"/>
              </a:ext>
            </a:extLst>
          </p:cNvPr>
          <p:cNvSpPr>
            <a:spLocks noGrp="1"/>
          </p:cNvSpPr>
          <p:nvPr>
            <p:ph type="sldNum" sz="quarter" idx="12"/>
          </p:nvPr>
        </p:nvSpPr>
        <p:spPr>
          <a:xfrm>
            <a:off x="8610600" y="6356350"/>
            <a:ext cx="2743200" cy="365125"/>
          </a:xfrm>
        </p:spPr>
        <p:txBody>
          <a:bodyPr>
            <a:normAutofit/>
          </a:bodyPr>
          <a:lstStyle/>
          <a:p>
            <a:pPr marL="0" marR="0" lvl="0" indent="0" defTabSz="914400" rtl="0" eaLnBrk="1" fontAlgn="auto" latinLnBrk="0" hangingPunct="1">
              <a:spcBef>
                <a:spcPts val="0"/>
              </a:spcBef>
              <a:spcAft>
                <a:spcPts val="600"/>
              </a:spcAft>
              <a:buClrTx/>
              <a:buSzTx/>
              <a:buFontTx/>
              <a:buNone/>
              <a:tabLst/>
              <a:defRPr/>
            </a:pPr>
            <a:fld id="{1ED87AFC-F3F3-4E09-A9D9-1873FFB55ECB}" type="slidenum">
              <a:rPr kumimoji="0" lang="en-GB" b="1" i="0" u="none" strike="noStrike" kern="1200" cap="none" spc="0" normalizeH="0" baseline="0" noProof="0" smtClean="0">
                <a:ln>
                  <a:noFill/>
                </a:ln>
                <a:effectLst/>
                <a:uLnTx/>
                <a:uFillTx/>
                <a:latin typeface="Calibri" panose="020F0502020204030204"/>
                <a:ea typeface="+mn-ea"/>
                <a:cs typeface="+mn-cs"/>
              </a:rPr>
              <a:pPr marL="0" marR="0" lvl="0" indent="0" defTabSz="914400" rtl="0" eaLnBrk="1" fontAlgn="auto" latinLnBrk="0" hangingPunct="1">
                <a:spcBef>
                  <a:spcPts val="0"/>
                </a:spcBef>
                <a:spcAft>
                  <a:spcPts val="600"/>
                </a:spcAft>
                <a:buClrTx/>
                <a:buSzTx/>
                <a:buFontTx/>
                <a:buNone/>
                <a:tabLst/>
                <a:defRPr/>
              </a:pPr>
              <a:t>30</a:t>
            </a:fld>
            <a:endParaRPr kumimoji="0" lang="en-GB" b="1" i="0" u="none" strike="noStrike" kern="1200" cap="none" spc="0" normalizeH="0" baseline="0" noProof="0">
              <a:ln>
                <a:noFill/>
              </a:ln>
              <a:effectLst/>
              <a:uLnTx/>
              <a:uFillTx/>
              <a:latin typeface="Calibri" panose="020F0502020204030204"/>
              <a:ea typeface="+mn-ea"/>
              <a:cs typeface="+mn-cs"/>
            </a:endParaRPr>
          </a:p>
        </p:txBody>
      </p:sp>
    </p:spTree>
    <p:extLst>
      <p:ext uri="{BB962C8B-B14F-4D97-AF65-F5344CB8AC3E}">
        <p14:creationId xmlns:p14="http://schemas.microsoft.com/office/powerpoint/2010/main" val="9395697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a:xfrm>
            <a:off x="838200" y="365125"/>
            <a:ext cx="10515600" cy="1325563"/>
          </a:xfrm>
        </p:spPr>
        <p:txBody>
          <a:bodyPr>
            <a:normAutofit/>
          </a:bodyPr>
          <a:lstStyle/>
          <a:p>
            <a:r>
              <a:rPr lang="en-GB" sz="5400" b="1" dirty="0"/>
              <a:t>Potentiometers - Error</a:t>
            </a:r>
          </a:p>
        </p:txBody>
      </p:sp>
      <p:sp>
        <p:nvSpPr>
          <p:cNvPr id="11"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 name="Subtitle 2">
                <a:extLst>
                  <a:ext uri="{FF2B5EF4-FFF2-40B4-BE49-F238E27FC236}">
                    <a16:creationId xmlns:a16="http://schemas.microsoft.com/office/drawing/2014/main" id="{0EC2D61B-0204-42F3-52E6-931A9496968D}"/>
                  </a:ext>
                </a:extLst>
              </p:cNvPr>
              <p:cNvSpPr>
                <a:spLocks noGrp="1"/>
              </p:cNvSpPr>
              <p:nvPr>
                <p:ph idx="1"/>
              </p:nvPr>
            </p:nvSpPr>
            <p:spPr>
              <a:xfrm>
                <a:off x="888076" y="1895052"/>
                <a:ext cx="10515600" cy="4251960"/>
              </a:xfrm>
            </p:spPr>
            <p:txBody>
              <a:bodyPr>
                <a:normAutofit/>
              </a:bodyPr>
              <a:lstStyle/>
              <a:p>
                <a:pPr indent="-225720">
                  <a:spcAft>
                    <a:spcPts val="1414"/>
                  </a:spcAft>
                  <a:buClr>
                    <a:srgbClr val="000000"/>
                  </a:buClr>
                  <a:buSzPct val="45000"/>
                  <a:buFont typeface="Wingdings" charset="2"/>
                  <a:buChar char=""/>
                </a:pPr>
                <a:r>
                  <a:rPr lang="en-GB" sz="2000" spc="-1" dirty="0">
                    <a:latin typeface="Arial"/>
                    <a:ea typeface="DejaVu Sans"/>
                  </a:rPr>
                  <a:t>Example - </a:t>
                </a:r>
                <a:r>
                  <a:rPr lang="en-GB" sz="2000" spc="-1" dirty="0">
                    <a:latin typeface="Arial"/>
                  </a:rPr>
                  <a:t>500</a:t>
                </a:r>
                <a:r>
                  <a:rPr lang="en-GB" sz="2000" spc="-1" dirty="0">
                    <a:latin typeface="Arial"/>
                    <a:ea typeface="DejaVu Sans"/>
                  </a:rPr>
                  <a:t>Ω with slider 1/2 along the track, </a:t>
                </a:r>
                <a:r>
                  <a:rPr lang="en-GB" sz="2000" spc="-1" dirty="0" err="1">
                    <a:latin typeface="Arial"/>
                  </a:rPr>
                  <a:t>Rl</a:t>
                </a:r>
                <a:r>
                  <a:rPr lang="en-GB" sz="2000" spc="-1" dirty="0">
                    <a:latin typeface="Arial"/>
                  </a:rPr>
                  <a:t> 10k</a:t>
                </a:r>
                <a:r>
                  <a:rPr lang="en-GB" sz="2000" spc="-1" dirty="0">
                    <a:latin typeface="Arial"/>
                    <a:ea typeface="DejaVu Sans"/>
                  </a:rPr>
                  <a:t>Ω, Vs 4V</a:t>
                </a:r>
                <a:endParaRPr lang="en-GB" sz="2400" spc="-1" dirty="0">
                  <a:latin typeface="Arial"/>
                  <a:ea typeface="DejaVu Sans"/>
                </a:endParaRPr>
              </a:p>
              <a:p>
                <a:pPr marL="460080" lvl="1" indent="0">
                  <a:spcAft>
                    <a:spcPts val="1414"/>
                  </a:spcAft>
                  <a:buClr>
                    <a:srgbClr val="000000"/>
                  </a:buClr>
                  <a:buSzPct val="45000"/>
                  <a:buNone/>
                </a:pPr>
                <a14:m>
                  <m:oMathPara xmlns:m="http://schemas.openxmlformats.org/officeDocument/2006/math">
                    <m:oMathParaPr>
                      <m:jc m:val="centerGroup"/>
                    </m:oMathParaPr>
                    <m:oMath xmlns:m="http://schemas.openxmlformats.org/officeDocument/2006/math">
                      <m:r>
                        <a:rPr lang="en-GB" sz="2000" b="0" i="1" smtClean="0">
                          <a:latin typeface="Cambria Math" panose="02040503050406030204" pitchFamily="18" charset="0"/>
                        </a:rPr>
                        <m:t>𝑒𝑟𝑟𝑜𝑟</m:t>
                      </m:r>
                      <m:r>
                        <a:rPr lang="en-GB" sz="2000" b="0" i="1" smtClean="0">
                          <a:latin typeface="Cambria Math" panose="02040503050406030204" pitchFamily="18" charset="0"/>
                        </a:rPr>
                        <m:t>=</m:t>
                      </m:r>
                      <m:r>
                        <a:rPr lang="en-GB" sz="2000" b="0" i="1" smtClean="0">
                          <a:latin typeface="Cambria Math" panose="02040503050406030204" pitchFamily="18" charset="0"/>
                        </a:rPr>
                        <m:t>𝑉𝑠</m:t>
                      </m:r>
                      <m:r>
                        <a:rPr lang="en-GB" sz="2000" b="0" i="1" smtClean="0">
                          <a:latin typeface="Cambria Math" panose="02040503050406030204" pitchFamily="18" charset="0"/>
                        </a:rPr>
                        <m:t>.</m:t>
                      </m:r>
                      <m:f>
                        <m:fPr>
                          <m:ctrlPr>
                            <a:rPr lang="en-GB" sz="2000" b="0" i="1" smtClean="0">
                              <a:latin typeface="Cambria Math" panose="02040503050406030204" pitchFamily="18" charset="0"/>
                            </a:rPr>
                          </m:ctrlPr>
                        </m:fPr>
                        <m:num>
                          <m:r>
                            <a:rPr lang="en-GB" sz="2000" b="0" i="1" smtClean="0">
                              <a:latin typeface="Cambria Math" panose="02040503050406030204" pitchFamily="18" charset="0"/>
                            </a:rPr>
                            <m:t>𝑅𝑝</m:t>
                          </m:r>
                        </m:num>
                        <m:den>
                          <m:r>
                            <a:rPr lang="en-GB" sz="2000" b="0" i="1" smtClean="0">
                              <a:latin typeface="Cambria Math" panose="02040503050406030204" pitchFamily="18" charset="0"/>
                            </a:rPr>
                            <m:t>𝑅𝑙</m:t>
                          </m:r>
                        </m:den>
                      </m:f>
                      <m:r>
                        <a:rPr lang="en-GB" sz="2000" b="0" i="1" smtClean="0">
                          <a:latin typeface="Cambria Math" panose="02040503050406030204" pitchFamily="18" charset="0"/>
                        </a:rPr>
                        <m:t>.</m:t>
                      </m:r>
                      <m:d>
                        <m:dPr>
                          <m:ctrlPr>
                            <a:rPr lang="en-GB" sz="2000" b="0" i="1" smtClean="0">
                              <a:latin typeface="Cambria Math" panose="02040503050406030204" pitchFamily="18" charset="0"/>
                            </a:rPr>
                          </m:ctrlPr>
                        </m:dPr>
                        <m:e>
                          <m:sSup>
                            <m:sSupPr>
                              <m:ctrlPr>
                                <a:rPr lang="en-GB" sz="2000" b="0" i="1" smtClean="0">
                                  <a:latin typeface="Cambria Math" panose="02040503050406030204" pitchFamily="18" charset="0"/>
                                </a:rPr>
                              </m:ctrlPr>
                            </m:sSupPr>
                            <m:e>
                              <m:r>
                                <a:rPr lang="en-GB" sz="2000" b="0" i="1" smtClean="0">
                                  <a:latin typeface="Cambria Math" panose="02040503050406030204" pitchFamily="18" charset="0"/>
                                </a:rPr>
                                <m:t>𝑥</m:t>
                              </m:r>
                            </m:e>
                            <m:sup>
                              <m:r>
                                <a:rPr lang="en-GB" sz="2000" b="0" i="1" smtClean="0">
                                  <a:latin typeface="Cambria Math" panose="02040503050406030204" pitchFamily="18" charset="0"/>
                                </a:rPr>
                                <m:t>2</m:t>
                              </m:r>
                            </m:sup>
                          </m:sSup>
                          <m:r>
                            <a:rPr lang="en-GB" sz="2000" b="0" i="1" smtClean="0">
                              <a:latin typeface="Cambria Math" panose="02040503050406030204" pitchFamily="18" charset="0"/>
                            </a:rPr>
                            <m:t>−</m:t>
                          </m:r>
                          <m:sSup>
                            <m:sSupPr>
                              <m:ctrlPr>
                                <a:rPr lang="en-GB" sz="2000" b="0" i="1" smtClean="0">
                                  <a:latin typeface="Cambria Math" panose="02040503050406030204" pitchFamily="18" charset="0"/>
                                </a:rPr>
                              </m:ctrlPr>
                            </m:sSupPr>
                            <m:e>
                              <m:r>
                                <a:rPr lang="en-GB" sz="2000" b="0" i="1" smtClean="0">
                                  <a:latin typeface="Cambria Math" panose="02040503050406030204" pitchFamily="18" charset="0"/>
                                </a:rPr>
                                <m:t>𝑥</m:t>
                              </m:r>
                            </m:e>
                            <m:sup>
                              <m:r>
                                <a:rPr lang="en-GB" sz="2000" b="0" i="1" smtClean="0">
                                  <a:latin typeface="Cambria Math" panose="02040503050406030204" pitchFamily="18" charset="0"/>
                                </a:rPr>
                                <m:t>3</m:t>
                              </m:r>
                            </m:sup>
                          </m:sSup>
                        </m:e>
                      </m:d>
                      <m:r>
                        <a:rPr lang="en-GB" sz="2000" b="0" i="1" smtClean="0">
                          <a:latin typeface="Cambria Math" panose="02040503050406030204" pitchFamily="18" charset="0"/>
                        </a:rPr>
                        <m:t>=4</m:t>
                      </m:r>
                      <m:r>
                        <a:rPr lang="en-GB" sz="2000" b="0" i="1" smtClean="0">
                          <a:latin typeface="Cambria Math" panose="02040503050406030204" pitchFamily="18" charset="0"/>
                          <a:ea typeface="Cambria Math" panose="02040503050406030204" pitchFamily="18" charset="0"/>
                        </a:rPr>
                        <m:t>×</m:t>
                      </m:r>
                      <m:f>
                        <m:fPr>
                          <m:ctrlPr>
                            <a:rPr lang="en-GB" sz="2000" b="0" i="1" smtClean="0">
                              <a:latin typeface="Cambria Math" panose="02040503050406030204" pitchFamily="18" charset="0"/>
                              <a:ea typeface="Cambria Math" panose="02040503050406030204" pitchFamily="18" charset="0"/>
                            </a:rPr>
                          </m:ctrlPr>
                        </m:fPr>
                        <m:num>
                          <m:r>
                            <a:rPr lang="en-GB" sz="2000" b="0" i="1" smtClean="0">
                              <a:latin typeface="Cambria Math" panose="02040503050406030204" pitchFamily="18" charset="0"/>
                              <a:ea typeface="Cambria Math" panose="02040503050406030204" pitchFamily="18" charset="0"/>
                            </a:rPr>
                            <m:t>500</m:t>
                          </m:r>
                        </m:num>
                        <m:den>
                          <m:r>
                            <a:rPr lang="en-GB" sz="2000" b="0" i="1" smtClean="0">
                              <a:latin typeface="Cambria Math" panose="02040503050406030204" pitchFamily="18" charset="0"/>
                              <a:ea typeface="Cambria Math" panose="02040503050406030204" pitchFamily="18" charset="0"/>
                            </a:rPr>
                            <m:t>10000</m:t>
                          </m:r>
                        </m:den>
                      </m:f>
                      <m:r>
                        <a:rPr lang="en-GB" sz="2000" b="0" i="1" smtClean="0">
                          <a:latin typeface="Cambria Math" panose="02040503050406030204" pitchFamily="18" charset="0"/>
                          <a:ea typeface="Cambria Math" panose="02040503050406030204" pitchFamily="18" charset="0"/>
                        </a:rPr>
                        <m:t>×</m:t>
                      </m:r>
                      <m:d>
                        <m:dPr>
                          <m:ctrlPr>
                            <a:rPr lang="en-GB" sz="2000" b="0" i="1" smtClean="0">
                              <a:latin typeface="Cambria Math" panose="02040503050406030204" pitchFamily="18" charset="0"/>
                              <a:ea typeface="Cambria Math" panose="02040503050406030204" pitchFamily="18" charset="0"/>
                            </a:rPr>
                          </m:ctrlPr>
                        </m:dPr>
                        <m:e>
                          <m:sSup>
                            <m:sSupPr>
                              <m:ctrlPr>
                                <a:rPr lang="en-GB" sz="2000" b="0" i="1" smtClean="0">
                                  <a:latin typeface="Cambria Math" panose="02040503050406030204" pitchFamily="18" charset="0"/>
                                  <a:ea typeface="Cambria Math" panose="02040503050406030204" pitchFamily="18" charset="0"/>
                                </a:rPr>
                              </m:ctrlPr>
                            </m:sSupPr>
                            <m:e>
                              <m:r>
                                <a:rPr lang="en-GB" sz="2000" b="0" i="1" smtClean="0">
                                  <a:latin typeface="Cambria Math" panose="02040503050406030204" pitchFamily="18" charset="0"/>
                                  <a:ea typeface="Cambria Math" panose="02040503050406030204" pitchFamily="18" charset="0"/>
                                </a:rPr>
                                <m:t>0.5</m:t>
                              </m:r>
                            </m:e>
                            <m:sup>
                              <m:r>
                                <a:rPr lang="en-GB" sz="2000" b="0" i="1" smtClean="0">
                                  <a:latin typeface="Cambria Math" panose="02040503050406030204" pitchFamily="18" charset="0"/>
                                  <a:ea typeface="Cambria Math" panose="02040503050406030204" pitchFamily="18" charset="0"/>
                                </a:rPr>
                                <m:t>2</m:t>
                              </m:r>
                            </m:sup>
                          </m:sSup>
                          <m:r>
                            <a:rPr lang="en-GB" sz="2000" b="0" i="1" smtClean="0">
                              <a:latin typeface="Cambria Math" panose="02040503050406030204" pitchFamily="18" charset="0"/>
                              <a:ea typeface="Cambria Math" panose="02040503050406030204" pitchFamily="18" charset="0"/>
                            </a:rPr>
                            <m:t>−</m:t>
                          </m:r>
                          <m:sSup>
                            <m:sSupPr>
                              <m:ctrlPr>
                                <a:rPr lang="en-GB" sz="2000" b="0" i="1" smtClean="0">
                                  <a:latin typeface="Cambria Math" panose="02040503050406030204" pitchFamily="18" charset="0"/>
                                  <a:ea typeface="Cambria Math" panose="02040503050406030204" pitchFamily="18" charset="0"/>
                                </a:rPr>
                              </m:ctrlPr>
                            </m:sSupPr>
                            <m:e>
                              <m:r>
                                <a:rPr lang="en-GB" sz="2000" b="0" i="1" smtClean="0">
                                  <a:latin typeface="Cambria Math" panose="02040503050406030204" pitchFamily="18" charset="0"/>
                                  <a:ea typeface="Cambria Math" panose="02040503050406030204" pitchFamily="18" charset="0"/>
                                </a:rPr>
                                <m:t>0.5</m:t>
                              </m:r>
                            </m:e>
                            <m:sup>
                              <m:r>
                                <a:rPr lang="en-GB" sz="2000" b="0" i="1" smtClean="0">
                                  <a:latin typeface="Cambria Math" panose="02040503050406030204" pitchFamily="18" charset="0"/>
                                  <a:ea typeface="Cambria Math" panose="02040503050406030204" pitchFamily="18" charset="0"/>
                                </a:rPr>
                                <m:t>3</m:t>
                              </m:r>
                            </m:sup>
                          </m:sSup>
                        </m:e>
                      </m:d>
                      <m:r>
                        <a:rPr lang="en-GB" sz="2000" b="0" i="1" smtClean="0">
                          <a:latin typeface="Cambria Math" panose="02040503050406030204" pitchFamily="18" charset="0"/>
                          <a:ea typeface="Cambria Math" panose="02040503050406030204" pitchFamily="18" charset="0"/>
                        </a:rPr>
                        <m:t>=0.025</m:t>
                      </m:r>
                      <m:r>
                        <a:rPr lang="en-GB" sz="2000" b="0" i="1" smtClean="0">
                          <a:latin typeface="Cambria Math" panose="02040503050406030204" pitchFamily="18" charset="0"/>
                          <a:ea typeface="Cambria Math" panose="02040503050406030204" pitchFamily="18" charset="0"/>
                        </a:rPr>
                        <m:t>𝑉</m:t>
                      </m:r>
                    </m:oMath>
                  </m:oMathPara>
                </a14:m>
                <a:endParaRPr lang="en-GB" sz="2000" spc="-1" dirty="0">
                  <a:latin typeface="Arial"/>
                </a:endParaRPr>
              </a:p>
              <a:p>
                <a:pPr lvl="1" indent="-225720">
                  <a:spcAft>
                    <a:spcPts val="1414"/>
                  </a:spcAft>
                  <a:buClr>
                    <a:srgbClr val="000000"/>
                  </a:buClr>
                  <a:buSzPct val="45000"/>
                  <a:buFont typeface="Wingdings" charset="2"/>
                  <a:buChar char=""/>
                </a:pPr>
                <a:r>
                  <a:rPr lang="en-GB" sz="1600" spc="-1" dirty="0">
                    <a:latin typeface="Arial"/>
                  </a:rPr>
                  <a:t>As a percentage of </a:t>
                </a:r>
                <a:r>
                  <a:rPr lang="en-GB" sz="1600" spc="-1" dirty="0" err="1">
                    <a:latin typeface="Arial"/>
                  </a:rPr>
                  <a:t>fullscale</a:t>
                </a:r>
                <a:r>
                  <a:rPr lang="en-GB" sz="1600" spc="-1" dirty="0">
                    <a:latin typeface="Arial"/>
                  </a:rPr>
                  <a:t> input range this 0.625% (0.025/4 * 100)</a:t>
                </a:r>
              </a:p>
              <a:p>
                <a:pPr indent="-225720">
                  <a:spcAft>
                    <a:spcPts val="1414"/>
                  </a:spcAft>
                  <a:buClr>
                    <a:srgbClr val="000000"/>
                  </a:buClr>
                  <a:buSzPct val="45000"/>
                  <a:buFont typeface="Wingdings" charset="2"/>
                  <a:buChar char=""/>
                </a:pPr>
                <a:r>
                  <a:rPr lang="en-GB" sz="2000" spc="-1" dirty="0">
                    <a:latin typeface="Arial"/>
                  </a:rPr>
                  <a:t>Example </a:t>
                </a:r>
                <a:r>
                  <a:rPr lang="en-GB" sz="2000" spc="-1" dirty="0">
                    <a:latin typeface="Arial"/>
                    <a:ea typeface="DejaVu Sans"/>
                  </a:rPr>
                  <a:t>- </a:t>
                </a:r>
                <a:r>
                  <a:rPr lang="en-GB" sz="2000" spc="-1" dirty="0">
                    <a:latin typeface="Arial"/>
                  </a:rPr>
                  <a:t>500</a:t>
                </a:r>
                <a:r>
                  <a:rPr lang="en-GB" sz="2000" spc="-1" dirty="0">
                    <a:latin typeface="Arial"/>
                    <a:ea typeface="DejaVu Sans"/>
                  </a:rPr>
                  <a:t>Ω with slider 1/2 along the track, </a:t>
                </a:r>
                <a:r>
                  <a:rPr lang="en-GB" sz="2000" spc="-1" dirty="0" err="1">
                    <a:latin typeface="Arial"/>
                  </a:rPr>
                  <a:t>Rl</a:t>
                </a:r>
                <a:r>
                  <a:rPr lang="en-GB" sz="2000" spc="-1" dirty="0">
                    <a:latin typeface="Arial"/>
                  </a:rPr>
                  <a:t> 50k</a:t>
                </a:r>
                <a:r>
                  <a:rPr lang="en-GB" sz="2000" spc="-1" dirty="0">
                    <a:latin typeface="Arial"/>
                    <a:ea typeface="DejaVu Sans"/>
                  </a:rPr>
                  <a:t>Ω, Vs 4V</a:t>
                </a:r>
              </a:p>
              <a:p>
                <a:pPr marL="2880" indent="0">
                  <a:spcAft>
                    <a:spcPts val="1414"/>
                  </a:spcAft>
                  <a:buClr>
                    <a:srgbClr val="000000"/>
                  </a:buClr>
                  <a:buSzPct val="45000"/>
                  <a:buNone/>
                </a:pPr>
                <a14:m>
                  <m:oMathPara xmlns:m="http://schemas.openxmlformats.org/officeDocument/2006/math">
                    <m:oMathParaPr>
                      <m:jc m:val="centerGroup"/>
                    </m:oMathParaPr>
                    <m:oMath xmlns:m="http://schemas.openxmlformats.org/officeDocument/2006/math">
                      <m:r>
                        <a:rPr lang="en-GB" sz="2000" b="0" i="1" smtClean="0">
                          <a:latin typeface="Cambria Math" panose="02040503050406030204" pitchFamily="18" charset="0"/>
                        </a:rPr>
                        <m:t>𝑒𝑟𝑟𝑜𝑟</m:t>
                      </m:r>
                      <m:r>
                        <a:rPr lang="en-GB" sz="2000" b="0" i="1" smtClean="0">
                          <a:latin typeface="Cambria Math" panose="02040503050406030204" pitchFamily="18" charset="0"/>
                        </a:rPr>
                        <m:t>=</m:t>
                      </m:r>
                      <m:r>
                        <a:rPr lang="en-GB" sz="2000" b="0" i="1" smtClean="0">
                          <a:latin typeface="Cambria Math" panose="02040503050406030204" pitchFamily="18" charset="0"/>
                        </a:rPr>
                        <m:t>𝑉𝑠</m:t>
                      </m:r>
                      <m:r>
                        <a:rPr lang="en-GB" sz="2000" b="0" i="1" smtClean="0">
                          <a:latin typeface="Cambria Math" panose="02040503050406030204" pitchFamily="18" charset="0"/>
                        </a:rPr>
                        <m:t>.</m:t>
                      </m:r>
                      <m:f>
                        <m:fPr>
                          <m:ctrlPr>
                            <a:rPr lang="en-GB" sz="2000" b="0" i="1" smtClean="0">
                              <a:latin typeface="Cambria Math" panose="02040503050406030204" pitchFamily="18" charset="0"/>
                            </a:rPr>
                          </m:ctrlPr>
                        </m:fPr>
                        <m:num>
                          <m:r>
                            <a:rPr lang="en-GB" sz="2000" b="0" i="1" smtClean="0">
                              <a:latin typeface="Cambria Math" panose="02040503050406030204" pitchFamily="18" charset="0"/>
                            </a:rPr>
                            <m:t>𝑅𝑝</m:t>
                          </m:r>
                        </m:num>
                        <m:den>
                          <m:r>
                            <a:rPr lang="en-GB" sz="2000" b="0" i="1" smtClean="0">
                              <a:latin typeface="Cambria Math" panose="02040503050406030204" pitchFamily="18" charset="0"/>
                            </a:rPr>
                            <m:t>𝑅𝑙</m:t>
                          </m:r>
                        </m:den>
                      </m:f>
                      <m:r>
                        <a:rPr lang="en-GB" sz="2000" b="0" i="1" smtClean="0">
                          <a:latin typeface="Cambria Math" panose="02040503050406030204" pitchFamily="18" charset="0"/>
                        </a:rPr>
                        <m:t>.</m:t>
                      </m:r>
                      <m:d>
                        <m:dPr>
                          <m:ctrlPr>
                            <a:rPr lang="en-GB" sz="2000" b="0" i="1" smtClean="0">
                              <a:latin typeface="Cambria Math" panose="02040503050406030204" pitchFamily="18" charset="0"/>
                            </a:rPr>
                          </m:ctrlPr>
                        </m:dPr>
                        <m:e>
                          <m:sSup>
                            <m:sSupPr>
                              <m:ctrlPr>
                                <a:rPr lang="en-GB" sz="2000" b="0" i="1" smtClean="0">
                                  <a:latin typeface="Cambria Math" panose="02040503050406030204" pitchFamily="18" charset="0"/>
                                </a:rPr>
                              </m:ctrlPr>
                            </m:sSupPr>
                            <m:e>
                              <m:r>
                                <a:rPr lang="en-GB" sz="2000" b="0" i="1" smtClean="0">
                                  <a:latin typeface="Cambria Math" panose="02040503050406030204" pitchFamily="18" charset="0"/>
                                </a:rPr>
                                <m:t>𝑥</m:t>
                              </m:r>
                            </m:e>
                            <m:sup>
                              <m:r>
                                <a:rPr lang="en-GB" sz="2000" b="0" i="1" smtClean="0">
                                  <a:latin typeface="Cambria Math" panose="02040503050406030204" pitchFamily="18" charset="0"/>
                                </a:rPr>
                                <m:t>2</m:t>
                              </m:r>
                            </m:sup>
                          </m:sSup>
                          <m:r>
                            <a:rPr lang="en-GB" sz="2000" b="0" i="1" smtClean="0">
                              <a:latin typeface="Cambria Math" panose="02040503050406030204" pitchFamily="18" charset="0"/>
                            </a:rPr>
                            <m:t>−</m:t>
                          </m:r>
                          <m:sSup>
                            <m:sSupPr>
                              <m:ctrlPr>
                                <a:rPr lang="en-GB" sz="2000" b="0" i="1" smtClean="0">
                                  <a:latin typeface="Cambria Math" panose="02040503050406030204" pitchFamily="18" charset="0"/>
                                </a:rPr>
                              </m:ctrlPr>
                            </m:sSupPr>
                            <m:e>
                              <m:r>
                                <a:rPr lang="en-GB" sz="2000" b="0" i="1" smtClean="0">
                                  <a:latin typeface="Cambria Math" panose="02040503050406030204" pitchFamily="18" charset="0"/>
                                </a:rPr>
                                <m:t>𝑥</m:t>
                              </m:r>
                            </m:e>
                            <m:sup>
                              <m:r>
                                <a:rPr lang="en-GB" sz="2000" b="0" i="1" smtClean="0">
                                  <a:latin typeface="Cambria Math" panose="02040503050406030204" pitchFamily="18" charset="0"/>
                                </a:rPr>
                                <m:t>3</m:t>
                              </m:r>
                            </m:sup>
                          </m:sSup>
                        </m:e>
                      </m:d>
                      <m:r>
                        <a:rPr lang="en-GB" sz="2000" b="0" i="1" smtClean="0">
                          <a:latin typeface="Cambria Math" panose="02040503050406030204" pitchFamily="18" charset="0"/>
                        </a:rPr>
                        <m:t>=4</m:t>
                      </m:r>
                      <m:r>
                        <a:rPr lang="en-GB" sz="2000" b="0" i="1" smtClean="0">
                          <a:latin typeface="Cambria Math" panose="02040503050406030204" pitchFamily="18" charset="0"/>
                          <a:ea typeface="Cambria Math" panose="02040503050406030204" pitchFamily="18" charset="0"/>
                        </a:rPr>
                        <m:t>×</m:t>
                      </m:r>
                      <m:f>
                        <m:fPr>
                          <m:ctrlPr>
                            <a:rPr lang="en-GB" sz="2000" b="0" i="1" smtClean="0">
                              <a:latin typeface="Cambria Math" panose="02040503050406030204" pitchFamily="18" charset="0"/>
                              <a:ea typeface="Cambria Math" panose="02040503050406030204" pitchFamily="18" charset="0"/>
                            </a:rPr>
                          </m:ctrlPr>
                        </m:fPr>
                        <m:num>
                          <m:r>
                            <a:rPr lang="en-GB" sz="2000" b="0" i="1" smtClean="0">
                              <a:latin typeface="Cambria Math" panose="02040503050406030204" pitchFamily="18" charset="0"/>
                              <a:ea typeface="Cambria Math" panose="02040503050406030204" pitchFamily="18" charset="0"/>
                            </a:rPr>
                            <m:t>500</m:t>
                          </m:r>
                        </m:num>
                        <m:den>
                          <m:r>
                            <a:rPr lang="en-GB" sz="2000" b="0" i="1" smtClean="0">
                              <a:latin typeface="Cambria Math" panose="02040503050406030204" pitchFamily="18" charset="0"/>
                              <a:ea typeface="Cambria Math" panose="02040503050406030204" pitchFamily="18" charset="0"/>
                            </a:rPr>
                            <m:t>50000</m:t>
                          </m:r>
                        </m:den>
                      </m:f>
                      <m:r>
                        <a:rPr lang="en-GB" sz="2000" b="0" i="1" smtClean="0">
                          <a:latin typeface="Cambria Math" panose="02040503050406030204" pitchFamily="18" charset="0"/>
                          <a:ea typeface="Cambria Math" panose="02040503050406030204" pitchFamily="18" charset="0"/>
                        </a:rPr>
                        <m:t>×</m:t>
                      </m:r>
                      <m:d>
                        <m:dPr>
                          <m:ctrlPr>
                            <a:rPr lang="en-GB" sz="2000" b="0" i="1" smtClean="0">
                              <a:latin typeface="Cambria Math" panose="02040503050406030204" pitchFamily="18" charset="0"/>
                              <a:ea typeface="Cambria Math" panose="02040503050406030204" pitchFamily="18" charset="0"/>
                            </a:rPr>
                          </m:ctrlPr>
                        </m:dPr>
                        <m:e>
                          <m:sSup>
                            <m:sSupPr>
                              <m:ctrlPr>
                                <a:rPr lang="en-GB" sz="2000" b="0" i="1" smtClean="0">
                                  <a:latin typeface="Cambria Math" panose="02040503050406030204" pitchFamily="18" charset="0"/>
                                  <a:ea typeface="Cambria Math" panose="02040503050406030204" pitchFamily="18" charset="0"/>
                                </a:rPr>
                              </m:ctrlPr>
                            </m:sSupPr>
                            <m:e>
                              <m:r>
                                <a:rPr lang="en-GB" sz="2000" b="0" i="1" smtClean="0">
                                  <a:latin typeface="Cambria Math" panose="02040503050406030204" pitchFamily="18" charset="0"/>
                                  <a:ea typeface="Cambria Math" panose="02040503050406030204" pitchFamily="18" charset="0"/>
                                </a:rPr>
                                <m:t>0.5</m:t>
                              </m:r>
                            </m:e>
                            <m:sup>
                              <m:r>
                                <a:rPr lang="en-GB" sz="2000" b="0" i="1" smtClean="0">
                                  <a:latin typeface="Cambria Math" panose="02040503050406030204" pitchFamily="18" charset="0"/>
                                  <a:ea typeface="Cambria Math" panose="02040503050406030204" pitchFamily="18" charset="0"/>
                                </a:rPr>
                                <m:t>2</m:t>
                              </m:r>
                            </m:sup>
                          </m:sSup>
                          <m:r>
                            <a:rPr lang="en-GB" sz="2000" b="0" i="1" smtClean="0">
                              <a:latin typeface="Cambria Math" panose="02040503050406030204" pitchFamily="18" charset="0"/>
                              <a:ea typeface="Cambria Math" panose="02040503050406030204" pitchFamily="18" charset="0"/>
                            </a:rPr>
                            <m:t>−</m:t>
                          </m:r>
                          <m:sSup>
                            <m:sSupPr>
                              <m:ctrlPr>
                                <a:rPr lang="en-GB" sz="2000" b="0" i="1" smtClean="0">
                                  <a:latin typeface="Cambria Math" panose="02040503050406030204" pitchFamily="18" charset="0"/>
                                  <a:ea typeface="Cambria Math" panose="02040503050406030204" pitchFamily="18" charset="0"/>
                                </a:rPr>
                              </m:ctrlPr>
                            </m:sSupPr>
                            <m:e>
                              <m:r>
                                <a:rPr lang="en-GB" sz="2000" b="0" i="1" smtClean="0">
                                  <a:latin typeface="Cambria Math" panose="02040503050406030204" pitchFamily="18" charset="0"/>
                                  <a:ea typeface="Cambria Math" panose="02040503050406030204" pitchFamily="18" charset="0"/>
                                </a:rPr>
                                <m:t>0.5</m:t>
                              </m:r>
                            </m:e>
                            <m:sup>
                              <m:r>
                                <a:rPr lang="en-GB" sz="2000" b="0" i="1" smtClean="0">
                                  <a:latin typeface="Cambria Math" panose="02040503050406030204" pitchFamily="18" charset="0"/>
                                  <a:ea typeface="Cambria Math" panose="02040503050406030204" pitchFamily="18" charset="0"/>
                                </a:rPr>
                                <m:t>3</m:t>
                              </m:r>
                            </m:sup>
                          </m:sSup>
                        </m:e>
                      </m:d>
                      <m:r>
                        <a:rPr lang="en-GB" sz="2000" b="0" i="1" smtClean="0">
                          <a:latin typeface="Cambria Math" panose="02040503050406030204" pitchFamily="18" charset="0"/>
                          <a:ea typeface="Cambria Math" panose="02040503050406030204" pitchFamily="18" charset="0"/>
                        </a:rPr>
                        <m:t>=0.005</m:t>
                      </m:r>
                      <m:r>
                        <a:rPr lang="en-GB" sz="2000" b="0" i="1" smtClean="0">
                          <a:latin typeface="Cambria Math" panose="02040503050406030204" pitchFamily="18" charset="0"/>
                          <a:ea typeface="Cambria Math" panose="02040503050406030204" pitchFamily="18" charset="0"/>
                        </a:rPr>
                        <m:t>𝑉</m:t>
                      </m:r>
                    </m:oMath>
                  </m:oMathPara>
                </a14:m>
                <a:endParaRPr lang="en-GB" sz="2000" dirty="0">
                  <a:latin typeface="Arial"/>
                  <a:ea typeface="Cambria Math" panose="02040503050406030204" pitchFamily="18" charset="0"/>
                </a:endParaRPr>
              </a:p>
              <a:p>
                <a:pPr lvl="1" indent="-225720">
                  <a:spcAft>
                    <a:spcPts val="1414"/>
                  </a:spcAft>
                  <a:buClr>
                    <a:srgbClr val="000000"/>
                  </a:buClr>
                  <a:buSzPct val="45000"/>
                  <a:buFont typeface="Wingdings" charset="2"/>
                  <a:buChar char=""/>
                </a:pPr>
                <a:r>
                  <a:rPr lang="en-GB" sz="1600" spc="-1" dirty="0">
                    <a:latin typeface="Arial"/>
                  </a:rPr>
                  <a:t>As a percentage of </a:t>
                </a:r>
                <a:r>
                  <a:rPr lang="en-GB" sz="1600" spc="-1" dirty="0" err="1">
                    <a:latin typeface="Arial"/>
                  </a:rPr>
                  <a:t>fullscale</a:t>
                </a:r>
                <a:r>
                  <a:rPr lang="en-GB" sz="1600" spc="-1" dirty="0">
                    <a:latin typeface="Arial"/>
                  </a:rPr>
                  <a:t> input range this 0.125% (0.005/4 * 100)</a:t>
                </a:r>
              </a:p>
              <a:p>
                <a:pPr indent="-225720">
                  <a:spcAft>
                    <a:spcPts val="1414"/>
                  </a:spcAft>
                  <a:buClr>
                    <a:srgbClr val="000000"/>
                  </a:buClr>
                  <a:buSzPct val="45000"/>
                  <a:buFont typeface="Wingdings" charset="2"/>
                  <a:buChar char=""/>
                </a:pPr>
                <a:r>
                  <a:rPr lang="en-GB" sz="2000" spc="-1" dirty="0">
                    <a:latin typeface="Arial"/>
                  </a:rPr>
                  <a:t>This shows the difference </a:t>
                </a:r>
                <a:r>
                  <a:rPr lang="en-GB" sz="2000" spc="-1" dirty="0" err="1">
                    <a:latin typeface="Arial"/>
                  </a:rPr>
                  <a:t>Rl</a:t>
                </a:r>
                <a:r>
                  <a:rPr lang="en-GB" sz="2000" spc="-1" dirty="0">
                    <a:latin typeface="Arial"/>
                  </a:rPr>
                  <a:t> can make. </a:t>
                </a:r>
              </a:p>
              <a:p>
                <a:pPr lvl="1" indent="-225720">
                  <a:spcAft>
                    <a:spcPts val="1414"/>
                  </a:spcAft>
                  <a:buClr>
                    <a:srgbClr val="000000"/>
                  </a:buClr>
                  <a:buSzPct val="45000"/>
                  <a:buFont typeface="Wingdings" charset="2"/>
                  <a:buChar char=""/>
                </a:pPr>
                <a:endParaRPr lang="en-GB" sz="2200" spc="-1" dirty="0">
                  <a:latin typeface="Arial"/>
                </a:endParaRPr>
              </a:p>
              <a:p>
                <a:pPr lvl="1" indent="-225720">
                  <a:spcAft>
                    <a:spcPts val="1414"/>
                  </a:spcAft>
                  <a:buClr>
                    <a:srgbClr val="000000"/>
                  </a:buClr>
                  <a:buSzPct val="45000"/>
                  <a:buFont typeface="Wingdings" charset="2"/>
                  <a:buChar char=""/>
                </a:pPr>
                <a:endParaRPr lang="en-GB" sz="2200" spc="-1" dirty="0">
                  <a:latin typeface="Arial"/>
                </a:endParaRPr>
              </a:p>
              <a:p>
                <a:pPr lvl="1" indent="-225720">
                  <a:spcAft>
                    <a:spcPts val="1414"/>
                  </a:spcAft>
                  <a:buClr>
                    <a:srgbClr val="000000"/>
                  </a:buClr>
                  <a:buSzPct val="45000"/>
                  <a:buFont typeface="Wingdings" charset="2"/>
                  <a:buChar char=""/>
                </a:pPr>
                <a:endParaRPr lang="en-GB" sz="2200" spc="-1" dirty="0">
                  <a:latin typeface="Arial"/>
                </a:endParaRPr>
              </a:p>
              <a:p>
                <a:pPr lvl="1" indent="-225720">
                  <a:spcAft>
                    <a:spcPts val="1414"/>
                  </a:spcAft>
                  <a:buClr>
                    <a:srgbClr val="000000"/>
                  </a:buClr>
                  <a:buSzPct val="45000"/>
                  <a:buFont typeface="Wingdings" charset="2"/>
                  <a:buChar char=""/>
                </a:pPr>
                <a:endParaRPr lang="en-GB" sz="2200" spc="-1" dirty="0">
                  <a:latin typeface="Arial"/>
                </a:endParaRPr>
              </a:p>
              <a:p>
                <a:pPr marL="0" indent="0">
                  <a:buNone/>
                </a:pPr>
                <a:endParaRPr lang="en-GB" sz="2200" dirty="0"/>
              </a:p>
              <a:p>
                <a:endParaRPr lang="en-GB" sz="2200" dirty="0"/>
              </a:p>
              <a:p>
                <a:endParaRPr lang="en-GB" sz="2200" dirty="0"/>
              </a:p>
              <a:p>
                <a:pPr marL="0" indent="0">
                  <a:buNone/>
                </a:pPr>
                <a:endParaRPr lang="en-GB" sz="2200" dirty="0"/>
              </a:p>
              <a:p>
                <a:pPr marL="0" indent="0">
                  <a:buNone/>
                </a:pPr>
                <a:endParaRPr lang="en-GB" sz="2200" dirty="0"/>
              </a:p>
            </p:txBody>
          </p:sp>
        </mc:Choice>
        <mc:Fallback xmlns="">
          <p:sp>
            <p:nvSpPr>
              <p:cNvPr id="3" name="Subtitle 2">
                <a:extLst>
                  <a:ext uri="{FF2B5EF4-FFF2-40B4-BE49-F238E27FC236}">
                    <a16:creationId xmlns:a16="http://schemas.microsoft.com/office/drawing/2014/main" id="{0EC2D61B-0204-42F3-52E6-931A9496968D}"/>
                  </a:ext>
                </a:extLst>
              </p:cNvPr>
              <p:cNvSpPr>
                <a:spLocks noGrp="1" noRot="1" noChangeAspect="1" noMove="1" noResize="1" noEditPoints="1" noAdjustHandles="1" noChangeArrowheads="1" noChangeShapeType="1" noTextEdit="1"/>
              </p:cNvSpPr>
              <p:nvPr>
                <p:ph idx="1"/>
              </p:nvPr>
            </p:nvSpPr>
            <p:spPr>
              <a:xfrm>
                <a:off x="888076" y="1895052"/>
                <a:ext cx="10515600" cy="4251960"/>
              </a:xfrm>
              <a:blipFill>
                <a:blip r:embed="rId2"/>
                <a:stretch>
                  <a:fillRect t="-1435"/>
                </a:stretch>
              </a:blipFill>
            </p:spPr>
            <p:txBody>
              <a:bodyPr/>
              <a:lstStyle/>
              <a:p>
                <a:r>
                  <a:rPr lang="en-GB">
                    <a:noFill/>
                  </a:rPr>
                  <a:t> </a:t>
                </a:r>
              </a:p>
            </p:txBody>
          </p:sp>
        </mc:Fallback>
      </mc:AlternateContent>
      <p:sp>
        <p:nvSpPr>
          <p:cNvPr id="4" name="Slide Number Placeholder 3">
            <a:extLst>
              <a:ext uri="{FF2B5EF4-FFF2-40B4-BE49-F238E27FC236}">
                <a16:creationId xmlns:a16="http://schemas.microsoft.com/office/drawing/2014/main" id="{1A2050B1-DF37-2DFC-FDF3-0B4F63C76D7E}"/>
              </a:ext>
            </a:extLst>
          </p:cNvPr>
          <p:cNvSpPr>
            <a:spLocks noGrp="1"/>
          </p:cNvSpPr>
          <p:nvPr>
            <p:ph type="sldNum" sz="quarter" idx="12"/>
          </p:nvPr>
        </p:nvSpPr>
        <p:spPr>
          <a:xfrm>
            <a:off x="8610600" y="6356350"/>
            <a:ext cx="2743200" cy="365125"/>
          </a:xfrm>
        </p:spPr>
        <p:txBody>
          <a:bodyPr>
            <a:normAutofit/>
          </a:bodyPr>
          <a:lstStyle/>
          <a:p>
            <a:pPr marL="0" marR="0" lvl="0" indent="0" defTabSz="914400" rtl="0" eaLnBrk="1" fontAlgn="auto" latinLnBrk="0" hangingPunct="1">
              <a:spcBef>
                <a:spcPts val="0"/>
              </a:spcBef>
              <a:spcAft>
                <a:spcPts val="600"/>
              </a:spcAft>
              <a:buClrTx/>
              <a:buSzTx/>
              <a:buFontTx/>
              <a:buNone/>
              <a:tabLst/>
              <a:defRPr/>
            </a:pPr>
            <a:fld id="{1ED87AFC-F3F3-4E09-A9D9-1873FFB55ECB}" type="slidenum">
              <a:rPr kumimoji="0" lang="en-GB" b="1" i="0" u="none" strike="noStrike" kern="1200" cap="none" spc="0" normalizeH="0" baseline="0" noProof="0" smtClean="0">
                <a:ln>
                  <a:noFill/>
                </a:ln>
                <a:effectLst/>
                <a:uLnTx/>
                <a:uFillTx/>
                <a:latin typeface="Calibri" panose="020F0502020204030204"/>
                <a:ea typeface="+mn-ea"/>
                <a:cs typeface="+mn-cs"/>
              </a:rPr>
              <a:pPr marL="0" marR="0" lvl="0" indent="0" defTabSz="914400" rtl="0" eaLnBrk="1" fontAlgn="auto" latinLnBrk="0" hangingPunct="1">
                <a:spcBef>
                  <a:spcPts val="0"/>
                </a:spcBef>
                <a:spcAft>
                  <a:spcPts val="600"/>
                </a:spcAft>
                <a:buClrTx/>
                <a:buSzTx/>
                <a:buFontTx/>
                <a:buNone/>
                <a:tabLst/>
                <a:defRPr/>
              </a:pPr>
              <a:t>31</a:t>
            </a:fld>
            <a:endParaRPr kumimoji="0" lang="en-GB" b="1" i="0" u="none" strike="noStrike" kern="1200" cap="none" spc="0" normalizeH="0" baseline="0" noProof="0">
              <a:ln>
                <a:noFill/>
              </a:ln>
              <a:effectLst/>
              <a:uLnTx/>
              <a:uFillTx/>
              <a:latin typeface="Calibri" panose="020F0502020204030204"/>
              <a:ea typeface="+mn-ea"/>
              <a:cs typeface="+mn-cs"/>
            </a:endParaRPr>
          </a:p>
        </p:txBody>
      </p:sp>
    </p:spTree>
    <p:extLst>
      <p:ext uri="{BB962C8B-B14F-4D97-AF65-F5344CB8AC3E}">
        <p14:creationId xmlns:p14="http://schemas.microsoft.com/office/powerpoint/2010/main" val="8979511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a:xfrm>
            <a:off x="838200" y="365125"/>
            <a:ext cx="10515600" cy="1325563"/>
          </a:xfrm>
        </p:spPr>
        <p:txBody>
          <a:bodyPr>
            <a:normAutofit/>
          </a:bodyPr>
          <a:lstStyle/>
          <a:p>
            <a:r>
              <a:rPr lang="en-GB" sz="5400" b="1"/>
              <a:t>Potentiometers</a:t>
            </a:r>
          </a:p>
        </p:txBody>
      </p:sp>
      <p:sp>
        <p:nvSpPr>
          <p:cNvPr id="11"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0EC2D61B-0204-42F3-52E6-931A9496968D}"/>
              </a:ext>
            </a:extLst>
          </p:cNvPr>
          <p:cNvSpPr>
            <a:spLocks noGrp="1"/>
          </p:cNvSpPr>
          <p:nvPr>
            <p:ph idx="1"/>
          </p:nvPr>
        </p:nvSpPr>
        <p:spPr>
          <a:xfrm>
            <a:off x="838200" y="1929384"/>
            <a:ext cx="10515600" cy="4251960"/>
          </a:xfrm>
        </p:spPr>
        <p:txBody>
          <a:bodyPr>
            <a:normAutofit/>
          </a:bodyPr>
          <a:lstStyle/>
          <a:p>
            <a:r>
              <a:rPr lang="en-GB" sz="3200" dirty="0"/>
              <a:t>Problems with wiper wear are significant and result from the friction between the wiper and track</a:t>
            </a:r>
          </a:p>
          <a:p>
            <a:r>
              <a:rPr lang="en-GB" sz="3200" dirty="0"/>
              <a:t>Reliability improved by minimising current drawn from wiper contact</a:t>
            </a:r>
          </a:p>
          <a:p>
            <a:r>
              <a:rPr lang="en-GB" sz="3200" dirty="0"/>
              <a:t>Provide absolute position information at relatively low cost (unless very high accuracy needed)</a:t>
            </a:r>
          </a:p>
          <a:p>
            <a:endParaRPr lang="en-GB" sz="2200" dirty="0"/>
          </a:p>
        </p:txBody>
      </p:sp>
      <p:sp>
        <p:nvSpPr>
          <p:cNvPr id="4" name="Slide Number Placeholder 3">
            <a:extLst>
              <a:ext uri="{FF2B5EF4-FFF2-40B4-BE49-F238E27FC236}">
                <a16:creationId xmlns:a16="http://schemas.microsoft.com/office/drawing/2014/main" id="{62FD1B44-9760-B004-EF98-E85A9BE76561}"/>
              </a:ext>
            </a:extLst>
          </p:cNvPr>
          <p:cNvSpPr>
            <a:spLocks noGrp="1"/>
          </p:cNvSpPr>
          <p:nvPr>
            <p:ph type="sldNum" sz="quarter" idx="12"/>
          </p:nvPr>
        </p:nvSpPr>
        <p:spPr>
          <a:xfrm>
            <a:off x="8610600" y="6356350"/>
            <a:ext cx="2743200" cy="365125"/>
          </a:xfrm>
        </p:spPr>
        <p:txBody>
          <a:bodyPr>
            <a:normAutofit/>
          </a:bodyPr>
          <a:lstStyle/>
          <a:p>
            <a:pPr marL="0" marR="0" lvl="0" indent="0" defTabSz="914400" rtl="0" eaLnBrk="1" fontAlgn="auto" latinLnBrk="0" hangingPunct="1">
              <a:spcBef>
                <a:spcPts val="0"/>
              </a:spcBef>
              <a:spcAft>
                <a:spcPts val="600"/>
              </a:spcAft>
              <a:buClrTx/>
              <a:buSzTx/>
              <a:buFontTx/>
              <a:buNone/>
              <a:tabLst/>
              <a:defRPr/>
            </a:pPr>
            <a:fld id="{1ED87AFC-F3F3-4E09-A9D9-1873FFB55ECB}" type="slidenum">
              <a:rPr kumimoji="0" lang="en-GB" b="0" i="0" u="none" strike="noStrike" kern="1200" cap="none" spc="0" normalizeH="0" baseline="0" noProof="0" smtClean="0">
                <a:ln>
                  <a:noFill/>
                </a:ln>
                <a:effectLst/>
                <a:uLnTx/>
                <a:uFillTx/>
                <a:latin typeface="Century Gothic" panose="020B0502020202020204"/>
                <a:ea typeface="+mn-ea"/>
                <a:cs typeface="+mn-cs"/>
              </a:rPr>
              <a:pPr marL="0" marR="0" lvl="0" indent="0" defTabSz="914400" rtl="0" eaLnBrk="1" fontAlgn="auto" latinLnBrk="0" hangingPunct="1">
                <a:spcBef>
                  <a:spcPts val="0"/>
                </a:spcBef>
                <a:spcAft>
                  <a:spcPts val="600"/>
                </a:spcAft>
                <a:buClrTx/>
                <a:buSzTx/>
                <a:buFontTx/>
                <a:buNone/>
                <a:tabLst/>
                <a:defRPr/>
              </a:pPr>
              <a:t>32</a:t>
            </a:fld>
            <a:endParaRPr kumimoji="0" lang="en-GB" b="0" i="0" u="none" strike="noStrike" kern="1200" cap="none" spc="0" normalizeH="0" baseline="0" noProof="0">
              <a:ln>
                <a:noFill/>
              </a:ln>
              <a:effectLst/>
              <a:uLnTx/>
              <a:uFillTx/>
              <a:latin typeface="Century Gothic" panose="020B0502020202020204"/>
              <a:ea typeface="+mn-ea"/>
              <a:cs typeface="+mn-cs"/>
            </a:endParaRPr>
          </a:p>
        </p:txBody>
      </p:sp>
    </p:spTree>
    <p:extLst>
      <p:ext uri="{BB962C8B-B14F-4D97-AF65-F5344CB8AC3E}">
        <p14:creationId xmlns:p14="http://schemas.microsoft.com/office/powerpoint/2010/main" val="33042253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15D5644-56B4-3FEF-2FF1-8055A3DBF47A}"/>
            </a:ext>
          </a:extLst>
        </p:cNvPr>
        <p:cNvGrpSpPr/>
        <p:nvPr/>
      </p:nvGrpSpPr>
      <p:grpSpPr>
        <a:xfrm>
          <a:off x="0" y="0"/>
          <a:ext cx="0" cy="0"/>
          <a:chOff x="0" y="0"/>
          <a:chExt cx="0" cy="0"/>
        </a:xfrm>
      </p:grpSpPr>
      <p:sp>
        <p:nvSpPr>
          <p:cNvPr id="20" name="Rectangle 19">
            <a:extLst>
              <a:ext uri="{FF2B5EF4-FFF2-40B4-BE49-F238E27FC236}">
                <a16:creationId xmlns:a16="http://schemas.microsoft.com/office/drawing/2014/main" id="{8F9CBE3F-79A8-4F8F-88D9-DAD03D0D28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E4CDC8CC-4094-72C7-6C15-781EAE17CF35}"/>
              </a:ext>
            </a:extLst>
          </p:cNvPr>
          <p:cNvSpPr>
            <a:spLocks noGrp="1"/>
          </p:cNvSpPr>
          <p:nvPr>
            <p:ph type="title"/>
          </p:nvPr>
        </p:nvSpPr>
        <p:spPr>
          <a:xfrm>
            <a:off x="1522030" y="1209220"/>
            <a:ext cx="9147940" cy="2337238"/>
          </a:xfrm>
        </p:spPr>
        <p:txBody>
          <a:bodyPr vert="horz" lIns="91440" tIns="45720" rIns="91440" bIns="45720" rtlCol="0" anchor="b">
            <a:normAutofit/>
          </a:bodyPr>
          <a:lstStyle/>
          <a:p>
            <a:pPr algn="ctr"/>
            <a:r>
              <a:rPr lang="en-US" sz="5600" b="1" kern="1200">
                <a:solidFill>
                  <a:srgbClr val="FFFFFF"/>
                </a:solidFill>
                <a:latin typeface="+mj-lt"/>
                <a:ea typeface="+mj-ea"/>
                <a:cs typeface="+mj-cs"/>
              </a:rPr>
              <a:t>Linear Variable Differential Transformer</a:t>
            </a:r>
            <a:endParaRPr lang="en-US" sz="5600" b="1" kern="1200" dirty="0">
              <a:solidFill>
                <a:srgbClr val="FFFFFF"/>
              </a:solidFill>
              <a:latin typeface="+mj-lt"/>
              <a:ea typeface="+mj-ea"/>
              <a:cs typeface="+mj-cs"/>
            </a:endParaRPr>
          </a:p>
        </p:txBody>
      </p:sp>
      <p:sp>
        <p:nvSpPr>
          <p:cNvPr id="3" name="Subtitle 2">
            <a:extLst>
              <a:ext uri="{FF2B5EF4-FFF2-40B4-BE49-F238E27FC236}">
                <a16:creationId xmlns:a16="http://schemas.microsoft.com/office/drawing/2014/main" id="{32AE3F4E-9413-B874-E288-474B5D90792C}"/>
              </a:ext>
            </a:extLst>
          </p:cNvPr>
          <p:cNvSpPr>
            <a:spLocks noGrp="1"/>
          </p:cNvSpPr>
          <p:nvPr>
            <p:ph type="body" idx="1"/>
          </p:nvPr>
        </p:nvSpPr>
        <p:spPr>
          <a:xfrm>
            <a:off x="1522030" y="3605577"/>
            <a:ext cx="9147940" cy="1324303"/>
          </a:xfrm>
        </p:spPr>
        <p:txBody>
          <a:bodyPr vert="horz" lIns="91440" tIns="45720" rIns="91440" bIns="45720" rtlCol="0" anchor="t">
            <a:normAutofit/>
          </a:bodyPr>
          <a:lstStyle/>
          <a:p>
            <a:pPr algn="ctr"/>
            <a:endParaRPr lang="en-US" sz="2000" kern="1200">
              <a:solidFill>
                <a:srgbClr val="FFFFFF"/>
              </a:solidFill>
              <a:latin typeface="+mn-lt"/>
              <a:ea typeface="+mn-ea"/>
              <a:cs typeface="+mn-cs"/>
            </a:endParaRPr>
          </a:p>
          <a:p>
            <a:pPr algn="ctr"/>
            <a:endParaRPr lang="en-US" sz="2000" kern="1200">
              <a:solidFill>
                <a:srgbClr val="FFFFFF"/>
              </a:solidFill>
              <a:latin typeface="+mn-lt"/>
              <a:ea typeface="+mn-ea"/>
              <a:cs typeface="+mn-cs"/>
            </a:endParaRPr>
          </a:p>
        </p:txBody>
      </p:sp>
      <p:sp>
        <p:nvSpPr>
          <p:cNvPr id="22" name="Graphic 22">
            <a:extLst>
              <a:ext uri="{FF2B5EF4-FFF2-40B4-BE49-F238E27FC236}">
                <a16:creationId xmlns:a16="http://schemas.microsoft.com/office/drawing/2014/main" id="{508BEF50-7B1E-49A4-BC19-5F4F1D755E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1869" y="2383077"/>
            <a:ext cx="151536" cy="151536"/>
          </a:xfrm>
          <a:custGeom>
            <a:avLst/>
            <a:gdLst>
              <a:gd name="connsiteX0" fmla="*/ 141251 w 151536"/>
              <a:gd name="connsiteY0" fmla="*/ 65483 h 151536"/>
              <a:gd name="connsiteX1" fmla="*/ 86053 w 151536"/>
              <a:gd name="connsiteY1" fmla="*/ 65483 h 151536"/>
              <a:gd name="connsiteX2" fmla="*/ 86053 w 151536"/>
              <a:gd name="connsiteY2" fmla="*/ 10285 h 151536"/>
              <a:gd name="connsiteX3" fmla="*/ 75768 w 151536"/>
              <a:gd name="connsiteY3" fmla="*/ 0 h 151536"/>
              <a:gd name="connsiteX4" fmla="*/ 65483 w 151536"/>
              <a:gd name="connsiteY4" fmla="*/ 10285 h 151536"/>
              <a:gd name="connsiteX5" fmla="*/ 65483 w 151536"/>
              <a:gd name="connsiteY5" fmla="*/ 65483 h 151536"/>
              <a:gd name="connsiteX6" fmla="*/ 10285 w 151536"/>
              <a:gd name="connsiteY6" fmla="*/ 65483 h 151536"/>
              <a:gd name="connsiteX7" fmla="*/ 0 w 151536"/>
              <a:gd name="connsiteY7" fmla="*/ 75768 h 151536"/>
              <a:gd name="connsiteX8" fmla="*/ 10285 w 151536"/>
              <a:gd name="connsiteY8" fmla="*/ 86053 h 151536"/>
              <a:gd name="connsiteX9" fmla="*/ 65483 w 151536"/>
              <a:gd name="connsiteY9" fmla="*/ 86053 h 151536"/>
              <a:gd name="connsiteX10" fmla="*/ 65483 w 151536"/>
              <a:gd name="connsiteY10" fmla="*/ 141251 h 151536"/>
              <a:gd name="connsiteX11" fmla="*/ 75768 w 151536"/>
              <a:gd name="connsiteY11" fmla="*/ 151536 h 151536"/>
              <a:gd name="connsiteX12" fmla="*/ 86053 w 151536"/>
              <a:gd name="connsiteY12" fmla="*/ 141251 h 151536"/>
              <a:gd name="connsiteX13" fmla="*/ 86053 w 151536"/>
              <a:gd name="connsiteY13" fmla="*/ 86053 h 151536"/>
              <a:gd name="connsiteX14" fmla="*/ 141251 w 151536"/>
              <a:gd name="connsiteY14" fmla="*/ 86053 h 151536"/>
              <a:gd name="connsiteX15" fmla="*/ 151536 w 151536"/>
              <a:gd name="connsiteY15" fmla="*/ 75768 h 151536"/>
              <a:gd name="connsiteX16" fmla="*/ 141251 w 151536"/>
              <a:gd name="connsiteY16" fmla="*/ 65483 h 15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536" h="151536">
                <a:moveTo>
                  <a:pt x="141251" y="65483"/>
                </a:moveTo>
                <a:lnTo>
                  <a:pt x="86053" y="65483"/>
                </a:lnTo>
                <a:lnTo>
                  <a:pt x="86053" y="10285"/>
                </a:lnTo>
                <a:cubicBezTo>
                  <a:pt x="86053" y="4605"/>
                  <a:pt x="81448" y="0"/>
                  <a:pt x="75768" y="0"/>
                </a:cubicBezTo>
                <a:cubicBezTo>
                  <a:pt x="70088" y="0"/>
                  <a:pt x="65483" y="4605"/>
                  <a:pt x="65483" y="10285"/>
                </a:cubicBezTo>
                <a:lnTo>
                  <a:pt x="65483" y="65483"/>
                </a:lnTo>
                <a:lnTo>
                  <a:pt x="10285" y="65483"/>
                </a:lnTo>
                <a:cubicBezTo>
                  <a:pt x="4605" y="65483"/>
                  <a:pt x="0" y="70088"/>
                  <a:pt x="0" y="75768"/>
                </a:cubicBezTo>
                <a:cubicBezTo>
                  <a:pt x="0" y="81448"/>
                  <a:pt x="4605" y="86053"/>
                  <a:pt x="10285" y="86053"/>
                </a:cubicBezTo>
                <a:lnTo>
                  <a:pt x="65483" y="86053"/>
                </a:lnTo>
                <a:lnTo>
                  <a:pt x="65483" y="141251"/>
                </a:lnTo>
                <a:cubicBezTo>
                  <a:pt x="65483" y="146931"/>
                  <a:pt x="70088" y="151536"/>
                  <a:pt x="75768" y="151536"/>
                </a:cubicBezTo>
                <a:cubicBezTo>
                  <a:pt x="81448" y="151536"/>
                  <a:pt x="86053" y="146931"/>
                  <a:pt x="86053" y="141251"/>
                </a:cubicBezTo>
                <a:lnTo>
                  <a:pt x="86053" y="86053"/>
                </a:lnTo>
                <a:lnTo>
                  <a:pt x="141251" y="86053"/>
                </a:lnTo>
                <a:cubicBezTo>
                  <a:pt x="146931" y="86053"/>
                  <a:pt x="151536" y="81448"/>
                  <a:pt x="151536" y="75768"/>
                </a:cubicBezTo>
                <a:cubicBezTo>
                  <a:pt x="151536" y="70088"/>
                  <a:pt x="146931" y="65483"/>
                  <a:pt x="141251" y="65483"/>
                </a:cubicBezTo>
                <a:close/>
              </a:path>
            </a:pathLst>
          </a:custGeom>
          <a:solidFill>
            <a:srgbClr val="FFFFFF"/>
          </a:solidFill>
          <a:ln w="646" cap="flat">
            <a:noFill/>
            <a:prstDash val="solid"/>
            <a:miter/>
          </a:ln>
        </p:spPr>
        <p:txBody>
          <a:bodyPr rtlCol="0" anchor="ctr"/>
          <a:lstStyle/>
          <a:p>
            <a:endParaRPr lang="en-US">
              <a:solidFill>
                <a:srgbClr val="FFFFFF"/>
              </a:solidFill>
            </a:endParaRPr>
          </a:p>
        </p:txBody>
      </p:sp>
      <p:sp>
        <p:nvSpPr>
          <p:cNvPr id="24"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724364" y="2265467"/>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endParaRPr lang="en-US">
              <a:solidFill>
                <a:srgbClr val="FFFFFF"/>
              </a:solidFill>
            </a:endParaRPr>
          </a:p>
        </p:txBody>
      </p:sp>
      <p:sp>
        <p:nvSpPr>
          <p:cNvPr id="25"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24834" y="2537201"/>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endParaRPr lang="en-US">
              <a:solidFill>
                <a:srgbClr val="FFFFFF"/>
              </a:solidFill>
            </a:endParaRPr>
          </a:p>
        </p:txBody>
      </p:sp>
      <p:sp>
        <p:nvSpPr>
          <p:cNvPr id="26" name="Graphic 21">
            <a:extLst>
              <a:ext uri="{FF2B5EF4-FFF2-40B4-BE49-F238E27FC236}">
                <a16:creationId xmlns:a16="http://schemas.microsoft.com/office/drawing/2014/main" id="{C39ADB8F-D187-49D7-BDCF-C1B6DC7270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4053" y="2832967"/>
            <a:ext cx="95759" cy="95759"/>
          </a:xfrm>
          <a:custGeom>
            <a:avLst/>
            <a:gdLst>
              <a:gd name="connsiteX0" fmla="*/ 95759 w 95759"/>
              <a:gd name="connsiteY0" fmla="*/ 47880 h 95759"/>
              <a:gd name="connsiteX1" fmla="*/ 47880 w 95759"/>
              <a:gd name="connsiteY1" fmla="*/ 95759 h 95759"/>
              <a:gd name="connsiteX2" fmla="*/ 0 w 95759"/>
              <a:gd name="connsiteY2" fmla="*/ 47880 h 95759"/>
              <a:gd name="connsiteX3" fmla="*/ 47880 w 95759"/>
              <a:gd name="connsiteY3" fmla="*/ 0 h 95759"/>
              <a:gd name="connsiteX4" fmla="*/ 95759 w 95759"/>
              <a:gd name="connsiteY4" fmla="*/ 47880 h 95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59" h="95759">
                <a:moveTo>
                  <a:pt x="95759" y="47880"/>
                </a:moveTo>
                <a:cubicBezTo>
                  <a:pt x="95759" y="74323"/>
                  <a:pt x="74323" y="95759"/>
                  <a:pt x="47880" y="95759"/>
                </a:cubicBezTo>
                <a:cubicBezTo>
                  <a:pt x="21436" y="95759"/>
                  <a:pt x="0" y="74323"/>
                  <a:pt x="0" y="47880"/>
                </a:cubicBezTo>
                <a:cubicBezTo>
                  <a:pt x="0" y="21436"/>
                  <a:pt x="21436" y="0"/>
                  <a:pt x="47880" y="0"/>
                </a:cubicBezTo>
                <a:cubicBezTo>
                  <a:pt x="74323" y="0"/>
                  <a:pt x="95759" y="21436"/>
                  <a:pt x="95759" y="47880"/>
                </a:cubicBezTo>
                <a:close/>
              </a:path>
            </a:pathLst>
          </a:custGeom>
          <a:solidFill>
            <a:srgbClr val="FFFFFF"/>
          </a:solidFill>
          <a:ln w="469" cap="flat">
            <a:noFill/>
            <a:prstDash val="solid"/>
            <a:miter/>
          </a:ln>
        </p:spPr>
        <p:txBody>
          <a:bodyPr rtlCol="0" anchor="ctr"/>
          <a:lstStyle/>
          <a:p>
            <a:endParaRPr lang="en-US">
              <a:solidFill>
                <a:srgbClr val="FFFFFF"/>
              </a:solidFill>
            </a:endParaRPr>
          </a:p>
        </p:txBody>
      </p:sp>
      <p:sp>
        <p:nvSpPr>
          <p:cNvPr id="27"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772266" y="2803988"/>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endParaRPr lang="en-US">
              <a:solidFill>
                <a:srgbClr val="FFFFFF"/>
              </a:solidFill>
            </a:endParaRPr>
          </a:p>
        </p:txBody>
      </p:sp>
      <p:sp>
        <p:nvSpPr>
          <p:cNvPr id="28" name="Graphic 23">
            <a:extLst>
              <a:ext uri="{FF2B5EF4-FFF2-40B4-BE49-F238E27FC236}">
                <a16:creationId xmlns:a16="http://schemas.microsoft.com/office/drawing/2014/main" id="{3FBAD350-5664-4811-A208-657FB882D3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13405" y="3242499"/>
            <a:ext cx="108625" cy="108625"/>
          </a:xfrm>
          <a:custGeom>
            <a:avLst/>
            <a:gdLst>
              <a:gd name="connsiteX0" fmla="*/ 54313 w 108625"/>
              <a:gd name="connsiteY0" fmla="*/ 16053 h 108625"/>
              <a:gd name="connsiteX1" fmla="*/ 92572 w 108625"/>
              <a:gd name="connsiteY1" fmla="*/ 54313 h 108625"/>
              <a:gd name="connsiteX2" fmla="*/ 54313 w 108625"/>
              <a:gd name="connsiteY2" fmla="*/ 92572 h 108625"/>
              <a:gd name="connsiteX3" fmla="*/ 16053 w 108625"/>
              <a:gd name="connsiteY3" fmla="*/ 54313 h 108625"/>
              <a:gd name="connsiteX4" fmla="*/ 54313 w 108625"/>
              <a:gd name="connsiteY4" fmla="*/ 16053 h 108625"/>
              <a:gd name="connsiteX5" fmla="*/ 54313 w 108625"/>
              <a:gd name="connsiteY5" fmla="*/ 0 h 108625"/>
              <a:gd name="connsiteX6" fmla="*/ 0 w 108625"/>
              <a:gd name="connsiteY6" fmla="*/ 54313 h 108625"/>
              <a:gd name="connsiteX7" fmla="*/ 54313 w 108625"/>
              <a:gd name="connsiteY7" fmla="*/ 108625 h 108625"/>
              <a:gd name="connsiteX8" fmla="*/ 108625 w 108625"/>
              <a:gd name="connsiteY8" fmla="*/ 54313 h 108625"/>
              <a:gd name="connsiteX9" fmla="*/ 54313 w 108625"/>
              <a:gd name="connsiteY9" fmla="*/ 0 h 10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625" h="108625">
                <a:moveTo>
                  <a:pt x="54313" y="16053"/>
                </a:moveTo>
                <a:cubicBezTo>
                  <a:pt x="75442" y="16053"/>
                  <a:pt x="92572" y="33182"/>
                  <a:pt x="92572" y="54313"/>
                </a:cubicBezTo>
                <a:cubicBezTo>
                  <a:pt x="92572" y="75442"/>
                  <a:pt x="75442" y="92572"/>
                  <a:pt x="54313" y="92572"/>
                </a:cubicBezTo>
                <a:cubicBezTo>
                  <a:pt x="33182" y="92572"/>
                  <a:pt x="16053" y="75442"/>
                  <a:pt x="16053" y="54313"/>
                </a:cubicBezTo>
                <a:cubicBezTo>
                  <a:pt x="16074" y="33191"/>
                  <a:pt x="33191" y="16074"/>
                  <a:pt x="54313" y="16053"/>
                </a:cubicBezTo>
                <a:moveTo>
                  <a:pt x="54313" y="0"/>
                </a:moveTo>
                <a:cubicBezTo>
                  <a:pt x="24317" y="0"/>
                  <a:pt x="0" y="24317"/>
                  <a:pt x="0" y="54313"/>
                </a:cubicBezTo>
                <a:cubicBezTo>
                  <a:pt x="0" y="84309"/>
                  <a:pt x="24317" y="108625"/>
                  <a:pt x="54313" y="108625"/>
                </a:cubicBezTo>
                <a:cubicBezTo>
                  <a:pt x="84309" y="108625"/>
                  <a:pt x="108625" y="84309"/>
                  <a:pt x="108625" y="54313"/>
                </a:cubicBezTo>
                <a:cubicBezTo>
                  <a:pt x="108625" y="24317"/>
                  <a:pt x="84309" y="0"/>
                  <a:pt x="54313" y="0"/>
                </a:cubicBezTo>
                <a:close/>
              </a:path>
            </a:pathLst>
          </a:custGeom>
          <a:solidFill>
            <a:srgbClr val="FFFFFF"/>
          </a:solidFill>
          <a:ln w="516" cap="flat">
            <a:noFill/>
            <a:prstDash val="solid"/>
            <a:miter/>
          </a:ln>
        </p:spPr>
        <p:txBody>
          <a:bodyPr rtlCol="0" anchor="ctr"/>
          <a:lstStyle/>
          <a:p>
            <a:endParaRPr lang="en-US">
              <a:solidFill>
                <a:srgbClr val="FFFFFF"/>
              </a:solidFill>
            </a:endParaRPr>
          </a:p>
        </p:txBody>
      </p:sp>
      <p:cxnSp>
        <p:nvCxnSpPr>
          <p:cNvPr id="29" name="Straight Connector 28">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5831729"/>
            <a:ext cx="12188952" cy="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
        <p:nvSpPr>
          <p:cNvPr id="4" name="Slide Number Placeholder 3">
            <a:extLst>
              <a:ext uri="{FF2B5EF4-FFF2-40B4-BE49-F238E27FC236}">
                <a16:creationId xmlns:a16="http://schemas.microsoft.com/office/drawing/2014/main" id="{D0484291-4E58-4800-CD0A-B4282D0FB3A6}"/>
              </a:ext>
            </a:extLst>
          </p:cNvPr>
          <p:cNvSpPr>
            <a:spLocks noGrp="1"/>
          </p:cNvSpPr>
          <p:nvPr>
            <p:ph type="sldNum" sz="quarter" idx="12"/>
          </p:nvPr>
        </p:nvSpPr>
        <p:spPr>
          <a:xfrm>
            <a:off x="8610600" y="6133916"/>
            <a:ext cx="2743200" cy="365125"/>
          </a:xfrm>
        </p:spPr>
        <p:txBody>
          <a:bodyPr vert="horz" lIns="91440" tIns="45720" rIns="91440" bIns="45720" rtlCol="0" anchor="ctr">
            <a:normAutofit/>
          </a:bodyPr>
          <a:lstStyle/>
          <a:p>
            <a:pPr marR="0" lvl="0" indent="0" fontAlgn="auto">
              <a:spcBef>
                <a:spcPts val="0"/>
              </a:spcBef>
              <a:spcAft>
                <a:spcPts val="600"/>
              </a:spcAft>
              <a:buClrTx/>
              <a:buSzTx/>
              <a:buFontTx/>
              <a:buNone/>
              <a:tabLst/>
              <a:defRPr/>
            </a:pPr>
            <a:fld id="{1ED87AFC-F3F3-4E09-A9D9-1873FFB55ECB}" type="slidenum">
              <a:rPr kumimoji="0" lang="en-US" b="1" i="0" u="none" strike="noStrike" cap="none" spc="0" normalizeH="0" baseline="0" noProof="0">
                <a:ln>
                  <a:noFill/>
                </a:ln>
                <a:solidFill>
                  <a:srgbClr val="FFFFFF"/>
                </a:solidFill>
                <a:effectLst/>
                <a:uLnTx/>
                <a:uFillTx/>
              </a:rPr>
              <a:pPr marR="0" lvl="0" indent="0" fontAlgn="auto">
                <a:spcBef>
                  <a:spcPts val="0"/>
                </a:spcBef>
                <a:spcAft>
                  <a:spcPts val="600"/>
                </a:spcAft>
                <a:buClrTx/>
                <a:buSzTx/>
                <a:buFontTx/>
                <a:buNone/>
                <a:tabLst/>
                <a:defRPr/>
              </a:pPr>
              <a:t>33</a:t>
            </a:fld>
            <a:endParaRPr kumimoji="0" lang="en-US" b="1" i="0" u="none" strike="noStrike" cap="none" spc="0" normalizeH="0" baseline="0" noProof="0">
              <a:ln>
                <a:noFill/>
              </a:ln>
              <a:solidFill>
                <a:srgbClr val="FFFFFF"/>
              </a:solidFill>
              <a:effectLst/>
              <a:uLnTx/>
              <a:uFillTx/>
            </a:endParaRPr>
          </a:p>
        </p:txBody>
      </p:sp>
    </p:spTree>
    <p:extLst>
      <p:ext uri="{BB962C8B-B14F-4D97-AF65-F5344CB8AC3E}">
        <p14:creationId xmlns:p14="http://schemas.microsoft.com/office/powerpoint/2010/main" val="27746247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6DDE4C4-79DA-94FC-4DB9-3F4488275DB3}"/>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EAC5A5DF-5894-6FF1-830F-189759B64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B9D1A009-E6AB-E269-E59C-49EA2F44AC58}"/>
              </a:ext>
            </a:extLst>
          </p:cNvPr>
          <p:cNvSpPr>
            <a:spLocks noGrp="1"/>
          </p:cNvSpPr>
          <p:nvPr>
            <p:ph type="title"/>
          </p:nvPr>
        </p:nvSpPr>
        <p:spPr>
          <a:xfrm>
            <a:off x="572493" y="238539"/>
            <a:ext cx="11018520" cy="1434415"/>
          </a:xfrm>
        </p:spPr>
        <p:txBody>
          <a:bodyPr vert="horz" lIns="91440" tIns="45720" rIns="91440" bIns="45720" rtlCol="0" anchor="b">
            <a:normAutofit fontScale="90000"/>
          </a:bodyPr>
          <a:lstStyle/>
          <a:p>
            <a:r>
              <a:rPr kumimoji="0" lang="en-GB" sz="5400" b="1" i="0" u="none" strike="noStrike" kern="1200" cap="none" spc="0" normalizeH="0" baseline="0" noProof="0" dirty="0">
                <a:ln>
                  <a:noFill/>
                </a:ln>
                <a:solidFill>
                  <a:prstClr val="black"/>
                </a:solidFill>
                <a:effectLst/>
                <a:uLnTx/>
                <a:uFillTx/>
                <a:latin typeface="Aptos Display" panose="02110004020202020204"/>
                <a:ea typeface="+mj-ea"/>
                <a:cs typeface="+mj-cs"/>
              </a:rPr>
              <a:t>Linear Variable Differential Transformer</a:t>
            </a:r>
            <a:endParaRPr lang="en-US" sz="5400" b="1" dirty="0"/>
          </a:p>
        </p:txBody>
      </p:sp>
      <p:sp>
        <p:nvSpPr>
          <p:cNvPr id="14" name="sketchy line">
            <a:extLst>
              <a:ext uri="{FF2B5EF4-FFF2-40B4-BE49-F238E27FC236}">
                <a16:creationId xmlns:a16="http://schemas.microsoft.com/office/drawing/2014/main" id="{78F0E030-CC80-5929-37D3-5548EE9CE5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Subtitle 2">
            <a:extLst>
              <a:ext uri="{FF2B5EF4-FFF2-40B4-BE49-F238E27FC236}">
                <a16:creationId xmlns:a16="http://schemas.microsoft.com/office/drawing/2014/main" id="{A5D482B5-D23B-7C6F-3CA0-B6F862855701}"/>
              </a:ext>
            </a:extLst>
          </p:cNvPr>
          <p:cNvSpPr>
            <a:spLocks noGrp="1"/>
          </p:cNvSpPr>
          <p:nvPr>
            <p:ph sz="half" idx="1"/>
          </p:nvPr>
        </p:nvSpPr>
        <p:spPr>
          <a:xfrm>
            <a:off x="572493" y="2071316"/>
            <a:ext cx="5761805" cy="4119172"/>
          </a:xfrm>
        </p:spPr>
        <p:txBody>
          <a:bodyPr vert="horz" lIns="91440" tIns="45720" rIns="91440" bIns="45720" rtlCol="0" anchor="t">
            <a:normAutofit fontScale="92500" lnSpcReduction="10000"/>
          </a:bodyPr>
          <a:lstStyle/>
          <a:p>
            <a:r>
              <a:rPr lang="en-GB" sz="2400" dirty="0"/>
              <a:t>LVDT for short</a:t>
            </a:r>
          </a:p>
          <a:p>
            <a:r>
              <a:rPr lang="en-GB" sz="2400" dirty="0"/>
              <a:t>Widely used as primary sensors for monitoring displacements</a:t>
            </a:r>
          </a:p>
          <a:p>
            <a:r>
              <a:rPr lang="en-GB" sz="2400" dirty="0"/>
              <a:t>Consists of three coils symmetrically spaced along an insulated tube.</a:t>
            </a:r>
          </a:p>
          <a:p>
            <a:r>
              <a:rPr lang="en-GB" sz="2400" dirty="0"/>
              <a:t>The central coil is the primary coil and the other two are identical secondary coils which are connected such that their outputs oppose each other.</a:t>
            </a:r>
          </a:p>
          <a:p>
            <a:r>
              <a:rPr lang="en-GB" sz="2400" dirty="0"/>
              <a:t>Measurements made through the movement of a magnetic core which results from the displacement of the probe tip.</a:t>
            </a:r>
          </a:p>
        </p:txBody>
      </p:sp>
      <p:sp>
        <p:nvSpPr>
          <p:cNvPr id="4" name="Slide Number Placeholder 3">
            <a:extLst>
              <a:ext uri="{FF2B5EF4-FFF2-40B4-BE49-F238E27FC236}">
                <a16:creationId xmlns:a16="http://schemas.microsoft.com/office/drawing/2014/main" id="{E3D9C746-B689-F869-AE5D-6F7D23ACCCA5}"/>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1ED87AFC-F3F3-4E09-A9D9-1873FFB55EC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34</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5BC82037-EF5C-7367-AFE6-7D073C126FF4}"/>
              </a:ext>
            </a:extLst>
          </p:cNvPr>
          <p:cNvSpPr txBox="1"/>
          <p:nvPr/>
        </p:nvSpPr>
        <p:spPr>
          <a:xfrm>
            <a:off x="7053262" y="5176456"/>
            <a:ext cx="3419475"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prstClr val="black"/>
                </a:solidFill>
                <a:effectLst/>
                <a:uLnTx/>
                <a:uFillTx/>
                <a:latin typeface="Aptos" panose="02110004020202020204"/>
                <a:ea typeface="+mn-ea"/>
                <a:cs typeface="+mn-cs"/>
              </a:rPr>
              <a:t>https://singer-instruments.com/introduction-to-lvdt/</a:t>
            </a:r>
          </a:p>
        </p:txBody>
      </p:sp>
      <p:pic>
        <p:nvPicPr>
          <p:cNvPr id="10" name="Content Placeholder 5">
            <a:extLst>
              <a:ext uri="{FF2B5EF4-FFF2-40B4-BE49-F238E27FC236}">
                <a16:creationId xmlns:a16="http://schemas.microsoft.com/office/drawing/2014/main" id="{5F1BB7E2-CCC9-0A65-284E-AD55B84A6DF0}"/>
              </a:ext>
            </a:extLst>
          </p:cNvPr>
          <p:cNvPicPr>
            <a:picLocks noGrp="1" noChangeAspect="1"/>
          </p:cNvPicPr>
          <p:nvPr>
            <p:ph sz="half" idx="2"/>
          </p:nvPr>
        </p:nvPicPr>
        <p:blipFill>
          <a:blip r:embed="rId2"/>
          <a:stretch>
            <a:fillRect/>
          </a:stretch>
        </p:blipFill>
        <p:spPr>
          <a:xfrm>
            <a:off x="7053262" y="2858294"/>
            <a:ext cx="3419475" cy="2286000"/>
          </a:xfrm>
          <a:prstGeom prst="rect">
            <a:avLst/>
          </a:prstGeom>
        </p:spPr>
      </p:pic>
    </p:spTree>
    <p:extLst>
      <p:ext uri="{BB962C8B-B14F-4D97-AF65-F5344CB8AC3E}">
        <p14:creationId xmlns:p14="http://schemas.microsoft.com/office/powerpoint/2010/main" val="21320889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a:xfrm>
            <a:off x="572493" y="238539"/>
            <a:ext cx="11018520" cy="1434415"/>
          </a:xfrm>
        </p:spPr>
        <p:txBody>
          <a:bodyPr vert="horz" lIns="91440" tIns="45720" rIns="91440" bIns="45720" rtlCol="0" anchor="b">
            <a:normAutofit/>
          </a:bodyPr>
          <a:lstStyle/>
          <a:p>
            <a:r>
              <a:rPr lang="en-US" sz="5000" b="1"/>
              <a:t>Linear Variable Differential Transformer</a:t>
            </a:r>
          </a:p>
        </p:txBody>
      </p:sp>
      <p:sp>
        <p:nvSpPr>
          <p:cNvPr id="16"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0EC2D61B-0204-42F3-52E6-931A9496968D}"/>
              </a:ext>
            </a:extLst>
          </p:cNvPr>
          <p:cNvSpPr>
            <a:spLocks noGrp="1"/>
          </p:cNvSpPr>
          <p:nvPr>
            <p:ph sz="half" idx="1"/>
          </p:nvPr>
        </p:nvSpPr>
        <p:spPr>
          <a:xfrm>
            <a:off x="572493" y="2071316"/>
            <a:ext cx="6713552" cy="4119172"/>
          </a:xfrm>
        </p:spPr>
        <p:txBody>
          <a:bodyPr vert="horz" lIns="91440" tIns="45720" rIns="91440" bIns="45720" rtlCol="0" anchor="t">
            <a:normAutofit lnSpcReduction="10000"/>
          </a:bodyPr>
          <a:lstStyle/>
          <a:p>
            <a:r>
              <a:rPr lang="en-US" sz="1900" dirty="0"/>
              <a:t>When an alternating voltage input is applied to the primary coil, alternating emf′s are induced in the secondary coils</a:t>
            </a:r>
          </a:p>
          <a:p>
            <a:r>
              <a:rPr lang="en-US" sz="1900" dirty="0"/>
              <a:t>With the magnetic core central, the amount of magnetic material within each of the secondary coils is equal and the emf′s produced in each coil are the same with the net result being zero output</a:t>
            </a:r>
          </a:p>
          <a:p>
            <a:r>
              <a:rPr lang="en-US" sz="1900" dirty="0"/>
              <a:t>When the core is displaced from the central position, due to probe displacement, there is a greater amount of the core in one of the secondary coils than the other</a:t>
            </a:r>
          </a:p>
          <a:p>
            <a:r>
              <a:rPr lang="en-US" sz="1900" dirty="0"/>
              <a:t>This results in a greater emf being induced in one coil than the other which produces a non-zero output</a:t>
            </a:r>
          </a:p>
          <a:p>
            <a:r>
              <a:rPr lang="en-US" sz="1900" dirty="0"/>
              <a:t>The sensor output, the difference between the two emf’s increases with increased displacement</a:t>
            </a:r>
          </a:p>
          <a:p>
            <a:r>
              <a:rPr lang="en-US" sz="1900" dirty="0"/>
              <a:t>Or… https://www.youtube.com/watch?v=08yKYiZv-kg</a:t>
            </a:r>
          </a:p>
          <a:p>
            <a:endParaRPr lang="en-US" sz="1900" dirty="0"/>
          </a:p>
        </p:txBody>
      </p:sp>
      <p:pic>
        <p:nvPicPr>
          <p:cNvPr id="9" name="Content Placeholder 8">
            <a:extLst>
              <a:ext uri="{FF2B5EF4-FFF2-40B4-BE49-F238E27FC236}">
                <a16:creationId xmlns:a16="http://schemas.microsoft.com/office/drawing/2014/main" id="{0B15B7CC-0709-B808-3895-BCDBAD423FC2}"/>
              </a:ext>
            </a:extLst>
          </p:cNvPr>
          <p:cNvPicPr>
            <a:picLocks noGrp="1" noChangeAspect="1"/>
          </p:cNvPicPr>
          <p:nvPr>
            <p:ph sz="half" idx="2"/>
          </p:nvPr>
        </p:nvPicPr>
        <p:blipFill>
          <a:blip r:embed="rId2"/>
          <a:srcRect l="1668" r="37002" b="2"/>
          <a:stretch/>
        </p:blipFill>
        <p:spPr>
          <a:xfrm>
            <a:off x="7675658" y="2093976"/>
            <a:ext cx="3941064" cy="4096512"/>
          </a:xfrm>
          <a:prstGeom prst="rect">
            <a:avLst/>
          </a:prstGeom>
        </p:spPr>
      </p:pic>
      <p:sp>
        <p:nvSpPr>
          <p:cNvPr id="4" name="Slide Number Placeholder 3">
            <a:extLst>
              <a:ext uri="{FF2B5EF4-FFF2-40B4-BE49-F238E27FC236}">
                <a16:creationId xmlns:a16="http://schemas.microsoft.com/office/drawing/2014/main" id="{62FD1B44-9760-B004-EF98-E85A9BE76561}"/>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defRPr/>
            </a:pPr>
            <a:fld id="{1ED87AFC-F3F3-4E09-A9D9-1873FFB55ECB}" type="slidenum">
              <a:rPr lang="en-US" smtClean="0">
                <a:solidFill>
                  <a:prstClr val="black">
                    <a:tint val="75000"/>
                  </a:prstClr>
                </a:solidFill>
                <a:latin typeface="Calibri" panose="020F0502020204030204"/>
              </a:rPr>
              <a:pPr>
                <a:spcAft>
                  <a:spcPts val="600"/>
                </a:spcAft>
                <a:defRPr/>
              </a:pPr>
              <a:t>35</a:t>
            </a:fld>
            <a:endParaRPr lang="en-US">
              <a:solidFill>
                <a:prstClr val="black">
                  <a:tint val="75000"/>
                </a:prstClr>
              </a:solidFill>
              <a:latin typeface="Calibri" panose="020F0502020204030204"/>
            </a:endParaRPr>
          </a:p>
        </p:txBody>
      </p:sp>
    </p:spTree>
    <p:extLst>
      <p:ext uri="{BB962C8B-B14F-4D97-AF65-F5344CB8AC3E}">
        <p14:creationId xmlns:p14="http://schemas.microsoft.com/office/powerpoint/2010/main" val="36228694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a:xfrm>
            <a:off x="838200" y="365125"/>
            <a:ext cx="10515600" cy="1325563"/>
          </a:xfrm>
        </p:spPr>
        <p:txBody>
          <a:bodyPr>
            <a:normAutofit/>
          </a:bodyPr>
          <a:lstStyle/>
          <a:p>
            <a:r>
              <a:rPr lang="en-GB" sz="4600" b="1"/>
              <a:t>Linear Variable Differential Transformer</a:t>
            </a:r>
          </a:p>
        </p:txBody>
      </p:sp>
      <p:sp>
        <p:nvSpPr>
          <p:cNvPr id="11"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 name="Subtitle 2">
                <a:extLst>
                  <a:ext uri="{FF2B5EF4-FFF2-40B4-BE49-F238E27FC236}">
                    <a16:creationId xmlns:a16="http://schemas.microsoft.com/office/drawing/2014/main" id="{0EC2D61B-0204-42F3-52E6-931A9496968D}"/>
                  </a:ext>
                </a:extLst>
              </p:cNvPr>
              <p:cNvSpPr>
                <a:spLocks noGrp="1"/>
              </p:cNvSpPr>
              <p:nvPr>
                <p:ph idx="1"/>
              </p:nvPr>
            </p:nvSpPr>
            <p:spPr>
              <a:xfrm>
                <a:off x="838200" y="1929384"/>
                <a:ext cx="10515600" cy="4251960"/>
              </a:xfrm>
            </p:spPr>
            <p:txBody>
              <a:bodyPr>
                <a:normAutofit/>
              </a:bodyPr>
              <a:lstStyle/>
              <a:p>
                <a:r>
                  <a:rPr lang="en-GB" sz="2200" dirty="0"/>
                  <a:t>The emf induced in a secondary coil by a changing current </a:t>
                </a:r>
                <a:r>
                  <a:rPr lang="en-GB" sz="2200" i="1" dirty="0" err="1"/>
                  <a:t>i</a:t>
                </a:r>
                <a:r>
                  <a:rPr lang="en-GB" sz="2200" dirty="0"/>
                  <a:t> in the primary coil is given by:</a:t>
                </a:r>
              </a:p>
              <a:p>
                <a:pPr marL="0" indent="0">
                  <a:buNone/>
                </a:pPr>
                <a14:m>
                  <m:oMathPara xmlns:m="http://schemas.openxmlformats.org/officeDocument/2006/math">
                    <m:oMathParaPr>
                      <m:jc m:val="centerGroup"/>
                    </m:oMathParaPr>
                    <m:oMath xmlns:m="http://schemas.openxmlformats.org/officeDocument/2006/math">
                      <m:r>
                        <a:rPr lang="en-GB" sz="2200" b="0" i="1" smtClean="0">
                          <a:latin typeface="Cambria Math" panose="02040503050406030204" pitchFamily="18" charset="0"/>
                        </a:rPr>
                        <m:t>𝑒𝑚𝑓</m:t>
                      </m:r>
                      <m:r>
                        <a:rPr lang="en-GB" sz="2200" b="0" i="1" smtClean="0">
                          <a:latin typeface="Cambria Math" panose="02040503050406030204" pitchFamily="18" charset="0"/>
                        </a:rPr>
                        <m:t>=</m:t>
                      </m:r>
                      <m:r>
                        <a:rPr lang="en-GB" sz="2200" b="0" i="1" smtClean="0">
                          <a:latin typeface="Cambria Math" panose="02040503050406030204" pitchFamily="18" charset="0"/>
                        </a:rPr>
                        <m:t>𝑀</m:t>
                      </m:r>
                      <m:r>
                        <a:rPr lang="en-GB" sz="2200" b="0" i="1" smtClean="0">
                          <a:latin typeface="Cambria Math" panose="02040503050406030204" pitchFamily="18" charset="0"/>
                        </a:rPr>
                        <m:t>.</m:t>
                      </m:r>
                      <m:f>
                        <m:fPr>
                          <m:ctrlPr>
                            <a:rPr lang="en-GB" sz="2200" b="0" i="1" smtClean="0">
                              <a:latin typeface="Cambria Math" panose="02040503050406030204" pitchFamily="18" charset="0"/>
                            </a:rPr>
                          </m:ctrlPr>
                        </m:fPr>
                        <m:num>
                          <m:r>
                            <a:rPr lang="en-GB" sz="2200" b="0" i="1" smtClean="0">
                              <a:latin typeface="Cambria Math" panose="02040503050406030204" pitchFamily="18" charset="0"/>
                            </a:rPr>
                            <m:t>𝑑𝑖</m:t>
                          </m:r>
                        </m:num>
                        <m:den>
                          <m:r>
                            <a:rPr lang="en-GB" sz="2200" b="0" i="1" smtClean="0">
                              <a:latin typeface="Cambria Math" panose="02040503050406030204" pitchFamily="18" charset="0"/>
                            </a:rPr>
                            <m:t>𝑑𝑡</m:t>
                          </m:r>
                        </m:den>
                      </m:f>
                    </m:oMath>
                  </m:oMathPara>
                </a14:m>
                <a:endParaRPr lang="en-GB" sz="2200" dirty="0"/>
              </a:p>
              <a:p>
                <a:r>
                  <a:rPr lang="en-GB" sz="2200" dirty="0"/>
                  <a:t>M is the mutual inductance which is dependent on the number of turns on the coils and the composition of the core</a:t>
                </a:r>
              </a:p>
              <a:p>
                <a:r>
                  <a:rPr lang="en-GB" sz="2200" dirty="0"/>
                  <a:t>For a sinusoidal input current of </a:t>
                </a:r>
                <a:r>
                  <a:rPr lang="en-GB" sz="2200" i="1" dirty="0" err="1"/>
                  <a:t>i</a:t>
                </a:r>
                <a:r>
                  <a:rPr lang="en-GB" sz="2200" dirty="0"/>
                  <a:t> = </a:t>
                </a:r>
                <a:r>
                  <a:rPr lang="en-GB" sz="2200" i="1" dirty="0" err="1"/>
                  <a:t>i</a:t>
                </a:r>
                <a:r>
                  <a:rPr lang="en-GB" sz="2200" dirty="0" err="1"/>
                  <a:t>sin</a:t>
                </a:r>
                <a:r>
                  <a:rPr lang="en-GB" sz="2200" i="1" dirty="0" err="1"/>
                  <a:t>ωt</a:t>
                </a:r>
                <a:r>
                  <a:rPr lang="en-GB" sz="2200" dirty="0"/>
                  <a:t> to the primary coil, the emf’s induced in the two secondary coils are:</a:t>
                </a:r>
              </a:p>
              <a:p>
                <a:pPr marL="0" indent="0">
                  <a:buNone/>
                </a:pPr>
                <a:endParaRPr lang="en-GB" sz="2200" dirty="0"/>
              </a:p>
              <a:p>
                <a:pPr marL="0" indent="0">
                  <a:buNone/>
                </a:pPr>
                <a14:m>
                  <m:oMathPara xmlns:m="http://schemas.openxmlformats.org/officeDocument/2006/math">
                    <m:oMathParaPr>
                      <m:jc m:val="centerGroup"/>
                    </m:oMathParaPr>
                    <m:oMath xmlns:m="http://schemas.openxmlformats.org/officeDocument/2006/math">
                      <m:r>
                        <a:rPr lang="en-GB" sz="2200" b="0" i="1" smtClean="0">
                          <a:latin typeface="Cambria Math" panose="02040503050406030204" pitchFamily="18" charset="0"/>
                        </a:rPr>
                        <m:t>𝑉𝑎</m:t>
                      </m:r>
                      <m:r>
                        <a:rPr lang="en-GB" sz="2200" b="0" i="1" smtClean="0">
                          <a:latin typeface="Cambria Math" panose="02040503050406030204" pitchFamily="18" charset="0"/>
                        </a:rPr>
                        <m:t>=</m:t>
                      </m:r>
                      <m:r>
                        <a:rPr lang="en-GB" sz="2200" b="0" i="1" smtClean="0">
                          <a:latin typeface="Cambria Math" panose="02040503050406030204" pitchFamily="18" charset="0"/>
                        </a:rPr>
                        <m:t>𝐾𝑎</m:t>
                      </m:r>
                      <m:r>
                        <a:rPr lang="en-GB" sz="2200" b="0" i="1" smtClean="0">
                          <a:latin typeface="Cambria Math" panose="02040503050406030204" pitchFamily="18" charset="0"/>
                        </a:rPr>
                        <m:t>.</m:t>
                      </m:r>
                      <m:func>
                        <m:funcPr>
                          <m:ctrlPr>
                            <a:rPr lang="en-GB" sz="2200" b="0" i="1" smtClean="0">
                              <a:latin typeface="Cambria Math" panose="02040503050406030204" pitchFamily="18" charset="0"/>
                            </a:rPr>
                          </m:ctrlPr>
                        </m:funcPr>
                        <m:fName>
                          <m:r>
                            <m:rPr>
                              <m:sty m:val="p"/>
                            </m:rPr>
                            <a:rPr lang="en-GB" sz="2200" b="0" i="0" smtClean="0">
                              <a:latin typeface="Cambria Math" panose="02040503050406030204" pitchFamily="18" charset="0"/>
                            </a:rPr>
                            <m:t>sin</m:t>
                          </m:r>
                        </m:fName>
                        <m:e>
                          <m:d>
                            <m:dPr>
                              <m:ctrlPr>
                                <a:rPr lang="en-GB" sz="2200" b="0" i="1" smtClean="0">
                                  <a:latin typeface="Cambria Math" panose="02040503050406030204" pitchFamily="18" charset="0"/>
                                </a:rPr>
                              </m:ctrlPr>
                            </m:dPr>
                            <m:e>
                              <m:r>
                                <m:rPr>
                                  <m:sty m:val="p"/>
                                </m:rPr>
                                <a:rPr lang="el-GR" sz="2200" b="0" i="1" smtClean="0">
                                  <a:latin typeface="Cambria Math" panose="02040503050406030204" pitchFamily="18" charset="0"/>
                                </a:rPr>
                                <m:t>ω</m:t>
                              </m:r>
                              <m:r>
                                <a:rPr lang="en-GB" sz="2200" b="0" i="1" smtClean="0">
                                  <a:latin typeface="Cambria Math" panose="02040503050406030204" pitchFamily="18" charset="0"/>
                                </a:rPr>
                                <m:t>.</m:t>
                              </m:r>
                              <m:r>
                                <a:rPr lang="en-GB" sz="2200" b="0" i="1" smtClean="0">
                                  <a:latin typeface="Cambria Math" panose="02040503050406030204" pitchFamily="18" charset="0"/>
                                </a:rPr>
                                <m:t>𝑡</m:t>
                              </m:r>
                              <m:r>
                                <a:rPr lang="en-GB" sz="2200" b="0" i="1" smtClean="0">
                                  <a:latin typeface="Cambria Math" panose="02040503050406030204" pitchFamily="18" charset="0"/>
                                </a:rPr>
                                <m:t>−</m:t>
                              </m:r>
                              <m:r>
                                <m:rPr>
                                  <m:sty m:val="p"/>
                                </m:rPr>
                                <a:rPr lang="el-GR" sz="2200" b="0" i="1" smtClean="0">
                                  <a:latin typeface="Cambria Math" panose="02040503050406030204" pitchFamily="18" charset="0"/>
                                </a:rPr>
                                <m:t>ψ</m:t>
                              </m:r>
                            </m:e>
                          </m:d>
                        </m:e>
                      </m:func>
                      <m:r>
                        <a:rPr lang="en-GB" sz="2200" b="0" i="1" smtClean="0">
                          <a:latin typeface="Cambria Math" panose="02040503050406030204" pitchFamily="18" charset="0"/>
                        </a:rPr>
                        <m:t>                 </m:t>
                      </m:r>
                      <m:r>
                        <a:rPr lang="en-GB" sz="2200" i="1">
                          <a:latin typeface="Cambria Math" panose="02040503050406030204" pitchFamily="18" charset="0"/>
                        </a:rPr>
                        <m:t>𝑉</m:t>
                      </m:r>
                      <m:r>
                        <a:rPr lang="en-GB" sz="2200" b="0" i="1" smtClean="0">
                          <a:latin typeface="Cambria Math" panose="02040503050406030204" pitchFamily="18" charset="0"/>
                        </a:rPr>
                        <m:t>𝑏</m:t>
                      </m:r>
                      <m:r>
                        <a:rPr lang="en-GB" sz="2200" i="1">
                          <a:latin typeface="Cambria Math" panose="02040503050406030204" pitchFamily="18" charset="0"/>
                        </a:rPr>
                        <m:t>=</m:t>
                      </m:r>
                      <m:r>
                        <a:rPr lang="en-GB" sz="2200" i="1">
                          <a:latin typeface="Cambria Math" panose="02040503050406030204" pitchFamily="18" charset="0"/>
                        </a:rPr>
                        <m:t>𝐾𝑏</m:t>
                      </m:r>
                      <m:r>
                        <a:rPr lang="en-GB" sz="2200" i="1">
                          <a:latin typeface="Cambria Math" panose="02040503050406030204" pitchFamily="18" charset="0"/>
                        </a:rPr>
                        <m:t>.</m:t>
                      </m:r>
                      <m:func>
                        <m:funcPr>
                          <m:ctrlPr>
                            <a:rPr lang="en-GB" sz="2200" i="1">
                              <a:latin typeface="Cambria Math" panose="02040503050406030204" pitchFamily="18" charset="0"/>
                            </a:rPr>
                          </m:ctrlPr>
                        </m:funcPr>
                        <m:fName>
                          <m:r>
                            <m:rPr>
                              <m:sty m:val="p"/>
                            </m:rPr>
                            <a:rPr lang="en-GB" sz="2200">
                              <a:latin typeface="Cambria Math" panose="02040503050406030204" pitchFamily="18" charset="0"/>
                            </a:rPr>
                            <m:t>sin</m:t>
                          </m:r>
                        </m:fName>
                        <m:e>
                          <m:d>
                            <m:dPr>
                              <m:ctrlPr>
                                <a:rPr lang="en-GB" sz="2200" i="1">
                                  <a:latin typeface="Cambria Math" panose="02040503050406030204" pitchFamily="18" charset="0"/>
                                </a:rPr>
                              </m:ctrlPr>
                            </m:dPr>
                            <m:e>
                              <m:r>
                                <m:rPr>
                                  <m:sty m:val="p"/>
                                </m:rPr>
                                <a:rPr lang="el-GR" sz="2200" i="1">
                                  <a:latin typeface="Cambria Math" panose="02040503050406030204" pitchFamily="18" charset="0"/>
                                </a:rPr>
                                <m:t>ω</m:t>
                              </m:r>
                              <m:r>
                                <a:rPr lang="en-GB" sz="2200" i="1">
                                  <a:latin typeface="Cambria Math" panose="02040503050406030204" pitchFamily="18" charset="0"/>
                                </a:rPr>
                                <m:t>.</m:t>
                              </m:r>
                              <m:r>
                                <a:rPr lang="en-GB" sz="2200" i="1">
                                  <a:latin typeface="Cambria Math" panose="02040503050406030204" pitchFamily="18" charset="0"/>
                                </a:rPr>
                                <m:t>𝑡</m:t>
                              </m:r>
                              <m:r>
                                <a:rPr lang="en-GB" sz="2200" i="1">
                                  <a:latin typeface="Cambria Math" panose="02040503050406030204" pitchFamily="18" charset="0"/>
                                </a:rPr>
                                <m:t>−</m:t>
                              </m:r>
                              <m:r>
                                <m:rPr>
                                  <m:sty m:val="p"/>
                                </m:rPr>
                                <a:rPr lang="el-GR" sz="2200" i="1">
                                  <a:latin typeface="Cambria Math" panose="02040503050406030204" pitchFamily="18" charset="0"/>
                                </a:rPr>
                                <m:t>ψ</m:t>
                              </m:r>
                            </m:e>
                          </m:d>
                        </m:e>
                      </m:func>
                    </m:oMath>
                  </m:oMathPara>
                </a14:m>
                <a:endParaRPr lang="en-GB" sz="2200" dirty="0"/>
              </a:p>
              <a:p>
                <a:endParaRPr lang="en-GB" sz="2200" dirty="0"/>
              </a:p>
            </p:txBody>
          </p:sp>
        </mc:Choice>
        <mc:Fallback xmlns="">
          <p:sp>
            <p:nvSpPr>
              <p:cNvPr id="3" name="Subtitle 2">
                <a:extLst>
                  <a:ext uri="{FF2B5EF4-FFF2-40B4-BE49-F238E27FC236}">
                    <a16:creationId xmlns:a16="http://schemas.microsoft.com/office/drawing/2014/main" id="{0EC2D61B-0204-42F3-52E6-931A9496968D}"/>
                  </a:ext>
                </a:extLst>
              </p:cNvPr>
              <p:cNvSpPr>
                <a:spLocks noGrp="1" noRot="1" noChangeAspect="1" noMove="1" noResize="1" noEditPoints="1" noAdjustHandles="1" noChangeArrowheads="1" noChangeShapeType="1" noTextEdit="1"/>
              </p:cNvSpPr>
              <p:nvPr>
                <p:ph idx="1"/>
              </p:nvPr>
            </p:nvSpPr>
            <p:spPr>
              <a:xfrm>
                <a:off x="838200" y="1929384"/>
                <a:ext cx="10515600" cy="4251960"/>
              </a:xfrm>
              <a:blipFill>
                <a:blip r:embed="rId2"/>
                <a:stretch>
                  <a:fillRect l="-696" t="-1722"/>
                </a:stretch>
              </a:blipFill>
            </p:spPr>
            <p:txBody>
              <a:bodyPr/>
              <a:lstStyle/>
              <a:p>
                <a:r>
                  <a:rPr lang="en-GB">
                    <a:noFill/>
                  </a:rPr>
                  <a:t> </a:t>
                </a:r>
              </a:p>
            </p:txBody>
          </p:sp>
        </mc:Fallback>
      </mc:AlternateContent>
      <p:sp>
        <p:nvSpPr>
          <p:cNvPr id="4" name="Slide Number Placeholder 3">
            <a:extLst>
              <a:ext uri="{FF2B5EF4-FFF2-40B4-BE49-F238E27FC236}">
                <a16:creationId xmlns:a16="http://schemas.microsoft.com/office/drawing/2014/main" id="{62FD1B44-9760-B004-EF98-E85A9BE76561}"/>
              </a:ext>
            </a:extLst>
          </p:cNvPr>
          <p:cNvSpPr>
            <a:spLocks noGrp="1"/>
          </p:cNvSpPr>
          <p:nvPr>
            <p:ph type="sldNum" sz="quarter" idx="12"/>
          </p:nvPr>
        </p:nvSpPr>
        <p:spPr>
          <a:xfrm>
            <a:off x="8610600" y="6356350"/>
            <a:ext cx="2743200" cy="365125"/>
          </a:xfrm>
        </p:spPr>
        <p:txBody>
          <a:bodyPr>
            <a:normAutofit/>
          </a:bodyPr>
          <a:lstStyle/>
          <a:p>
            <a:pPr marL="0" marR="0" lvl="0" indent="0" defTabSz="914400" rtl="0" eaLnBrk="1" fontAlgn="auto" latinLnBrk="0" hangingPunct="1">
              <a:spcBef>
                <a:spcPts val="0"/>
              </a:spcBef>
              <a:spcAft>
                <a:spcPts val="600"/>
              </a:spcAft>
              <a:buClrTx/>
              <a:buSzTx/>
              <a:buFontTx/>
              <a:buNone/>
              <a:tabLst/>
              <a:defRPr/>
            </a:pPr>
            <a:fld id="{1ED87AFC-F3F3-4E09-A9D9-1873FFB55ECB}" type="slidenum">
              <a:rPr kumimoji="0" lang="en-GB" b="0" i="0" u="none" strike="noStrike" kern="1200" cap="none" spc="0" normalizeH="0" baseline="0" noProof="0" smtClean="0">
                <a:ln>
                  <a:noFill/>
                </a:ln>
                <a:effectLst/>
                <a:uLnTx/>
                <a:uFillTx/>
                <a:latin typeface="Century Gothic" panose="020B0502020202020204"/>
                <a:ea typeface="+mn-ea"/>
                <a:cs typeface="+mn-cs"/>
              </a:rPr>
              <a:pPr marL="0" marR="0" lvl="0" indent="0" defTabSz="914400" rtl="0" eaLnBrk="1" fontAlgn="auto" latinLnBrk="0" hangingPunct="1">
                <a:spcBef>
                  <a:spcPts val="0"/>
                </a:spcBef>
                <a:spcAft>
                  <a:spcPts val="600"/>
                </a:spcAft>
                <a:buClrTx/>
                <a:buSzTx/>
                <a:buFontTx/>
                <a:buNone/>
                <a:tabLst/>
                <a:defRPr/>
              </a:pPr>
              <a:t>36</a:t>
            </a:fld>
            <a:endParaRPr kumimoji="0" lang="en-GB" b="0" i="0" u="none" strike="noStrike" kern="1200" cap="none" spc="0" normalizeH="0" baseline="0" noProof="0">
              <a:ln>
                <a:noFill/>
              </a:ln>
              <a:effectLst/>
              <a:uLnTx/>
              <a:uFillTx/>
              <a:latin typeface="Century Gothic" panose="020B0502020202020204"/>
              <a:ea typeface="+mn-ea"/>
              <a:cs typeface="+mn-cs"/>
            </a:endParaRPr>
          </a:p>
        </p:txBody>
      </p:sp>
    </p:spTree>
    <p:extLst>
      <p:ext uri="{BB962C8B-B14F-4D97-AF65-F5344CB8AC3E}">
        <p14:creationId xmlns:p14="http://schemas.microsoft.com/office/powerpoint/2010/main" val="23240400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a:xfrm>
            <a:off x="838200" y="365125"/>
            <a:ext cx="10515600" cy="1325563"/>
          </a:xfrm>
        </p:spPr>
        <p:txBody>
          <a:bodyPr>
            <a:normAutofit/>
          </a:bodyPr>
          <a:lstStyle/>
          <a:p>
            <a:r>
              <a:rPr lang="en-GB" sz="4600" b="1"/>
              <a:t>Linear Variable Differential Transformer</a:t>
            </a:r>
          </a:p>
        </p:txBody>
      </p:sp>
      <p:sp>
        <p:nvSpPr>
          <p:cNvPr id="11"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 name="Subtitle 2">
                <a:extLst>
                  <a:ext uri="{FF2B5EF4-FFF2-40B4-BE49-F238E27FC236}">
                    <a16:creationId xmlns:a16="http://schemas.microsoft.com/office/drawing/2014/main" id="{0EC2D61B-0204-42F3-52E6-931A9496968D}"/>
                  </a:ext>
                </a:extLst>
              </p:cNvPr>
              <p:cNvSpPr>
                <a:spLocks noGrp="1"/>
              </p:cNvSpPr>
              <p:nvPr>
                <p:ph idx="1"/>
              </p:nvPr>
            </p:nvSpPr>
            <p:spPr>
              <a:xfrm>
                <a:off x="838200" y="1929384"/>
                <a:ext cx="10515600" cy="4251960"/>
              </a:xfrm>
            </p:spPr>
            <p:txBody>
              <a:bodyPr>
                <a:normAutofit/>
              </a:bodyPr>
              <a:lstStyle/>
              <a:p>
                <a:r>
                  <a:rPr lang="en-GB" sz="2200" dirty="0"/>
                  <a:t>The values of kA, kB and φ depend on the degree of coupling between the primary and secondary coils for a particular core position</a:t>
                </a:r>
              </a:p>
              <a:p>
                <a:r>
                  <a:rPr lang="en-GB" sz="2200" dirty="0"/>
                  <a:t>φ is the phase difference between the primary alternating voltage and that of the secondary coils</a:t>
                </a:r>
              </a:p>
              <a:p>
                <a:r>
                  <a:rPr lang="en-GB" sz="2200" dirty="0"/>
                  <a:t>The LVDT is the difference between the two secondary coils given by:</a:t>
                </a:r>
              </a:p>
              <a:p>
                <a:pPr marL="0" indent="0">
                  <a:buNone/>
                </a:pPr>
                <a:endParaRPr lang="en-GB" sz="2200" dirty="0"/>
              </a:p>
              <a:p>
                <a:pPr marL="0" indent="0">
                  <a:buNone/>
                </a:pPr>
                <a14:m>
                  <m:oMathPara xmlns:m="http://schemas.openxmlformats.org/officeDocument/2006/math">
                    <m:oMathParaPr>
                      <m:jc m:val="centerGroup"/>
                    </m:oMathParaPr>
                    <m:oMath xmlns:m="http://schemas.openxmlformats.org/officeDocument/2006/math">
                      <m:r>
                        <a:rPr lang="en-GB" sz="2200" b="0" i="1" smtClean="0">
                          <a:latin typeface="Cambria Math" panose="02040503050406030204" pitchFamily="18" charset="0"/>
                        </a:rPr>
                        <m:t>𝑉𝑜𝑢𝑡</m:t>
                      </m:r>
                      <m:r>
                        <a:rPr lang="en-GB" sz="2200" b="0" i="1" smtClean="0">
                          <a:latin typeface="Cambria Math" panose="02040503050406030204" pitchFamily="18" charset="0"/>
                        </a:rPr>
                        <m:t>=</m:t>
                      </m:r>
                      <m:r>
                        <a:rPr lang="en-GB" sz="2200" b="0" i="1" smtClean="0">
                          <a:latin typeface="Cambria Math" panose="02040503050406030204" pitchFamily="18" charset="0"/>
                        </a:rPr>
                        <m:t>𝑉𝑎</m:t>
                      </m:r>
                      <m:r>
                        <a:rPr lang="en-GB" sz="2200" b="0" i="1" smtClean="0">
                          <a:latin typeface="Cambria Math" panose="02040503050406030204" pitchFamily="18" charset="0"/>
                        </a:rPr>
                        <m:t>−</m:t>
                      </m:r>
                      <m:r>
                        <a:rPr lang="en-GB" sz="2200" b="0" i="1" smtClean="0">
                          <a:latin typeface="Cambria Math" panose="02040503050406030204" pitchFamily="18" charset="0"/>
                        </a:rPr>
                        <m:t>𝑉𝑏</m:t>
                      </m:r>
                      <m:r>
                        <a:rPr lang="en-GB" sz="2200" b="0" i="1" smtClean="0">
                          <a:latin typeface="Cambria Math" panose="02040503050406030204" pitchFamily="18" charset="0"/>
                        </a:rPr>
                        <m:t>=</m:t>
                      </m:r>
                      <m:d>
                        <m:dPr>
                          <m:ctrlPr>
                            <a:rPr lang="en-GB" sz="2200" b="0" i="1" smtClean="0">
                              <a:latin typeface="Cambria Math" panose="02040503050406030204" pitchFamily="18" charset="0"/>
                            </a:rPr>
                          </m:ctrlPr>
                        </m:dPr>
                        <m:e>
                          <m:r>
                            <a:rPr lang="en-GB" sz="2200" b="0" i="1" smtClean="0">
                              <a:latin typeface="Cambria Math" panose="02040503050406030204" pitchFamily="18" charset="0"/>
                            </a:rPr>
                            <m:t>𝑘𝑎</m:t>
                          </m:r>
                          <m:r>
                            <a:rPr lang="en-GB" sz="2200" b="0" i="1" smtClean="0">
                              <a:latin typeface="Cambria Math" panose="02040503050406030204" pitchFamily="18" charset="0"/>
                            </a:rPr>
                            <m:t>−</m:t>
                          </m:r>
                          <m:r>
                            <a:rPr lang="en-GB" sz="2200" b="0" i="1" smtClean="0">
                              <a:latin typeface="Cambria Math" panose="02040503050406030204" pitchFamily="18" charset="0"/>
                            </a:rPr>
                            <m:t>𝑘𝑏</m:t>
                          </m:r>
                        </m:e>
                      </m:d>
                      <m:r>
                        <a:rPr lang="en-GB" sz="2200" b="0" i="1" smtClean="0">
                          <a:latin typeface="Cambria Math" panose="02040503050406030204" pitchFamily="18" charset="0"/>
                        </a:rPr>
                        <m:t>.</m:t>
                      </m:r>
                      <m:func>
                        <m:funcPr>
                          <m:ctrlPr>
                            <a:rPr lang="en-GB" sz="2200" b="0" i="1" smtClean="0">
                              <a:latin typeface="Cambria Math" panose="02040503050406030204" pitchFamily="18" charset="0"/>
                            </a:rPr>
                          </m:ctrlPr>
                        </m:funcPr>
                        <m:fName>
                          <m:r>
                            <m:rPr>
                              <m:sty m:val="p"/>
                            </m:rPr>
                            <a:rPr lang="en-GB" sz="2200" b="0" i="0" smtClean="0">
                              <a:latin typeface="Cambria Math" panose="02040503050406030204" pitchFamily="18" charset="0"/>
                            </a:rPr>
                            <m:t>sin</m:t>
                          </m:r>
                        </m:fName>
                        <m:e>
                          <m:d>
                            <m:dPr>
                              <m:ctrlPr>
                                <a:rPr lang="en-GB" sz="2200" i="1">
                                  <a:latin typeface="Cambria Math" panose="02040503050406030204" pitchFamily="18" charset="0"/>
                                </a:rPr>
                              </m:ctrlPr>
                            </m:dPr>
                            <m:e>
                              <m:r>
                                <m:rPr>
                                  <m:sty m:val="p"/>
                                </m:rPr>
                                <a:rPr lang="el-GR" sz="2200" i="1">
                                  <a:latin typeface="Cambria Math" panose="02040503050406030204" pitchFamily="18" charset="0"/>
                                </a:rPr>
                                <m:t>ω</m:t>
                              </m:r>
                              <m:r>
                                <a:rPr lang="en-GB" sz="2200" i="1">
                                  <a:latin typeface="Cambria Math" panose="02040503050406030204" pitchFamily="18" charset="0"/>
                                </a:rPr>
                                <m:t>.</m:t>
                              </m:r>
                              <m:r>
                                <a:rPr lang="en-GB" sz="2200" i="1">
                                  <a:latin typeface="Cambria Math" panose="02040503050406030204" pitchFamily="18" charset="0"/>
                                </a:rPr>
                                <m:t>𝑡</m:t>
                              </m:r>
                              <m:r>
                                <a:rPr lang="en-GB" sz="2200" i="1">
                                  <a:latin typeface="Cambria Math" panose="02040503050406030204" pitchFamily="18" charset="0"/>
                                </a:rPr>
                                <m:t>−</m:t>
                              </m:r>
                              <m:r>
                                <m:rPr>
                                  <m:sty m:val="p"/>
                                </m:rPr>
                                <a:rPr lang="el-GR" sz="2200" i="1">
                                  <a:latin typeface="Cambria Math" panose="02040503050406030204" pitchFamily="18" charset="0"/>
                                </a:rPr>
                                <m:t>ψ</m:t>
                              </m:r>
                            </m:e>
                          </m:d>
                        </m:e>
                      </m:func>
                    </m:oMath>
                  </m:oMathPara>
                </a14:m>
                <a:endParaRPr lang="en-GB" sz="2200" b="0" dirty="0"/>
              </a:p>
              <a:p>
                <a:pPr marL="0" indent="0">
                  <a:buNone/>
                </a:pPr>
                <a:endParaRPr lang="en-GB" sz="2200" dirty="0"/>
              </a:p>
              <a:p>
                <a:r>
                  <a:rPr lang="en-GB" sz="2200" dirty="0"/>
                  <a:t>When the core is equally in both coils ka = kb and the output voltage is zero</a:t>
                </a:r>
              </a:p>
              <a:p>
                <a:endParaRPr lang="en-GB" sz="2200" dirty="0"/>
              </a:p>
            </p:txBody>
          </p:sp>
        </mc:Choice>
        <mc:Fallback xmlns="">
          <p:sp>
            <p:nvSpPr>
              <p:cNvPr id="3" name="Subtitle 2">
                <a:extLst>
                  <a:ext uri="{FF2B5EF4-FFF2-40B4-BE49-F238E27FC236}">
                    <a16:creationId xmlns:a16="http://schemas.microsoft.com/office/drawing/2014/main" id="{0EC2D61B-0204-42F3-52E6-931A9496968D}"/>
                  </a:ext>
                </a:extLst>
              </p:cNvPr>
              <p:cNvSpPr>
                <a:spLocks noGrp="1" noRot="1" noChangeAspect="1" noMove="1" noResize="1" noEditPoints="1" noAdjustHandles="1" noChangeArrowheads="1" noChangeShapeType="1" noTextEdit="1"/>
              </p:cNvSpPr>
              <p:nvPr>
                <p:ph idx="1"/>
              </p:nvPr>
            </p:nvSpPr>
            <p:spPr>
              <a:xfrm>
                <a:off x="838200" y="1929384"/>
                <a:ext cx="10515600" cy="4251960"/>
              </a:xfrm>
              <a:blipFill>
                <a:blip r:embed="rId2"/>
                <a:stretch>
                  <a:fillRect l="-696" t="-1722"/>
                </a:stretch>
              </a:blipFill>
            </p:spPr>
            <p:txBody>
              <a:bodyPr/>
              <a:lstStyle/>
              <a:p>
                <a:r>
                  <a:rPr lang="en-GB">
                    <a:noFill/>
                  </a:rPr>
                  <a:t> </a:t>
                </a:r>
              </a:p>
            </p:txBody>
          </p:sp>
        </mc:Fallback>
      </mc:AlternateContent>
      <p:sp>
        <p:nvSpPr>
          <p:cNvPr id="4" name="Slide Number Placeholder 3">
            <a:extLst>
              <a:ext uri="{FF2B5EF4-FFF2-40B4-BE49-F238E27FC236}">
                <a16:creationId xmlns:a16="http://schemas.microsoft.com/office/drawing/2014/main" id="{62FD1B44-9760-B004-EF98-E85A9BE76561}"/>
              </a:ext>
            </a:extLst>
          </p:cNvPr>
          <p:cNvSpPr>
            <a:spLocks noGrp="1"/>
          </p:cNvSpPr>
          <p:nvPr>
            <p:ph type="sldNum" sz="quarter" idx="12"/>
          </p:nvPr>
        </p:nvSpPr>
        <p:spPr>
          <a:xfrm>
            <a:off x="8610600" y="6356350"/>
            <a:ext cx="2743200" cy="365125"/>
          </a:xfrm>
        </p:spPr>
        <p:txBody>
          <a:bodyPr>
            <a:normAutofit/>
          </a:bodyPr>
          <a:lstStyle/>
          <a:p>
            <a:pPr marL="0" marR="0" lvl="0" indent="0" defTabSz="914400" rtl="0" eaLnBrk="1" fontAlgn="auto" latinLnBrk="0" hangingPunct="1">
              <a:spcBef>
                <a:spcPts val="0"/>
              </a:spcBef>
              <a:spcAft>
                <a:spcPts val="600"/>
              </a:spcAft>
              <a:buClrTx/>
              <a:buSzTx/>
              <a:buFontTx/>
              <a:buNone/>
              <a:tabLst/>
              <a:defRPr/>
            </a:pPr>
            <a:fld id="{1ED87AFC-F3F3-4E09-A9D9-1873FFB55ECB}" type="slidenum">
              <a:rPr kumimoji="0" lang="en-GB" b="0" i="0" u="none" strike="noStrike" kern="1200" cap="none" spc="0" normalizeH="0" baseline="0" noProof="0" smtClean="0">
                <a:ln>
                  <a:noFill/>
                </a:ln>
                <a:effectLst/>
                <a:uLnTx/>
                <a:uFillTx/>
                <a:latin typeface="Century Gothic" panose="020B0502020202020204"/>
                <a:ea typeface="+mn-ea"/>
                <a:cs typeface="+mn-cs"/>
              </a:rPr>
              <a:pPr marL="0" marR="0" lvl="0" indent="0" defTabSz="914400" rtl="0" eaLnBrk="1" fontAlgn="auto" latinLnBrk="0" hangingPunct="1">
                <a:spcBef>
                  <a:spcPts val="0"/>
                </a:spcBef>
                <a:spcAft>
                  <a:spcPts val="600"/>
                </a:spcAft>
                <a:buClrTx/>
                <a:buSzTx/>
                <a:buFontTx/>
                <a:buNone/>
                <a:tabLst/>
                <a:defRPr/>
              </a:pPr>
              <a:t>37</a:t>
            </a:fld>
            <a:endParaRPr kumimoji="0" lang="en-GB" b="0" i="0" u="none" strike="noStrike" kern="1200" cap="none" spc="0" normalizeH="0" baseline="0" noProof="0">
              <a:ln>
                <a:noFill/>
              </a:ln>
              <a:effectLst/>
              <a:uLnTx/>
              <a:uFillTx/>
              <a:latin typeface="Century Gothic" panose="020B0502020202020204"/>
              <a:ea typeface="+mn-ea"/>
              <a:cs typeface="+mn-cs"/>
            </a:endParaRPr>
          </a:p>
        </p:txBody>
      </p:sp>
    </p:spTree>
    <p:extLst>
      <p:ext uri="{BB962C8B-B14F-4D97-AF65-F5344CB8AC3E}">
        <p14:creationId xmlns:p14="http://schemas.microsoft.com/office/powerpoint/2010/main" val="2465806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a:xfrm>
            <a:off x="838200" y="365125"/>
            <a:ext cx="10515600" cy="1325563"/>
          </a:xfrm>
        </p:spPr>
        <p:txBody>
          <a:bodyPr>
            <a:normAutofit/>
          </a:bodyPr>
          <a:lstStyle/>
          <a:p>
            <a:r>
              <a:rPr lang="en-GB" sz="4600" b="1"/>
              <a:t>Linear Variable Differential Transformer</a:t>
            </a:r>
          </a:p>
        </p:txBody>
      </p:sp>
      <p:sp>
        <p:nvSpPr>
          <p:cNvPr id="11"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 name="Subtitle 2">
                <a:extLst>
                  <a:ext uri="{FF2B5EF4-FFF2-40B4-BE49-F238E27FC236}">
                    <a16:creationId xmlns:a16="http://schemas.microsoft.com/office/drawing/2014/main" id="{0EC2D61B-0204-42F3-52E6-931A9496968D}"/>
                  </a:ext>
                </a:extLst>
              </p:cNvPr>
              <p:cNvSpPr>
                <a:spLocks noGrp="1"/>
              </p:cNvSpPr>
              <p:nvPr>
                <p:ph idx="1"/>
              </p:nvPr>
            </p:nvSpPr>
            <p:spPr>
              <a:xfrm>
                <a:off x="838200" y="1929384"/>
                <a:ext cx="10515600" cy="4251960"/>
              </a:xfrm>
            </p:spPr>
            <p:txBody>
              <a:bodyPr>
                <a:normAutofit/>
              </a:bodyPr>
              <a:lstStyle/>
              <a:p>
                <a:r>
                  <a:rPr lang="en-GB" sz="2200" dirty="0"/>
                  <a:t>When the core is more in secondary coil a than in b we have ka &gt; kb :</a:t>
                </a:r>
              </a:p>
              <a:p>
                <a:endParaRPr lang="en-GB" sz="2200" dirty="0"/>
              </a:p>
              <a:p>
                <a:pPr marL="0" indent="0">
                  <a:buNone/>
                </a:pPr>
                <a14:m>
                  <m:oMathPara xmlns:m="http://schemas.openxmlformats.org/officeDocument/2006/math">
                    <m:oMathParaPr>
                      <m:jc m:val="centerGroup"/>
                    </m:oMathParaPr>
                    <m:oMath xmlns:m="http://schemas.openxmlformats.org/officeDocument/2006/math">
                      <m:r>
                        <a:rPr lang="en-GB" sz="2200" i="1">
                          <a:latin typeface="Cambria Math" panose="02040503050406030204" pitchFamily="18" charset="0"/>
                        </a:rPr>
                        <m:t>𝑉𝑜𝑢𝑡</m:t>
                      </m:r>
                      <m:r>
                        <a:rPr lang="en-GB" sz="2200" i="1">
                          <a:latin typeface="Cambria Math" panose="02040503050406030204" pitchFamily="18" charset="0"/>
                        </a:rPr>
                        <m:t>=</m:t>
                      </m:r>
                      <m:d>
                        <m:dPr>
                          <m:ctrlPr>
                            <a:rPr lang="en-GB" sz="2200" i="1">
                              <a:latin typeface="Cambria Math" panose="02040503050406030204" pitchFamily="18" charset="0"/>
                            </a:rPr>
                          </m:ctrlPr>
                        </m:dPr>
                        <m:e>
                          <m:r>
                            <a:rPr lang="en-GB" sz="2200" i="1">
                              <a:latin typeface="Cambria Math" panose="02040503050406030204" pitchFamily="18" charset="0"/>
                            </a:rPr>
                            <m:t>𝑘𝑎</m:t>
                          </m:r>
                          <m:r>
                            <a:rPr lang="en-GB" sz="2200" i="1">
                              <a:latin typeface="Cambria Math" panose="02040503050406030204" pitchFamily="18" charset="0"/>
                            </a:rPr>
                            <m:t>−</m:t>
                          </m:r>
                          <m:r>
                            <a:rPr lang="en-GB" sz="2200" i="1">
                              <a:latin typeface="Cambria Math" panose="02040503050406030204" pitchFamily="18" charset="0"/>
                            </a:rPr>
                            <m:t>𝑘𝑏</m:t>
                          </m:r>
                        </m:e>
                      </m:d>
                      <m:r>
                        <a:rPr lang="en-GB" sz="2200" i="1">
                          <a:latin typeface="Cambria Math" panose="02040503050406030204" pitchFamily="18" charset="0"/>
                        </a:rPr>
                        <m:t>.</m:t>
                      </m:r>
                      <m:func>
                        <m:funcPr>
                          <m:ctrlPr>
                            <a:rPr lang="en-GB" sz="2200" i="1">
                              <a:latin typeface="Cambria Math" panose="02040503050406030204" pitchFamily="18" charset="0"/>
                            </a:rPr>
                          </m:ctrlPr>
                        </m:funcPr>
                        <m:fName>
                          <m:r>
                            <m:rPr>
                              <m:sty m:val="p"/>
                            </m:rPr>
                            <a:rPr lang="en-GB" sz="2200">
                              <a:latin typeface="Cambria Math" panose="02040503050406030204" pitchFamily="18" charset="0"/>
                            </a:rPr>
                            <m:t>sin</m:t>
                          </m:r>
                        </m:fName>
                        <m:e>
                          <m:d>
                            <m:dPr>
                              <m:ctrlPr>
                                <a:rPr lang="en-GB" sz="2200" i="1">
                                  <a:latin typeface="Cambria Math" panose="02040503050406030204" pitchFamily="18" charset="0"/>
                                </a:rPr>
                              </m:ctrlPr>
                            </m:dPr>
                            <m:e>
                              <m:r>
                                <m:rPr>
                                  <m:sty m:val="p"/>
                                </m:rPr>
                                <a:rPr lang="el-GR" sz="2200" i="1">
                                  <a:latin typeface="Cambria Math" panose="02040503050406030204" pitchFamily="18" charset="0"/>
                                </a:rPr>
                                <m:t>ω</m:t>
                              </m:r>
                              <m:r>
                                <a:rPr lang="en-GB" sz="2200" i="1">
                                  <a:latin typeface="Cambria Math" panose="02040503050406030204" pitchFamily="18" charset="0"/>
                                </a:rPr>
                                <m:t>.</m:t>
                              </m:r>
                              <m:r>
                                <a:rPr lang="en-GB" sz="2200" i="1">
                                  <a:latin typeface="Cambria Math" panose="02040503050406030204" pitchFamily="18" charset="0"/>
                                </a:rPr>
                                <m:t>𝑡</m:t>
                              </m:r>
                              <m:r>
                                <a:rPr lang="en-GB" sz="2200" i="1">
                                  <a:latin typeface="Cambria Math" panose="02040503050406030204" pitchFamily="18" charset="0"/>
                                </a:rPr>
                                <m:t>−</m:t>
                              </m:r>
                              <m:r>
                                <m:rPr>
                                  <m:sty m:val="p"/>
                                </m:rPr>
                                <a:rPr lang="el-GR" sz="2200" i="1">
                                  <a:latin typeface="Cambria Math" panose="02040503050406030204" pitchFamily="18" charset="0"/>
                                </a:rPr>
                                <m:t>ψ</m:t>
                              </m:r>
                            </m:e>
                          </m:d>
                        </m:e>
                      </m:func>
                    </m:oMath>
                  </m:oMathPara>
                </a14:m>
                <a:endParaRPr lang="en-GB" sz="2200" dirty="0"/>
              </a:p>
              <a:p>
                <a:pPr marL="0" indent="0">
                  <a:buNone/>
                </a:pPr>
                <a:endParaRPr lang="en-GB" sz="2200" dirty="0"/>
              </a:p>
              <a:p>
                <a:r>
                  <a:rPr lang="en-GB" sz="2200" dirty="0"/>
                  <a:t>When the core is more in secondary coil b than in a we have ka &lt; kb and there is a phase change of 180:</a:t>
                </a:r>
              </a:p>
              <a:p>
                <a:pPr marL="0" indent="0">
                  <a:buNone/>
                </a:pPr>
                <a14:m>
                  <m:oMathPara xmlns:m="http://schemas.openxmlformats.org/officeDocument/2006/math">
                    <m:oMathParaPr>
                      <m:jc m:val="centerGroup"/>
                    </m:oMathParaPr>
                    <m:oMath xmlns:m="http://schemas.openxmlformats.org/officeDocument/2006/math">
                      <m:r>
                        <a:rPr lang="en-GB" sz="2200" i="1">
                          <a:latin typeface="Cambria Math" panose="02040503050406030204" pitchFamily="18" charset="0"/>
                        </a:rPr>
                        <m:t>𝑉𝑜𝑢𝑡</m:t>
                      </m:r>
                      <m:r>
                        <a:rPr lang="en-GB" sz="2200" i="1">
                          <a:latin typeface="Cambria Math" panose="02040503050406030204" pitchFamily="18" charset="0"/>
                        </a:rPr>
                        <m:t>=−</m:t>
                      </m:r>
                      <m:d>
                        <m:dPr>
                          <m:ctrlPr>
                            <a:rPr lang="en-GB" sz="2200" i="1">
                              <a:latin typeface="Cambria Math" panose="02040503050406030204" pitchFamily="18" charset="0"/>
                            </a:rPr>
                          </m:ctrlPr>
                        </m:dPr>
                        <m:e>
                          <m:r>
                            <a:rPr lang="en-GB" sz="2200" i="1">
                              <a:latin typeface="Cambria Math" panose="02040503050406030204" pitchFamily="18" charset="0"/>
                            </a:rPr>
                            <m:t>𝑘𝑎</m:t>
                          </m:r>
                          <m:r>
                            <a:rPr lang="en-GB" sz="2200" i="1">
                              <a:latin typeface="Cambria Math" panose="02040503050406030204" pitchFamily="18" charset="0"/>
                            </a:rPr>
                            <m:t>−</m:t>
                          </m:r>
                          <m:r>
                            <a:rPr lang="en-GB" sz="2200" i="1">
                              <a:latin typeface="Cambria Math" panose="02040503050406030204" pitchFamily="18" charset="0"/>
                            </a:rPr>
                            <m:t>𝑘𝑏</m:t>
                          </m:r>
                        </m:e>
                      </m:d>
                      <m:r>
                        <a:rPr lang="en-GB" sz="2200" i="1">
                          <a:latin typeface="Cambria Math" panose="02040503050406030204" pitchFamily="18" charset="0"/>
                        </a:rPr>
                        <m:t>.</m:t>
                      </m:r>
                      <m:func>
                        <m:funcPr>
                          <m:ctrlPr>
                            <a:rPr lang="en-GB" sz="2200" i="1">
                              <a:latin typeface="Cambria Math" panose="02040503050406030204" pitchFamily="18" charset="0"/>
                            </a:rPr>
                          </m:ctrlPr>
                        </m:funcPr>
                        <m:fName>
                          <m:r>
                            <m:rPr>
                              <m:sty m:val="p"/>
                            </m:rPr>
                            <a:rPr lang="en-GB" sz="2200">
                              <a:latin typeface="Cambria Math" panose="02040503050406030204" pitchFamily="18" charset="0"/>
                            </a:rPr>
                            <m:t>sin</m:t>
                          </m:r>
                        </m:fName>
                        <m:e>
                          <m:d>
                            <m:dPr>
                              <m:ctrlPr>
                                <a:rPr lang="en-GB" sz="2200" i="1">
                                  <a:latin typeface="Cambria Math" panose="02040503050406030204" pitchFamily="18" charset="0"/>
                                </a:rPr>
                              </m:ctrlPr>
                            </m:dPr>
                            <m:e>
                              <m:r>
                                <m:rPr>
                                  <m:sty m:val="p"/>
                                </m:rPr>
                                <a:rPr lang="el-GR" sz="2200" i="1">
                                  <a:latin typeface="Cambria Math" panose="02040503050406030204" pitchFamily="18" charset="0"/>
                                </a:rPr>
                                <m:t>ω</m:t>
                              </m:r>
                              <m:r>
                                <a:rPr lang="en-GB" sz="2200" i="1">
                                  <a:latin typeface="Cambria Math" panose="02040503050406030204" pitchFamily="18" charset="0"/>
                                </a:rPr>
                                <m:t>.</m:t>
                              </m:r>
                              <m:r>
                                <a:rPr lang="en-GB" sz="2200" i="1">
                                  <a:latin typeface="Cambria Math" panose="02040503050406030204" pitchFamily="18" charset="0"/>
                                </a:rPr>
                                <m:t>𝑡</m:t>
                              </m:r>
                              <m:r>
                                <a:rPr lang="en-GB" sz="2200" i="1">
                                  <a:latin typeface="Cambria Math" panose="02040503050406030204" pitchFamily="18" charset="0"/>
                                </a:rPr>
                                <m:t>−</m:t>
                              </m:r>
                              <m:r>
                                <m:rPr>
                                  <m:sty m:val="p"/>
                                </m:rPr>
                                <a:rPr lang="el-GR" sz="2200" i="1" smtClean="0">
                                  <a:latin typeface="Cambria Math" panose="02040503050406030204" pitchFamily="18" charset="0"/>
                                </a:rPr>
                                <m:t>φ</m:t>
                              </m:r>
                            </m:e>
                          </m:d>
                        </m:e>
                      </m:func>
                    </m:oMath>
                  </m:oMathPara>
                </a14:m>
                <a:endParaRPr lang="en-GB" sz="2200" dirty="0"/>
              </a:p>
              <a:p>
                <a:pPr marL="0" indent="0">
                  <a:buNone/>
                </a:pPr>
                <a:r>
                  <a:rPr lang="en-GB" sz="2200" dirty="0"/>
                  <a:t>or</a:t>
                </a:r>
              </a:p>
              <a:p>
                <a:pPr marL="0" indent="0">
                  <a:buNone/>
                </a:pPr>
                <a14:m>
                  <m:oMathPara xmlns:m="http://schemas.openxmlformats.org/officeDocument/2006/math">
                    <m:oMathParaPr>
                      <m:jc m:val="centerGroup"/>
                    </m:oMathParaPr>
                    <m:oMath xmlns:m="http://schemas.openxmlformats.org/officeDocument/2006/math">
                      <m:r>
                        <a:rPr lang="en-GB" sz="2200" i="1">
                          <a:latin typeface="Cambria Math" panose="02040503050406030204" pitchFamily="18" charset="0"/>
                        </a:rPr>
                        <m:t>𝑉𝑜𝑢𝑡</m:t>
                      </m:r>
                      <m:r>
                        <a:rPr lang="en-GB" sz="2200" i="1">
                          <a:latin typeface="Cambria Math" panose="02040503050406030204" pitchFamily="18" charset="0"/>
                        </a:rPr>
                        <m:t>=</m:t>
                      </m:r>
                      <m:d>
                        <m:dPr>
                          <m:ctrlPr>
                            <a:rPr lang="en-GB" sz="2200" i="1" smtClean="0">
                              <a:latin typeface="Cambria Math" panose="02040503050406030204" pitchFamily="18" charset="0"/>
                            </a:rPr>
                          </m:ctrlPr>
                        </m:dPr>
                        <m:e>
                          <m:r>
                            <a:rPr lang="en-GB" sz="2200" i="1">
                              <a:latin typeface="Cambria Math" panose="02040503050406030204" pitchFamily="18" charset="0"/>
                            </a:rPr>
                            <m:t>𝑘</m:t>
                          </m:r>
                          <m:r>
                            <a:rPr lang="en-GB" sz="2200" b="0" i="1" smtClean="0">
                              <a:latin typeface="Cambria Math" panose="02040503050406030204" pitchFamily="18" charset="0"/>
                            </a:rPr>
                            <m:t>𝑏</m:t>
                          </m:r>
                          <m:r>
                            <a:rPr lang="en-GB" sz="2200" i="1">
                              <a:latin typeface="Cambria Math" panose="02040503050406030204" pitchFamily="18" charset="0"/>
                            </a:rPr>
                            <m:t>−</m:t>
                          </m:r>
                          <m:r>
                            <a:rPr lang="en-GB" sz="2200" i="1">
                              <a:latin typeface="Cambria Math" panose="02040503050406030204" pitchFamily="18" charset="0"/>
                            </a:rPr>
                            <m:t>𝑘𝑎</m:t>
                          </m:r>
                        </m:e>
                      </m:d>
                      <m:r>
                        <a:rPr lang="en-GB" sz="2200" i="1">
                          <a:latin typeface="Cambria Math" panose="02040503050406030204" pitchFamily="18" charset="0"/>
                        </a:rPr>
                        <m:t>.</m:t>
                      </m:r>
                      <m:func>
                        <m:funcPr>
                          <m:ctrlPr>
                            <a:rPr lang="en-GB" sz="2200" i="1">
                              <a:latin typeface="Cambria Math" panose="02040503050406030204" pitchFamily="18" charset="0"/>
                            </a:rPr>
                          </m:ctrlPr>
                        </m:funcPr>
                        <m:fName>
                          <m:r>
                            <m:rPr>
                              <m:sty m:val="p"/>
                            </m:rPr>
                            <a:rPr lang="en-GB" sz="2200">
                              <a:latin typeface="Cambria Math" panose="02040503050406030204" pitchFamily="18" charset="0"/>
                            </a:rPr>
                            <m:t>sin</m:t>
                          </m:r>
                        </m:fName>
                        <m:e>
                          <m:r>
                            <a:rPr lang="en-GB" sz="2200" b="0" i="1" smtClean="0">
                              <a:latin typeface="Cambria Math" panose="02040503050406030204" pitchFamily="18" charset="0"/>
                            </a:rPr>
                            <m:t>(</m:t>
                          </m:r>
                          <m:r>
                            <m:rPr>
                              <m:sty m:val="p"/>
                            </m:rPr>
                            <a:rPr lang="el-GR" sz="2200" i="1">
                              <a:latin typeface="Cambria Math" panose="02040503050406030204" pitchFamily="18" charset="0"/>
                            </a:rPr>
                            <m:t>ω</m:t>
                          </m:r>
                          <m:r>
                            <a:rPr lang="en-GB" sz="2200" i="1">
                              <a:latin typeface="Cambria Math" panose="02040503050406030204" pitchFamily="18" charset="0"/>
                            </a:rPr>
                            <m:t>.</m:t>
                          </m:r>
                          <m:r>
                            <a:rPr lang="en-GB" sz="2200" i="1">
                              <a:latin typeface="Cambria Math" panose="02040503050406030204" pitchFamily="18" charset="0"/>
                            </a:rPr>
                            <m:t>𝑡</m:t>
                          </m:r>
                          <m:r>
                            <a:rPr lang="en-GB" sz="2200" b="0" i="1" smtClean="0">
                              <a:latin typeface="Cambria Math" panose="02040503050406030204" pitchFamily="18" charset="0"/>
                            </a:rPr>
                            <m:t>+(</m:t>
                          </m:r>
                          <m:r>
                            <m:rPr>
                              <m:sty m:val="p"/>
                            </m:rPr>
                            <a:rPr lang="el-GR" sz="2200" i="1" smtClean="0">
                              <a:latin typeface="Cambria Math" panose="02040503050406030204" pitchFamily="18" charset="0"/>
                            </a:rPr>
                            <m:t>ψ</m:t>
                          </m:r>
                          <m:r>
                            <a:rPr lang="en-GB" sz="2200" b="0" i="1" smtClean="0">
                              <a:latin typeface="Cambria Math" panose="02040503050406030204" pitchFamily="18" charset="0"/>
                            </a:rPr>
                            <m:t>−</m:t>
                          </m:r>
                          <m:r>
                            <m:rPr>
                              <m:sty m:val="p"/>
                            </m:rPr>
                            <a:rPr lang="el-GR" sz="2200" i="1">
                              <a:latin typeface="Cambria Math" panose="02040503050406030204" pitchFamily="18" charset="0"/>
                            </a:rPr>
                            <m:t>φ</m:t>
                          </m:r>
                          <m:r>
                            <m:rPr>
                              <m:nor/>
                            </m:rPr>
                            <a:rPr lang="en-GB" sz="2200" dirty="0"/>
                            <m:t>))</m:t>
                          </m:r>
                        </m:e>
                      </m:func>
                    </m:oMath>
                  </m:oMathPara>
                </a14:m>
                <a:endParaRPr lang="en-GB" sz="2200" dirty="0"/>
              </a:p>
              <a:p>
                <a:r>
                  <a:rPr lang="en-GB" sz="2200" dirty="0"/>
                  <a:t>The output voltage and phase for varying displacements are shown for the secondary coils in the following slide</a:t>
                </a:r>
              </a:p>
              <a:p>
                <a:endParaRPr lang="en-GB" sz="2200" dirty="0"/>
              </a:p>
              <a:p>
                <a:endParaRPr lang="en-GB" sz="2200" dirty="0"/>
              </a:p>
            </p:txBody>
          </p:sp>
        </mc:Choice>
        <mc:Fallback xmlns="">
          <p:sp>
            <p:nvSpPr>
              <p:cNvPr id="3" name="Subtitle 2">
                <a:extLst>
                  <a:ext uri="{FF2B5EF4-FFF2-40B4-BE49-F238E27FC236}">
                    <a16:creationId xmlns:a16="http://schemas.microsoft.com/office/drawing/2014/main" id="{0EC2D61B-0204-42F3-52E6-931A9496968D}"/>
                  </a:ext>
                </a:extLst>
              </p:cNvPr>
              <p:cNvSpPr>
                <a:spLocks noGrp="1" noRot="1" noChangeAspect="1" noMove="1" noResize="1" noEditPoints="1" noAdjustHandles="1" noChangeArrowheads="1" noChangeShapeType="1" noTextEdit="1"/>
              </p:cNvSpPr>
              <p:nvPr>
                <p:ph idx="1"/>
              </p:nvPr>
            </p:nvSpPr>
            <p:spPr>
              <a:xfrm>
                <a:off x="838200" y="1929384"/>
                <a:ext cx="10515600" cy="4251960"/>
              </a:xfrm>
              <a:blipFill>
                <a:blip r:embed="rId2"/>
                <a:stretch>
                  <a:fillRect l="-754" t="-1722"/>
                </a:stretch>
              </a:blipFill>
            </p:spPr>
            <p:txBody>
              <a:bodyPr/>
              <a:lstStyle/>
              <a:p>
                <a:r>
                  <a:rPr lang="en-GB">
                    <a:noFill/>
                  </a:rPr>
                  <a:t> </a:t>
                </a:r>
              </a:p>
            </p:txBody>
          </p:sp>
        </mc:Fallback>
      </mc:AlternateContent>
      <p:sp>
        <p:nvSpPr>
          <p:cNvPr id="4" name="Slide Number Placeholder 3">
            <a:extLst>
              <a:ext uri="{FF2B5EF4-FFF2-40B4-BE49-F238E27FC236}">
                <a16:creationId xmlns:a16="http://schemas.microsoft.com/office/drawing/2014/main" id="{62FD1B44-9760-B004-EF98-E85A9BE76561}"/>
              </a:ext>
            </a:extLst>
          </p:cNvPr>
          <p:cNvSpPr>
            <a:spLocks noGrp="1"/>
          </p:cNvSpPr>
          <p:nvPr>
            <p:ph type="sldNum" sz="quarter" idx="12"/>
          </p:nvPr>
        </p:nvSpPr>
        <p:spPr>
          <a:xfrm>
            <a:off x="8610600" y="6356350"/>
            <a:ext cx="2743200" cy="365125"/>
          </a:xfrm>
        </p:spPr>
        <p:txBody>
          <a:bodyPr>
            <a:normAutofit/>
          </a:bodyPr>
          <a:lstStyle/>
          <a:p>
            <a:pPr marL="0" marR="0" lvl="0" indent="0" defTabSz="914400" rtl="0" eaLnBrk="1" fontAlgn="auto" latinLnBrk="0" hangingPunct="1">
              <a:spcBef>
                <a:spcPts val="0"/>
              </a:spcBef>
              <a:spcAft>
                <a:spcPts val="600"/>
              </a:spcAft>
              <a:buClrTx/>
              <a:buSzTx/>
              <a:buFontTx/>
              <a:buNone/>
              <a:tabLst/>
              <a:defRPr/>
            </a:pPr>
            <a:fld id="{1ED87AFC-F3F3-4E09-A9D9-1873FFB55ECB}" type="slidenum">
              <a:rPr kumimoji="0" lang="en-GB" b="0" i="0" u="none" strike="noStrike" kern="1200" cap="none" spc="0" normalizeH="0" baseline="0" noProof="0" smtClean="0">
                <a:ln>
                  <a:noFill/>
                </a:ln>
                <a:effectLst/>
                <a:uLnTx/>
                <a:uFillTx/>
                <a:latin typeface="Century Gothic" panose="020B0502020202020204"/>
                <a:ea typeface="+mn-ea"/>
                <a:cs typeface="+mn-cs"/>
              </a:rPr>
              <a:pPr marL="0" marR="0" lvl="0" indent="0" defTabSz="914400" rtl="0" eaLnBrk="1" fontAlgn="auto" latinLnBrk="0" hangingPunct="1">
                <a:spcBef>
                  <a:spcPts val="0"/>
                </a:spcBef>
                <a:spcAft>
                  <a:spcPts val="600"/>
                </a:spcAft>
                <a:buClrTx/>
                <a:buSzTx/>
                <a:buFontTx/>
                <a:buNone/>
                <a:tabLst/>
                <a:defRPr/>
              </a:pPr>
              <a:t>38</a:t>
            </a:fld>
            <a:endParaRPr kumimoji="0" lang="en-GB" b="0" i="0" u="none" strike="noStrike" kern="1200" cap="none" spc="0" normalizeH="0" baseline="0" noProof="0">
              <a:ln>
                <a:noFill/>
              </a:ln>
              <a:effectLst/>
              <a:uLnTx/>
              <a:uFillTx/>
              <a:latin typeface="Century Gothic" panose="020B0502020202020204"/>
              <a:ea typeface="+mn-ea"/>
              <a:cs typeface="+mn-cs"/>
            </a:endParaRPr>
          </a:p>
        </p:txBody>
      </p:sp>
    </p:spTree>
    <p:extLst>
      <p:ext uri="{BB962C8B-B14F-4D97-AF65-F5344CB8AC3E}">
        <p14:creationId xmlns:p14="http://schemas.microsoft.com/office/powerpoint/2010/main" val="2861808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a:xfrm>
            <a:off x="572493" y="238539"/>
            <a:ext cx="11018520" cy="1434415"/>
          </a:xfrm>
        </p:spPr>
        <p:txBody>
          <a:bodyPr anchor="b">
            <a:normAutofit/>
          </a:bodyPr>
          <a:lstStyle/>
          <a:p>
            <a:r>
              <a:rPr lang="en-GB" sz="5000" b="1"/>
              <a:t>Linear Variable Differential Transformer</a:t>
            </a:r>
          </a:p>
        </p:txBody>
      </p:sp>
      <p:sp>
        <p:nvSpPr>
          <p:cNvPr id="43"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62FD1B44-9760-B004-EF98-E85A9BE76561}"/>
              </a:ext>
            </a:extLst>
          </p:cNvPr>
          <p:cNvSpPr>
            <a:spLocks noGrp="1"/>
          </p:cNvSpPr>
          <p:nvPr>
            <p:ph type="sldNum" sz="quarter" idx="12"/>
          </p:nvPr>
        </p:nvSpPr>
        <p:spPr>
          <a:xfrm>
            <a:off x="8610600" y="6356350"/>
            <a:ext cx="2743200" cy="365125"/>
          </a:xfrm>
        </p:spPr>
        <p:txBody>
          <a:bodyPr>
            <a:normAutofit/>
          </a:bodyPr>
          <a:lstStyle/>
          <a:p>
            <a:pPr marL="0" marR="0" lvl="0" indent="0" defTabSz="914400" rtl="0" eaLnBrk="1" fontAlgn="auto" latinLnBrk="0" hangingPunct="1">
              <a:spcBef>
                <a:spcPts val="0"/>
              </a:spcBef>
              <a:spcAft>
                <a:spcPts val="600"/>
              </a:spcAft>
              <a:buClrTx/>
              <a:buSzTx/>
              <a:buFontTx/>
              <a:buNone/>
              <a:tabLst/>
              <a:defRPr/>
            </a:pPr>
            <a:fld id="{1ED87AFC-F3F3-4E09-A9D9-1873FFB55ECB}" type="slidenum">
              <a:rPr kumimoji="0" lang="en-GB" b="0" i="0" u="none" strike="noStrike" kern="1200" cap="none" spc="0" normalizeH="0" baseline="0" noProof="0" smtClean="0">
                <a:ln>
                  <a:noFill/>
                </a:ln>
                <a:effectLst/>
                <a:uLnTx/>
                <a:uFillTx/>
                <a:latin typeface="Century Gothic" panose="020B0502020202020204"/>
                <a:ea typeface="+mn-ea"/>
                <a:cs typeface="+mn-cs"/>
              </a:rPr>
              <a:pPr marL="0" marR="0" lvl="0" indent="0" defTabSz="914400" rtl="0" eaLnBrk="1" fontAlgn="auto" latinLnBrk="0" hangingPunct="1">
                <a:spcBef>
                  <a:spcPts val="0"/>
                </a:spcBef>
                <a:spcAft>
                  <a:spcPts val="600"/>
                </a:spcAft>
                <a:buClrTx/>
                <a:buSzTx/>
                <a:buFontTx/>
                <a:buNone/>
                <a:tabLst/>
                <a:defRPr/>
              </a:pPr>
              <a:t>39</a:t>
            </a:fld>
            <a:endParaRPr kumimoji="0" lang="en-GB" b="0" i="0" u="none" strike="noStrike" kern="1200" cap="none" spc="0" normalizeH="0" baseline="0" noProof="0">
              <a:ln>
                <a:noFill/>
              </a:ln>
              <a:effectLst/>
              <a:uLnTx/>
              <a:uFillTx/>
              <a:latin typeface="Century Gothic" panose="020B0502020202020204"/>
              <a:ea typeface="+mn-ea"/>
              <a:cs typeface="+mn-cs"/>
            </a:endParaRPr>
          </a:p>
        </p:txBody>
      </p:sp>
      <p:pic>
        <p:nvPicPr>
          <p:cNvPr id="3" name="Picture 166_0">
            <a:extLst>
              <a:ext uri="{FF2B5EF4-FFF2-40B4-BE49-F238E27FC236}">
                <a16:creationId xmlns:a16="http://schemas.microsoft.com/office/drawing/2014/main" id="{0546AD18-6F5A-53BD-18B1-3C8B2973FA48}"/>
              </a:ext>
            </a:extLst>
          </p:cNvPr>
          <p:cNvPicPr>
            <a:picLocks noGrp="1"/>
          </p:cNvPicPr>
          <p:nvPr>
            <p:ph idx="1"/>
          </p:nvPr>
        </p:nvPicPr>
        <p:blipFill>
          <a:blip r:embed="rId2"/>
          <a:stretch/>
        </p:blipFill>
        <p:spPr>
          <a:xfrm>
            <a:off x="3260994" y="1731180"/>
            <a:ext cx="5673588" cy="5095472"/>
          </a:xfrm>
          <a:prstGeom prst="rect">
            <a:avLst/>
          </a:prstGeom>
          <a:ln w="0">
            <a:noFill/>
          </a:ln>
        </p:spPr>
      </p:pic>
    </p:spTree>
    <p:extLst>
      <p:ext uri="{BB962C8B-B14F-4D97-AF65-F5344CB8AC3E}">
        <p14:creationId xmlns:p14="http://schemas.microsoft.com/office/powerpoint/2010/main" val="45159777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a:xfrm>
            <a:off x="572493" y="238539"/>
            <a:ext cx="11018520" cy="1434415"/>
          </a:xfrm>
        </p:spPr>
        <p:txBody>
          <a:bodyPr anchor="b">
            <a:normAutofit/>
          </a:bodyPr>
          <a:lstStyle/>
          <a:p>
            <a:r>
              <a:rPr lang="en-GB" sz="5000" b="1"/>
              <a:t>Linear Variable Differential Transformer</a:t>
            </a:r>
          </a:p>
        </p:txBody>
      </p:sp>
      <p:sp>
        <p:nvSpPr>
          <p:cNvPr id="14"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ontent Placeholder 5">
            <a:extLst>
              <a:ext uri="{FF2B5EF4-FFF2-40B4-BE49-F238E27FC236}">
                <a16:creationId xmlns:a16="http://schemas.microsoft.com/office/drawing/2014/main" id="{2CAE4BAB-2A08-E1F5-9F9C-D8289C4E300D}"/>
              </a:ext>
            </a:extLst>
          </p:cNvPr>
          <p:cNvSpPr>
            <a:spLocks noGrp="1"/>
          </p:cNvSpPr>
          <p:nvPr>
            <p:ph idx="1"/>
          </p:nvPr>
        </p:nvSpPr>
        <p:spPr>
          <a:xfrm>
            <a:off x="572493" y="2071316"/>
            <a:ext cx="10972800" cy="2711355"/>
          </a:xfrm>
        </p:spPr>
        <p:txBody>
          <a:bodyPr anchor="t">
            <a:normAutofit/>
          </a:bodyPr>
          <a:lstStyle/>
          <a:p>
            <a:r>
              <a:rPr lang="en-GB" sz="2200" dirty="0"/>
              <a:t>With this type of output the same output voltage amplitude is produced for two different displacements</a:t>
            </a:r>
          </a:p>
          <a:p>
            <a:r>
              <a:rPr lang="en-GB" sz="2200" dirty="0"/>
              <a:t>To distinguish between displacements, we need to distinguish them using the phase of their output voltage</a:t>
            </a:r>
          </a:p>
          <a:p>
            <a:r>
              <a:rPr lang="en-GB" sz="2200" dirty="0"/>
              <a:t>A phase sensitive demodulator, with a low pass filter, is used to convert the output into </a:t>
            </a:r>
            <a:r>
              <a:rPr lang="en-GB" sz="2200" dirty="0" err="1"/>
              <a:t>d.c.</a:t>
            </a:r>
            <a:r>
              <a:rPr lang="en-GB" sz="2200" dirty="0"/>
              <a:t> voltage which gives a unique value for each displacement</a:t>
            </a:r>
          </a:p>
          <a:p>
            <a:endParaRPr lang="en-GB" sz="2200" dirty="0"/>
          </a:p>
        </p:txBody>
      </p:sp>
      <p:sp>
        <p:nvSpPr>
          <p:cNvPr id="4" name="Slide Number Placeholder 3">
            <a:extLst>
              <a:ext uri="{FF2B5EF4-FFF2-40B4-BE49-F238E27FC236}">
                <a16:creationId xmlns:a16="http://schemas.microsoft.com/office/drawing/2014/main" id="{62FD1B44-9760-B004-EF98-E85A9BE76561}"/>
              </a:ext>
            </a:extLst>
          </p:cNvPr>
          <p:cNvSpPr>
            <a:spLocks noGrp="1"/>
          </p:cNvSpPr>
          <p:nvPr>
            <p:ph type="sldNum" sz="quarter" idx="12"/>
          </p:nvPr>
        </p:nvSpPr>
        <p:spPr>
          <a:xfrm>
            <a:off x="8610600" y="6356350"/>
            <a:ext cx="2743200" cy="365125"/>
          </a:xfrm>
        </p:spPr>
        <p:txBody>
          <a:bodyPr>
            <a:normAutofit/>
          </a:bodyPr>
          <a:lstStyle/>
          <a:p>
            <a:pPr marL="0" marR="0" lvl="0" indent="0" defTabSz="914400" rtl="0" eaLnBrk="1" fontAlgn="auto" latinLnBrk="0" hangingPunct="1">
              <a:spcBef>
                <a:spcPts val="0"/>
              </a:spcBef>
              <a:spcAft>
                <a:spcPts val="600"/>
              </a:spcAft>
              <a:buClrTx/>
              <a:buSzTx/>
              <a:buFontTx/>
              <a:buNone/>
              <a:tabLst/>
              <a:defRPr/>
            </a:pPr>
            <a:fld id="{1ED87AFC-F3F3-4E09-A9D9-1873FFB55ECB}" type="slidenum">
              <a:rPr kumimoji="0" lang="en-GB" b="0" i="0" u="none" strike="noStrike" kern="1200" cap="none" spc="0" normalizeH="0" baseline="0" noProof="0" smtClean="0">
                <a:ln>
                  <a:noFill/>
                </a:ln>
                <a:effectLst/>
                <a:uLnTx/>
                <a:uFillTx/>
                <a:latin typeface="Century Gothic" panose="020B0502020202020204"/>
                <a:ea typeface="+mn-ea"/>
                <a:cs typeface="+mn-cs"/>
              </a:rPr>
              <a:pPr marL="0" marR="0" lvl="0" indent="0" defTabSz="914400" rtl="0" eaLnBrk="1" fontAlgn="auto" latinLnBrk="0" hangingPunct="1">
                <a:spcBef>
                  <a:spcPts val="0"/>
                </a:spcBef>
                <a:spcAft>
                  <a:spcPts val="600"/>
                </a:spcAft>
                <a:buClrTx/>
                <a:buSzTx/>
                <a:buFontTx/>
                <a:buNone/>
                <a:tabLst/>
                <a:defRPr/>
              </a:pPr>
              <a:t>40</a:t>
            </a:fld>
            <a:endParaRPr kumimoji="0" lang="en-GB" b="0" i="0" u="none" strike="noStrike" kern="1200" cap="none" spc="0" normalizeH="0" baseline="0" noProof="0">
              <a:ln>
                <a:noFill/>
              </a:ln>
              <a:effectLst/>
              <a:uLnTx/>
              <a:uFillTx/>
              <a:latin typeface="Century Gothic" panose="020B0502020202020204"/>
              <a:ea typeface="+mn-ea"/>
              <a:cs typeface="+mn-cs"/>
            </a:endParaRPr>
          </a:p>
        </p:txBody>
      </p:sp>
      <p:pic>
        <p:nvPicPr>
          <p:cNvPr id="3" name="Picture 173_0">
            <a:extLst>
              <a:ext uri="{FF2B5EF4-FFF2-40B4-BE49-F238E27FC236}">
                <a16:creationId xmlns:a16="http://schemas.microsoft.com/office/drawing/2014/main" id="{FDF0809F-4681-723B-DEB2-8DA1BB9AB792}"/>
              </a:ext>
            </a:extLst>
          </p:cNvPr>
          <p:cNvPicPr/>
          <p:nvPr/>
        </p:nvPicPr>
        <p:blipFill>
          <a:blip r:embed="rId2"/>
          <a:stretch/>
        </p:blipFill>
        <p:spPr>
          <a:xfrm>
            <a:off x="1248873" y="4887964"/>
            <a:ext cx="9620040" cy="1524229"/>
          </a:xfrm>
          <a:prstGeom prst="rect">
            <a:avLst/>
          </a:prstGeom>
          <a:ln w="0">
            <a:noFill/>
          </a:ln>
        </p:spPr>
      </p:pic>
    </p:spTree>
    <p:extLst>
      <p:ext uri="{BB962C8B-B14F-4D97-AF65-F5344CB8AC3E}">
        <p14:creationId xmlns:p14="http://schemas.microsoft.com/office/powerpoint/2010/main" val="189940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a:xfrm>
            <a:off x="838200" y="365125"/>
            <a:ext cx="10515600" cy="1325563"/>
          </a:xfrm>
        </p:spPr>
        <p:txBody>
          <a:bodyPr>
            <a:normAutofit/>
          </a:bodyPr>
          <a:lstStyle/>
          <a:p>
            <a:r>
              <a:rPr lang="en-GB" sz="4600" b="1"/>
              <a:t>Linear Variable Differential Transformer</a:t>
            </a:r>
          </a:p>
        </p:txBody>
      </p:sp>
      <p:sp>
        <p:nvSpPr>
          <p:cNvPr id="11"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0EC2D61B-0204-42F3-52E6-931A9496968D}"/>
              </a:ext>
            </a:extLst>
          </p:cNvPr>
          <p:cNvSpPr>
            <a:spLocks noGrp="1"/>
          </p:cNvSpPr>
          <p:nvPr>
            <p:ph idx="1"/>
          </p:nvPr>
        </p:nvSpPr>
        <p:spPr>
          <a:xfrm>
            <a:off x="838200" y="1929384"/>
            <a:ext cx="10515600" cy="4251960"/>
          </a:xfrm>
        </p:spPr>
        <p:txBody>
          <a:bodyPr>
            <a:normAutofit/>
          </a:bodyPr>
          <a:lstStyle/>
          <a:p>
            <a:r>
              <a:rPr lang="en-GB" sz="2200"/>
              <a:t>LVDTs are rugged devices compared to potentiometers and can be used as secondary sensors for the measurement of Force, Weight or Pressure.</a:t>
            </a:r>
          </a:p>
          <a:p>
            <a:r>
              <a:rPr lang="en-GB" sz="2200"/>
              <a:t>They have operating ranges between ±2 to ±400mm with non-linearity errors of around ±0.25%</a:t>
            </a:r>
          </a:p>
          <a:p>
            <a:r>
              <a:rPr lang="en-GB" sz="2200"/>
              <a:t>They are also very accurate, with accuracies from 0.5% to 0.05% typically, but require external support circuitry</a:t>
            </a:r>
          </a:p>
          <a:p>
            <a:r>
              <a:rPr lang="en-GB" sz="2200"/>
              <a:t>Resolution limited by presence of the null voltage (exact cancellation of secondary voltages not possible due to different phase shifts in the two windings).</a:t>
            </a:r>
          </a:p>
        </p:txBody>
      </p:sp>
      <p:sp>
        <p:nvSpPr>
          <p:cNvPr id="4" name="Slide Number Placeholder 3">
            <a:extLst>
              <a:ext uri="{FF2B5EF4-FFF2-40B4-BE49-F238E27FC236}">
                <a16:creationId xmlns:a16="http://schemas.microsoft.com/office/drawing/2014/main" id="{62FD1B44-9760-B004-EF98-E85A9BE76561}"/>
              </a:ext>
            </a:extLst>
          </p:cNvPr>
          <p:cNvSpPr>
            <a:spLocks noGrp="1"/>
          </p:cNvSpPr>
          <p:nvPr>
            <p:ph type="sldNum" sz="quarter" idx="12"/>
          </p:nvPr>
        </p:nvSpPr>
        <p:spPr>
          <a:xfrm>
            <a:off x="8610600" y="6356350"/>
            <a:ext cx="2743200" cy="365125"/>
          </a:xfrm>
        </p:spPr>
        <p:txBody>
          <a:bodyPr>
            <a:normAutofit/>
          </a:bodyPr>
          <a:lstStyle/>
          <a:p>
            <a:pPr marL="0" marR="0" lvl="0" indent="0" defTabSz="914400" rtl="0" eaLnBrk="1" fontAlgn="auto" latinLnBrk="0" hangingPunct="1">
              <a:spcBef>
                <a:spcPts val="0"/>
              </a:spcBef>
              <a:spcAft>
                <a:spcPts val="600"/>
              </a:spcAft>
              <a:buClrTx/>
              <a:buSzTx/>
              <a:buFontTx/>
              <a:buNone/>
              <a:tabLst/>
              <a:defRPr/>
            </a:pPr>
            <a:fld id="{1ED87AFC-F3F3-4E09-A9D9-1873FFB55ECB}" type="slidenum">
              <a:rPr kumimoji="0" lang="en-GB" b="0" i="0" u="none" strike="noStrike" kern="1200" cap="none" spc="0" normalizeH="0" baseline="0" noProof="0" smtClean="0">
                <a:ln>
                  <a:noFill/>
                </a:ln>
                <a:effectLst/>
                <a:uLnTx/>
                <a:uFillTx/>
                <a:latin typeface="Century Gothic" panose="020B0502020202020204"/>
                <a:ea typeface="+mn-ea"/>
                <a:cs typeface="+mn-cs"/>
              </a:rPr>
              <a:pPr marL="0" marR="0" lvl="0" indent="0" defTabSz="914400" rtl="0" eaLnBrk="1" fontAlgn="auto" latinLnBrk="0" hangingPunct="1">
                <a:spcBef>
                  <a:spcPts val="0"/>
                </a:spcBef>
                <a:spcAft>
                  <a:spcPts val="600"/>
                </a:spcAft>
                <a:buClrTx/>
                <a:buSzTx/>
                <a:buFontTx/>
                <a:buNone/>
                <a:tabLst/>
                <a:defRPr/>
              </a:pPr>
              <a:t>41</a:t>
            </a:fld>
            <a:endParaRPr kumimoji="0" lang="en-GB" b="0" i="0" u="none" strike="noStrike" kern="1200" cap="none" spc="0" normalizeH="0" baseline="0" noProof="0">
              <a:ln>
                <a:noFill/>
              </a:ln>
              <a:effectLst/>
              <a:uLnTx/>
              <a:uFillTx/>
              <a:latin typeface="Century Gothic" panose="020B0502020202020204"/>
              <a:ea typeface="+mn-ea"/>
              <a:cs typeface="+mn-cs"/>
            </a:endParaRPr>
          </a:p>
        </p:txBody>
      </p:sp>
    </p:spTree>
    <p:extLst>
      <p:ext uri="{BB962C8B-B14F-4D97-AF65-F5344CB8AC3E}">
        <p14:creationId xmlns:p14="http://schemas.microsoft.com/office/powerpoint/2010/main" val="31075217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EBF9413-A4D6-D837-05CF-A17DD0552FCB}"/>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8F9CBE3F-79A8-4F8F-88D9-DAD03D0D28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B047B13E-ACB2-AF1B-AB80-257A57E50506}"/>
              </a:ext>
            </a:extLst>
          </p:cNvPr>
          <p:cNvSpPr>
            <a:spLocks noGrp="1"/>
          </p:cNvSpPr>
          <p:nvPr>
            <p:ph type="title"/>
          </p:nvPr>
        </p:nvSpPr>
        <p:spPr>
          <a:xfrm>
            <a:off x="1522030" y="1209220"/>
            <a:ext cx="9147940" cy="2337238"/>
          </a:xfrm>
        </p:spPr>
        <p:txBody>
          <a:bodyPr vert="horz" lIns="91440" tIns="45720" rIns="91440" bIns="45720" rtlCol="0" anchor="b">
            <a:normAutofit/>
          </a:bodyPr>
          <a:lstStyle/>
          <a:p>
            <a:pPr algn="ctr"/>
            <a:r>
              <a:rPr lang="en-US" sz="5600" b="1" kern="1200" dirty="0">
                <a:solidFill>
                  <a:srgbClr val="FFFFFF"/>
                </a:solidFill>
                <a:latin typeface="+mj-lt"/>
                <a:ea typeface="+mj-ea"/>
                <a:cs typeface="+mj-cs"/>
              </a:rPr>
              <a:t>Resolver</a:t>
            </a:r>
          </a:p>
        </p:txBody>
      </p:sp>
      <p:sp>
        <p:nvSpPr>
          <p:cNvPr id="3" name="Subtitle 2">
            <a:extLst>
              <a:ext uri="{FF2B5EF4-FFF2-40B4-BE49-F238E27FC236}">
                <a16:creationId xmlns:a16="http://schemas.microsoft.com/office/drawing/2014/main" id="{75236399-0327-243F-80BE-987BA05348A8}"/>
              </a:ext>
            </a:extLst>
          </p:cNvPr>
          <p:cNvSpPr>
            <a:spLocks noGrp="1"/>
          </p:cNvSpPr>
          <p:nvPr>
            <p:ph type="body" idx="1"/>
          </p:nvPr>
        </p:nvSpPr>
        <p:spPr>
          <a:xfrm>
            <a:off x="1522030" y="3605577"/>
            <a:ext cx="9147940" cy="1324303"/>
          </a:xfrm>
        </p:spPr>
        <p:txBody>
          <a:bodyPr vert="horz" lIns="91440" tIns="45720" rIns="91440" bIns="45720" rtlCol="0" anchor="t">
            <a:normAutofit/>
          </a:bodyPr>
          <a:lstStyle/>
          <a:p>
            <a:pPr algn="ctr"/>
            <a:endParaRPr lang="en-US" sz="2000" kern="1200" dirty="0">
              <a:solidFill>
                <a:srgbClr val="FFFFFF"/>
              </a:solidFill>
              <a:latin typeface="+mn-lt"/>
              <a:ea typeface="+mn-ea"/>
              <a:cs typeface="+mn-cs"/>
            </a:endParaRPr>
          </a:p>
          <a:p>
            <a:pPr algn="ctr"/>
            <a:endParaRPr lang="en-US" sz="2000" kern="1200" dirty="0">
              <a:solidFill>
                <a:srgbClr val="FFFFFF"/>
              </a:solidFill>
              <a:latin typeface="+mn-lt"/>
              <a:ea typeface="+mn-ea"/>
              <a:cs typeface="+mn-cs"/>
            </a:endParaRPr>
          </a:p>
        </p:txBody>
      </p:sp>
      <p:sp>
        <p:nvSpPr>
          <p:cNvPr id="7" name="Graphic 22">
            <a:extLst>
              <a:ext uri="{FF2B5EF4-FFF2-40B4-BE49-F238E27FC236}">
                <a16:creationId xmlns:a16="http://schemas.microsoft.com/office/drawing/2014/main" id="{508BEF50-7B1E-49A4-BC19-5F4F1D755E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1869" y="2383077"/>
            <a:ext cx="151536" cy="151536"/>
          </a:xfrm>
          <a:custGeom>
            <a:avLst/>
            <a:gdLst>
              <a:gd name="connsiteX0" fmla="*/ 141251 w 151536"/>
              <a:gd name="connsiteY0" fmla="*/ 65483 h 151536"/>
              <a:gd name="connsiteX1" fmla="*/ 86053 w 151536"/>
              <a:gd name="connsiteY1" fmla="*/ 65483 h 151536"/>
              <a:gd name="connsiteX2" fmla="*/ 86053 w 151536"/>
              <a:gd name="connsiteY2" fmla="*/ 10285 h 151536"/>
              <a:gd name="connsiteX3" fmla="*/ 75768 w 151536"/>
              <a:gd name="connsiteY3" fmla="*/ 0 h 151536"/>
              <a:gd name="connsiteX4" fmla="*/ 65483 w 151536"/>
              <a:gd name="connsiteY4" fmla="*/ 10285 h 151536"/>
              <a:gd name="connsiteX5" fmla="*/ 65483 w 151536"/>
              <a:gd name="connsiteY5" fmla="*/ 65483 h 151536"/>
              <a:gd name="connsiteX6" fmla="*/ 10285 w 151536"/>
              <a:gd name="connsiteY6" fmla="*/ 65483 h 151536"/>
              <a:gd name="connsiteX7" fmla="*/ 0 w 151536"/>
              <a:gd name="connsiteY7" fmla="*/ 75768 h 151536"/>
              <a:gd name="connsiteX8" fmla="*/ 10285 w 151536"/>
              <a:gd name="connsiteY8" fmla="*/ 86053 h 151536"/>
              <a:gd name="connsiteX9" fmla="*/ 65483 w 151536"/>
              <a:gd name="connsiteY9" fmla="*/ 86053 h 151536"/>
              <a:gd name="connsiteX10" fmla="*/ 65483 w 151536"/>
              <a:gd name="connsiteY10" fmla="*/ 141251 h 151536"/>
              <a:gd name="connsiteX11" fmla="*/ 75768 w 151536"/>
              <a:gd name="connsiteY11" fmla="*/ 151536 h 151536"/>
              <a:gd name="connsiteX12" fmla="*/ 86053 w 151536"/>
              <a:gd name="connsiteY12" fmla="*/ 141251 h 151536"/>
              <a:gd name="connsiteX13" fmla="*/ 86053 w 151536"/>
              <a:gd name="connsiteY13" fmla="*/ 86053 h 151536"/>
              <a:gd name="connsiteX14" fmla="*/ 141251 w 151536"/>
              <a:gd name="connsiteY14" fmla="*/ 86053 h 151536"/>
              <a:gd name="connsiteX15" fmla="*/ 151536 w 151536"/>
              <a:gd name="connsiteY15" fmla="*/ 75768 h 151536"/>
              <a:gd name="connsiteX16" fmla="*/ 141251 w 151536"/>
              <a:gd name="connsiteY16" fmla="*/ 65483 h 15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536" h="151536">
                <a:moveTo>
                  <a:pt x="141251" y="65483"/>
                </a:moveTo>
                <a:lnTo>
                  <a:pt x="86053" y="65483"/>
                </a:lnTo>
                <a:lnTo>
                  <a:pt x="86053" y="10285"/>
                </a:lnTo>
                <a:cubicBezTo>
                  <a:pt x="86053" y="4605"/>
                  <a:pt x="81448" y="0"/>
                  <a:pt x="75768" y="0"/>
                </a:cubicBezTo>
                <a:cubicBezTo>
                  <a:pt x="70088" y="0"/>
                  <a:pt x="65483" y="4605"/>
                  <a:pt x="65483" y="10285"/>
                </a:cubicBezTo>
                <a:lnTo>
                  <a:pt x="65483" y="65483"/>
                </a:lnTo>
                <a:lnTo>
                  <a:pt x="10285" y="65483"/>
                </a:lnTo>
                <a:cubicBezTo>
                  <a:pt x="4605" y="65483"/>
                  <a:pt x="0" y="70088"/>
                  <a:pt x="0" y="75768"/>
                </a:cubicBezTo>
                <a:cubicBezTo>
                  <a:pt x="0" y="81448"/>
                  <a:pt x="4605" y="86053"/>
                  <a:pt x="10285" y="86053"/>
                </a:cubicBezTo>
                <a:lnTo>
                  <a:pt x="65483" y="86053"/>
                </a:lnTo>
                <a:lnTo>
                  <a:pt x="65483" y="141251"/>
                </a:lnTo>
                <a:cubicBezTo>
                  <a:pt x="65483" y="146931"/>
                  <a:pt x="70088" y="151536"/>
                  <a:pt x="75768" y="151536"/>
                </a:cubicBezTo>
                <a:cubicBezTo>
                  <a:pt x="81448" y="151536"/>
                  <a:pt x="86053" y="146931"/>
                  <a:pt x="86053" y="141251"/>
                </a:cubicBezTo>
                <a:lnTo>
                  <a:pt x="86053" y="86053"/>
                </a:lnTo>
                <a:lnTo>
                  <a:pt x="141251" y="86053"/>
                </a:lnTo>
                <a:cubicBezTo>
                  <a:pt x="146931" y="86053"/>
                  <a:pt x="151536" y="81448"/>
                  <a:pt x="151536" y="75768"/>
                </a:cubicBezTo>
                <a:cubicBezTo>
                  <a:pt x="151536" y="70088"/>
                  <a:pt x="146931" y="65483"/>
                  <a:pt x="141251" y="65483"/>
                </a:cubicBezTo>
                <a:close/>
              </a:path>
            </a:pathLst>
          </a:custGeom>
          <a:solidFill>
            <a:srgbClr val="FFFFFF"/>
          </a:solidFill>
          <a:ln w="646" cap="flat">
            <a:noFill/>
            <a:prstDash val="solid"/>
            <a:miter/>
          </a:ln>
        </p:spPr>
        <p:txBody>
          <a:bodyPr rtlCol="0" anchor="ctr"/>
          <a:lstStyle/>
          <a:p>
            <a:endParaRPr lang="en-US">
              <a:solidFill>
                <a:srgbClr val="FFFFFF"/>
              </a:solidFill>
            </a:endParaRPr>
          </a:p>
        </p:txBody>
      </p:sp>
      <p:sp>
        <p:nvSpPr>
          <p:cNvPr id="8"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724364" y="2265467"/>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endParaRPr lang="en-US">
              <a:solidFill>
                <a:srgbClr val="FFFFFF"/>
              </a:solidFill>
            </a:endParaRPr>
          </a:p>
        </p:txBody>
      </p:sp>
      <p:sp>
        <p:nvSpPr>
          <p:cNvPr id="10"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24834" y="2537201"/>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endParaRPr lang="en-US">
              <a:solidFill>
                <a:srgbClr val="FFFFFF"/>
              </a:solidFill>
            </a:endParaRPr>
          </a:p>
        </p:txBody>
      </p:sp>
      <p:sp>
        <p:nvSpPr>
          <p:cNvPr id="12" name="Graphic 21">
            <a:extLst>
              <a:ext uri="{FF2B5EF4-FFF2-40B4-BE49-F238E27FC236}">
                <a16:creationId xmlns:a16="http://schemas.microsoft.com/office/drawing/2014/main" id="{C39ADB8F-D187-49D7-BDCF-C1B6DC7270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4053" y="2832967"/>
            <a:ext cx="95759" cy="95759"/>
          </a:xfrm>
          <a:custGeom>
            <a:avLst/>
            <a:gdLst>
              <a:gd name="connsiteX0" fmla="*/ 95759 w 95759"/>
              <a:gd name="connsiteY0" fmla="*/ 47880 h 95759"/>
              <a:gd name="connsiteX1" fmla="*/ 47880 w 95759"/>
              <a:gd name="connsiteY1" fmla="*/ 95759 h 95759"/>
              <a:gd name="connsiteX2" fmla="*/ 0 w 95759"/>
              <a:gd name="connsiteY2" fmla="*/ 47880 h 95759"/>
              <a:gd name="connsiteX3" fmla="*/ 47880 w 95759"/>
              <a:gd name="connsiteY3" fmla="*/ 0 h 95759"/>
              <a:gd name="connsiteX4" fmla="*/ 95759 w 95759"/>
              <a:gd name="connsiteY4" fmla="*/ 47880 h 95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59" h="95759">
                <a:moveTo>
                  <a:pt x="95759" y="47880"/>
                </a:moveTo>
                <a:cubicBezTo>
                  <a:pt x="95759" y="74323"/>
                  <a:pt x="74323" y="95759"/>
                  <a:pt x="47880" y="95759"/>
                </a:cubicBezTo>
                <a:cubicBezTo>
                  <a:pt x="21436" y="95759"/>
                  <a:pt x="0" y="74323"/>
                  <a:pt x="0" y="47880"/>
                </a:cubicBezTo>
                <a:cubicBezTo>
                  <a:pt x="0" y="21436"/>
                  <a:pt x="21436" y="0"/>
                  <a:pt x="47880" y="0"/>
                </a:cubicBezTo>
                <a:cubicBezTo>
                  <a:pt x="74323" y="0"/>
                  <a:pt x="95759" y="21436"/>
                  <a:pt x="95759" y="47880"/>
                </a:cubicBezTo>
                <a:close/>
              </a:path>
            </a:pathLst>
          </a:custGeom>
          <a:solidFill>
            <a:srgbClr val="FFFFFF"/>
          </a:solidFill>
          <a:ln w="469" cap="flat">
            <a:noFill/>
            <a:prstDash val="solid"/>
            <a:miter/>
          </a:ln>
        </p:spPr>
        <p:txBody>
          <a:bodyPr rtlCol="0" anchor="ctr"/>
          <a:lstStyle/>
          <a:p>
            <a:endParaRPr lang="en-US">
              <a:solidFill>
                <a:srgbClr val="FFFFFF"/>
              </a:solidFill>
            </a:endParaRPr>
          </a:p>
        </p:txBody>
      </p:sp>
      <p:sp>
        <p:nvSpPr>
          <p:cNvPr id="14"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772266" y="2803988"/>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endParaRPr lang="en-US">
              <a:solidFill>
                <a:srgbClr val="FFFFFF"/>
              </a:solidFill>
            </a:endParaRPr>
          </a:p>
        </p:txBody>
      </p:sp>
      <p:sp>
        <p:nvSpPr>
          <p:cNvPr id="16" name="Graphic 23">
            <a:extLst>
              <a:ext uri="{FF2B5EF4-FFF2-40B4-BE49-F238E27FC236}">
                <a16:creationId xmlns:a16="http://schemas.microsoft.com/office/drawing/2014/main" id="{3FBAD350-5664-4811-A208-657FB882D3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13405" y="3242499"/>
            <a:ext cx="108625" cy="108625"/>
          </a:xfrm>
          <a:custGeom>
            <a:avLst/>
            <a:gdLst>
              <a:gd name="connsiteX0" fmla="*/ 54313 w 108625"/>
              <a:gd name="connsiteY0" fmla="*/ 16053 h 108625"/>
              <a:gd name="connsiteX1" fmla="*/ 92572 w 108625"/>
              <a:gd name="connsiteY1" fmla="*/ 54313 h 108625"/>
              <a:gd name="connsiteX2" fmla="*/ 54313 w 108625"/>
              <a:gd name="connsiteY2" fmla="*/ 92572 h 108625"/>
              <a:gd name="connsiteX3" fmla="*/ 16053 w 108625"/>
              <a:gd name="connsiteY3" fmla="*/ 54313 h 108625"/>
              <a:gd name="connsiteX4" fmla="*/ 54313 w 108625"/>
              <a:gd name="connsiteY4" fmla="*/ 16053 h 108625"/>
              <a:gd name="connsiteX5" fmla="*/ 54313 w 108625"/>
              <a:gd name="connsiteY5" fmla="*/ 0 h 108625"/>
              <a:gd name="connsiteX6" fmla="*/ 0 w 108625"/>
              <a:gd name="connsiteY6" fmla="*/ 54313 h 108625"/>
              <a:gd name="connsiteX7" fmla="*/ 54313 w 108625"/>
              <a:gd name="connsiteY7" fmla="*/ 108625 h 108625"/>
              <a:gd name="connsiteX8" fmla="*/ 108625 w 108625"/>
              <a:gd name="connsiteY8" fmla="*/ 54313 h 108625"/>
              <a:gd name="connsiteX9" fmla="*/ 54313 w 108625"/>
              <a:gd name="connsiteY9" fmla="*/ 0 h 10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625" h="108625">
                <a:moveTo>
                  <a:pt x="54313" y="16053"/>
                </a:moveTo>
                <a:cubicBezTo>
                  <a:pt x="75442" y="16053"/>
                  <a:pt x="92572" y="33182"/>
                  <a:pt x="92572" y="54313"/>
                </a:cubicBezTo>
                <a:cubicBezTo>
                  <a:pt x="92572" y="75442"/>
                  <a:pt x="75442" y="92572"/>
                  <a:pt x="54313" y="92572"/>
                </a:cubicBezTo>
                <a:cubicBezTo>
                  <a:pt x="33182" y="92572"/>
                  <a:pt x="16053" y="75442"/>
                  <a:pt x="16053" y="54313"/>
                </a:cubicBezTo>
                <a:cubicBezTo>
                  <a:pt x="16074" y="33191"/>
                  <a:pt x="33191" y="16074"/>
                  <a:pt x="54313" y="16053"/>
                </a:cubicBezTo>
                <a:moveTo>
                  <a:pt x="54313" y="0"/>
                </a:moveTo>
                <a:cubicBezTo>
                  <a:pt x="24317" y="0"/>
                  <a:pt x="0" y="24317"/>
                  <a:pt x="0" y="54313"/>
                </a:cubicBezTo>
                <a:cubicBezTo>
                  <a:pt x="0" y="84309"/>
                  <a:pt x="24317" y="108625"/>
                  <a:pt x="54313" y="108625"/>
                </a:cubicBezTo>
                <a:cubicBezTo>
                  <a:pt x="84309" y="108625"/>
                  <a:pt x="108625" y="84309"/>
                  <a:pt x="108625" y="54313"/>
                </a:cubicBezTo>
                <a:cubicBezTo>
                  <a:pt x="108625" y="24317"/>
                  <a:pt x="84309" y="0"/>
                  <a:pt x="54313" y="0"/>
                </a:cubicBezTo>
                <a:close/>
              </a:path>
            </a:pathLst>
          </a:custGeom>
          <a:solidFill>
            <a:srgbClr val="FFFFFF"/>
          </a:solidFill>
          <a:ln w="516" cap="flat">
            <a:noFill/>
            <a:prstDash val="solid"/>
            <a:miter/>
          </a:ln>
        </p:spPr>
        <p:txBody>
          <a:bodyPr rtlCol="0" anchor="ctr"/>
          <a:lstStyle/>
          <a:p>
            <a:endParaRPr lang="en-US">
              <a:solidFill>
                <a:srgbClr val="FFFFFF"/>
              </a:solidFill>
            </a:endParaRPr>
          </a:p>
        </p:txBody>
      </p:sp>
      <p:cxnSp>
        <p:nvCxnSpPr>
          <p:cNvPr id="18" name="Straight Connector 17">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5831729"/>
            <a:ext cx="12188952" cy="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
        <p:nvSpPr>
          <p:cNvPr id="4" name="Slide Number Placeholder 3">
            <a:extLst>
              <a:ext uri="{FF2B5EF4-FFF2-40B4-BE49-F238E27FC236}">
                <a16:creationId xmlns:a16="http://schemas.microsoft.com/office/drawing/2014/main" id="{CF027DBF-394D-8083-DE5C-E59B6D5E561A}"/>
              </a:ext>
            </a:extLst>
          </p:cNvPr>
          <p:cNvSpPr>
            <a:spLocks noGrp="1"/>
          </p:cNvSpPr>
          <p:nvPr>
            <p:ph type="sldNum" sz="quarter" idx="12"/>
          </p:nvPr>
        </p:nvSpPr>
        <p:spPr>
          <a:xfrm>
            <a:off x="8610600" y="6133916"/>
            <a:ext cx="2743200" cy="365125"/>
          </a:xfrm>
        </p:spPr>
        <p:txBody>
          <a:bodyPr vert="horz" lIns="91440" tIns="45720" rIns="91440" bIns="45720" rtlCol="0" anchor="ctr">
            <a:normAutofit/>
          </a:bodyPr>
          <a:lstStyle/>
          <a:p>
            <a:pPr marR="0" lvl="0" indent="0" fontAlgn="auto">
              <a:spcBef>
                <a:spcPts val="0"/>
              </a:spcBef>
              <a:spcAft>
                <a:spcPts val="600"/>
              </a:spcAft>
              <a:buClrTx/>
              <a:buSzTx/>
              <a:buFontTx/>
              <a:buNone/>
              <a:tabLst/>
              <a:defRPr/>
            </a:pPr>
            <a:fld id="{1ED87AFC-F3F3-4E09-A9D9-1873FFB55ECB}" type="slidenum">
              <a:rPr kumimoji="0" lang="en-US" b="1" i="0" u="none" strike="noStrike" cap="none" spc="0" normalizeH="0" baseline="0" noProof="0">
                <a:ln>
                  <a:noFill/>
                </a:ln>
                <a:solidFill>
                  <a:srgbClr val="FFFFFF"/>
                </a:solidFill>
                <a:effectLst/>
                <a:uLnTx/>
                <a:uFillTx/>
              </a:rPr>
              <a:pPr marR="0" lvl="0" indent="0" fontAlgn="auto">
                <a:spcBef>
                  <a:spcPts val="0"/>
                </a:spcBef>
                <a:spcAft>
                  <a:spcPts val="600"/>
                </a:spcAft>
                <a:buClrTx/>
                <a:buSzTx/>
                <a:buFontTx/>
                <a:buNone/>
                <a:tabLst/>
                <a:defRPr/>
              </a:pPr>
              <a:t>42</a:t>
            </a:fld>
            <a:endParaRPr kumimoji="0" lang="en-US" b="1" i="0" u="none" strike="noStrike" cap="none" spc="0" normalizeH="0" baseline="0" noProof="0">
              <a:ln>
                <a:noFill/>
              </a:ln>
              <a:solidFill>
                <a:srgbClr val="FFFFFF"/>
              </a:solidFill>
              <a:effectLst/>
              <a:uLnTx/>
              <a:uFillTx/>
            </a:endParaRPr>
          </a:p>
        </p:txBody>
      </p:sp>
    </p:spTree>
    <p:extLst>
      <p:ext uri="{BB962C8B-B14F-4D97-AF65-F5344CB8AC3E}">
        <p14:creationId xmlns:p14="http://schemas.microsoft.com/office/powerpoint/2010/main" val="224397138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a:xfrm>
            <a:off x="838200" y="365125"/>
            <a:ext cx="10515600" cy="1325563"/>
          </a:xfrm>
        </p:spPr>
        <p:txBody>
          <a:bodyPr>
            <a:normAutofit/>
          </a:bodyPr>
          <a:lstStyle/>
          <a:p>
            <a:r>
              <a:rPr lang="en-GB" sz="5400" b="1"/>
              <a:t>Resolvers</a:t>
            </a:r>
          </a:p>
        </p:txBody>
      </p:sp>
      <p:sp>
        <p:nvSpPr>
          <p:cNvPr id="11"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0EC2D61B-0204-42F3-52E6-931A9496968D}"/>
              </a:ext>
            </a:extLst>
          </p:cNvPr>
          <p:cNvSpPr>
            <a:spLocks noGrp="1"/>
          </p:cNvSpPr>
          <p:nvPr>
            <p:ph idx="1"/>
          </p:nvPr>
        </p:nvSpPr>
        <p:spPr>
          <a:xfrm>
            <a:off x="838200" y="1929384"/>
            <a:ext cx="10515600" cy="4251960"/>
          </a:xfrm>
        </p:spPr>
        <p:txBody>
          <a:bodyPr>
            <a:normAutofit/>
          </a:bodyPr>
          <a:lstStyle/>
          <a:p>
            <a:r>
              <a:rPr lang="en-GB" sz="2200" dirty="0"/>
              <a:t>Resolvers are like LVDTs in principle but are used to measure angular motion</a:t>
            </a:r>
          </a:p>
          <a:p>
            <a:r>
              <a:rPr lang="en-GB" sz="2200" dirty="0"/>
              <a:t>A resolver is also a transformer where the primary coil is attached to the rotating shaft and carries an alternating current, either through slip rings or from a brush-less transformer within it</a:t>
            </a:r>
          </a:p>
          <a:p>
            <a:r>
              <a:rPr lang="en-GB" sz="2200" dirty="0"/>
              <a:t>There are two secondary coils positioned 90° apart from each other</a:t>
            </a:r>
          </a:p>
          <a:p>
            <a:r>
              <a:rPr lang="en-GB" sz="2200" dirty="0"/>
              <a:t>As the rotor rotates the flux it develops rotates with it</a:t>
            </a:r>
          </a:p>
        </p:txBody>
      </p:sp>
      <p:sp>
        <p:nvSpPr>
          <p:cNvPr id="4" name="Slide Number Placeholder 3">
            <a:extLst>
              <a:ext uri="{FF2B5EF4-FFF2-40B4-BE49-F238E27FC236}">
                <a16:creationId xmlns:a16="http://schemas.microsoft.com/office/drawing/2014/main" id="{62FD1B44-9760-B004-EF98-E85A9BE76561}"/>
              </a:ext>
            </a:extLst>
          </p:cNvPr>
          <p:cNvSpPr>
            <a:spLocks noGrp="1"/>
          </p:cNvSpPr>
          <p:nvPr>
            <p:ph type="sldNum" sz="quarter" idx="12"/>
          </p:nvPr>
        </p:nvSpPr>
        <p:spPr>
          <a:xfrm>
            <a:off x="8610600" y="6356350"/>
            <a:ext cx="2743200" cy="365125"/>
          </a:xfrm>
        </p:spPr>
        <p:txBody>
          <a:bodyPr>
            <a:normAutofit/>
          </a:bodyPr>
          <a:lstStyle/>
          <a:p>
            <a:pPr marL="0" marR="0" lvl="0" indent="0" defTabSz="914400" rtl="0" eaLnBrk="1" fontAlgn="auto" latinLnBrk="0" hangingPunct="1">
              <a:spcBef>
                <a:spcPts val="0"/>
              </a:spcBef>
              <a:spcAft>
                <a:spcPts val="600"/>
              </a:spcAft>
              <a:buClrTx/>
              <a:buSzTx/>
              <a:buFontTx/>
              <a:buNone/>
              <a:tabLst/>
              <a:defRPr/>
            </a:pPr>
            <a:fld id="{1ED87AFC-F3F3-4E09-A9D9-1873FFB55ECB}" type="slidenum">
              <a:rPr kumimoji="0" lang="en-GB" b="0" i="0" u="none" strike="noStrike" kern="1200" cap="none" spc="0" normalizeH="0" baseline="0" noProof="0" smtClean="0">
                <a:ln>
                  <a:noFill/>
                </a:ln>
                <a:effectLst/>
                <a:uLnTx/>
                <a:uFillTx/>
                <a:latin typeface="Century Gothic" panose="020B0502020202020204"/>
                <a:ea typeface="+mn-ea"/>
                <a:cs typeface="+mn-cs"/>
              </a:rPr>
              <a:pPr marL="0" marR="0" lvl="0" indent="0" defTabSz="914400" rtl="0" eaLnBrk="1" fontAlgn="auto" latinLnBrk="0" hangingPunct="1">
                <a:spcBef>
                  <a:spcPts val="0"/>
                </a:spcBef>
                <a:spcAft>
                  <a:spcPts val="600"/>
                </a:spcAft>
                <a:buClrTx/>
                <a:buSzTx/>
                <a:buFontTx/>
                <a:buNone/>
                <a:tabLst/>
                <a:defRPr/>
              </a:pPr>
              <a:t>43</a:t>
            </a:fld>
            <a:endParaRPr kumimoji="0" lang="en-GB" b="0" i="0" u="none" strike="noStrike" kern="1200" cap="none" spc="0" normalizeH="0" baseline="0" noProof="0">
              <a:ln>
                <a:noFill/>
              </a:ln>
              <a:effectLst/>
              <a:uLnTx/>
              <a:uFillTx/>
              <a:latin typeface="Century Gothic" panose="020B0502020202020204"/>
              <a:ea typeface="+mn-ea"/>
              <a:cs typeface="+mn-cs"/>
            </a:endParaRPr>
          </a:p>
        </p:txBody>
      </p:sp>
      <p:pic>
        <p:nvPicPr>
          <p:cNvPr id="5" name="Picture 4">
            <a:extLst>
              <a:ext uri="{FF2B5EF4-FFF2-40B4-BE49-F238E27FC236}">
                <a16:creationId xmlns:a16="http://schemas.microsoft.com/office/drawing/2014/main" id="{A375B538-F2AE-05A2-8CF8-D837717107E8}"/>
              </a:ext>
            </a:extLst>
          </p:cNvPr>
          <p:cNvPicPr>
            <a:picLocks noChangeAspect="1"/>
          </p:cNvPicPr>
          <p:nvPr/>
        </p:nvPicPr>
        <p:blipFill>
          <a:blip r:embed="rId2"/>
          <a:stretch>
            <a:fillRect/>
          </a:stretch>
        </p:blipFill>
        <p:spPr>
          <a:xfrm>
            <a:off x="2133600" y="4501600"/>
            <a:ext cx="3460376" cy="1977358"/>
          </a:xfrm>
          <a:prstGeom prst="rect">
            <a:avLst/>
          </a:prstGeom>
        </p:spPr>
      </p:pic>
      <p:pic>
        <p:nvPicPr>
          <p:cNvPr id="6" name="Picture 5">
            <a:extLst>
              <a:ext uri="{FF2B5EF4-FFF2-40B4-BE49-F238E27FC236}">
                <a16:creationId xmlns:a16="http://schemas.microsoft.com/office/drawing/2014/main" id="{87064CD0-84A2-A5F3-1FDF-C429F13C631F}"/>
              </a:ext>
            </a:extLst>
          </p:cNvPr>
          <p:cNvPicPr>
            <a:picLocks noChangeAspect="1"/>
          </p:cNvPicPr>
          <p:nvPr/>
        </p:nvPicPr>
        <p:blipFill>
          <a:blip r:embed="rId3"/>
          <a:stretch>
            <a:fillRect/>
          </a:stretch>
        </p:blipFill>
        <p:spPr>
          <a:xfrm>
            <a:off x="6598026" y="4501600"/>
            <a:ext cx="3460376" cy="1973479"/>
          </a:xfrm>
          <a:prstGeom prst="rect">
            <a:avLst/>
          </a:prstGeom>
        </p:spPr>
      </p:pic>
    </p:spTree>
    <p:extLst>
      <p:ext uri="{BB962C8B-B14F-4D97-AF65-F5344CB8AC3E}">
        <p14:creationId xmlns:p14="http://schemas.microsoft.com/office/powerpoint/2010/main" val="932989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32AEEBC8-9D30-42EF-95F2-386C2653F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a:xfrm>
            <a:off x="630936" y="502920"/>
            <a:ext cx="3419856" cy="1463040"/>
          </a:xfrm>
        </p:spPr>
        <p:txBody>
          <a:bodyPr anchor="ctr">
            <a:normAutofit/>
          </a:bodyPr>
          <a:lstStyle/>
          <a:p>
            <a:r>
              <a:rPr lang="en-GB" sz="4800" b="1"/>
              <a:t>Resolvers</a:t>
            </a:r>
          </a:p>
        </p:txBody>
      </p:sp>
      <p:sp>
        <p:nvSpPr>
          <p:cNvPr id="18" name="sketch line">
            <a:extLst>
              <a:ext uri="{FF2B5EF4-FFF2-40B4-BE49-F238E27FC236}">
                <a16:creationId xmlns:a16="http://schemas.microsoft.com/office/drawing/2014/main" id="{2E92FA66-67D7-4CB4-94D3-E643A9AD4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566159" y="1225296"/>
            <a:ext cx="1554480" cy="18288"/>
          </a:xfrm>
          <a:custGeom>
            <a:avLst/>
            <a:gdLst>
              <a:gd name="csX0" fmla="*/ 0 w 1554480"/>
              <a:gd name="csY0" fmla="*/ 0 h 18288"/>
              <a:gd name="csX1" fmla="*/ 549250 w 1554480"/>
              <a:gd name="csY1" fmla="*/ 0 h 18288"/>
              <a:gd name="csX2" fmla="*/ 1082954 w 1554480"/>
              <a:gd name="csY2" fmla="*/ 0 h 18288"/>
              <a:gd name="csX3" fmla="*/ 1554480 w 1554480"/>
              <a:gd name="csY3" fmla="*/ 0 h 18288"/>
              <a:gd name="csX4" fmla="*/ 1554480 w 1554480"/>
              <a:gd name="csY4" fmla="*/ 18288 h 18288"/>
              <a:gd name="csX5" fmla="*/ 1067410 w 1554480"/>
              <a:gd name="csY5" fmla="*/ 18288 h 18288"/>
              <a:gd name="csX6" fmla="*/ 549250 w 1554480"/>
              <a:gd name="csY6" fmla="*/ 18288 h 18288"/>
              <a:gd name="csX7" fmla="*/ 0 w 1554480"/>
              <a:gd name="csY7" fmla="*/ 18288 h 18288"/>
              <a:gd name="csX8" fmla="*/ 0 w 1554480"/>
              <a:gd name="csY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0EC2D61B-0204-42F3-52E6-931A9496968D}"/>
              </a:ext>
            </a:extLst>
          </p:cNvPr>
          <p:cNvSpPr>
            <a:spLocks noGrp="1"/>
          </p:cNvSpPr>
          <p:nvPr>
            <p:ph idx="1"/>
          </p:nvPr>
        </p:nvSpPr>
        <p:spPr>
          <a:xfrm>
            <a:off x="4654295" y="502920"/>
            <a:ext cx="6894576" cy="1463040"/>
          </a:xfrm>
        </p:spPr>
        <p:txBody>
          <a:bodyPr anchor="ctr">
            <a:normAutofit/>
          </a:bodyPr>
          <a:lstStyle/>
          <a:p>
            <a:r>
              <a:rPr lang="en-GB" sz="2200" dirty="0"/>
              <a:t>When the primary coil is parallel to either of the secondary coils the voltage induced in the coils is maximum</a:t>
            </a:r>
          </a:p>
        </p:txBody>
      </p:sp>
      <p:pic>
        <p:nvPicPr>
          <p:cNvPr id="11" name="Picture 10">
            <a:extLst>
              <a:ext uri="{FF2B5EF4-FFF2-40B4-BE49-F238E27FC236}">
                <a16:creationId xmlns:a16="http://schemas.microsoft.com/office/drawing/2014/main" id="{B4A2887A-DAE4-BA3C-C3F7-8C44A7621388}"/>
              </a:ext>
            </a:extLst>
          </p:cNvPr>
          <p:cNvPicPr>
            <a:picLocks noChangeAspect="1"/>
          </p:cNvPicPr>
          <p:nvPr/>
        </p:nvPicPr>
        <p:blipFill>
          <a:blip r:embed="rId2"/>
          <a:stretch>
            <a:fillRect/>
          </a:stretch>
        </p:blipFill>
        <p:spPr>
          <a:xfrm>
            <a:off x="630936" y="2542004"/>
            <a:ext cx="10917936" cy="3457216"/>
          </a:xfrm>
          <a:prstGeom prst="rect">
            <a:avLst/>
          </a:prstGeom>
        </p:spPr>
      </p:pic>
      <p:sp>
        <p:nvSpPr>
          <p:cNvPr id="4" name="Slide Number Placeholder 3">
            <a:extLst>
              <a:ext uri="{FF2B5EF4-FFF2-40B4-BE49-F238E27FC236}">
                <a16:creationId xmlns:a16="http://schemas.microsoft.com/office/drawing/2014/main" id="{62FD1B44-9760-B004-EF98-E85A9BE76561}"/>
              </a:ext>
            </a:extLst>
          </p:cNvPr>
          <p:cNvSpPr>
            <a:spLocks noGrp="1"/>
          </p:cNvSpPr>
          <p:nvPr>
            <p:ph type="sldNum" sz="quarter" idx="12"/>
          </p:nvPr>
        </p:nvSpPr>
        <p:spPr>
          <a:xfrm>
            <a:off x="8610600" y="6356350"/>
            <a:ext cx="2743200" cy="365125"/>
          </a:xfrm>
        </p:spPr>
        <p:txBody>
          <a:bodyPr>
            <a:normAutofit/>
          </a:bodyPr>
          <a:lstStyle/>
          <a:p>
            <a:pPr marL="0" marR="0" lvl="0" indent="0" defTabSz="914400" rtl="0" eaLnBrk="1" fontAlgn="auto" latinLnBrk="0" hangingPunct="1">
              <a:spcBef>
                <a:spcPts val="0"/>
              </a:spcBef>
              <a:spcAft>
                <a:spcPts val="600"/>
              </a:spcAft>
              <a:buClrTx/>
              <a:buSzTx/>
              <a:buFontTx/>
              <a:buNone/>
              <a:tabLst/>
              <a:defRPr/>
            </a:pPr>
            <a:fld id="{1ED87AFC-F3F3-4E09-A9D9-1873FFB55ECB}" type="slidenum">
              <a:rPr kumimoji="0" lang="en-GB" b="0" i="0" u="none" strike="noStrike" kern="1200" cap="none" spc="0" normalizeH="0" baseline="0" noProof="0" smtClean="0">
                <a:ln>
                  <a:noFill/>
                </a:ln>
                <a:effectLst/>
                <a:uLnTx/>
                <a:uFillTx/>
                <a:latin typeface="Century Gothic" panose="020B0502020202020204"/>
                <a:ea typeface="+mn-ea"/>
                <a:cs typeface="+mn-cs"/>
              </a:rPr>
              <a:pPr marL="0" marR="0" lvl="0" indent="0" defTabSz="914400" rtl="0" eaLnBrk="1" fontAlgn="auto" latinLnBrk="0" hangingPunct="1">
                <a:spcBef>
                  <a:spcPts val="0"/>
                </a:spcBef>
                <a:spcAft>
                  <a:spcPts val="600"/>
                </a:spcAft>
                <a:buClrTx/>
                <a:buSzTx/>
                <a:buFontTx/>
                <a:buNone/>
                <a:tabLst/>
                <a:defRPr/>
              </a:pPr>
              <a:t>44</a:t>
            </a:fld>
            <a:endParaRPr kumimoji="0" lang="en-GB" b="0" i="0" u="none" strike="noStrike" kern="1200" cap="none" spc="0" normalizeH="0" baseline="0" noProof="0">
              <a:ln>
                <a:noFill/>
              </a:ln>
              <a:effectLst/>
              <a:uLnTx/>
              <a:uFillTx/>
              <a:latin typeface="Century Gothic" panose="020B0502020202020204"/>
              <a:ea typeface="+mn-ea"/>
              <a:cs typeface="+mn-cs"/>
            </a:endParaRPr>
          </a:p>
        </p:txBody>
      </p:sp>
    </p:spTree>
    <p:extLst>
      <p:ext uri="{BB962C8B-B14F-4D97-AF65-F5344CB8AC3E}">
        <p14:creationId xmlns:p14="http://schemas.microsoft.com/office/powerpoint/2010/main" val="1077965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a:xfrm>
            <a:off x="838200" y="365125"/>
            <a:ext cx="10515600" cy="1325563"/>
          </a:xfrm>
        </p:spPr>
        <p:txBody>
          <a:bodyPr>
            <a:normAutofit/>
          </a:bodyPr>
          <a:lstStyle/>
          <a:p>
            <a:r>
              <a:rPr lang="en-GB" sz="5400" b="1"/>
              <a:t>Resolvers</a:t>
            </a:r>
          </a:p>
        </p:txBody>
      </p:sp>
      <p:sp>
        <p:nvSpPr>
          <p:cNvPr id="11"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0EC2D61B-0204-42F3-52E6-931A9496968D}"/>
              </a:ext>
            </a:extLst>
          </p:cNvPr>
          <p:cNvSpPr>
            <a:spLocks noGrp="1"/>
          </p:cNvSpPr>
          <p:nvPr>
            <p:ph idx="1"/>
          </p:nvPr>
        </p:nvSpPr>
        <p:spPr>
          <a:xfrm>
            <a:off x="838200" y="1929384"/>
            <a:ext cx="10515600" cy="4251960"/>
          </a:xfrm>
        </p:spPr>
        <p:txBody>
          <a:bodyPr>
            <a:normAutofit/>
          </a:bodyPr>
          <a:lstStyle/>
          <a:p>
            <a:r>
              <a:rPr lang="en-GB" sz="2200" dirty="0"/>
              <a:t>At this instant the primary coil is perpendicular to the other secondary coil and no voltage is developed within it</a:t>
            </a:r>
          </a:p>
          <a:p>
            <a:r>
              <a:rPr lang="en-GB" sz="2200" dirty="0"/>
              <a:t>As the primary coil rotates the voltage in the first secondary coil goes to zero whilst the voltage of the other secondary coil becomes maximum</a:t>
            </a:r>
          </a:p>
          <a:p>
            <a:r>
              <a:rPr lang="en-GB" sz="2200" dirty="0"/>
              <a:t>For all angles in between the two secondary coils develop a voltage proportional to the sine and cosine of the angle between the primary and secondary coils</a:t>
            </a:r>
          </a:p>
          <a:p>
            <a:r>
              <a:rPr lang="en-GB" sz="2200" dirty="0"/>
              <a:t>Resolvers are reliable, robust and accurate</a:t>
            </a:r>
          </a:p>
          <a:p>
            <a:pPr lvl="1"/>
            <a:r>
              <a:rPr lang="en-GB" sz="1800" dirty="0"/>
              <a:t>Accuracy more dependant on the sensing </a:t>
            </a:r>
            <a:r>
              <a:rPr lang="en-GB" sz="1800" dirty="0" err="1"/>
              <a:t>circuitary</a:t>
            </a:r>
            <a:endParaRPr lang="en-GB" sz="1800" dirty="0"/>
          </a:p>
          <a:p>
            <a:r>
              <a:rPr lang="en-GB" sz="2200" dirty="0"/>
              <a:t>However, resolvers are significantly more expensive than potentiometers</a:t>
            </a:r>
          </a:p>
          <a:p>
            <a:r>
              <a:rPr lang="en-GB" sz="2200" dirty="0"/>
              <a:t>High speeds up to 20000RPM</a:t>
            </a:r>
          </a:p>
        </p:txBody>
      </p:sp>
      <p:sp>
        <p:nvSpPr>
          <p:cNvPr id="4" name="Slide Number Placeholder 3">
            <a:extLst>
              <a:ext uri="{FF2B5EF4-FFF2-40B4-BE49-F238E27FC236}">
                <a16:creationId xmlns:a16="http://schemas.microsoft.com/office/drawing/2014/main" id="{62FD1B44-9760-B004-EF98-E85A9BE76561}"/>
              </a:ext>
            </a:extLst>
          </p:cNvPr>
          <p:cNvSpPr>
            <a:spLocks noGrp="1"/>
          </p:cNvSpPr>
          <p:nvPr>
            <p:ph type="sldNum" sz="quarter" idx="12"/>
          </p:nvPr>
        </p:nvSpPr>
        <p:spPr>
          <a:xfrm>
            <a:off x="8610600" y="6356350"/>
            <a:ext cx="2743200" cy="365125"/>
          </a:xfrm>
        </p:spPr>
        <p:txBody>
          <a:bodyPr>
            <a:normAutofit/>
          </a:bodyPr>
          <a:lstStyle/>
          <a:p>
            <a:pPr marL="0" marR="0" lvl="0" indent="0" defTabSz="914400" rtl="0" eaLnBrk="1" fontAlgn="auto" latinLnBrk="0" hangingPunct="1">
              <a:spcBef>
                <a:spcPts val="0"/>
              </a:spcBef>
              <a:spcAft>
                <a:spcPts val="600"/>
              </a:spcAft>
              <a:buClrTx/>
              <a:buSzTx/>
              <a:buFontTx/>
              <a:buNone/>
              <a:tabLst/>
              <a:defRPr/>
            </a:pPr>
            <a:fld id="{1ED87AFC-F3F3-4E09-A9D9-1873FFB55ECB}" type="slidenum">
              <a:rPr kumimoji="0" lang="en-GB" b="0" i="0" u="none" strike="noStrike" kern="1200" cap="none" spc="0" normalizeH="0" baseline="0" noProof="0" smtClean="0">
                <a:ln>
                  <a:noFill/>
                </a:ln>
                <a:effectLst/>
                <a:uLnTx/>
                <a:uFillTx/>
                <a:latin typeface="Century Gothic" panose="020B0502020202020204"/>
                <a:ea typeface="+mn-ea"/>
                <a:cs typeface="+mn-cs"/>
              </a:rPr>
              <a:pPr marL="0" marR="0" lvl="0" indent="0" defTabSz="914400" rtl="0" eaLnBrk="1" fontAlgn="auto" latinLnBrk="0" hangingPunct="1">
                <a:spcBef>
                  <a:spcPts val="0"/>
                </a:spcBef>
                <a:spcAft>
                  <a:spcPts val="600"/>
                </a:spcAft>
                <a:buClrTx/>
                <a:buSzTx/>
                <a:buFontTx/>
                <a:buNone/>
                <a:tabLst/>
                <a:defRPr/>
              </a:pPr>
              <a:t>45</a:t>
            </a:fld>
            <a:endParaRPr kumimoji="0" lang="en-GB" b="0" i="0" u="none" strike="noStrike" kern="1200" cap="none" spc="0" normalizeH="0" baseline="0" noProof="0">
              <a:ln>
                <a:noFill/>
              </a:ln>
              <a:effectLst/>
              <a:uLnTx/>
              <a:uFillTx/>
              <a:latin typeface="Century Gothic" panose="020B0502020202020204"/>
              <a:ea typeface="+mn-ea"/>
              <a:cs typeface="+mn-cs"/>
            </a:endParaRPr>
          </a:p>
        </p:txBody>
      </p:sp>
    </p:spTree>
    <p:extLst>
      <p:ext uri="{BB962C8B-B14F-4D97-AF65-F5344CB8AC3E}">
        <p14:creationId xmlns:p14="http://schemas.microsoft.com/office/powerpoint/2010/main" val="3146009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a:xfrm>
            <a:off x="841248" y="548640"/>
            <a:ext cx="3600860" cy="5431536"/>
          </a:xfrm>
        </p:spPr>
        <p:txBody>
          <a:bodyPr>
            <a:normAutofit/>
          </a:bodyPr>
          <a:lstStyle/>
          <a:p>
            <a:r>
              <a:rPr lang="en-GB" sz="5400" b="1"/>
              <a:t>Review</a:t>
            </a:r>
          </a:p>
        </p:txBody>
      </p:sp>
      <p:sp>
        <p:nvSpPr>
          <p:cNvPr id="11"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sX0" fmla="*/ 0 w 4480560"/>
              <a:gd name="csY0" fmla="*/ 0 h 18288"/>
              <a:gd name="csX1" fmla="*/ 595274 w 4480560"/>
              <a:gd name="csY1" fmla="*/ 0 h 18288"/>
              <a:gd name="csX2" fmla="*/ 1100938 w 4480560"/>
              <a:gd name="csY2" fmla="*/ 0 h 18288"/>
              <a:gd name="csX3" fmla="*/ 1651406 w 4480560"/>
              <a:gd name="csY3" fmla="*/ 0 h 18288"/>
              <a:gd name="csX4" fmla="*/ 2336292 w 4480560"/>
              <a:gd name="csY4" fmla="*/ 0 h 18288"/>
              <a:gd name="csX5" fmla="*/ 2931566 w 4480560"/>
              <a:gd name="csY5" fmla="*/ 0 h 18288"/>
              <a:gd name="csX6" fmla="*/ 3482035 w 4480560"/>
              <a:gd name="csY6" fmla="*/ 0 h 18288"/>
              <a:gd name="csX7" fmla="*/ 4480560 w 4480560"/>
              <a:gd name="csY7" fmla="*/ 0 h 18288"/>
              <a:gd name="csX8" fmla="*/ 4480560 w 4480560"/>
              <a:gd name="csY8" fmla="*/ 18288 h 18288"/>
              <a:gd name="csX9" fmla="*/ 3840480 w 4480560"/>
              <a:gd name="csY9" fmla="*/ 18288 h 18288"/>
              <a:gd name="csX10" fmla="*/ 3290011 w 4480560"/>
              <a:gd name="csY10" fmla="*/ 18288 h 18288"/>
              <a:gd name="csX11" fmla="*/ 2560320 w 4480560"/>
              <a:gd name="csY11" fmla="*/ 18288 h 18288"/>
              <a:gd name="csX12" fmla="*/ 1965046 w 4480560"/>
              <a:gd name="csY12" fmla="*/ 18288 h 18288"/>
              <a:gd name="csX13" fmla="*/ 1459382 w 4480560"/>
              <a:gd name="csY13" fmla="*/ 18288 h 18288"/>
              <a:gd name="csX14" fmla="*/ 774497 w 4480560"/>
              <a:gd name="csY14" fmla="*/ 18288 h 18288"/>
              <a:gd name="csX15" fmla="*/ 0 w 4480560"/>
              <a:gd name="csY15" fmla="*/ 18288 h 18288"/>
              <a:gd name="csX16" fmla="*/ 0 w 448056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Subtitle 2">
            <a:extLst>
              <a:ext uri="{FF2B5EF4-FFF2-40B4-BE49-F238E27FC236}">
                <a16:creationId xmlns:a16="http://schemas.microsoft.com/office/drawing/2014/main" id="{0EC2D61B-0204-42F3-52E6-931A9496968D}"/>
              </a:ext>
            </a:extLst>
          </p:cNvPr>
          <p:cNvSpPr>
            <a:spLocks noGrp="1"/>
          </p:cNvSpPr>
          <p:nvPr>
            <p:ph idx="1"/>
          </p:nvPr>
        </p:nvSpPr>
        <p:spPr>
          <a:xfrm>
            <a:off x="5126418" y="552091"/>
            <a:ext cx="6224335" cy="5431536"/>
          </a:xfrm>
        </p:spPr>
        <p:txBody>
          <a:bodyPr anchor="ctr">
            <a:normAutofit/>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Overview</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Potentiometers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LVDT</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Resolvers</a:t>
            </a:r>
          </a:p>
        </p:txBody>
      </p:sp>
      <p:sp>
        <p:nvSpPr>
          <p:cNvPr id="4" name="Slide Number Placeholder 3">
            <a:extLst>
              <a:ext uri="{FF2B5EF4-FFF2-40B4-BE49-F238E27FC236}">
                <a16:creationId xmlns:a16="http://schemas.microsoft.com/office/drawing/2014/main" id="{62FD1B44-9760-B004-EF98-E85A9BE76561}"/>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90000"/>
              </a:lnSpc>
              <a:spcBef>
                <a:spcPts val="0"/>
              </a:spcBef>
              <a:spcAft>
                <a:spcPts val="600"/>
              </a:spcAft>
              <a:buClrTx/>
              <a:buSzTx/>
              <a:buFontTx/>
              <a:buNone/>
              <a:tabLst/>
              <a:defRPr/>
            </a:pPr>
            <a:fld id="{1ED87AFC-F3F3-4E09-A9D9-1873FFB55ECB}" type="slidenum">
              <a:rPr kumimoji="0" lang="en-GB" sz="19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90000"/>
                </a:lnSpc>
                <a:spcBef>
                  <a:spcPts val="0"/>
                </a:spcBef>
                <a:spcAft>
                  <a:spcPts val="600"/>
                </a:spcAft>
                <a:buClrTx/>
                <a:buSzTx/>
                <a:buFontTx/>
                <a:buNone/>
                <a:tabLst/>
                <a:defRPr/>
              </a:pPr>
              <a:t>46</a:t>
            </a:fld>
            <a:endParaRPr kumimoji="0" lang="en-GB" sz="19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9855627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a:xfrm>
            <a:off x="838200" y="365125"/>
            <a:ext cx="10515600" cy="1325563"/>
          </a:xfrm>
        </p:spPr>
        <p:txBody>
          <a:bodyPr>
            <a:normAutofit/>
          </a:bodyPr>
          <a:lstStyle/>
          <a:p>
            <a:r>
              <a:rPr lang="en-GB" sz="5400" b="1"/>
              <a:t>References</a:t>
            </a:r>
          </a:p>
        </p:txBody>
      </p:sp>
      <p:sp>
        <p:nvSpPr>
          <p:cNvPr id="11"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Subtitle 2">
            <a:extLst>
              <a:ext uri="{FF2B5EF4-FFF2-40B4-BE49-F238E27FC236}">
                <a16:creationId xmlns:a16="http://schemas.microsoft.com/office/drawing/2014/main" id="{0EC2D61B-0204-42F3-52E6-931A9496968D}"/>
              </a:ext>
            </a:extLst>
          </p:cNvPr>
          <p:cNvSpPr>
            <a:spLocks noGrp="1"/>
          </p:cNvSpPr>
          <p:nvPr>
            <p:ph idx="1"/>
          </p:nvPr>
        </p:nvSpPr>
        <p:spPr>
          <a:xfrm>
            <a:off x="838200" y="1929384"/>
            <a:ext cx="10515600" cy="4251960"/>
          </a:xfrm>
        </p:spPr>
        <p:txBody>
          <a:bodyPr>
            <a:normAutofit/>
          </a:bodyPr>
          <a:lstStyle/>
          <a:p>
            <a:pPr marL="0" indent="0">
              <a:buNone/>
            </a:pPr>
            <a:endParaRPr lang="en-GB" sz="2400" dirty="0"/>
          </a:p>
          <a:p>
            <a:r>
              <a:rPr lang="en-GB" sz="2400" dirty="0"/>
              <a:t>Bolton, W., Mechatronics, 5th Edition, Pearson, 2012</a:t>
            </a:r>
          </a:p>
          <a:p>
            <a:pPr lvl="1"/>
            <a:r>
              <a:rPr lang="en-GB" dirty="0"/>
              <a:t>Chapter 2 - Sections 2.1 and 2.2</a:t>
            </a:r>
          </a:p>
          <a:p>
            <a:pPr lvl="1"/>
            <a:endParaRPr lang="en-GB" dirty="0"/>
          </a:p>
          <a:p>
            <a:r>
              <a:rPr lang="en-GB" sz="2400" dirty="0" err="1"/>
              <a:t>Niku</a:t>
            </a:r>
            <a:r>
              <a:rPr lang="en-GB" sz="2400" dirty="0"/>
              <a:t>, S.B. , Introduction to Robotics, 2nd Edition, Wiley, New Jersey, 2011.</a:t>
            </a:r>
          </a:p>
          <a:p>
            <a:endParaRPr lang="en-GB" sz="2600" dirty="0"/>
          </a:p>
          <a:p>
            <a:endParaRPr lang="en-GB" sz="2600" dirty="0"/>
          </a:p>
          <a:p>
            <a:endParaRPr lang="en-GB" sz="2200" dirty="0"/>
          </a:p>
          <a:p>
            <a:endParaRPr lang="en-GB" sz="2200" dirty="0"/>
          </a:p>
        </p:txBody>
      </p:sp>
      <p:sp>
        <p:nvSpPr>
          <p:cNvPr id="4" name="Slide Number Placeholder 3">
            <a:extLst>
              <a:ext uri="{FF2B5EF4-FFF2-40B4-BE49-F238E27FC236}">
                <a16:creationId xmlns:a16="http://schemas.microsoft.com/office/drawing/2014/main" id="{62FD1B44-9760-B004-EF98-E85A9BE76561}"/>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90000"/>
              </a:lnSpc>
              <a:spcBef>
                <a:spcPts val="0"/>
              </a:spcBef>
              <a:spcAft>
                <a:spcPts val="600"/>
              </a:spcAft>
              <a:buClrTx/>
              <a:buSzTx/>
              <a:buFontTx/>
              <a:buNone/>
              <a:tabLst/>
              <a:defRPr/>
            </a:pPr>
            <a:fld id="{1ED87AFC-F3F3-4E09-A9D9-1873FFB55ECB}" type="slidenum">
              <a:rPr kumimoji="0" lang="en-GB" sz="19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90000"/>
                </a:lnSpc>
                <a:spcBef>
                  <a:spcPts val="0"/>
                </a:spcBef>
                <a:spcAft>
                  <a:spcPts val="600"/>
                </a:spcAft>
                <a:buClrTx/>
                <a:buSzTx/>
                <a:buFontTx/>
                <a:buNone/>
                <a:tabLst/>
                <a:defRPr/>
              </a:pPr>
              <a:t>47</a:t>
            </a:fld>
            <a:endParaRPr kumimoji="0" lang="en-GB" sz="19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994019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TM04033937[[fn=Vapor Trail]]</Template>
  <TotalTime>156</TotalTime>
  <Words>2067</Words>
  <Application>Microsoft Office PowerPoint</Application>
  <PresentationFormat>Widescreen</PresentationFormat>
  <Paragraphs>345</Paragraphs>
  <Slides>47</Slides>
  <Notes>0</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47</vt:i4>
      </vt:variant>
    </vt:vector>
  </HeadingPairs>
  <TitlesOfParts>
    <vt:vector size="57" baseType="lpstr">
      <vt:lpstr>Aptos</vt:lpstr>
      <vt:lpstr>Aptos Display</vt:lpstr>
      <vt:lpstr>Arial</vt:lpstr>
      <vt:lpstr>Calibri</vt:lpstr>
      <vt:lpstr>Calibri Light</vt:lpstr>
      <vt:lpstr>Cambria Math</vt:lpstr>
      <vt:lpstr>Century Gothic</vt:lpstr>
      <vt:lpstr>Wingdings</vt:lpstr>
      <vt:lpstr>Office Theme</vt:lpstr>
      <vt:lpstr>1_Office Theme</vt:lpstr>
      <vt:lpstr>ENG4118/5326 - Robotics 4/M Sensors, Actuators and Image capture, processing and analysis</vt:lpstr>
      <vt:lpstr>Sensor Connection</vt:lpstr>
      <vt:lpstr>Sensor Connection</vt:lpstr>
      <vt:lpstr>Sensor Connection</vt:lpstr>
      <vt:lpstr>Sensor Connection</vt:lpstr>
      <vt:lpstr>Sensor Modelling</vt:lpstr>
      <vt:lpstr>Sensor Modelling</vt:lpstr>
      <vt:lpstr>Sensor Modelling</vt:lpstr>
      <vt:lpstr>Sensor Modelling</vt:lpstr>
      <vt:lpstr>Sensor Modelling</vt:lpstr>
      <vt:lpstr>Example</vt:lpstr>
      <vt:lpstr>Temperature Sensor – LMT86</vt:lpstr>
      <vt:lpstr>Temperature Sensor – LMT86</vt:lpstr>
      <vt:lpstr>Temperature Sensor – LMT86</vt:lpstr>
      <vt:lpstr>Temperature Sensor – LMT86</vt:lpstr>
      <vt:lpstr>Temperature Sensor – LMT86</vt:lpstr>
      <vt:lpstr>Temperature Sensor – LMT86</vt:lpstr>
      <vt:lpstr>Examples</vt:lpstr>
      <vt:lpstr>Overview</vt:lpstr>
      <vt:lpstr>Position and Displacement Sensors</vt:lpstr>
      <vt:lpstr>Position and Displacement</vt:lpstr>
      <vt:lpstr>Position and Displacement - Examples</vt:lpstr>
      <vt:lpstr>Potentiometers</vt:lpstr>
      <vt:lpstr>Potentiometers</vt:lpstr>
      <vt:lpstr>Potentiometers</vt:lpstr>
      <vt:lpstr>Potentiometers</vt:lpstr>
      <vt:lpstr>Potentiometers</vt:lpstr>
      <vt:lpstr>Potentiometers</vt:lpstr>
      <vt:lpstr>Potentiometers</vt:lpstr>
      <vt:lpstr>Potentiometers</vt:lpstr>
      <vt:lpstr>Potentiometers - Error</vt:lpstr>
      <vt:lpstr>Potentiometers</vt:lpstr>
      <vt:lpstr>Linear Variable Differential Transformer</vt:lpstr>
      <vt:lpstr>Linear Variable Differential Transformer</vt:lpstr>
      <vt:lpstr>Linear Variable Differential Transformer</vt:lpstr>
      <vt:lpstr>Linear Variable Differential Transformer</vt:lpstr>
      <vt:lpstr>Linear Variable Differential Transformer</vt:lpstr>
      <vt:lpstr>Linear Variable Differential Transformer</vt:lpstr>
      <vt:lpstr>Linear Variable Differential Transformer</vt:lpstr>
      <vt:lpstr>Linear Variable Differential Transformer</vt:lpstr>
      <vt:lpstr>Linear Variable Differential Transformer</vt:lpstr>
      <vt:lpstr>Resolver</vt:lpstr>
      <vt:lpstr>Resolvers</vt:lpstr>
      <vt:lpstr>Resolvers</vt:lpstr>
      <vt:lpstr>Resolvers</vt:lpstr>
      <vt:lpstr>Review</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Kevin Worrall</dc:creator>
  <cp:lastModifiedBy>Kevin Worrall</cp:lastModifiedBy>
  <cp:revision>1</cp:revision>
  <dcterms:created xsi:type="dcterms:W3CDTF">2025-01-19T12:53:34Z</dcterms:created>
  <dcterms:modified xsi:type="dcterms:W3CDTF">2026-01-20T09:03:24Z</dcterms:modified>
</cp:coreProperties>
</file>