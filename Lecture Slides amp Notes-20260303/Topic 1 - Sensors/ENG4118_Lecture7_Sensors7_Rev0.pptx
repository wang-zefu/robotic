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58" r:id="rId4"/>
    <p:sldId id="348" r:id="rId5"/>
    <p:sldId id="349" r:id="rId6"/>
    <p:sldId id="363" r:id="rId7"/>
    <p:sldId id="350" r:id="rId8"/>
    <p:sldId id="351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268" r:id="rId17"/>
    <p:sldId id="314" r:id="rId18"/>
    <p:sldId id="360" r:id="rId19"/>
    <p:sldId id="361" r:id="rId20"/>
    <p:sldId id="362" r:id="rId21"/>
    <p:sldId id="364" r:id="rId22"/>
    <p:sldId id="380" r:id="rId23"/>
    <p:sldId id="381" r:id="rId24"/>
    <p:sldId id="366" r:id="rId25"/>
    <p:sldId id="369" r:id="rId26"/>
    <p:sldId id="382" r:id="rId27"/>
    <p:sldId id="31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95983" autoAdjust="0"/>
  </p:normalViewPr>
  <p:slideViewPr>
    <p:cSldViewPr snapToGrid="0">
      <p:cViewPr varScale="1">
        <p:scale>
          <a:sx n="66" d="100"/>
          <a:sy n="66" d="100"/>
        </p:scale>
        <p:origin x="472" y="44"/>
      </p:cViewPr>
      <p:guideLst/>
    </p:cSldViewPr>
  </p:slideViewPr>
  <p:outlineViewPr>
    <p:cViewPr>
      <p:scale>
        <a:sx n="33" d="100"/>
        <a:sy n="33" d="100"/>
      </p:scale>
      <p:origin x="0" y="-68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Worrall" userId="e21a6e1f-6189-4284-9649-bf7c66c7a38c" providerId="ADAL" clId="{B294D135-36AD-4905-82C7-C24D4CC5C725}"/>
    <pc:docChg chg="modSld">
      <pc:chgData name="Kevin Worrall" userId="e21a6e1f-6189-4284-9649-bf7c66c7a38c" providerId="ADAL" clId="{B294D135-36AD-4905-82C7-C24D4CC5C725}" dt="2026-02-02T09:50:30.994" v="0" actId="20577"/>
      <pc:docMkLst>
        <pc:docMk/>
      </pc:docMkLst>
      <pc:sldChg chg="modSp mod">
        <pc:chgData name="Kevin Worrall" userId="e21a6e1f-6189-4284-9649-bf7c66c7a38c" providerId="ADAL" clId="{B294D135-36AD-4905-82C7-C24D4CC5C725}" dt="2026-02-02T09:50:30.994" v="0" actId="20577"/>
        <pc:sldMkLst>
          <pc:docMk/>
          <pc:sldMk cId="4242011844" sldId="256"/>
        </pc:sldMkLst>
        <pc:spChg chg="mod">
          <ac:chgData name="Kevin Worrall" userId="e21a6e1f-6189-4284-9649-bf7c66c7a38c" providerId="ADAL" clId="{B294D135-36AD-4905-82C7-C24D4CC5C725}" dt="2026-02-02T09:50:30.994" v="0" actId="20577"/>
          <ac:spMkLst>
            <pc:docMk/>
            <pc:sldMk cId="4242011844" sldId="256"/>
            <ac:spMk id="3" creationId="{0EC2D61B-0204-42F3-52E6-931A949696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85B6B-ECE2-4879-A9A5-03850BAAFBB0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A1267-AA76-4E48-81A7-ED61976908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971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268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275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A1267-AA76-4E48-81A7-ED619769089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415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04-E335-67A4-FA69-8365E526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D6FB-F3BC-752E-D374-800B1DE6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70D-06A8-D18A-A788-8FD4FB1B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CC76-C4AE-4B26-A169-B504EF2FEA67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E3A3-1862-497C-DDA8-5672505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AD9D-BBC4-E88C-BB0F-497F1E2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90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7ED-67B0-A413-78B4-CDBF534F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5D6-9D4D-11E4-06D4-372026C4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2683-A2AF-4A75-8A55-9D7F47C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1C347-D333-4772-8BBB-97D1519B978F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A211-1912-E80C-FB03-CEBF522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9302-C457-E101-4432-A6FA5B7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03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383B-473A-5E42-BF42-66A876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53AF-2AFB-8A34-6F64-C9694583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E19C-560D-582B-5C65-BABE7284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329E-57E4-4B3F-8988-77C63A75B884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A85-9039-9DC7-FCE8-E59C157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4C43-E1C4-CF43-D041-995B05E0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35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6A55-F2A7-95D7-5B21-8C725B77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5870-E1A2-2279-E26B-485EDCBB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C7-3655-6623-C08B-2A0DDFBA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5466-A2BA-0F1C-C0EE-3DDD9BB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CBF2-F699-452C-AFF8-797997FDB794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F506-CEA6-3A73-C30B-9E8664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BEED9-EA69-B899-A439-2F43F88F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66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FB61-0B1B-1AA8-C776-6E6E5987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91144-0D95-8068-5D00-7A87B3CB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A04A-9C50-74D8-50AB-68DCD684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13DA-D885-C472-BAD2-D383CFB17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16DC-7E05-7364-DBE6-E5FCE8AD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299C5-58E9-0915-C7F9-532BCEB5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CF2AD-4956-4A53-AFF5-1B4F5D45EAF2}" type="datetime1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A08F8-E9E4-42AA-2BF5-F3FD711C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A90D6-B33F-B27A-89BC-5C61CD7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37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1DD-33BA-DC1A-503B-EDF553E9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C1459-127D-B946-DCC3-295E311F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77BF-F63D-4E30-BD42-E3449C11D41D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167AD-FE57-199A-AED0-34EC850A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0EC7-4B04-9729-C509-C54966A0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51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24B3-7905-CDCE-B292-FD8A2BD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573B2-2AE0-4192-8280-C1600F28AEE9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A3729-5522-EE34-2FCC-F4BC137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865-47F4-47C5-BBCB-A6249F2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38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DEA-FB17-B8A6-AA81-03FAA820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7C4-5CF6-7B6B-7A9A-A16BDDA4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CCBA-A6B6-D42B-9A6C-7C4515A5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EF61-BB13-5B78-32CC-DAE86270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15260-07F2-476B-9C6F-C4D22041CE08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E7C5-8D38-2000-9396-6952E2AC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D8B-C963-0093-61E4-B314D828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881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C570-FFEA-139D-76DD-8FAD26F4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F4C9-5646-2C72-5A74-36DBA95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33E6-059F-B4E8-2665-301BD49D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3E015-83D2-B22A-AEFA-3050D04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5123-108F-4342-94A0-5859029BE154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C9E-7434-E9C4-BF07-F498CDF7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824-C721-15E0-005F-09D87B36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06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A8C0-0F4C-EB7E-4D83-13A13AB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C711-7438-1B41-AB61-31E43CBF3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12AF-0EE4-43D6-3E5A-8492725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4F266-503D-4864-9DE2-FA0A7EE85118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32D4-8659-7FED-DBB7-C92D717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7D87-07EB-4978-82B2-863E55F5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1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CF52-EC45-CAB7-E131-1ECA7B9C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FF283-34F1-64D3-F66D-2F035B48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3432-534B-D87F-33AD-11D400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07F4A-1EE2-49D9-97EC-717DDE976EFD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E0A8-0EFF-A6D0-21B8-38A2D7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8CA4-F6F3-B516-1FBA-074CDC4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223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04-E335-67A4-FA69-8365E526D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AD6FB-F3BC-752E-D374-800B1DE6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70D-06A8-D18A-A788-8FD4FB1B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1495-F5D4-4BAE-846E-C1BA39B38C3E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E3A3-1862-497C-DDA8-5672505E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EAD9D-BBC4-E88C-BB0F-497F1E27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7181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7ED-67B0-A413-78B4-CDBF534F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5D6-9D4D-11E4-06D4-372026C4A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2683-A2AF-4A75-8A55-9D7F47C4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00E1F-D883-4734-8D17-FAFD2FE3F82B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A211-1912-E80C-FB03-CEBF5226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9302-C457-E101-4432-A6FA5B74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622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383B-473A-5E42-BF42-66A87607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053AF-2AFB-8A34-6F64-C96945835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E19C-560D-582B-5C65-BABE7284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3C43-999F-4677-8B7B-A143626357DE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6A85-9039-9DC7-FCE8-E59C1578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4C43-E1C4-CF43-D041-995B05E0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3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6A55-F2A7-95D7-5B21-8C725B77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5870-E1A2-2279-E26B-485EDCBB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5CDC7-3655-6623-C08B-2A0DDFBA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5466-A2BA-0F1C-C0EE-3DDD9BBF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E2D2-7D84-4F62-AB79-04DD5D6E2A83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DF506-CEA6-3A73-C30B-9E866450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BEED9-EA69-B899-A439-2F43F88F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784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8FB61-0B1B-1AA8-C776-6E6E5987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91144-0D95-8068-5D00-7A87B3CB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CA04A-9C50-74D8-50AB-68DCD684C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713DA-D885-C472-BAD2-D383CFB17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16DC-7E05-7364-DBE6-E5FCE8AD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A299C5-58E9-0915-C7F9-532BCEB5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2E2F-086F-40AD-AE37-0FE3516ECA88}" type="datetime1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2A08F8-E9E4-42AA-2BF5-F3FD711C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9A90D6-B33F-B27A-89BC-5C61CD74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709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1DD-33BA-DC1A-503B-EDF553E9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C1459-127D-B946-DCC3-295E311F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7FCF-08A1-4FE4-9E9D-DC420D650C18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167AD-FE57-199A-AED0-34EC850A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0EC7-4B04-9729-C509-C54966A0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028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124B3-7905-CDCE-B292-FD8A2BD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DA0C7-BAEE-4F35-8A3B-93DC0CEF01B4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A3729-5522-EE34-2FCC-F4BC137C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865-47F4-47C5-BBCB-A6249F2A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5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4DEA-FB17-B8A6-AA81-03FAA820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07C4-5CF6-7B6B-7A9A-A16BDDA4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CCBA-A6B6-D42B-9A6C-7C4515A5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EF61-BB13-5B78-32CC-DAE86270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68E4-9C31-482F-B818-B582CFCA3920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E7C5-8D38-2000-9396-6952E2AC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D8B-C963-0093-61E4-B314D828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120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C570-FFEA-139D-76DD-8FAD26F4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5F4C9-5646-2C72-5A74-36DBA95E0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733E6-059F-B4E8-2665-301BD49D2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3E015-83D2-B22A-AEFA-3050D04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7033-DBE3-47C4-85A3-06E175F67215}" type="datetime1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CC9E-7434-E9C4-BF07-F498CDF7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B5824-C721-15E0-005F-09D87B36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305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A8C0-0F4C-EB7E-4D83-13A13AB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C711-7438-1B41-AB61-31E43CBF3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12AF-0EE4-43D6-3E5A-8492725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8CAA1-DC3A-4AD5-88F3-EBC71BAF0E08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C32D4-8659-7FED-DBB7-C92D717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7D87-07EB-4978-82B2-863E55F5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870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1CF52-EC45-CAB7-E131-1ECA7B9C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FF283-34F1-64D3-F66D-2F035B48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3432-534B-D87F-33AD-11D4009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6873-85DD-4CDB-895B-8ED6F6A7367F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AE0A8-0EFF-A6D0-21B8-38A2D7E8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C8CA4-F6F3-B516-1FBA-074CDC4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3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FCCA-3F3F-773D-CD33-62B98DC6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DECA-96E2-A2E3-D34A-F7C25B02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FA4-DBAE-837F-EEB7-35143BA1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CCD45-486D-4FE6-B311-4355809C78D3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C84C-67E4-49E5-DBCE-67ED85EF1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40A1-6DB9-3D28-8445-9C83A0B7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745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FCCA-3F3F-773D-CD33-62B98DC6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DECA-96E2-A2E3-D34A-F7C25B02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1FA4-DBAE-837F-EEB7-35143BA1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EB35A-6C1C-44EB-A894-5CBC41E755B3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1C84C-67E4-49E5-DBCE-67ED85EF1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40A1-6DB9-3D28-8445-9C83A0B70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87AFC-F3F3-4E09-A9D9-1873FFB55EC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5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C5bNjbdB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qFXFnkHk-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ENG4118/5326 - Robotics 4/M</a:t>
            </a:r>
            <a:br>
              <a:rPr lang="en-GB" b="1" dirty="0"/>
            </a:br>
            <a:r>
              <a:rPr lang="en-GB" b="1" dirty="0"/>
              <a:t>Sensors, Actuators and Image capture, processing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Lecture 7</a:t>
            </a:r>
          </a:p>
          <a:p>
            <a:r>
              <a:rPr lang="en-GB" sz="3600" dirty="0"/>
              <a:t>Kevin Worrall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2FB52-67A8-E2C7-2462-FB99CD1C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01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Lecture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Proximity Sensors</a:t>
            </a:r>
          </a:p>
          <a:p>
            <a:pPr lvl="1"/>
            <a:r>
              <a:rPr lang="en-GB" sz="3200" dirty="0"/>
              <a:t>Mechanical Switches</a:t>
            </a:r>
          </a:p>
          <a:p>
            <a:pPr lvl="1"/>
            <a:r>
              <a:rPr lang="en-GB" sz="3200" dirty="0"/>
              <a:t>Capacitive</a:t>
            </a:r>
          </a:p>
          <a:p>
            <a:pPr lvl="1"/>
            <a:r>
              <a:rPr lang="en-GB" sz="3200" dirty="0"/>
              <a:t>Eddy Current</a:t>
            </a:r>
          </a:p>
          <a:p>
            <a:pPr lvl="1"/>
            <a:r>
              <a:rPr lang="en-GB" sz="3200" dirty="0"/>
              <a:t>Inductive</a:t>
            </a:r>
          </a:p>
          <a:p>
            <a:pPr lvl="1"/>
            <a:r>
              <a:rPr lang="en-GB" sz="3200" dirty="0"/>
              <a:t>Pneumatic</a:t>
            </a:r>
          </a:p>
          <a:p>
            <a:pPr lvl="1"/>
            <a:r>
              <a:rPr lang="en-GB" sz="3200" dirty="0"/>
              <a:t>Light Sensors</a:t>
            </a:r>
          </a:p>
          <a:p>
            <a:pPr lvl="1"/>
            <a:r>
              <a:rPr lang="en-GB" sz="3200" dirty="0"/>
              <a:t>Photosensitive Devices</a:t>
            </a:r>
          </a:p>
          <a:p>
            <a:pPr lvl="1"/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0761D-BFB0-57EF-E43B-6C4AC298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F57451-DC0D-84D4-4468-91BA2BD39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835" y="1330770"/>
            <a:ext cx="4480965" cy="419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4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3600" dirty="0"/>
          </a:p>
          <a:p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27E7-BBE6-243F-1E03-DA2A2738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11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Proximity </a:t>
            </a:r>
          </a:p>
          <a:p>
            <a:pPr lvl="1"/>
            <a:r>
              <a:rPr lang="en-GB" dirty="0"/>
              <a:t>normally used as external sensors for overall task control purposes</a:t>
            </a:r>
          </a:p>
          <a:p>
            <a:pPr lvl="1"/>
            <a:r>
              <a:rPr lang="en-GB" dirty="0"/>
              <a:t>Used to detect how close another object is before contact is made</a:t>
            </a:r>
          </a:p>
          <a:p>
            <a:pPr lvl="1"/>
            <a:r>
              <a:rPr lang="en-GB" dirty="0"/>
              <a:t>This sensing can be useful in many situations e.g.</a:t>
            </a:r>
          </a:p>
          <a:p>
            <a:pPr lvl="2"/>
            <a:r>
              <a:rPr lang="en-GB" dirty="0"/>
              <a:t>measuring rotor speed</a:t>
            </a:r>
          </a:p>
          <a:p>
            <a:pPr lvl="2"/>
            <a:r>
              <a:rPr lang="en-GB" dirty="0"/>
              <a:t>Navigating a robot</a:t>
            </a:r>
          </a:p>
          <a:p>
            <a:pPr lvl="1"/>
            <a:r>
              <a:rPr lang="en-GB" dirty="0"/>
              <a:t>There are many different types of proximity sensor</a:t>
            </a:r>
          </a:p>
          <a:p>
            <a:pPr lvl="2"/>
            <a:r>
              <a:rPr lang="en-GB" dirty="0"/>
              <a:t>magnetic, eddy current, Hall effect, optical, ultrasonic, capacitive and inductive...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43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– </a:t>
            </a:r>
            <a:r>
              <a:rPr lang="en-GB" b="1" i="1" dirty="0"/>
              <a:t>Mechanical Switches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3600" dirty="0"/>
              <a:t>Can be activated by the presence of an object to give an output which is either on or off</a:t>
            </a:r>
          </a:p>
          <a:p>
            <a:r>
              <a:rPr lang="en-GB" sz="3600" dirty="0"/>
              <a:t>Microswitch are the primary example. Small electrical switch which requires physical contact and a small operating force to close the contacts</a:t>
            </a:r>
          </a:p>
          <a:p>
            <a:r>
              <a:rPr lang="en-GB" sz="3600" dirty="0"/>
              <a:t>These types of switches are generally robust, simple and inexpensive</a:t>
            </a:r>
          </a:p>
          <a:p>
            <a:r>
              <a:rPr lang="en-GB" sz="3600" dirty="0"/>
              <a:t>A lever operated switch is shown which uses physical contact to close the contacts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718A58-35F9-92C2-7AD3-1D28EAB59E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41992" y="1740005"/>
            <a:ext cx="1940208" cy="22835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3F0A05-D01E-04BE-AC30-3EF3144C5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460" y="4072836"/>
            <a:ext cx="3503272" cy="197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7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Capacitive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used over small distances to measure the distance between two conducting surfaces</a:t>
            </a:r>
          </a:p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For two parallel conducting plates the capacitance is given by:</a:t>
            </a:r>
          </a:p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GB" spc="-1" dirty="0">
              <a:solidFill>
                <a:srgbClr val="000000"/>
              </a:solidFill>
              <a:ea typeface="DejaVu Sans"/>
            </a:endParaRPr>
          </a:p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GB" spc="-1" dirty="0">
              <a:solidFill>
                <a:srgbClr val="000000"/>
              </a:solidFill>
              <a:ea typeface="DejaVu Sans"/>
            </a:endParaRPr>
          </a:p>
          <a:p>
            <a:pPr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where A is capacitor plate area, d is plate separation, 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ε</a:t>
            </a:r>
            <a:r>
              <a:rPr lang="en-GB" spc="-1" baseline="-25000" dirty="0" err="1">
                <a:solidFill>
                  <a:srgbClr val="000000"/>
                </a:solidFill>
                <a:ea typeface="DejaVu Sans"/>
              </a:rPr>
              <a:t>o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 is the permittivity of free space and 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ε</a:t>
            </a:r>
            <a:r>
              <a:rPr lang="en-GB" spc="-1" baseline="-25000" dirty="0" err="1">
                <a:solidFill>
                  <a:srgbClr val="000000"/>
                </a:solidFill>
                <a:ea typeface="DejaVu Sans"/>
              </a:rPr>
              <a:t>r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 is the permittivity of the dielectric material between the plates </a:t>
            </a:r>
          </a:p>
          <a:p>
            <a:pPr lvl="1"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GB" spc="-1" dirty="0">
              <a:solidFill>
                <a:srgbClr val="000000"/>
              </a:solidFill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B394C-423D-5500-69B5-B0A5E53CC3D2}"/>
                  </a:ext>
                </a:extLst>
              </p:cNvPr>
              <p:cNvSpPr txBox="1"/>
              <p:nvPr/>
            </p:nvSpPr>
            <p:spPr>
              <a:xfrm>
                <a:off x="862793" y="3429000"/>
                <a:ext cx="10466413" cy="1032495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ar-AE" sz="28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ar-AE" sz="28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B394C-423D-5500-69B5-B0A5E53CC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93" y="3429000"/>
                <a:ext cx="10466413" cy="1032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73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Capacitive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Capacitive displacement sensing can be achieved by:</a:t>
            </a:r>
          </a:p>
          <a:p>
            <a:pPr lvl="1"/>
            <a:r>
              <a:rPr lang="en-GB" dirty="0"/>
              <a:t>Variation of the spacing of the plate separation distance, d (shown in a)</a:t>
            </a:r>
          </a:p>
          <a:p>
            <a:pPr lvl="1"/>
            <a:r>
              <a:rPr lang="en-GB" dirty="0"/>
              <a:t>Variation of the plate overlap area, A (shown in b)</a:t>
            </a:r>
          </a:p>
          <a:p>
            <a:pPr lvl="1"/>
            <a:r>
              <a:rPr lang="en-GB" dirty="0"/>
              <a:t>Change in relative permittivity </a:t>
            </a:r>
            <a:r>
              <a:rPr lang="en-GB" dirty="0" err="1"/>
              <a:t>ε</a:t>
            </a:r>
            <a:r>
              <a:rPr lang="en-GB" baseline="-25000" dirty="0" err="1"/>
              <a:t>r</a:t>
            </a:r>
            <a:r>
              <a:rPr lang="en-GB" dirty="0"/>
              <a:t> due to movement of dielectric material between the plates. (shown in c)</a:t>
            </a:r>
          </a:p>
          <a:p>
            <a:pPr lvl="1"/>
            <a:endParaRPr lang="en-GB" dirty="0"/>
          </a:p>
          <a:p>
            <a:pPr lvl="1"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GB" spc="-1" dirty="0">
              <a:solidFill>
                <a:srgbClr val="000000"/>
              </a:solidFill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141_0">
            <a:extLst>
              <a:ext uri="{FF2B5EF4-FFF2-40B4-BE49-F238E27FC236}">
                <a16:creationId xmlns:a16="http://schemas.microsoft.com/office/drawing/2014/main" id="{4A4808D8-3892-52E6-4419-2182E9984D8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554860" y="4573217"/>
            <a:ext cx="7082280" cy="16934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6890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Capacitive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i="1" dirty="0"/>
              <a:t>Capacitive </a:t>
            </a:r>
          </a:p>
          <a:p>
            <a:pPr lvl="1"/>
            <a:r>
              <a:rPr lang="en-GB" dirty="0"/>
              <a:t>For a displacement - if the separation d is increased by displacement x then the capacitance becomes: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lvl="1"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The change in capacitance </a:t>
            </a:r>
            <a:r>
              <a:rPr lang="en-GB" spc="-1" dirty="0" err="1">
                <a:solidFill>
                  <a:srgbClr val="000000"/>
                </a:solidFill>
                <a:ea typeface="DejaVu Sans"/>
              </a:rPr>
              <a:t>Δc</a:t>
            </a:r>
            <a:r>
              <a:rPr lang="en-GB" spc="-1" dirty="0">
                <a:solidFill>
                  <a:srgbClr val="000000"/>
                </a:solidFill>
                <a:ea typeface="DejaVu Sans"/>
              </a:rPr>
              <a:t> as a fraction of the initial capacitance is given by:</a:t>
            </a:r>
          </a:p>
          <a:p>
            <a:pPr lvl="1"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GB" spc="-1" dirty="0">
              <a:solidFill>
                <a:srgbClr val="000000"/>
              </a:solidFill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pc="-1" dirty="0">
              <a:solidFill>
                <a:srgbClr val="000000"/>
              </a:solidFill>
              <a:ea typeface="DejaVu Sans"/>
            </a:endParaRPr>
          </a:p>
          <a:p>
            <a:pPr lvl="1"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There is a non-linear relationship between the change in capacitance ΔC and the displacement x</a:t>
            </a:r>
          </a:p>
          <a:p>
            <a:pPr lvl="1"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pc="-1" dirty="0">
                <a:solidFill>
                  <a:srgbClr val="000000"/>
                </a:solidFill>
                <a:ea typeface="DejaVu Sans"/>
              </a:rPr>
              <a:t>This non-linearity can be overcome by using a push-pull displacement sensor</a:t>
            </a: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B394C-423D-5500-69B5-B0A5E53CC3D2}"/>
                  </a:ext>
                </a:extLst>
              </p:cNvPr>
              <p:cNvSpPr txBox="1"/>
              <p:nvPr/>
            </p:nvSpPr>
            <p:spPr>
              <a:xfrm>
                <a:off x="862791" y="2521651"/>
                <a:ext cx="10466413" cy="678749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sz="200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ar-AE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ar-AE" sz="20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B394C-423D-5500-69B5-B0A5E53CC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91" y="2521651"/>
                <a:ext cx="10466413" cy="6787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07CE22-8FE9-8874-72AE-EC757849322B}"/>
                  </a:ext>
                </a:extLst>
              </p:cNvPr>
              <p:cNvSpPr txBox="1"/>
              <p:nvPr/>
            </p:nvSpPr>
            <p:spPr>
              <a:xfrm>
                <a:off x="862791" y="3773750"/>
                <a:ext cx="10466413" cy="1032495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ar-AE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den>
                          </m:f>
                          <m: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07CE22-8FE9-8874-72AE-EC7578493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91" y="3773750"/>
                <a:ext cx="10466413" cy="1032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719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Capacitive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push-pull displacement sensor consists of three plates with the upper two plates forming one capacitor and the lower pair forming a second capacitor</a:t>
            </a:r>
          </a:p>
          <a:p>
            <a:r>
              <a:rPr lang="en-GB" dirty="0"/>
              <a:t>Displacement moves the central plate between the other two plates</a:t>
            </a:r>
          </a:p>
          <a:p>
            <a:r>
              <a:rPr lang="en-GB" dirty="0"/>
              <a:t>For example, the result of the central plate moving downwards is to increase the plate separation of the upper capacitor and decrease that of the lower one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A9C2B-9845-66EE-887F-7267489D49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148">
            <a:extLst>
              <a:ext uri="{FF2B5EF4-FFF2-40B4-BE49-F238E27FC236}">
                <a16:creationId xmlns:a16="http://schemas.microsoft.com/office/drawing/2014/main" id="{F3DAE2A6-5862-06AF-A112-0255C6CBC83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587067" y="2558521"/>
            <a:ext cx="4351866" cy="2885546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42654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Capacitive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change in capacitance for the upper and lower capacitors can be defined as opposite</a:t>
            </a:r>
          </a:p>
          <a:p>
            <a:r>
              <a:rPr lang="en-GB" dirty="0"/>
              <a:t>When c</a:t>
            </a:r>
            <a:r>
              <a:rPr lang="en-GB" baseline="-25000" dirty="0"/>
              <a:t>1</a:t>
            </a:r>
            <a:r>
              <a:rPr lang="en-GB" dirty="0"/>
              <a:t> is in one arm of an A.C. bridge and c</a:t>
            </a:r>
            <a:r>
              <a:rPr lang="en-GB" baseline="-25000" dirty="0"/>
              <a:t>2</a:t>
            </a:r>
            <a:r>
              <a:rPr lang="en-GB" dirty="0"/>
              <a:t> is in the other, the resulting out of balance voltage is proportional to x</a:t>
            </a:r>
          </a:p>
          <a:p>
            <a:r>
              <a:rPr lang="en-GB" dirty="0"/>
              <a:t>These sensors are used to monitor displacements from a few mm to the decimetre range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F4EF3EB-4D31-2EC8-8D44-A9177BC0CB69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>
              <a:xfrm>
                <a:off x="6172200" y="2650067"/>
                <a:ext cx="5181600" cy="3526896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8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ar-AE" sz="28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F4EF3EB-4D31-2EC8-8D44-A9177BC0CB6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2650067"/>
                <a:ext cx="5181600" cy="35268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388A0-421D-A87E-3C86-2BD3260A3ED5}"/>
                  </a:ext>
                </a:extLst>
              </p:cNvPr>
              <p:cNvSpPr txBox="1"/>
              <p:nvPr/>
            </p:nvSpPr>
            <p:spPr>
              <a:xfrm>
                <a:off x="6553200" y="3856926"/>
                <a:ext cx="4419600" cy="908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8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ar-AE" sz="28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E388A0-421D-A87E-3C86-2BD3260A3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3856926"/>
                <a:ext cx="4419600" cy="9089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14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Capacitive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Non-linearity and hysteresis errors are about 0.01% of full range for this sensor.</a:t>
            </a:r>
          </a:p>
          <a:p>
            <a:r>
              <a:rPr lang="en-GB" dirty="0"/>
              <a:t>One form of the capacitive proximity sensor consists of a single capacitor plate probe with the other plate being formed by the object to be sensed.</a:t>
            </a:r>
          </a:p>
          <a:p>
            <a:r>
              <a:rPr lang="en-GB" dirty="0"/>
              <a:t>The object here must be metallic and earthed for this method to work.</a:t>
            </a:r>
          </a:p>
          <a:p>
            <a:r>
              <a:rPr lang="en-GB" dirty="0"/>
              <a:t>As the object approaches the plate, separation of the capacitor changes and becomes significant and detectable when the object is close to the probe.</a:t>
            </a:r>
          </a:p>
          <a:p>
            <a:pPr lvl="1" indent="-22752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GB" spc="-1" dirty="0">
              <a:solidFill>
                <a:srgbClr val="000000"/>
              </a:solidFill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458280" lvl="1" indent="0">
              <a:spcAft>
                <a:spcPts val="1414"/>
              </a:spcAft>
              <a:buClr>
                <a:srgbClr val="000000"/>
              </a:buClr>
              <a:buSzPct val="45000"/>
              <a:buNone/>
            </a:pPr>
            <a:endParaRPr lang="en-GB" sz="2000" spc="-1" dirty="0">
              <a:solidFill>
                <a:srgbClr val="000000"/>
              </a:solidFill>
              <a:latin typeface="Arial"/>
            </a:endParaRP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5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Capacitive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Non-linearity and hysteresis errors are about 0.01% of full range for this sensor.</a:t>
            </a:r>
          </a:p>
          <a:p>
            <a:r>
              <a:rPr lang="en-GB" dirty="0"/>
              <a:t>One form of the capacitive proximity sensor consists of a single capacitor plate probe with the other plate being formed by the object to be sensed.</a:t>
            </a:r>
          </a:p>
          <a:p>
            <a:r>
              <a:rPr lang="en-GB" dirty="0"/>
              <a:t>The object here must be metallic and earthed for this method to work.</a:t>
            </a:r>
          </a:p>
          <a:p>
            <a:r>
              <a:rPr lang="en-GB" dirty="0"/>
              <a:t>As the object approaches the plate, separation of the capacitor changes and becomes significant and detectable when the object is close to the probe.</a:t>
            </a:r>
          </a:p>
          <a:p>
            <a:r>
              <a:rPr lang="en-GB" dirty="0"/>
              <a:t>Example of a Capacitive Sensor</a:t>
            </a:r>
          </a:p>
          <a:p>
            <a:pPr lvl="1"/>
            <a:r>
              <a:rPr lang="en-GB" sz="2400" b="0" u="sng" strike="noStrike" spc="-1" dirty="0">
                <a:solidFill>
                  <a:srgbClr val="0000FF"/>
                </a:solidFill>
                <a:uFillTx/>
                <a:latin typeface="Arial"/>
                <a:ea typeface="DejaVu Sans"/>
                <a:hlinkClick r:id="rId3"/>
              </a:rPr>
              <a:t>https://www.youtube.com/watch?v=NC5bNjbdBMA</a:t>
            </a:r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13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Eddy Current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coil carrying an alternating current produces an alternating magnetic field which induces eddy currents (electric currents) within any metallic object in that field</a:t>
            </a:r>
          </a:p>
          <a:p>
            <a:r>
              <a:rPr lang="en-GB" dirty="0"/>
              <a:t>This itself gives rise to a magnetic field which distorts the field which produced it and results in a change in the impedance of the coil and thus the amplitude of the alternating current</a:t>
            </a:r>
          </a:p>
          <a:p>
            <a:r>
              <a:rPr lang="en-GB" dirty="0"/>
              <a:t>At some pre-set level this change in current can then be used to trigger a switch.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16D15F-AFD9-A9F9-54A0-497CB43D33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81812" y="2243931"/>
            <a:ext cx="3762375" cy="3514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Eddy Current 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B244B-6ECD-B8CD-5D64-9B07288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sensor is used to detect non-magnetic but conductive materials</a:t>
            </a:r>
          </a:p>
          <a:p>
            <a:r>
              <a:rPr lang="en-GB" dirty="0"/>
              <a:t>Advantages of these sensors are they are small, relatively inexpensive, have high reliability and have high sensitivity to small displacements</a:t>
            </a:r>
          </a:p>
          <a:p>
            <a:r>
              <a:rPr lang="en-GB" dirty="0"/>
              <a:t>However</a:t>
            </a:r>
          </a:p>
          <a:p>
            <a:pPr lvl="1"/>
            <a:r>
              <a:rPr lang="en-GB" dirty="0"/>
              <a:t> there is a need for signal conditioning to be done</a:t>
            </a:r>
          </a:p>
          <a:p>
            <a:pPr lvl="1"/>
            <a:r>
              <a:rPr lang="en-GB" dirty="0"/>
              <a:t>Often included with the sensor but can require mass and volume</a:t>
            </a:r>
          </a:p>
          <a:p>
            <a:r>
              <a:rPr lang="en-GB" dirty="0"/>
              <a:t>Example of an Eddy Current Sensor</a:t>
            </a:r>
          </a:p>
          <a:p>
            <a:pPr lvl="1"/>
            <a:r>
              <a:rPr lang="en-GB" dirty="0">
                <a:hlinkClick r:id="rId3"/>
              </a:rPr>
              <a:t>https://www.youtube.com/watch?v=MqFXFnkHk-8</a:t>
            </a:r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23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D1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Inductive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600" dirty="0"/>
              <a:t>Uses a coil wound around the core of a magnetic material with the inductance of the coil changing when the end of the coil becomes close to any metal object (usually ferrous).</a:t>
            </a:r>
          </a:p>
          <a:p>
            <a:r>
              <a:rPr lang="en-GB" sz="3600" dirty="0"/>
              <a:t>Change in inductance is detected by its effect on a resonant circuit which is used to trigger a switch</a:t>
            </a:r>
          </a:p>
          <a:p>
            <a:r>
              <a:rPr lang="en-GB" sz="3600" dirty="0"/>
              <a:t>An example of this type of device is the </a:t>
            </a:r>
          </a:p>
          <a:p>
            <a:pPr lvl="1"/>
            <a:r>
              <a:rPr lang="en-GB" sz="3200" dirty="0"/>
              <a:t>variable reluctance tachometer described previously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78C65E-9AB9-63FC-7B71-CD0FBBD666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3969"/>
            <a:ext cx="51816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0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Inductive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09618C-4BC0-E39A-8C90-4F59E1BA0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6267"/>
            <a:ext cx="10515600" cy="3870053"/>
          </a:xfrm>
        </p:spPr>
      </p:pic>
    </p:spTree>
    <p:extLst>
      <p:ext uri="{BB962C8B-B14F-4D97-AF65-F5344CB8AC3E}">
        <p14:creationId xmlns:p14="http://schemas.microsoft.com/office/powerpoint/2010/main" val="484374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Inductive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43934C-564F-9E1A-5FF0-74A075B1A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https://www.youtube.com/watch?v=Lz4BHL65CNA</a:t>
            </a:r>
          </a:p>
          <a:p>
            <a:r>
              <a:rPr lang="en-GB" dirty="0"/>
              <a:t>https://www.ti.com/lit/ml/slyp719/slyp719.pdf?ts=1705951012959&amp;ref_url=https%253A%252F%252Fwww.google.com%252F</a:t>
            </a:r>
          </a:p>
        </p:txBody>
      </p:sp>
    </p:spTree>
    <p:extLst>
      <p:ext uri="{BB962C8B-B14F-4D97-AF65-F5344CB8AC3E}">
        <p14:creationId xmlns:p14="http://schemas.microsoft.com/office/powerpoint/2010/main" val="256751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Pneumatic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3600" dirty="0"/>
              <a:t>These depend upon the change in air pressure when a source of compressed air comes near an object</a:t>
            </a:r>
          </a:p>
          <a:p>
            <a:r>
              <a:rPr lang="en-GB" sz="3600" dirty="0"/>
              <a:t>Low air pressure is supplied through inlets and escapes through a port in the front of the sensor</a:t>
            </a:r>
          </a:p>
          <a:p>
            <a:r>
              <a:rPr lang="en-GB" sz="3600" dirty="0"/>
              <a:t>In the absence of any object, pressure is reduced in the sensor output port</a:t>
            </a:r>
          </a:p>
          <a:p>
            <a:r>
              <a:rPr lang="en-GB" sz="3600" dirty="0"/>
              <a:t>When an object is present the air can’t readily escape and results in the pressure of the output port increasing</a:t>
            </a:r>
          </a:p>
          <a:p>
            <a:r>
              <a:rPr lang="en-GB" sz="3600" dirty="0"/>
              <a:t>The pressure in the sensor output port is dependent upon the proximity of objects</a:t>
            </a:r>
          </a:p>
          <a:p>
            <a:r>
              <a:rPr lang="en-GB" sz="3600" dirty="0"/>
              <a:t>These sensors are used for a displacement range between 3 and 12mm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29BFB4-7C63-8CA6-DFCC-BF44BF2F8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- </a:t>
            </a:r>
            <a:r>
              <a:rPr lang="en-GB" b="1" i="1" dirty="0"/>
              <a:t>Pneumatic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7F7075-1C64-29A1-5939-1CFB3A0AA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3020219"/>
            <a:ext cx="76200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68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– </a:t>
            </a:r>
            <a:r>
              <a:rPr lang="en-GB" b="1" i="1" dirty="0"/>
              <a:t>Reed Switches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sz="3600" dirty="0"/>
              <a:t>It consists of two magnetic switch contacts sealed in a glass tube.</a:t>
            </a:r>
          </a:p>
          <a:p>
            <a:r>
              <a:rPr lang="en-GB" sz="3600" dirty="0"/>
              <a:t> When a magnet is brought close to the magnetic reeds they are attracted to each other and close the switch contacts</a:t>
            </a:r>
          </a:p>
          <a:p>
            <a:r>
              <a:rPr lang="en-GB" sz="3600" dirty="0"/>
              <a:t>It is a non-contact switch and widely used for checking the closure of doors</a:t>
            </a:r>
          </a:p>
          <a:p>
            <a:r>
              <a:rPr lang="en-GB" sz="3600" dirty="0"/>
              <a:t>It is also used with tachometers where if one of the teeth has a magnet attached to it then the switch will close every time the magnet passes it producing a current in the associated circuit.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 descr="A close-up of a resistor&#10;&#10;Description automatically generated">
            <a:extLst>
              <a:ext uri="{FF2B5EF4-FFF2-40B4-BE49-F238E27FC236}">
                <a16:creationId xmlns:a16="http://schemas.microsoft.com/office/drawing/2014/main" id="{B652F1F5-225B-5907-E80D-FFD226D629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086" y="1690688"/>
            <a:ext cx="3401028" cy="2203892"/>
          </a:xfrm>
        </p:spPr>
      </p:pic>
      <p:pic>
        <p:nvPicPr>
          <p:cNvPr id="12" name="Picture 11" descr="Diagram of a diagram of a glass tube&#10;&#10;Description automatically generated">
            <a:extLst>
              <a:ext uri="{FF2B5EF4-FFF2-40B4-BE49-F238E27FC236}">
                <a16:creationId xmlns:a16="http://schemas.microsoft.com/office/drawing/2014/main" id="{E8C48656-7986-9DBA-5E00-F204A9BA2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334" y="4200825"/>
            <a:ext cx="3810532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4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– Light Sensors</a:t>
            </a:r>
            <a:endParaRPr lang="en-GB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Light Sensors Any sensors that responds to light</a:t>
            </a:r>
          </a:p>
          <a:p>
            <a:r>
              <a:rPr lang="en-GB" sz="3600" b="1" i="1" dirty="0"/>
              <a:t>Photodiodes</a:t>
            </a:r>
            <a:r>
              <a:rPr lang="en-GB" sz="3600" dirty="0"/>
              <a:t> Semi-conductor junction diodes that can be used in a circuit with a reverse bias on the diode so that it presents a high resistance and no current flows. When light falls on the junction the resistance of the diode decreases and a current can flow within the circuit.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75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– Light Sensors</a:t>
            </a:r>
            <a:endParaRPr lang="en-GB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600" b="1" i="1" dirty="0"/>
              <a:t>Phototransistors </a:t>
            </a:r>
            <a:r>
              <a:rPr lang="en-GB" sz="3600" dirty="0"/>
              <a:t>Are transistors that have a light sensitive p-n junction and have a very small collector-emitter current when no light falls on the junction. When light falls on the phototransistor a base current is produced which is proportional to light intensity leading to a proportional collector current.</a:t>
            </a:r>
          </a:p>
          <a:p>
            <a:r>
              <a:rPr lang="en-GB" sz="3600" b="1" i="1" dirty="0"/>
              <a:t>Photoresistors</a:t>
            </a:r>
            <a:r>
              <a:rPr lang="en-GB" sz="3600" dirty="0"/>
              <a:t> are resistors that have a resistance which depends on the intensity of light falling on the device. Materials common for this are Cadmium Sulphide (for wavelengths &lt; 515nm) or Cadmium Selenide (for wavelengths &lt; 700nm) and the resistance falls linearly as the light intensity increases.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66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– Photosensitive Devices</a:t>
            </a:r>
            <a:endParaRPr lang="en-GB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dirty="0"/>
              <a:t>Can be used to detect the presence of an opaque object by </a:t>
            </a:r>
          </a:p>
          <a:p>
            <a:pPr lvl="1"/>
            <a:r>
              <a:rPr lang="en-GB" sz="3200" dirty="0"/>
              <a:t>breaking a beam of light, or infrared radiation, falling on such a device</a:t>
            </a:r>
          </a:p>
          <a:p>
            <a:pPr lvl="1"/>
            <a:r>
              <a:rPr lang="en-GB" sz="3200" dirty="0"/>
              <a:t>by detecting light reflected by the object</a:t>
            </a:r>
          </a:p>
          <a:p>
            <a:r>
              <a:rPr lang="en-GB" sz="3600" dirty="0"/>
              <a:t>Through Beam, Retro-reflective, Reflective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50B1-DF37-2DFC-FDF3-0B4F63C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 descr="A diagram of a target&#10;&#10;Description automatically generated">
            <a:extLst>
              <a:ext uri="{FF2B5EF4-FFF2-40B4-BE49-F238E27FC236}">
                <a16:creationId xmlns:a16="http://schemas.microsoft.com/office/drawing/2014/main" id="{4FA746D9-5CDB-7719-743C-9B5132BAA0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049" y="1820247"/>
            <a:ext cx="5181600" cy="1097280"/>
          </a:xfrm>
        </p:spPr>
      </p:pic>
      <p:pic>
        <p:nvPicPr>
          <p:cNvPr id="11" name="Picture 10" descr="A diagram of a target&#10;&#10;Description automatically generated">
            <a:extLst>
              <a:ext uri="{FF2B5EF4-FFF2-40B4-BE49-F238E27FC236}">
                <a16:creationId xmlns:a16="http://schemas.microsoft.com/office/drawing/2014/main" id="{1E2FCEA4-7F12-DFFA-6BED-50FB14EA5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049" y="3047086"/>
            <a:ext cx="5181599" cy="14962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53E630-38A8-FCAE-890F-87A794D05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049" y="4697371"/>
            <a:ext cx="5194246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1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Proximity Sensors – Photosensitive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4FE44-321E-BBB1-C3AA-144A9A5E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87AFC-F3F3-4E09-A9D9-1873FFB55ECB}" type="slidenum">
              <a:rPr kumimoji="0" lang="en-GB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6BC099-3F26-B1EC-4247-558DEFDB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825625"/>
            <a:ext cx="5715000" cy="428625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B779662-7C70-B564-9FC1-B49678CB7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4954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EB5E-DCA8-620A-2F83-903123C3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D9606-9303-A0FC-E642-ECF694E9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A483D-BF89-17B8-87C0-DFEF07E77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dirty="0"/>
              <a:t>Proximity Sensors</a:t>
            </a:r>
          </a:p>
          <a:p>
            <a:r>
              <a:rPr lang="en-GB" sz="3600" dirty="0"/>
              <a:t>Mechanical Switches</a:t>
            </a:r>
          </a:p>
          <a:p>
            <a:r>
              <a:rPr lang="en-GB" sz="3600" dirty="0"/>
              <a:t>Capacitive</a:t>
            </a:r>
          </a:p>
          <a:p>
            <a:r>
              <a:rPr lang="en-GB" sz="3600" dirty="0"/>
              <a:t>Eddy Current</a:t>
            </a:r>
          </a:p>
          <a:p>
            <a:r>
              <a:rPr lang="en-GB" sz="3600" dirty="0"/>
              <a:t>Inductive</a:t>
            </a:r>
          </a:p>
          <a:p>
            <a:r>
              <a:rPr lang="en-GB" sz="3600" dirty="0"/>
              <a:t>Pneumatic</a:t>
            </a:r>
          </a:p>
          <a:p>
            <a:r>
              <a:rPr lang="en-GB" sz="3600" dirty="0"/>
              <a:t>Light Sensors</a:t>
            </a:r>
          </a:p>
          <a:p>
            <a:r>
              <a:rPr lang="en-GB" sz="3600" dirty="0"/>
              <a:t>Photosensitive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5F060-A51E-DF2E-2841-C49474DA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424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409A-BED6-DA5F-AA0C-74741301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D61B-0204-42F3-52E6-931A9496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Bolton, W., Mechatronics, 5th Edition, Pearson, 2012</a:t>
            </a:r>
          </a:p>
          <a:p>
            <a:r>
              <a:rPr lang="en-GB" sz="3600" dirty="0" err="1"/>
              <a:t>Niku</a:t>
            </a:r>
            <a:r>
              <a:rPr lang="en-GB" sz="3600" dirty="0"/>
              <a:t>, S.B. , Introduction to Robotics, 2nd Edition, Wiley, New Jersey, </a:t>
            </a:r>
            <a:r>
              <a:rPr lang="en-GB" sz="3600"/>
              <a:t>2011.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D1B44-9760-B004-EF98-E85A9BE7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87AFC-F3F3-4E09-A9D9-1873FFB55EC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386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1487</Words>
  <Application>Microsoft Office PowerPoint</Application>
  <PresentationFormat>Widescreen</PresentationFormat>
  <Paragraphs>189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DejaVu Sans</vt:lpstr>
      <vt:lpstr>Wingdings</vt:lpstr>
      <vt:lpstr>Office Theme</vt:lpstr>
      <vt:lpstr>1_Office Theme</vt:lpstr>
      <vt:lpstr>ENG4118/5326 - Robotics 4/M Sensors, Actuators and Image capture, processing and analysis</vt:lpstr>
      <vt:lpstr>Lecture Overview</vt:lpstr>
      <vt:lpstr>Proximity Sensors</vt:lpstr>
      <vt:lpstr>Proximity Sensors</vt:lpstr>
      <vt:lpstr>Proximity Sensors – Mechanical Switches</vt:lpstr>
      <vt:lpstr>Proximity Sensors - Capacitive </vt:lpstr>
      <vt:lpstr>Proximity Sensors - Capacitive </vt:lpstr>
      <vt:lpstr>Proximity Sensors - Capacitive </vt:lpstr>
      <vt:lpstr>Proximity Sensors - Capacitive </vt:lpstr>
      <vt:lpstr>Proximity Sensors - Capacitive </vt:lpstr>
      <vt:lpstr>Proximity Sensors - Capacitive </vt:lpstr>
      <vt:lpstr>Proximity Sensors - Capacitive </vt:lpstr>
      <vt:lpstr>Proximity Sensors - Eddy Current </vt:lpstr>
      <vt:lpstr>Proximity Sensors - Eddy Current </vt:lpstr>
      <vt:lpstr>Proximity Sensors - Inductive</vt:lpstr>
      <vt:lpstr>Proximity Sensors - Inductive</vt:lpstr>
      <vt:lpstr>Proximity Sensors - Inductive</vt:lpstr>
      <vt:lpstr>Proximity Sensors - Pneumatic</vt:lpstr>
      <vt:lpstr>Proximity Sensors - Pneumatic</vt:lpstr>
      <vt:lpstr>Proximity Sensors – Reed Switches</vt:lpstr>
      <vt:lpstr>Proximity Sensors – Light Sensors</vt:lpstr>
      <vt:lpstr>Proximity Sensors – Light Sensors</vt:lpstr>
      <vt:lpstr>Proximity Sensors – Photosensitive Devices</vt:lpstr>
      <vt:lpstr>Proximity Sensors – Photosensitive Devices</vt:lpstr>
      <vt:lpstr>Review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ENG5009 –  Advanced Control 5</dc:title>
  <dc:creator>Kevin Worrall</dc:creator>
  <cp:lastModifiedBy>Kevin Worrall</cp:lastModifiedBy>
  <cp:revision>1</cp:revision>
  <dcterms:created xsi:type="dcterms:W3CDTF">2024-01-08T14:11:01Z</dcterms:created>
  <dcterms:modified xsi:type="dcterms:W3CDTF">2026-02-02T09:50:35Z</dcterms:modified>
</cp:coreProperties>
</file>